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be124bc8b9458a" /><Relationship Type="http://schemas.openxmlformats.org/officeDocument/2006/relationships/extended-properties" Target="/docProps/app.xml" Id="R54b43b98c67848f2" /><Relationship Type="http://schemas.openxmlformats.org/officeDocument/2006/relationships/officeDocument" Target="/ppt/presentation.xml" Id="R2eb0104e02cc4a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bf56790a84f4e09"/>
  </p:sldMasterIdLst>
  <p:notesMasterIdLst>
    <p:notesMasterId xmlns:r="http://schemas.openxmlformats.org/officeDocument/2006/relationships" r:id="R72539455c78a4041"/>
  </p:notesMasterIdLst>
  <p:sldIdLst>
    <p:sldId xmlns:r="http://schemas.openxmlformats.org/officeDocument/2006/relationships" id="256" r:id="Rdb8939b5419144d6"/>
    <p:sldId xmlns:r="http://schemas.openxmlformats.org/officeDocument/2006/relationships" id="257" r:id="R4468f8d3b917412a"/>
    <p:sldId xmlns:r="http://schemas.openxmlformats.org/officeDocument/2006/relationships" id="258" r:id="R0b5d02471c1e4010"/>
    <p:sldId xmlns:r="http://schemas.openxmlformats.org/officeDocument/2006/relationships" id="259" r:id="Rbb1fbc8ee17e4053"/>
    <p:sldId xmlns:r="http://schemas.openxmlformats.org/officeDocument/2006/relationships" id="260" r:id="R32c2ec9d535243ef"/>
    <p:sldId xmlns:r="http://schemas.openxmlformats.org/officeDocument/2006/relationships" id="261" r:id="R3e4c318767d64a77"/>
    <p:sldId xmlns:r="http://schemas.openxmlformats.org/officeDocument/2006/relationships" id="262" r:id="R244c510cbc8b4655"/>
    <p:sldId xmlns:r="http://schemas.openxmlformats.org/officeDocument/2006/relationships" id="263" r:id="Rea8f9234faab4bae"/>
    <p:sldId xmlns:r="http://schemas.openxmlformats.org/officeDocument/2006/relationships" id="264" r:id="Ra4746168fc1541ca"/>
    <p:sldId xmlns:r="http://schemas.openxmlformats.org/officeDocument/2006/relationships" id="265" r:id="Ra86f4d40f4c14205"/>
    <p:sldId xmlns:r="http://schemas.openxmlformats.org/officeDocument/2006/relationships" id="266" r:id="Rd685358087c04413"/>
    <p:sldId xmlns:r="http://schemas.openxmlformats.org/officeDocument/2006/relationships" id="267" r:id="R372a8af290724f0c"/>
    <p:sldId xmlns:r="http://schemas.openxmlformats.org/officeDocument/2006/relationships" id="268" r:id="R9423cb27b32a4596"/>
    <p:sldId xmlns:r="http://schemas.openxmlformats.org/officeDocument/2006/relationships" id="269" r:id="R42870bdbe7564e1d"/>
    <p:sldId xmlns:r="http://schemas.openxmlformats.org/officeDocument/2006/relationships" id="270" r:id="R3739b62a3b3944d2"/>
    <p:sldId xmlns:r="http://schemas.openxmlformats.org/officeDocument/2006/relationships" id="271" r:id="R4a26428dac9245c6"/>
    <p:sldId xmlns:r="http://schemas.openxmlformats.org/officeDocument/2006/relationships" id="272" r:id="R77c30118f90241eb"/>
    <p:sldId xmlns:r="http://schemas.openxmlformats.org/officeDocument/2006/relationships" id="273" r:id="R28dbe4c038fb46be"/>
    <p:sldId xmlns:r="http://schemas.openxmlformats.org/officeDocument/2006/relationships" id="274" r:id="R09bcad0c4b5d463c"/>
    <p:sldId xmlns:r="http://schemas.openxmlformats.org/officeDocument/2006/relationships" id="275" r:id="R9f4fbcdbe7e44f88"/>
    <p:sldId xmlns:r="http://schemas.openxmlformats.org/officeDocument/2006/relationships" id="276" r:id="Rdd8ad373bda748f1"/>
    <p:sldId xmlns:r="http://schemas.openxmlformats.org/officeDocument/2006/relationships" id="277" r:id="Re2f7ef96ac0f4c62"/>
    <p:sldId xmlns:r="http://schemas.openxmlformats.org/officeDocument/2006/relationships" id="278" r:id="Rfdf1d2de60624f0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2d52b34fb94818" /><Relationship Type="http://schemas.openxmlformats.org/officeDocument/2006/relationships/slideMaster" Target="/ppt/slideMasters/slideMaster1.xml" Id="R8bf56790a84f4e09" /><Relationship Type="http://schemas.openxmlformats.org/officeDocument/2006/relationships/notesMaster" Target="/ppt/notesMasters/notesMaster1.xml" Id="R72539455c78a4041" /><Relationship Type="http://schemas.openxmlformats.org/officeDocument/2006/relationships/presProps" Target="/ppt/presProps.xml" Id="Re8f432d2bd8744a8" /><Relationship Type="http://schemas.openxmlformats.org/officeDocument/2006/relationships/tableStyles" Target="/ppt/tableStyles.xml" Id="R99f56dfc1e414469" /><Relationship Type="http://schemas.openxmlformats.org/officeDocument/2006/relationships/slide" Target="/ppt/slides/slide1.xml" Id="Rdb8939b5419144d6" /><Relationship Type="http://schemas.openxmlformats.org/officeDocument/2006/relationships/slide" Target="/ppt/slides/slide2.xml" Id="R4468f8d3b917412a" /><Relationship Type="http://schemas.openxmlformats.org/officeDocument/2006/relationships/slide" Target="/ppt/slides/slide3.xml" Id="R0b5d02471c1e4010" /><Relationship Type="http://schemas.openxmlformats.org/officeDocument/2006/relationships/slide" Target="/ppt/slides/slide4.xml" Id="Rbb1fbc8ee17e4053" /><Relationship Type="http://schemas.openxmlformats.org/officeDocument/2006/relationships/slide" Target="/ppt/slides/slide5.xml" Id="R32c2ec9d535243ef" /><Relationship Type="http://schemas.openxmlformats.org/officeDocument/2006/relationships/slide" Target="/ppt/slides/slide6.xml" Id="R3e4c318767d64a77" /><Relationship Type="http://schemas.openxmlformats.org/officeDocument/2006/relationships/slide" Target="/ppt/slides/slide7.xml" Id="R244c510cbc8b4655" /><Relationship Type="http://schemas.openxmlformats.org/officeDocument/2006/relationships/slide" Target="/ppt/slides/slide8.xml" Id="Rea8f9234faab4bae" /><Relationship Type="http://schemas.openxmlformats.org/officeDocument/2006/relationships/slide" Target="/ppt/slides/slide9.xml" Id="Ra4746168fc1541ca" /><Relationship Type="http://schemas.openxmlformats.org/officeDocument/2006/relationships/slide" Target="/ppt/slides/slide10.xml" Id="Ra86f4d40f4c14205" /><Relationship Type="http://schemas.openxmlformats.org/officeDocument/2006/relationships/slide" Target="/ppt/slides/slide11.xml" Id="Rd685358087c04413" /><Relationship Type="http://schemas.openxmlformats.org/officeDocument/2006/relationships/slide" Target="/ppt/slides/slide12.xml" Id="R372a8af290724f0c" /><Relationship Type="http://schemas.openxmlformats.org/officeDocument/2006/relationships/slide" Target="/ppt/slides/slide13.xml" Id="R9423cb27b32a4596" /><Relationship Type="http://schemas.openxmlformats.org/officeDocument/2006/relationships/slide" Target="/ppt/slides/slide14.xml" Id="R42870bdbe7564e1d" /><Relationship Type="http://schemas.openxmlformats.org/officeDocument/2006/relationships/slide" Target="/ppt/slides/slide15.xml" Id="R3739b62a3b3944d2" /><Relationship Type="http://schemas.openxmlformats.org/officeDocument/2006/relationships/slide" Target="/ppt/slides/slide16.xml" Id="R4a26428dac9245c6" /><Relationship Type="http://schemas.openxmlformats.org/officeDocument/2006/relationships/slide" Target="/ppt/slides/slide17.xml" Id="R77c30118f90241eb" /><Relationship Type="http://schemas.openxmlformats.org/officeDocument/2006/relationships/slide" Target="/ppt/slides/slide18.xml" Id="R28dbe4c038fb46be" /><Relationship Type="http://schemas.openxmlformats.org/officeDocument/2006/relationships/slide" Target="/ppt/slides/slide19.xml" Id="R09bcad0c4b5d463c" /><Relationship Type="http://schemas.openxmlformats.org/officeDocument/2006/relationships/slide" Target="/ppt/slides/slide20.xml" Id="R9f4fbcdbe7e44f88" /><Relationship Type="http://schemas.openxmlformats.org/officeDocument/2006/relationships/slide" Target="/ppt/slides/slide21.xml" Id="Rdd8ad373bda748f1" /><Relationship Type="http://schemas.openxmlformats.org/officeDocument/2006/relationships/slide" Target="/ppt/slides/slide22.xml" Id="Re2f7ef96ac0f4c62" /><Relationship Type="http://schemas.openxmlformats.org/officeDocument/2006/relationships/slide" Target="/ppt/slides/slide23.xml" Id="Rfdf1d2de60624f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d8c0e2e339443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c1d6b46746443f" /><Relationship Type="http://schemas.openxmlformats.org/officeDocument/2006/relationships/notesMaster" Target="/ppt/notesMasters/notesMaster1.xml" Id="R7c57be2c9c3b43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79e51149574aab" /><Relationship Type="http://schemas.openxmlformats.org/officeDocument/2006/relationships/notesMaster" Target="/ppt/notesMasters/notesMaster1.xml" Id="Rabb7e820f8f645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92c5c190f342b8" /><Relationship Type="http://schemas.openxmlformats.org/officeDocument/2006/relationships/notesMaster" Target="/ppt/notesMasters/notesMaster1.xml" Id="R5d2cd19125744bc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0f6456873644f07" /><Relationship Type="http://schemas.openxmlformats.org/officeDocument/2006/relationships/notesMaster" Target="/ppt/notesMasters/notesMaster1.xml" Id="R5895ee38cfaf461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8f4519f12b4cb3" /><Relationship Type="http://schemas.openxmlformats.org/officeDocument/2006/relationships/notesMaster" Target="/ppt/notesMasters/notesMaster1.xml" Id="R920b3f9af0bb46d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7d0a388d264678" /><Relationship Type="http://schemas.openxmlformats.org/officeDocument/2006/relationships/notesMaster" Target="/ppt/notesMasters/notesMaster1.xml" Id="R572d7c2708324c6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074da15546f4d46" /><Relationship Type="http://schemas.openxmlformats.org/officeDocument/2006/relationships/notesMaster" Target="/ppt/notesMasters/notesMaster1.xml" Id="R40cac948d42448b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d1d5797c7ba488a" /><Relationship Type="http://schemas.openxmlformats.org/officeDocument/2006/relationships/notesMaster" Target="/ppt/notesMasters/notesMaster1.xml" Id="Rc70f33d04656475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e2e0b38922a42fa" /><Relationship Type="http://schemas.openxmlformats.org/officeDocument/2006/relationships/notesMaster" Target="/ppt/notesMasters/notesMaster1.xml" Id="R9b32cb4c00e34b3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8e8c21e851e404e" /><Relationship Type="http://schemas.openxmlformats.org/officeDocument/2006/relationships/notesMaster" Target="/ppt/notesMasters/notesMaster1.xml" Id="Rb4c625e0f17a48a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c79084d238b4abc" /><Relationship Type="http://schemas.openxmlformats.org/officeDocument/2006/relationships/notesMaster" Target="/ppt/notesMasters/notesMaster1.xml" Id="R04c77d30a07040f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591ac90715a4d67" /><Relationship Type="http://schemas.openxmlformats.org/officeDocument/2006/relationships/notesMaster" Target="/ppt/notesMasters/notesMaster1.xml" Id="Rc90f5a8fb56349c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d480aa250094564" /><Relationship Type="http://schemas.openxmlformats.org/officeDocument/2006/relationships/notesMaster" Target="/ppt/notesMasters/notesMaster1.xml" Id="R46bf1f3588bb419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77c984bdd214e52" /><Relationship Type="http://schemas.openxmlformats.org/officeDocument/2006/relationships/notesMaster" Target="/ppt/notesMasters/notesMaster1.xml" Id="R9a9db497d9d7467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cda15741a224463" /><Relationship Type="http://schemas.openxmlformats.org/officeDocument/2006/relationships/notesMaster" Target="/ppt/notesMasters/notesMaster1.xml" Id="R61d095c567db446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61d3cff83604430" /><Relationship Type="http://schemas.openxmlformats.org/officeDocument/2006/relationships/notesMaster" Target="/ppt/notesMasters/notesMaster1.xml" Id="Rc43d59646749473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cb362b90a55463d" /><Relationship Type="http://schemas.openxmlformats.org/officeDocument/2006/relationships/notesMaster" Target="/ppt/notesMasters/notesMaster1.xml" Id="R181251b292ba47b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e078b0ff4284098" /><Relationship Type="http://schemas.openxmlformats.org/officeDocument/2006/relationships/notesMaster" Target="/ppt/notesMasters/notesMaster1.xml" Id="R596d78bd00ea42f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5c9aeb1fc6247bc" /><Relationship Type="http://schemas.openxmlformats.org/officeDocument/2006/relationships/notesMaster" Target="/ppt/notesMasters/notesMaster1.xml" Id="Rc7e409262883463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655d25302d642c2" /><Relationship Type="http://schemas.openxmlformats.org/officeDocument/2006/relationships/notesMaster" Target="/ppt/notesMasters/notesMaster1.xml" Id="Rd315287e1bca476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c7433eab1834f35" /><Relationship Type="http://schemas.openxmlformats.org/officeDocument/2006/relationships/notesMaster" Target="/ppt/notesMasters/notesMaster1.xml" Id="R2ce1f160852c45a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936a91724a2409e" /><Relationship Type="http://schemas.openxmlformats.org/officeDocument/2006/relationships/notesMaster" Target="/ppt/notesMasters/notesMaster1.xml" Id="Rd37bc4b2c7854fe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30a55690b97443c" /><Relationship Type="http://schemas.openxmlformats.org/officeDocument/2006/relationships/notesMaster" Target="/ppt/notesMasters/notesMaster1.xml" Id="R13d473fae91242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开场直接回答产品是什么：Blocky Studio 是 Scratch 式 Agent 搭建与学习软件，让学生从“使用 AI”进入“设计、搭建并负责运行 Agent”。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https://js.news.cn/20260814/e55cedf9698f4f56a99a8a96d8473a54/c.html (2026 息壤杯惠民产品创新与 AI+教育方向)</a:t>
            </a:r>
          </a:p>
          <a:p xmlns:a="http://schemas.openxmlformats.org/drawingml/2006/main">
            <a:r>
              <a:t>- D:\1Folder\Blocky-AI\doc\产品设计\Blocky-完整积木与Agent兼容设计.md (Scratch 式 Agent 产品定位)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Scratch 已经证明，可视积木适合把抽象编程结构转成青少年可操作的学习对象；Blocky 把这条路径延伸到 Agent 的角色、知识、工具、记忆、权限和运行轨迹。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https://scratch.mit.edu/help/about (Scratch 面向 8–16 岁，并强调创造性思考、系统化推理与协作)</a:t>
            </a:r>
          </a:p>
          <a:p xmlns:a="http://schemas.openxmlformats.org/drawingml/2006/main">
            <a:r>
              <a:t>- https://doi.org/10.1016/j.compedu.2019.103607 (K-9 学生通过 Scratch 学习计算思维的实证综述)</a:t>
            </a:r>
          </a:p>
          <a:p xmlns:a="http://schemas.openxmlformats.org/drawingml/2006/main">
            <a:r>
              <a:t>- D:\1Folder\Blocky-AI\doc\产品设计\Blocky-完整积木与Agent兼容设计.md (Scratch 式 Agent 搭建与语义设计)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student Agent-building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全国教育体系提供广泛入口，但商业计划不把所有学校都当作首批市场。Blocky 先服务 12 岁以上学生、职教/高校入门课程与教师创作者，再连接个人高频搭建者和学校/教育机构。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https://hudong.moe.gov.cn/jyb_sjzl/sjzl_fztjgb/202506/t20250611_1193760.html (2024 年全国教育事业发展统计公报)</a:t>
            </a:r>
          </a:p>
          <a:p xmlns:a="http://schemas.openxmlformats.org/drawingml/2006/main">
            <a:r>
              <a:t>- D:\1Folder\Blocky-AI\doc\产品设计\Blocky-初版产品方案.md (教育用户、个人与机构服务)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产品形态坚持 Scratch 式嵌套画布，而不是通用节点连线工作流。入门七类与专业十二类共享项目格式、IR、运行内核、轨迹与权限模型。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(桌面 Agent 搭建布局)</a:t>
            </a:r>
          </a:p>
          <a:p xmlns:a="http://schemas.openxmlformats.org/drawingml/2006/main">
            <a:r>
              <a:t>- D:\1Folder\Blocky-AI\doc\产品设计\Blocky-完整积木与Agent兼容设计.md (入门七类、专业十二类与统一语义)</a:t>
            </a:r>
          </a:p>
          <a:p xmlns:a="http://schemas.openxmlformats.org/drawingml/2006/main">
            <a:r>
              <a:t>- D:\1Folder\Blocky-AI\doc\技术设计\Windows-Core视觉验收\13-professional-conversation-trace.png (本地技术尖峰截图)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课堂采用 4–6 课时项目制：先定义问题与边界，再完成角色与知识、工具与权限、运行核验，最后展示和复盘。每课时交付一个可保存、可继续的里程碑，复杂 Agent 在后续项目中持续扩展。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(资料问答 Agent 课堂闭环)</a:t>
            </a:r>
          </a:p>
          <a:p xmlns:a="http://schemas.openxmlformats.org/drawingml/2006/main">
            <a:r>
              <a:t>- https://hudong.moe.gov.cn/jyb_xwfb/gzdt_gzdt/s5987/202412/t20241202_1165500.html (探究实践与学用结合)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classroom Agent collaboration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这里的 3 分钟是基于现成蓝图的产品演示时长，不是完整课程时长。五步连续呈现选择蓝图、修改角色/知识/工具、运行、查看轨迹与保存重开，并让引用、拒答和项目复现证据同屏。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搭建展示旅程)</a:t>
            </a:r>
          </a:p>
          <a:p xmlns:a="http://schemas.openxmlformats.org/drawingml/2006/main">
            <a:r>
              <a:t>- D:\1Folder\Blocky-AI\doc\技术设计\Windows-Core技术尖峰报告.md (确定性运行、保存重开与事件证据)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expands the education entry into the complete product surface. Capabilities beyond the accepted core and formal contracts are presented as final-product design and staged route.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D:/1Folder/Blocky-AI/doc/执行计划/2026-08-23-Blocky-竞品驱动完整开发计划.md (final product scope, phases R0-R3)</a:t>
            </a:r>
          </a:p>
          <a:p xmlns:a="http://schemas.openxmlformats.org/drawingml/2006/main">
            <a:r>
              <a:t>- D:/1Folder/Blocky-AI/doc/产品设计/Blocky-初版产品方案.md (desktop, community, mobile, business scope)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Four creation depths share one project format: compatibility templates, expandable Blocky blueprints, atomic blocks, and controlled internal code.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D:/1Folder/Blocky-AI/doc/执行计划/2026-08-23-Blocky-竞品驱动完整开发计划.md (four creation levels)</a:t>
            </a:r>
          </a:p>
          <a:p xmlns:a="http://schemas.openxmlformats.org/drawingml/2006/main">
            <a:r>
              <a:t>- D:/1Folder/Blocky-AI/doc/产品设计/Blocky-积木完整清单.md (19 capability families and stable semantic catalog)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Internal code is a controlled local implementation layer, not a place to hide Agent topology, tool contracts, or permissions.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D:/1Folder/Blocky-AI/doc/产品设计/Blocky-完整积木与Agent兼容设计.md (block internal code and status)</a:t>
            </a:r>
          </a:p>
          <a:p xmlns:a="http://schemas.openxmlformats.org/drawingml/2006/main">
            <a:r>
              <a:t>- D:/1Folder/Blocky-AI/doc/产品设计/Blocky-交互入口与工具积木设计.md (visual and code custom blocks)</a:t>
            </a:r>
          </a:p>
          <a:p xmlns:a="http://schemas.openxmlformats.org/drawingml/2006/main">
            <a:r>
              <a:t>- D:/1Folder/Blocky-AI/doc/技术设计/ADR-004-开放扩展与社区安全边界.md (code extension isolation and permissions)</a:t>
            </a:r>
          </a:p>
          <a:p xmlns:a="http://schemas.openxmlformats.org/drawingml/2006/main">
            <a:r>
              <a:t>- D:/1Folder/Blocky-AI/PPT与商业计划书/assets/blocky-block-internals-v1.png (OpenAI image generation, concept illustration)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AppSurface is optional and explicit. Creating a page does not implicitly create authentication, a database, a domain, or deployment.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D:/1Folder/Blocky-AI/doc/产品设计/Blocky-多画布应用界面与RPA设计.md (multi-canvas, AppSurface, browser preview)</a:t>
            </a:r>
          </a:p>
          <a:p xmlns:a="http://schemas.openxmlformats.org/drawingml/2006/main">
            <a:r>
              <a:t>- D:/1Folder/Blocky-AI/doc/技术设计/ADR-005-多模块应用界面与RPA边界.md (explicit creation and isolated bridge)</a:t>
            </a:r>
          </a:p>
          <a:p xmlns:a="http://schemas.openxmlformats.org/drawingml/2006/main">
            <a:r>
              <a:t>- D:/1Folder/Blocky-AI/PPT与商业计划书/assets/blocky-appsurface-frontend-v1.png (OpenAI image generation, concept illustration)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Office expansion uses the same module language. The first route is attended automation with explicit approvals, checkpoints, and semantic/UIA targeting.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D:/1Folder/Blocky-AI/doc/产品设计/Blocky-多画布应用界面与RPA设计.md (office scenarios and attended RPA)</a:t>
            </a:r>
          </a:p>
          <a:p xmlns:a="http://schemas.openxmlformats.org/drawingml/2006/main">
            <a:r>
              <a:t>- D:/1Folder/Blocky-AI/doc/技术设计/ADR-005-多模块应用界面与RPA边界.md (RPA Host and recovery boundary)</a:t>
            </a:r>
          </a:p>
          <a:p xmlns:a="http://schemas.openxmlformats.org/drawingml/2006/main">
            <a:r>
              <a:t>- D:/1Folder/Blocky-AI/PPT与商业计划书/assets/blocky-office-automation-v1.png (OpenAI image generation, concept illustration)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six office blueprint families are product scenarios derived from the office/RPA design, not current implementation claims.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D:/1Folder/Blocky-AI/doc/产品设计/Blocky-多画布应用界面与RPA设计.md (legacy system, browser-desktop, Excel/form, reconciliation, ticket, no-API scenarios)</a:t>
            </a:r>
          </a:p>
          <a:p xmlns:a="http://schemas.openxmlformats.org/drawingml/2006/main">
            <a:r>
              <a:t>- D:/1Folder/Blocky-AI/doc/产品设计/Blocky-积木完整清单.md (computer, browser, data, approval, checkpoint capabilities)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desktop workbench separates editing facts, runtime events, user terminals, Agent process requests, logs, and audit while preserving stable source mapping.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D:/1Folder/Blocky-AI/doc/产品设计/Blocky-底部面板终端与日志系统设计.md (Problems, Run Log, Terminal, Output, redaction)</a:t>
            </a:r>
          </a:p>
          <a:p xmlns:a="http://schemas.openxmlformats.org/drawingml/2006/main">
            <a:r>
              <a:t>- D:/1Folder/Blocky-AI/doc/产品设计/Blocky-设置中心设计模板.md (workspace, preview, RPA, terminal, logging settings)</a:t>
            </a:r>
          </a:p>
          <a:p xmlns:a="http://schemas.openxmlformats.org/drawingml/2006/main">
            <a:r>
              <a:t>- D:/1Folder/Blocky-AI/doc/技术设计/ADR-006-底部面板终端与日志系统边界.md (terminal and event isolation)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六个方向分别承载轻量编码、专业编程、个人助理、团队协作、工程开发和组合研究等 Agent 架构。这里表达的是兼容版图与教学入口，不把设计方向写成已经完成的“原生完整兼容”。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D:\1Folder\Blocky-AI\doc\产品设计\Blocky-内置兼容模板.md (Pi、Codex、OpenClaw、Hermes、OpenCode、DeepSeek Harness 六模板设计)</a:t>
            </a:r>
          </a:p>
          <a:p xmlns:a="http://schemas.openxmlformats.org/drawingml/2006/main">
            <a:r>
              <a:t>- D:\1Folder\Blocky-AI\doc\技术设计\ADR-002-原生Agent兼容运行时.md (进程外运行时、版本化适配器与可逆投影)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conversion is evidence-based and deterministic. The desktop app, CLI, builder, and four official Skills use the same catalogs and contracts.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D:/1Folder/Blocky-AI/doc/产品设计/Blocky-GitHub项目积木化与Agent组件设计.md (conversion outputs and evidence map)</a:t>
            </a:r>
          </a:p>
          <a:p xmlns:a="http://schemas.openxmlformats.org/drawingml/2006/main">
            <a:r>
              <a:t>- D:/1Folder/Blocky-AI/doc/产品设计/CLI与官方Agent-Skill.md (CLI families and four official Skills)</a:t>
            </a:r>
          </a:p>
          <a:p xmlns:a="http://schemas.openxmlformats.org/drawingml/2006/main">
            <a:r>
              <a:t>- D:/1Folder/Blocky-AI/doc/技术设计/ADR-003-CLI与官方Agent-Skill接口.md (Build Spec, diff, conversion core)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Community objects are classified by execution risk. Signatures identify publishers and content integrity but do not replace scanning, permissions, sandboxing, or revocation.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D:/1Folder/Blocky-AI/doc/技术设计/ADR-004-开放扩展与社区安全边界.md (four distribution objects and supply-chain controls)</a:t>
            </a:r>
          </a:p>
          <a:p xmlns:a="http://schemas.openxmlformats.org/drawingml/2006/main">
            <a:r>
              <a:t>- D:/1Folder/Blocky-AI/doc/产品设计/Blocky-积木完整清单.md (community publish/install/update/fork)</a:t>
            </a:r>
          </a:p>
          <a:p xmlns:a="http://schemas.openxmlformats.org/drawingml/2006/main">
            <a:r>
              <a:t>- D:/1Folder/Blocky-AI/PPT与商业计划书/assets/blocky-community-packages-v1.png (OpenAI image generation, concept illustration)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mobile product is an Agent runner, not a reduced desktop editor. It reads InteractionManifest and negotiates local, desktop, or user-selected server targets.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D:/1Folder/Blocky-AI/doc/产品设计/Blocky-初版产品方案.md (mobile Agent runner scope)</a:t>
            </a:r>
          </a:p>
          <a:p xmlns:a="http://schemas.openxmlformats.org/drawingml/2006/main">
            <a:r>
              <a:t>- D:/1Folder/Blocky-AI/doc/产品设计/Blocky-交互入口与工具积木设计.md (mobile InteractionManifest and target choice)</a:t>
            </a:r>
          </a:p>
          <a:p xmlns:a="http://schemas.openxmlformats.org/drawingml/2006/main">
            <a:r>
              <a:t>- D:/1Folder/Blocky-AI/doc/技术设计/ADR-001-首版跨端技术选型.md (Android, HarmonyOS, iOS responsibilities)</a:t>
            </a:r>
          </a:p>
          <a:p xmlns:a="http://schemas.openxmlformats.org/drawingml/2006/main">
            <a:r>
              <a:t>- D:/1Folder/Blocky-AI/PPT与商业计划书/assets/blocky-mobile-runner-v1.png (OpenAI image generation, concept illustration)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这一页只陈述已经验收的证据：左侧是 Windows Core 尖峰的编辑、编译、运行、保存和 Host 证据；右侧是正式产品契约、正反夹具与独立文档验收。两者不等于正式产品全部完成。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D:\1Folder\Blocky-AI\doc\技术设计\Windows-Core技术尖峰报告.md (Windows Core 实证与长稳数据)</a:t>
            </a:r>
          </a:p>
          <a:p xmlns:a="http://schemas.openxmlformats.org/drawingml/2006/main">
            <a:r>
              <a:t>- D:\1Folder\Blocky-AI\doc\技术设计\正式契约\README.md (正式契约注册表)</a:t>
            </a:r>
          </a:p>
          <a:p xmlns:a="http://schemas.openxmlformats.org/drawingml/2006/main">
            <a:r>
              <a:t>- D:\1Folder\Blocky-AI\doc\验收\归档\2026-08-23\验收-Blocky阶段0契约冻结.md (独立验收结果)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四项成果都能转成课堂指标：完成一个可运行 Agent、解释关键积木和轨迹、提供可定位来源或在缺证据时拒答、保存重开后保持语义一致。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课堂闭环验收旅程)</a:t>
            </a:r>
          </a:p>
          <a:p xmlns:a="http://schemas.openxmlformats.org/drawingml/2006/main">
            <a:r>
              <a:t>- D:\1Folder\Blocky-AI\doc\技术设计\正式契约\03-交互工具运行与可观察性-v1alpha1.md (运行事件、高亮、日志与轨迹同源)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blueprint line-art illustration for Agent learning outcomes,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Pricing is the current product baseline for planning. Institution and enterprise pricing remains consultative and scope-based.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D:/1Folder/Blocky-AI/doc/产品设计/Blocky-初版产品方案.md (education extension, professional subscription, institution pricing baseline)</a:t>
            </a:r>
          </a:p>
          <a:p xmlns:a="http://schemas.openxmlformats.org/drawingml/2006/main">
            <a:r>
              <a:t>- D:/1Folder/Blocky-AI/doc/执行计划/2026-08-23-Blocky-竞品驱动完整开发计划.md (same architecture before entitlement slicing)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Education creates a verifiable sample, teacher reuse creates repeatability, institution licensing creates scale, and office blueprints open a second market on the same product foundation.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D:/1Folder/Blocky-AI/doc/产品设计/Blocky-初版产品方案.md (education and professional expansion)</a:t>
            </a:r>
          </a:p>
          <a:p xmlns:a="http://schemas.openxmlformats.org/drawingml/2006/main">
            <a:r>
              <a:t>- D:/1Folder/Blocky-AI/doc/产品设计/Blocky-多画布应用界面与RPA设计.md (office scenario portfolio)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roadmap preserves the accepted evidence boundary: Windows Core and phase-0 formal contracts are accepted; subsequent capabilities are organized as staged product delivery.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D:/1Folder/Blocky-AI/doc/执行计划/2026-08-23-Blocky-竞品驱动完整开发计划.md (R0-R3 and phases 0-14)</a:t>
            </a:r>
          </a:p>
          <a:p xmlns:a="http://schemas.openxmlformats.org/drawingml/2006/main">
            <a:r>
              <a:t>- D:/1Folder/Blocky-AI/doc/产品设计/Blocky-状态与阶段替换账本.md (accepted foundation and replacement ledger)</a:t>
            </a:r>
          </a:p>
          <a:p xmlns:a="http://schemas.openxmlformats.org/drawingml/2006/main">
            <a:r>
              <a:t>- D:/1Folder/Blocky-AI/doc/技术设计/正式契约/README.md (phase-0 formal contract acceptance)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ask focuses on partners that can validate the next product evidence: classrooms, institutions, office scenarios, models/compute, channels, and ecosystem distribution.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D:/1Folder/Blocky-AI/doc/执行计划/2026-08-23-Blocky-竞品驱动完整开发计划.md (final-product route)</a:t>
            </a:r>
          </a:p>
          <a:p xmlns:a="http://schemas.openxmlformats.org/drawingml/2006/main">
            <a:r>
              <a:t>- D:/1Folder/Blocky-AI/doc/产品设计/Blocky-初版产品方案.md (business, community, mobile)</a:t>
            </a:r>
          </a:p>
          <a:p xmlns:a="http://schemas.openxmlformats.org/drawingml/2006/main">
            <a:r>
              <a:t>- D:/1Folder/Blocky-AI/doc/技术设计/Windows-Core技术尖峰报告.md (accepted runtime evidence)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d024e419a04f2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1291d226fb34eb6" /><Relationship Type="http://schemas.openxmlformats.org/officeDocument/2006/relationships/slideLayout" Target="/ppt/slideLayouts/slideLayout1.xml" Id="R22db825de8734d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db825de8734d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4c1aadb36f4321" /><Relationship Type="http://schemas.openxmlformats.org/officeDocument/2006/relationships/image" Target="/ppt/media/image.png" Id="Rd0bfe36b528845a9" /><Relationship Type="http://schemas.openxmlformats.org/officeDocument/2006/relationships/notesSlide" Target="/ppt/notesSlides/notesSlide1.xml" Id="R5e96461648594a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61db7a64aa4bd5" /><Relationship Type="http://schemas.openxmlformats.org/officeDocument/2006/relationships/image" Target="/ppt/media/image2.png" Id="R70b3e59d409143be" /><Relationship Type="http://schemas.openxmlformats.org/officeDocument/2006/relationships/notesSlide" Target="/ppt/notesSlides/notesSlide2.xml" Id="R87fb015b96a24e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68a40e02b047ed" /><Relationship Type="http://schemas.openxmlformats.org/officeDocument/2006/relationships/notesSlide" Target="/ppt/notesSlides/notesSlide3.xml" Id="Rf74ffa14eb9144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7a68d17e41477e" /><Relationship Type="http://schemas.openxmlformats.org/officeDocument/2006/relationships/image" Target="/ppt/media/image3.png" Id="R7004198c57b14c56" /><Relationship Type="http://schemas.openxmlformats.org/officeDocument/2006/relationships/notesSlide" Target="/ppt/notesSlides/notesSlide4.xml" Id="R3aa3d22ab01b46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b4403d19cb4576" /><Relationship Type="http://schemas.openxmlformats.org/officeDocument/2006/relationships/image" Target="/ppt/media/image4.png" Id="Rd0d1153cbb924f7e" /><Relationship Type="http://schemas.openxmlformats.org/officeDocument/2006/relationships/notesSlide" Target="/ppt/notesSlides/notesSlide5.xml" Id="Rf34db008af6d478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3a61057f884010" /><Relationship Type="http://schemas.openxmlformats.org/officeDocument/2006/relationships/notesSlide" Target="/ppt/notesSlides/notesSlide6.xml" Id="R5aef0b9653b4441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dbe5b7fe594101" /><Relationship Type="http://schemas.openxmlformats.org/officeDocument/2006/relationships/notesSlide" Target="/ppt/notesSlides/notesSlide7.xml" Id="R3f487049df1142d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af9be876e74ae2" /><Relationship Type="http://schemas.openxmlformats.org/officeDocument/2006/relationships/image" Target="/ppt/media/image5.png" Id="R68a82e77fc4a455c" /><Relationship Type="http://schemas.openxmlformats.org/officeDocument/2006/relationships/notesSlide" Target="/ppt/notesSlides/notesSlide8.xml" Id="R50ff59fd8341413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e84b2722674d7c" /><Relationship Type="http://schemas.openxmlformats.org/officeDocument/2006/relationships/image" Target="/ppt/media/image6.png" Id="R830df7a29d914a28" /><Relationship Type="http://schemas.openxmlformats.org/officeDocument/2006/relationships/notesSlide" Target="/ppt/notesSlides/notesSlide9.xml" Id="R23ddf357f7534da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ce91344c0446a4" /><Relationship Type="http://schemas.openxmlformats.org/officeDocument/2006/relationships/image" Target="/ppt/media/image7.png" Id="R7baa1965e31b48c4" /><Relationship Type="http://schemas.openxmlformats.org/officeDocument/2006/relationships/notesSlide" Target="/ppt/notesSlides/notesSlide10.xml" Id="R3650ba561df3497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165d9d25684bf0" /><Relationship Type="http://schemas.openxmlformats.org/officeDocument/2006/relationships/image" Target="/ppt/media/image8.png" Id="R704c955a34f641df" /><Relationship Type="http://schemas.openxmlformats.org/officeDocument/2006/relationships/notesSlide" Target="/ppt/notesSlides/notesSlide11.xml" Id="R2ffcc060814f469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b9aa260f504b41" /><Relationship Type="http://schemas.openxmlformats.org/officeDocument/2006/relationships/notesSlide" Target="/ppt/notesSlides/notesSlide12.xml" Id="R1caf5a27d9b6480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44ab721d924a1b" /><Relationship Type="http://schemas.openxmlformats.org/officeDocument/2006/relationships/image" Target="/ppt/media/image9.png" Id="R1d823e68968d4b04" /><Relationship Type="http://schemas.openxmlformats.org/officeDocument/2006/relationships/notesSlide" Target="/ppt/notesSlides/notesSlide13.xml" Id="Ref9e2af8f32e483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9d0774f85e4d34" /><Relationship Type="http://schemas.openxmlformats.org/officeDocument/2006/relationships/notesSlide" Target="/ppt/notesSlides/notesSlide14.xml" Id="Rf657ab753f14402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9ece13eb1949a4" /><Relationship Type="http://schemas.openxmlformats.org/officeDocument/2006/relationships/notesSlide" Target="/ppt/notesSlides/notesSlide15.xml" Id="Ree78dc2c1c6544b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404a31ac314a8b" /><Relationship Type="http://schemas.openxmlformats.org/officeDocument/2006/relationships/image" Target="/ppt/media/image10.png" Id="R0b40fd8a48c343bb" /><Relationship Type="http://schemas.openxmlformats.org/officeDocument/2006/relationships/notesSlide" Target="/ppt/notesSlides/notesSlide16.xml" Id="R0a2b4334e639472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bc20bb5c044f29" /><Relationship Type="http://schemas.openxmlformats.org/officeDocument/2006/relationships/image" Target="/ppt/media/image11.png" Id="R8632474f8e8b4733" /><Relationship Type="http://schemas.openxmlformats.org/officeDocument/2006/relationships/notesSlide" Target="/ppt/notesSlides/notesSlide17.xml" Id="R5d26d180160445c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5638eca9446e8" /><Relationship Type="http://schemas.openxmlformats.org/officeDocument/2006/relationships/image" Target="/ppt/media/image9.png" Id="Ra46955e02c974ba8" /><Relationship Type="http://schemas.openxmlformats.org/officeDocument/2006/relationships/notesSlide" Target="/ppt/notesSlides/notesSlide18.xml" Id="Ra6b164802d3c435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45b1ba7a0c4a06" /><Relationship Type="http://schemas.openxmlformats.org/officeDocument/2006/relationships/image" Target="/ppt/media/image5.png" Id="Raeee41018a3a4655" /><Relationship Type="http://schemas.openxmlformats.org/officeDocument/2006/relationships/notesSlide" Target="/ppt/notesSlides/notesSlide19.xml" Id="R07d9243337d0409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f22176a716490e" /><Relationship Type="http://schemas.openxmlformats.org/officeDocument/2006/relationships/image" Target="/ppt/media/image12.png" Id="Ra78744444e2a4a26" /><Relationship Type="http://schemas.openxmlformats.org/officeDocument/2006/relationships/notesSlide" Target="/ppt/notesSlides/notesSlide20.xml" Id="R09eb391ee42c421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afbb7fa192450b" /><Relationship Type="http://schemas.openxmlformats.org/officeDocument/2006/relationships/image" Target="/ppt/media/image12.png" Id="R15b922be0e0641bb" /><Relationship Type="http://schemas.openxmlformats.org/officeDocument/2006/relationships/notesSlide" Target="/ppt/notesSlides/notesSlide21.xml" Id="R91bf83ebfdab4fe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9ba5e9e07f4ff0" /><Relationship Type="http://schemas.openxmlformats.org/officeDocument/2006/relationships/image" Target="/ppt/media/image5.png" Id="R548eec16acaf4633" /><Relationship Type="http://schemas.openxmlformats.org/officeDocument/2006/relationships/notesSlide" Target="/ppt/notesSlides/notesSlide22.xml" Id="R0699081b655742b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d6f6824aa54d62" /><Relationship Type="http://schemas.openxmlformats.org/officeDocument/2006/relationships/image" Target="/ppt/media/image13.png" Id="R56e5d17edd794151" /><Relationship Type="http://schemas.openxmlformats.org/officeDocument/2006/relationships/notesSlide" Target="/ppt/notesSlides/notesSlide23.xml" Id="R81c67cfae1f7452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bfe36b528845a9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息壤杯｜惠民产品创新｜AI+教育赛道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让学生真正搭建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看得懂、改得动、跑得通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 Agent 搭建与学习软件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2952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8E6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3872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7 类入门 · 4 项成果 · 6 类兼容生态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把“只会提问”升级为能设计角色、知识、工具、权限并解释运行过程。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教育断层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已证明积木式编程启蒙；Agent 教育仍缺同级工具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学生已会“用 AI”，却很难看见角色、知识、工具、记忆与权限如何组成可运行系统。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95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52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19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76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启蒙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09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1350"/>
              <a:t>8–16 岁｜用可视积木学习创造、推理与协作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051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718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断层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289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只会对话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1350"/>
              <a:t>聊天界面只呈现输入与答案，不呈现结构、工具调用与责任边界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00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57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324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81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搭建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14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765"/>
          </a:bodyPr>
          <a:lstStyle xmlns:a="http://schemas.openxmlformats.org/drawingml/2006/main"/>
          <a:p xmlns:a="http://schemas.openxmlformats.org/drawingml/2006/main">
            <a:pPr algn="l"/>
            <a:r>
              <a:rPr sz="1350"/>
              <a:t>用 Scratch 式积木组合角色、知识、记忆、工具和权限，并以轨迹解释运行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把“会问 AI”升级为“会设计、搭建并负责运行 Agent”。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b3e59d409143be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MARKET · 教育入口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先进入可验证课堂，再扩大个人与机构市场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47 万所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各级各类学校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2.86465 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在校生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1885.10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专任教师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数据口径：2024 全国教育事业统计｜首个教学产品：4–6 课时基础 Agent 项目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目标使用者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12+ 学生｜Agent 启蒙与创作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职教 / 高校｜工程化入门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教师 / 教研｜课程共创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个人创作者｜高频搭建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采用与付费者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个人订阅｜模型、工具、Skills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学校 / 机构｜席位、班级、作业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课程服务｜支持与私有化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复购单位｜教师、班级、年度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Agent 搭建形态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一套 Scratch 式 Agent 语言，连接课堂入门与专业工程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左：Agent 积木库｜中：模块画布 / 浏览器｜右：构建助手 / 运行 Agent｜下：诊断 / 日志 / 终端 / 输出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04198c57b14c56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Windows Core · 100 积木运行实证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 → 专业十二类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IR、运行内核、轨迹与权限模型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多课时项目制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基础 Agent 项目按 4–6 课时逐步完成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每课时只完成一个可验收里程碑；复杂 Agent 在后续项目中持续扩展。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765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需求与边界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第 1 课时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定题 · 资料 · 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角色与知识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第 2–3 课时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· 知识 · 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工具与核验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第 4–5 课时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工具 · 权限 · 轨迹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展示与复盘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第 6 课时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展示 · 拒答 · 保存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项目成果：搭得出 · 说得清 · 引得准 · 复现得了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d1153cbb924f7e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产品演示闭环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分钟验证 5 件事：选择、修改、运行、追踪、保存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基于现成蓝图演示“选择—修改—运行—轨迹—保存”；这是产品验证，不等于完整课程时长。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课堂知识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修改积木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· 知识 · 工具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查看轨迹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步骤 · 状态 · 输出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069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语义保持一致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本地运行有证据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Provider / RuntimeEvent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本地运行可读回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引用与拒答可见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Citation / Guard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引用与拒答可复核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项目可保存复现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Workspace / Stable ID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保存重开语义一致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闭环证据：五步连续呈现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MAP · 最终产品全景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一套 Scratch 式语言，贯通创作、运行、交付、生态与多端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教育是首个入口；同一项目格式继续承载专业工程、办公自动化、应用界面、社区分发与移动使用。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积木创作
内部代码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7→12 类投影
参数 / 代码 / 回退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多画布
AppSurface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稳定引用 / 前端源码
隔离预览 / Bridge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办公 Agent
+ RPA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浏览器 / 桌面 / 表格
审批 / 检查点 / 恢复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兼容 / CLI
4 Skills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Codex / OpenClaw
DeepSeek Harness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社区分发
移动使用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签名 / 权限 / 版本
桌面 / 设备 / 服务端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教育易上手 × 工程可扩展 × 办公可落地 × 生态可生长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同一语义贯通桌面 / CLI / 4 Skills / 6 模板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$build-blocky-agents · $create-blocky-blocks · $convert-github-project-to-blocky · $reverse-agent-to-blocky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DEPTH · 四层创作深度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从“拿来即用”到“修改内部实现”，能力按需展开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四层共享同一 Project Manifest、Workspace、IR、权限与运行证据；切换深度不换项目。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兼容模板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产物｜可运行 Agent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证据｜Workspace + RuntimeEvent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指标｜完成率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行为｜指认关键积木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证据｜高亮 + Trace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指标｜解释率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原子积木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行为｜回答含可定位来源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证据｜引用 / 拒答记录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指标｜引用可定位率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内部代码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行为｜保存重开语义一致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证据｜Project reload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指标｜保存复现率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同一底座｜兼容模板 → 蓝图 → 原子积木 → 内部代码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a82e77fc4a455c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 INTERNALS · 积木内部修改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积木不是黑盒：从公开参数一直改到内部实现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官方基线、用户差异、诊断与回退同屏呈现；代码只封装局部逻辑，不隐藏 Agent 拓扑与权限。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765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参数与接口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350"/>
              <a:t>输入 / 输出
类型 / 默认值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展开与封装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350"/>
              <a:t>展开原子积木
保留公开插槽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内部代码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350"/>
              <a:t>局部代码实现
差异 / 诊断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校验与回退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350"/>
              <a:t>编译 / 测试
接受 / 回退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同一块能力：可组合 · 可展开 · 可编辑 · 可验证 · 可回退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0df7a29d914a28"/>
          <a:stretch xmlns:a="http://schemas.openxmlformats.org/drawingml/2006/main"/>
        </p:blipFill>
        <p:spPr>
          <a:xfrm xmlns:a="http://schemas.openxmlformats.org/drawingml/2006/main" flipH="0" flipV="0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多画布与应用界面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项目需要页面时，前端由同一项目显式创建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画布标签拆分 Agent / 自动化 / 规则｜浏览器标签预览可选 AppSurface｜关闭标签不删除产物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10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概念示意 · AppSurface 由用户主动创建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项目内一套交付路径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多画布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稳定引用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应用界面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前端源码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浏览器预览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Bridge 清单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隔离存储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IR、运行内核、轨迹与权限模型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aa1965e31b48c4"/>
          <a:srcRect xmlns:a="http://schemas.openxmlformats.org/drawingml/2006/main" l="0" t="2671" r="0" b="2671"/>
          <a:stretch xmlns:a="http://schemas.openxmlformats.org/drawingml/2006/main"/>
        </p:blipFill>
        <p:spPr>
          <a:xfrm xmlns:a="http://schemas.openxmlformats.org/drawingml/2006/main" flipH="0" flipV="0">
            <a:off x="819150" y="2076450"/>
            <a:ext cx="6305550" cy="30861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OFFICE · Agent + 自动化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办公场景沿用同一积木语言，不另起一套产品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把资料理解、浏览器操作、桌面应用与人工确认，组合成可追踪的有人值守流程。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765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资料与表格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350"/>
              <a:t>读取结构化
来源 / Schema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浏览器与桌面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350"/>
              <a:t>语义操作
浏览器 / 桌面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+ RPA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350"/>
              <a:t>有人值守
审批 / 检查点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人工与恢复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350"/>
              <a:t>动作确认
暂停 / 恢复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同一项目可容纳 Agent、自动化、规则、数据与应用界面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4c955a34f641df"/>
          <a:stretch xmlns:a="http://schemas.openxmlformats.org/drawingml/2006/main"/>
        </p:blipFill>
        <p:spPr>
          <a:xfrm xmlns:a="http://schemas.openxmlformats.org/drawingml/2006/main" flipH="0" flipV="0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OFFICE · 蓝图组合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六类办公蓝图覆盖“理解—执行—核验—交付”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先以有人值守流程进入真实办公；团队可按权限、数据与系统逐步扩展。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共同底座：项目模块 + 权限 + 检查点 + RuntimeEvent + Trace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办公问答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浏览器任务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桌面任务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+ 自动化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办公价值：减少重复搬运，同时保留来源、授权、过程与责任边界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资料问答与报告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带引用回答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摘要 / 周报 / 研究整理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表格清洗与汇总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Excel / CSV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去重 / 对账 / 指标回填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ERP / CRM 录入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旧系统表单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字段映射 / 校验 / 失败定位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工单与客服协作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知识 + 人工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归类 / 回复草稿 / 升级处理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跨系统数据搬运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浏览器 ↔ 桌面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附件 / 表单 / 数据库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财务对账与回填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规则 + Agent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差异解释 / 审批 / 复现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WORKBENCH · 创作与运行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前端、积木、终端与运行轨迹，都回到一个可控工作台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编辑事实、运行事实、用户终端和 Agent 进程各有边界，却共享稳定来源与关联标识。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创作工作台 · 桌面端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618"/>
          </a:bodyPr>
          <a:lstStyle xmlns:a="http://schemas.openxmlformats.org/drawingml/2006/main"/>
          <a:p xmlns:a="http://schemas.openxmlformats.org/drawingml/2006/main">
            <a:r>
              <a:t>✓ 顶部：项目标签 / 命令中心 / 运行
✓ 左侧：7→12 类积木 / 搜索 / 蓝图
✓ 中间：多模块画布 / 浏览器预览
✓ 右侧：构建助手 / 检查器 / 资源
✓ 底部：问题 / 运行日志 / 终端 / 输出
✓ 设置：应用 / 项目 / 资源 / 积木
✓ 保存：Manifest + Workspace + AppSurface
✓ 补丁：幽灵积木 / 接受 / 拒绝 / 撤销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运行治理 · 同源可追踪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618"/>
          </a:bodyPr>
          <a:lstStyle xmlns:a="http://schemas.openxmlformats.org/drawingml/2006/main"/>
          <a:p xmlns:a="http://schemas.openxmlformats.org/drawingml/2006/main">
            <a:r>
              <a:t>✓ 编译：Module IR / Project IR / SourceMap
✓ 入口：InteractionManifest / ToolContract
✓ 事件：RuntimeEvent / Diagnostic / LogEnvelope
✓ 轨迹：步骤 / 状态 / 引用 / 权限 / 高亮
✓ 隔离：用户终端 ≠ Agent 进程工具
✓ 脱敏：Normalizer → Redactor → Log Bus
✓ 回收：Host / PTY / Sidecar / 预览服务
✓ 审计：授权 / 拒绝 / 截断 / 恢复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823e68968d4b04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19700"/>
            <a:ext cx="4648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86375"/>
            <a:ext cx="445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运行：状态同源、日志脱敏、终端不越权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21" name="Unified left evidence conclusion">
            <a:extLst xmlns:a="http://schemas.openxmlformats.org/drawingml/2006/main">
              <a:ext uri="{FF2B5EF4-FFF2-40B4-BE49-F238E27FC236}">
                <a16:creationId xmlns:a16="http://schemas.microsoft.com/office/drawing/2014/main" id="{EFACA68A-A9A1-4F5A-99A6-DD469370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6482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创作：修改可见、权限可读、差异可撤销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ECOSYSTEM · 兼容版图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六类 Agent 生态，沉淀为可教学、可改造的积木结构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Pi、Codex、OpenClaw、Hermes、OpenCode、DeepSeek Harness 对应六类真实 Agent 架构。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统一 Agent 语义 + 进程外原生运行时 + 版本化适配器 + 可逆积木投影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问答型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流程编排工具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代码型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积木搭建 / 深度扩展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教学价值：从六类真实架构学习角色、工具、权限、协作、会话与扩展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轻量编码 Agent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Pi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工具调用｜read / write / edit / bash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专业编程 Agent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1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工程规则｜AGENTS.md / Skills / MCP / 沙箱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个人助理 Agent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OpenClaw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会话记忆｜Gateway / 会话 / 记忆 / 渠道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团队协作 Agent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Hermes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团队协作｜消息 / 任务 / 扩展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工程开发 Agent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主子协作｜工具权限 / 插件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组合研究 Agent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组合研究｜Profile / Bundle / Cordis / 审批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INTERFACE · GitHub / CLI / Skills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把现有项目变成可解释积木，靠证据与同一套 CLI 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不是把仓库压成一段提示词，而是锁定源码、映射语义、审查差异并验证往返。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锁定来源
仓库证据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repo / commit / 许可
源码 / 测试 / 配置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证据映射
语义裁决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符号 / 调用 / 配置
可解释选择输出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四类输出
可逆投影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积木 / 蓝图 / 模板
原生保留报告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CLI / Builder
4 Skills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$build / $create
$convert / $reverse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验收往返
升级恢复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配置 / 行为 / 权限
Diff / Trace / rollback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桌面、CLI、构建助手与四个官方 Skills 共享同一语义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同一语义贯通桌面 / CLI / 4 Skills / 6 模板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$build-blocky-agents · $create-blocky-blocks · $convert-github-project-to-blocky · $reverse-agent-to-blocky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COMMUNITY · 开放生态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社区分发的是可审查能力，不是不可见的黑盒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纯模板、组合积木、代码扩展与原生兼容包分型；安装与更新都展示来源、许可、权限、依赖和差异。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387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概念示意 · 来源、权限、版本与签名分层可见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四类对象 + 三道治理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纯模板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组合积木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代码扩展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兼容包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版本锁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权限审查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签名撤回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IR、运行内核、轨迹与权限模型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40fd8a48c343bb"/>
          <a:srcRect xmlns:a="http://schemas.openxmlformats.org/drawingml/2006/main" l="0" t="2671" r="0" b="2671"/>
          <a:stretch xmlns:a="http://schemas.openxmlformats.org/drawingml/2006/main"/>
        </p:blipFill>
        <p:spPr>
          <a:xfrm xmlns:a="http://schemas.openxmlformats.org/drawingml/2006/main" flipH="0" flipV="0">
            <a:off x="819150" y="2076450"/>
            <a:ext cx="6305550" cy="30861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MOBILE · Agent 使用器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手机负责使用与操控 Agent，不把桌面画布硬塞进小屏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Android、HarmonyOS、iOS 读取交互清单，显示消息、附件、审批、进度与轨迹摘要。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76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概念示意 · 本机 / 桌面 / 服务器运行目标协商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移动端七项核心能力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列表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交互入口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附件输入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工具进度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审批取消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断线恢复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目标协商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IR、运行内核、轨迹与权限模型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32474f8e8b4733"/>
          <a:srcRect xmlns:a="http://schemas.openxmlformats.org/drawingml/2006/main" l="0" t="2671" r="0" b="2671"/>
          <a:stretch xmlns:a="http://schemas.openxmlformats.org/drawingml/2006/main"/>
        </p:blipFill>
        <p:spPr>
          <a:xfrm xmlns:a="http://schemas.openxmlformats.org/drawingml/2006/main" flipH="0" flipV="0">
            <a:off x="819150" y="2076450"/>
            <a:ext cx="6305550" cy="30861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PROGRESS · 已验收进展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执行能力用实证说话：运行尖峰与正式契约两轮验收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运行实证覆盖编辑—编译—运行—保存；契约验收覆盖项目—交互—诊断—权限。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Windows Core 运行实证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8 项 Windows Core 门禁全部通过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+ 稳定 Agent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+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 Runtime + 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积木项目保存、关闭、重开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 03 秒长稳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30 次真实 Rust Host 保存 / 重载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覆盖：编辑 · 编译 · 运行 · 保存 · Host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已验收 · 正式产品契约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正式契约：独立验收通过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21 个必需 Schema 逐项复核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9 份契约 / 交接文档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 个正反 JSON 夹具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63 条相对链接全部核对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高亮 / 日志 / 轨迹同源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补丁拒绝、终端隔离、日志脱敏负例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覆盖：项目 · 交互 · 运行 · 构建 · 安全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6955e02c974ba8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19700"/>
            <a:ext cx="4648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86375"/>
            <a:ext cx="445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21 Schema + 10 夹具 + 63 链接：产品边界已通过独立核验。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21" name="Unified left evidence conclusion">
            <a:extLst xmlns:a="http://schemas.openxmlformats.org/drawingml/2006/main">
              <a:ext uri="{FF2B5EF4-FFF2-40B4-BE49-F238E27FC236}">
                <a16:creationId xmlns:a16="http://schemas.microsoft.com/office/drawing/2014/main" id="{EFACA68A-A9A1-4F5A-99A6-DD469370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6482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360 次循环 + 30 次 Host 重载：核心链路已有可复现实证。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OUTCOME · 可验收学习成果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课堂价值可量化：搭建、解释、引用、复现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四项结果对应四个可观察证据，教师无需只凭“答案像不像”判断学习效果。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搭得出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产物｜可运行 Agent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证据｜Workspace + RuntimeEvent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指标｜完成率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说得清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行为｜指认关键积木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证据｜高亮 + Trace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指标｜解释率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引得准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行为｜回答含可定位来源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证据｜引用 / 拒答记录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指标｜引用可定位率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复现得了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行为｜保存重开语义一致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证据｜Project reload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指标｜保存复现率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指标口径｜完成率 · 解释率 · 引用可定位率 · 保存复现率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ee41018a3a4655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四级收入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教育入口建立信任，订阅、机构与办公专业版形成收入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教育基础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免登录｜本地基础能力
首个项目｜需求 / 蓝图 / 运行 / 保存
转化入口｜模型 / 工具 / 课程 / 社区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教育拓展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价格｜¥128 单月 / ¥98 连续包月
年费｜¥980
权益｜教育资源 / 教师控制 / 扩展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专业订阅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价格｜¥598 单月 / ¥520 连续包月
年费｜¥5,200
权益｜教育拓展 + 专业创作能力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机构 / 企业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合作｜学校 / 教培 / 高校 / 企业
授权｜账号绑定组织 / 合作激活
方案｜席位 / 班级 / 年度 / 部署咨询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同一项目格式与运行内核；收入来自扩展能力与持续服务，不靠锁住用户作品。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8744444e2a4a26"/>
          <a:stretch xmlns:a="http://schemas.openxmlformats.org/drawingml/2006/main"/>
        </p:blipFill>
        <p:spPr>
          <a:xfrm xmlns:a="http://schemas.openxmlformats.org/drawingml/2006/main">
            <a:off x="9581059" y="209550"/>
            <a:ext cx="1430931" cy="1562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GO-TO-MARKET · 教育先行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先用课堂建立样板，再把可复用能力带入办公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课堂样板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4–6 课时｜学生搭建可运行 Agent
3 分钟｜演示五步产品闭环
证据｜作品 / 轨迹 / 引用 / 保存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教师复用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蓝图｜资料 / 权限 / 回答边界
课程｜教案 / 任务 / 检查表
复用｜班级 / 学年 / 主题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机构授权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合作激活｜学校 / 教培 / 高校
管理｜设备 / 席位 / 版本
服务｜课程共创 / 培训 / 私有化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办公扩展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蓝图｜问答 / 表格 / 表单 / 工单
执行｜浏览器 + 桌面 + RPA
治理｜审批 / 检查点 / 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增长飞轮：课堂验证 → 教师复用 → 机构授权 → 办公蓝图 → 社区生态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b922be0e0641bb"/>
          <a:stretch xmlns:a="http://schemas.openxmlformats.org/drawingml/2006/main"/>
        </p:blipFill>
        <p:spPr>
          <a:xfrm xmlns:a="http://schemas.openxmlformats.org/drawingml/2006/main">
            <a:off x="9581059" y="209550"/>
            <a:ext cx="1430931" cy="1562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ROADMAP · 最终产品路线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从正式纵切到社区与多端，按四个阶段扩张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每一阶段都替换夹具、形成真实闭环，再开放下一层能力。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正式地基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9760"/>
          </a:bodyPr>
          <a:lstStyle xmlns:a="http://schemas.openxmlformats.org/drawingml/2006/main"/>
          <a:p xmlns:a="http://schemas.openxmlformats.org/drawingml/2006/main">
            <a:r>
              <a:t>阶段 0–2｜正式契约 / 多模块
桌面｜面板 / 终端 / 日志
地基｜设置 / 资源 / 权限
门禁｜保存 / 窗口 / 回收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产品闭环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4927"/>
          </a:bodyPr>
          <a:lstStyle xmlns:a="http://schemas.openxmlformats.org/drawingml/2006/main"/>
          <a:p xmlns:a="http://schemas.openxmlformats.org/drawingml/2006/main">
            <a:r>
              <a:t>阶段 3–7｜RAG / 项目积木化
体验｜蓝图 / 最小 Agent
构建｜助手 / Trace / AppSurface
办公｜有人值守 RPA / 多架构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规模化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5615"/>
          </a:bodyPr>
          <a:lstStyle xmlns:a="http://schemas.openxmlformats.org/drawingml/2006/main"/>
          <a:p xmlns:a="http://schemas.openxmlformats.org/drawingml/2006/main">
            <a:r>
              <a:t>阶段 8–11｜6 模板 / 文本往返
工程｜CLI / 4 Skills / Codex 插件
市场｜教育 / 应用部署
企业｜无人值守 RPA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生态与多端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2002"/>
          </a:bodyPr>
          <a:lstStyle xmlns:a="http://schemas.openxmlformats.org/drawingml/2006/main"/>
          <a:p xmlns:a="http://schemas.openxmlformats.org/drawingml/2006/main">
            <a:r>
              <a:t>阶段 12–14｜社区供应链
桌面｜macOS
移动｜Android / HarmonyOS / iOS
商业｜权益 / 订阅 / 国际化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原则｜同一语言 · 同一项目格式 · 同一运行证据 · 分阶段开放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8eec16acaf4633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710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054FE-F36E-4971-9A0D-216F547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6EA8FF"/>
                </a:solidFill>
                <a:latin typeface="Microsoft YaHei"/>
                <a:ea typeface="Microsoft YaHei"/>
                <a:cs typeface="Microsoft YaHei"/>
              </a:rPr>
              <a:t>VISION &amp; ASK · 息壤杯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B70B-7462-4B6D-B07B-B54173CD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让每个学生都成为 Agent 搭建者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0290-103B-4701-8E1A-B5DD72B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61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C9D4E7"/>
                </a:solidFill>
                <a:latin typeface="Microsoft YaHei"/>
                <a:ea typeface="Microsoft YaHei"/>
                <a:cs typeface="Microsoft YaHei"/>
              </a:rPr>
              <a:t>从课堂 Agent 素养出发，走向可解释的个人创造、办公自动化与开放生态。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2C0F7-5B3C-4F73-A11B-6BF48C1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11C2E"/>
          </a:solidFill>
          <a:ln xmlns:a="http://schemas.openxmlformats.org/drawingml/2006/main" w="9525">
            <a:solidFill>
              <a:srgbClr val="2A3B5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529D7-FB5C-4968-B515-E1844BC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6EA8FF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4F23-B942-4474-9608-EABE10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69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C9D4E7"/>
                </a:solidFill>
                <a:latin typeface="Microsoft YaHei"/>
                <a:ea typeface="Microsoft YaHei"/>
                <a:cs typeface="Microsoft YaHei"/>
              </a:rPr>
              <a:t>Scratch 式积木 → 蓝图 / 原子 / 内部代码 → 稳定 IR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F5B33-D30B-424A-8633-05F48502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11C2E"/>
          </a:solidFill>
          <a:ln xmlns:a="http://schemas.openxmlformats.org/drawingml/2006/main" w="9525">
            <a:solidFill>
              <a:srgbClr val="2A3B5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0F99A-71C3-4776-86BD-BCA02E0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6EA8FF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78230-F9D1-4817-BFBE-A98516C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49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C9D4E7"/>
                </a:solidFill>
                <a:latin typeface="Microsoft YaHei"/>
                <a:ea typeface="Microsoft YaHei"/>
                <a:cs typeface="Microsoft YaHei"/>
              </a:rPr>
              <a:t>教育基础 → 教育拓展 → 专业订阅 → 机构 / 企业服务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E941-6066-4EBC-A98A-A960A6A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11C2E"/>
          </a:solidFill>
          <a:ln xmlns:a="http://schemas.openxmlformats.org/drawingml/2006/main" w="9525">
            <a:solidFill>
              <a:srgbClr val="2A3B5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1A91A-464F-4219-9F32-475C04D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6EA8FF"/>
                </a:solidFill>
                <a:latin typeface="Microsoft YaHei"/>
                <a:ea typeface="Microsoft YaHei"/>
                <a:cs typeface="Microsoft YaHei"/>
              </a:rPr>
              <a:t>社会价值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D0A8-C659-4859-921C-03C67B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49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C9D4E7"/>
                </a:solidFill>
                <a:latin typeface="Microsoft YaHei"/>
                <a:ea typeface="Microsoft YaHei"/>
                <a:cs typeface="Microsoft YaHei"/>
              </a:rPr>
              <a:t>让系统设计、权限、运行解释与责任边界成为基础素养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CCF3B-7F61-4F8E-8114-B179283C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11C2E"/>
          </a:solidFill>
          <a:ln xmlns:a="http://schemas.openxmlformats.org/drawingml/2006/main" w="9525">
            <a:solidFill>
              <a:srgbClr val="2A3B5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A626C-9C04-4FAE-BC65-E8A5212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6EA8FF"/>
                </a:solidFill>
                <a:latin typeface="Microsoft YaHei"/>
                <a:ea typeface="Microsoft YaHei"/>
                <a:cs typeface="Microsoft YaHei"/>
              </a:rPr>
              <a:t>实证基础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57EE7-7F81-4464-8979-197EB20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C9D4E7"/>
                </a:solidFill>
                <a:latin typeface="Microsoft YaHei"/>
                <a:ea typeface="Microsoft YaHei"/>
                <a:cs typeface="Microsoft YaHei"/>
              </a:rPr>
              <a:t>Windows Core 运行实证 + 正式契约两轮验收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3A06B-7BFF-4E7E-8DAA-60EA648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11C2E"/>
          </a:solidFill>
          <a:ln xmlns:a="http://schemas.openxmlformats.org/drawingml/2006/main" w="9525">
            <a:solidFill>
              <a:srgbClr val="2A3B5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A3C-288C-4A00-97FF-634528A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6EA8FF"/>
                </a:solidFill>
                <a:latin typeface="Microsoft YaHei"/>
                <a:ea typeface="Microsoft YaHei"/>
                <a:cs typeface="Microsoft YaHei"/>
              </a:rPr>
              <a:t>生态潜力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18F7C-02D0-4648-A0C5-EB888F4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1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C9D4E7"/>
                </a:solidFill>
                <a:latin typeface="Microsoft YaHei"/>
                <a:ea typeface="Microsoft YaHei"/>
                <a:cs typeface="Microsoft YaHei"/>
              </a:rPr>
              <a:t>6 模板 · 项目积木化 · CLI / 4 Skills · AppSurface · 社区 · 移动使用器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48DC8-FD0E-4409-AF0D-36EA44C8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5158D-A40F-4F26-A504-ACC88C8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3880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希望赛事连接：试点教师与学校、办公场景共创方、模型与算力、渠道与生态合作伙伴。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ABEAE-0810-4707-A36D-B3CBE2D3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8191AD"/>
                </a:solidFill>
                <a:latin typeface="Microsoft YaHei"/>
                <a:ea typeface="Microsoft YaHei"/>
                <a:cs typeface="Microsoft YaHei"/>
              </a:rPr>
              <a:t>Blocky Studio · 2026 息壤杯 · Agent 搭建教育与办公扩展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e5d17edd794151"/>
          <a:stretch xmlns:a="http://schemas.openxmlformats.org/drawingml/2006/main"/>
        </p:blipFill>
        <p:spPr>
          <a:xfrm xmlns:a="http://schemas.openxmlformats.org/drawingml/2006/main">
            <a:off x="9219887" y="428625"/>
            <a:ext cx="1753225" cy="2190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01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2026-08-26T07:26:59.7530000Z</dcterms:created>
  <dcterms:modified xsi:type="dcterms:W3CDTF">2026-08-26T07:26:59.7530000Z</dcterms:modified>
</coreProperties>
</file>
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b907fac2e94364" /><Relationship Type="http://schemas.openxmlformats.org/officeDocument/2006/relationships/extended-properties" Target="/docProps/app.xml" Id="Rb8d312c32591429f" /><Relationship Type="http://schemas.openxmlformats.org/officeDocument/2006/relationships/officeDocument" Target="/ppt/presentation.xml" Id="R77d403d2aeb84e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301926e90e4d4d"/>
  </p:sldMasterIdLst>
  <p:notesMasterIdLst>
    <p:notesMasterId xmlns:r="http://schemas.openxmlformats.org/officeDocument/2006/relationships" r:id="Rb277cfba7be040ab"/>
  </p:notesMasterIdLst>
  <p:sldIdLst>
    <p:sldId xmlns:r="http://schemas.openxmlformats.org/officeDocument/2006/relationships" id="256" r:id="R7493b5dba31148be"/>
    <p:sldId xmlns:r="http://schemas.openxmlformats.org/officeDocument/2006/relationships" id="257" r:id="R481ad1abdacf4377"/>
    <p:sldId xmlns:r="http://schemas.openxmlformats.org/officeDocument/2006/relationships" id="258" r:id="Reea4bce34da649a0"/>
    <p:sldId xmlns:r="http://schemas.openxmlformats.org/officeDocument/2006/relationships" id="259" r:id="R8b0f352cc6854fcc"/>
    <p:sldId xmlns:r="http://schemas.openxmlformats.org/officeDocument/2006/relationships" id="260" r:id="Refc0d65815754c64"/>
    <p:sldId xmlns:r="http://schemas.openxmlformats.org/officeDocument/2006/relationships" id="261" r:id="R29151ffd8f344df7"/>
    <p:sldId xmlns:r="http://schemas.openxmlformats.org/officeDocument/2006/relationships" id="262" r:id="Rf43b188c4cb24127"/>
    <p:sldId xmlns:r="http://schemas.openxmlformats.org/officeDocument/2006/relationships" id="263" r:id="R7f81ce4c08ed4a01"/>
    <p:sldId xmlns:r="http://schemas.openxmlformats.org/officeDocument/2006/relationships" id="264" r:id="Rb06ef6abe8f64aa6"/>
    <p:sldId xmlns:r="http://schemas.openxmlformats.org/officeDocument/2006/relationships" id="265" r:id="Ra7a0541ef3654cd3"/>
    <p:sldId xmlns:r="http://schemas.openxmlformats.org/officeDocument/2006/relationships" id="266" r:id="R516becd7715f4df1"/>
    <p:sldId xmlns:r="http://schemas.openxmlformats.org/officeDocument/2006/relationships" id="267" r:id="R56d2b488c8354f3d"/>
    <p:sldId xmlns:r="http://schemas.openxmlformats.org/officeDocument/2006/relationships" id="268" r:id="R98144b3121844f3f"/>
    <p:sldId xmlns:r="http://schemas.openxmlformats.org/officeDocument/2006/relationships" id="269" r:id="R7b69575f7e3e45e5"/>
    <p:sldId xmlns:r="http://schemas.openxmlformats.org/officeDocument/2006/relationships" id="270" r:id="Rdf4d94d5f9c745a4"/>
    <p:sldId xmlns:r="http://schemas.openxmlformats.org/officeDocument/2006/relationships" id="271" r:id="Rbca395a4f33940a9"/>
    <p:sldId xmlns:r="http://schemas.openxmlformats.org/officeDocument/2006/relationships" id="272" r:id="Ref02accca155445b"/>
    <p:sldId xmlns:r="http://schemas.openxmlformats.org/officeDocument/2006/relationships" id="273" r:id="R7894b04373ec4e0d"/>
    <p:sldId xmlns:r="http://schemas.openxmlformats.org/officeDocument/2006/relationships" id="274" r:id="R2a55b2e9f87b4a91"/>
    <p:sldId xmlns:r="http://schemas.openxmlformats.org/officeDocument/2006/relationships" id="275" r:id="Raeea8ca22e29433b"/>
    <p:sldId xmlns:r="http://schemas.openxmlformats.org/officeDocument/2006/relationships" id="276" r:id="R3295bc0a0ed647e6"/>
    <p:sldId xmlns:r="http://schemas.openxmlformats.org/officeDocument/2006/relationships" id="277" r:id="R376cda6d224f4825"/>
    <p:sldId xmlns:r="http://schemas.openxmlformats.org/officeDocument/2006/relationships" id="278" r:id="R3d8b24a2291b4104"/>
    <p:sldId xmlns:r="http://schemas.openxmlformats.org/officeDocument/2006/relationships" id="279" r:id="Rc1a221b1348e4da4"/>
    <p:sldId xmlns:r="http://schemas.openxmlformats.org/officeDocument/2006/relationships" id="280" r:id="R8ba1a22ddbcd4025"/>
    <p:sldId xmlns:r="http://schemas.openxmlformats.org/officeDocument/2006/relationships" id="281" r:id="R9fb92b7426b44ff1"/>
    <p:sldId xmlns:r="http://schemas.openxmlformats.org/officeDocument/2006/relationships" id="282" r:id="R850d8031c12c4b28"/>
    <p:sldId xmlns:r="http://schemas.openxmlformats.org/officeDocument/2006/relationships" id="283" r:id="Rac47c951824e41e7"/>
    <p:sldId xmlns:r="http://schemas.openxmlformats.org/officeDocument/2006/relationships" id="284" r:id="Rc4395c3f71f3400a"/>
    <p:sldId xmlns:r="http://schemas.openxmlformats.org/officeDocument/2006/relationships" id="285" r:id="R6131698aa49d4513"/>
    <p:sldId xmlns:r="http://schemas.openxmlformats.org/officeDocument/2006/relationships" id="286" r:id="R9bb874021c4d4db9"/>
    <p:sldId xmlns:r="http://schemas.openxmlformats.org/officeDocument/2006/relationships" id="287" r:id="R087850ca795a4267"/>
    <p:sldId xmlns:r="http://schemas.openxmlformats.org/officeDocument/2006/relationships" id="288" r:id="R64ba33138d0a449c"/>
    <p:sldId xmlns:r="http://schemas.openxmlformats.org/officeDocument/2006/relationships" id="289" r:id="Rf700b25178ae4005"/>
    <p:sldId xmlns:r="http://schemas.openxmlformats.org/officeDocument/2006/relationships" id="290" r:id="Ra4fe6f4b3e424f2d"/>
    <p:sldId xmlns:r="http://schemas.openxmlformats.org/officeDocument/2006/relationships" id="291" r:id="R47732036cc554d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b0df74fc51495a" /><Relationship Type="http://schemas.openxmlformats.org/officeDocument/2006/relationships/slideMaster" Target="/ppt/slideMasters/slideMaster1.xml" Id="Rf5301926e90e4d4d" /><Relationship Type="http://schemas.openxmlformats.org/officeDocument/2006/relationships/notesMaster" Target="/ppt/notesMasters/notesMaster1.xml" Id="Rb277cfba7be040ab" /><Relationship Type="http://schemas.openxmlformats.org/officeDocument/2006/relationships/presProps" Target="/ppt/presProps.xml" Id="Re91f2c2dfb504d31" /><Relationship Type="http://schemas.openxmlformats.org/officeDocument/2006/relationships/tableStyles" Target="/ppt/tableStyles.xml" Id="Ra454bf893bc6441d" /><Relationship Type="http://schemas.openxmlformats.org/officeDocument/2006/relationships/slide" Target="/ppt/slides/slide1.xml" Id="R7493b5dba31148be" /><Relationship Type="http://schemas.openxmlformats.org/officeDocument/2006/relationships/slide" Target="/ppt/slides/slide2.xml" Id="R481ad1abdacf4377" /><Relationship Type="http://schemas.openxmlformats.org/officeDocument/2006/relationships/slide" Target="/ppt/slides/slide3.xml" Id="Reea4bce34da649a0" /><Relationship Type="http://schemas.openxmlformats.org/officeDocument/2006/relationships/slide" Target="/ppt/slides/slide4.xml" Id="R8b0f352cc6854fcc" /><Relationship Type="http://schemas.openxmlformats.org/officeDocument/2006/relationships/slide" Target="/ppt/slides/slide5.xml" Id="Refc0d65815754c64" /><Relationship Type="http://schemas.openxmlformats.org/officeDocument/2006/relationships/slide" Target="/ppt/slides/slide6.xml" Id="R29151ffd8f344df7" /><Relationship Type="http://schemas.openxmlformats.org/officeDocument/2006/relationships/slide" Target="/ppt/slides/slide7.xml" Id="Rf43b188c4cb24127" /><Relationship Type="http://schemas.openxmlformats.org/officeDocument/2006/relationships/slide" Target="/ppt/slides/slide8.xml" Id="R7f81ce4c08ed4a01" /><Relationship Type="http://schemas.openxmlformats.org/officeDocument/2006/relationships/slide" Target="/ppt/slides/slide9.xml" Id="Rb06ef6abe8f64aa6" /><Relationship Type="http://schemas.openxmlformats.org/officeDocument/2006/relationships/slide" Target="/ppt/slides/slide10.xml" Id="Ra7a0541ef3654cd3" /><Relationship Type="http://schemas.openxmlformats.org/officeDocument/2006/relationships/slide" Target="/ppt/slides/slide11.xml" Id="R516becd7715f4df1" /><Relationship Type="http://schemas.openxmlformats.org/officeDocument/2006/relationships/slide" Target="/ppt/slides/slide12.xml" Id="R56d2b488c8354f3d" /><Relationship Type="http://schemas.openxmlformats.org/officeDocument/2006/relationships/slide" Target="/ppt/slides/slide13.xml" Id="R98144b3121844f3f" /><Relationship Type="http://schemas.openxmlformats.org/officeDocument/2006/relationships/slide" Target="/ppt/slides/slide14.xml" Id="R7b69575f7e3e45e5" /><Relationship Type="http://schemas.openxmlformats.org/officeDocument/2006/relationships/slide" Target="/ppt/slides/slide15.xml" Id="Rdf4d94d5f9c745a4" /><Relationship Type="http://schemas.openxmlformats.org/officeDocument/2006/relationships/slide" Target="/ppt/slides/slide16.xml" Id="Rbca395a4f33940a9" /><Relationship Type="http://schemas.openxmlformats.org/officeDocument/2006/relationships/slide" Target="/ppt/slides/slide17.xml" Id="Ref02accca155445b" /><Relationship Type="http://schemas.openxmlformats.org/officeDocument/2006/relationships/slide" Target="/ppt/slides/slide18.xml" Id="R7894b04373ec4e0d" /><Relationship Type="http://schemas.openxmlformats.org/officeDocument/2006/relationships/slide" Target="/ppt/slides/slide19.xml" Id="R2a55b2e9f87b4a91" /><Relationship Type="http://schemas.openxmlformats.org/officeDocument/2006/relationships/slide" Target="/ppt/slides/slide20.xml" Id="Raeea8ca22e29433b" /><Relationship Type="http://schemas.openxmlformats.org/officeDocument/2006/relationships/slide" Target="/ppt/slides/slide21.xml" Id="R3295bc0a0ed647e6" /><Relationship Type="http://schemas.openxmlformats.org/officeDocument/2006/relationships/slide" Target="/ppt/slides/slide22.xml" Id="R376cda6d224f4825" /><Relationship Type="http://schemas.openxmlformats.org/officeDocument/2006/relationships/slide" Target="/ppt/slides/slide23.xml" Id="R3d8b24a2291b4104" /><Relationship Type="http://schemas.openxmlformats.org/officeDocument/2006/relationships/slide" Target="/ppt/slides/slide24.xml" Id="Rc1a221b1348e4da4" /><Relationship Type="http://schemas.openxmlformats.org/officeDocument/2006/relationships/slide" Target="/ppt/slides/slide25.xml" Id="R8ba1a22ddbcd4025" /><Relationship Type="http://schemas.openxmlformats.org/officeDocument/2006/relationships/slide" Target="/ppt/slides/slide26.xml" Id="R9fb92b7426b44ff1" /><Relationship Type="http://schemas.openxmlformats.org/officeDocument/2006/relationships/slide" Target="/ppt/slides/slide27.xml" Id="R850d8031c12c4b28" /><Relationship Type="http://schemas.openxmlformats.org/officeDocument/2006/relationships/slide" Target="/ppt/slides/slide28.xml" Id="Rac47c951824e41e7" /><Relationship Type="http://schemas.openxmlformats.org/officeDocument/2006/relationships/slide" Target="/ppt/slides/slide29.xml" Id="Rc4395c3f71f3400a" /><Relationship Type="http://schemas.openxmlformats.org/officeDocument/2006/relationships/slide" Target="/ppt/slides/slide30.xml" Id="R6131698aa49d4513" /><Relationship Type="http://schemas.openxmlformats.org/officeDocument/2006/relationships/slide" Target="/ppt/slides/slide31.xml" Id="R9bb874021c4d4db9" /><Relationship Type="http://schemas.openxmlformats.org/officeDocument/2006/relationships/slide" Target="/ppt/slides/slide32.xml" Id="R087850ca795a4267" /><Relationship Type="http://schemas.openxmlformats.org/officeDocument/2006/relationships/slide" Target="/ppt/slides/slide33.xml" Id="R64ba33138d0a449c" /><Relationship Type="http://schemas.openxmlformats.org/officeDocument/2006/relationships/slide" Target="/ppt/slides/slide34.xml" Id="Rf700b25178ae4005" /><Relationship Type="http://schemas.openxmlformats.org/officeDocument/2006/relationships/slide" Target="/ppt/slides/slide35.xml" Id="Ra4fe6f4b3e424f2d" /><Relationship Type="http://schemas.openxmlformats.org/officeDocument/2006/relationships/slide" Target="/ppt/slides/slide36.xml" Id="R47732036cc554d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55295f34fe43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b9841e64e5451a" /><Relationship Type="http://schemas.openxmlformats.org/officeDocument/2006/relationships/notesMaster" Target="/ppt/notesMasters/notesMaster1.xml" Id="Rb308b16ec8494c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a5b86fba5640b0" /><Relationship Type="http://schemas.openxmlformats.org/officeDocument/2006/relationships/notesMaster" Target="/ppt/notesMasters/notesMaster1.xml" Id="R9906a104d7a94c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f7809b3ccb4e22" /><Relationship Type="http://schemas.openxmlformats.org/officeDocument/2006/relationships/notesMaster" Target="/ppt/notesMasters/notesMaster1.xml" Id="Reb9bdece221748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f1feb55db845b8" /><Relationship Type="http://schemas.openxmlformats.org/officeDocument/2006/relationships/notesMaster" Target="/ppt/notesMasters/notesMaster1.xml" Id="R605981f8703d4c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09dccc5ef649e2" /><Relationship Type="http://schemas.openxmlformats.org/officeDocument/2006/relationships/notesMaster" Target="/ppt/notesMasters/notesMaster1.xml" Id="R8b7bf893da334f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5d257a703c4d41" /><Relationship Type="http://schemas.openxmlformats.org/officeDocument/2006/relationships/notesMaster" Target="/ppt/notesMasters/notesMaster1.xml" Id="R16f27cd4be0944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29f40eeff240b2" /><Relationship Type="http://schemas.openxmlformats.org/officeDocument/2006/relationships/notesMaster" Target="/ppt/notesMasters/notesMaster1.xml" Id="R359fe021af7b46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e969ec31b941fe" /><Relationship Type="http://schemas.openxmlformats.org/officeDocument/2006/relationships/notesMaster" Target="/ppt/notesMasters/notesMaster1.xml" Id="Rf2026c8f7f8c40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6fe69020b04c39" /><Relationship Type="http://schemas.openxmlformats.org/officeDocument/2006/relationships/notesMaster" Target="/ppt/notesMasters/notesMaster1.xml" Id="R9736eb5ce2124b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49aeae3784bef" /><Relationship Type="http://schemas.openxmlformats.org/officeDocument/2006/relationships/notesMaster" Target="/ppt/notesMasters/notesMaster1.xml" Id="Rc9fcf768f6b34d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f2fe90e5bf4fb8" /><Relationship Type="http://schemas.openxmlformats.org/officeDocument/2006/relationships/notesMaster" Target="/ppt/notesMasters/notesMaster1.xml" Id="Rce84f0eaf9154d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0e380398514c90" /><Relationship Type="http://schemas.openxmlformats.org/officeDocument/2006/relationships/notesMaster" Target="/ppt/notesMasters/notesMaster1.xml" Id="R64ade148ce7940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53b49170534276" /><Relationship Type="http://schemas.openxmlformats.org/officeDocument/2006/relationships/notesMaster" Target="/ppt/notesMasters/notesMaster1.xml" Id="R3b4498b6967b43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a3ee289c8a44ad" /><Relationship Type="http://schemas.openxmlformats.org/officeDocument/2006/relationships/notesMaster" Target="/ppt/notesMasters/notesMaster1.xml" Id="Rf342ad77d0ef4e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25315b5ed44553" /><Relationship Type="http://schemas.openxmlformats.org/officeDocument/2006/relationships/notesMaster" Target="/ppt/notesMasters/notesMaster1.xml" Id="R6613dae009bd42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7ef225059e44a0" /><Relationship Type="http://schemas.openxmlformats.org/officeDocument/2006/relationships/notesMaster" Target="/ppt/notesMasters/notesMaster1.xml" Id="R9be50302e58446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7690be8398d4b0a" /><Relationship Type="http://schemas.openxmlformats.org/officeDocument/2006/relationships/notesMaster" Target="/ppt/notesMasters/notesMaster1.xml" Id="R2ebbd0ec99f34a2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68639eb3dcb4f95" /><Relationship Type="http://schemas.openxmlformats.org/officeDocument/2006/relationships/notesMaster" Target="/ppt/notesMasters/notesMaster1.xml" Id="R938641cc44554b0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0f849de8e0b4452" /><Relationship Type="http://schemas.openxmlformats.org/officeDocument/2006/relationships/notesMaster" Target="/ppt/notesMasters/notesMaster1.xml" Id="Ra5aa2144dbcd4f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8f024241d354482" /><Relationship Type="http://schemas.openxmlformats.org/officeDocument/2006/relationships/notesMaster" Target="/ppt/notesMasters/notesMaster1.xml" Id="Rf38189b4295a4b8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668ef87ebf64172" /><Relationship Type="http://schemas.openxmlformats.org/officeDocument/2006/relationships/notesMaster" Target="/ppt/notesMasters/notesMaster1.xml" Id="R89cb130be92c49b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04efee9b7434053" /><Relationship Type="http://schemas.openxmlformats.org/officeDocument/2006/relationships/notesMaster" Target="/ppt/notesMasters/notesMaster1.xml" Id="R66b6cb10478643c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0a29a4e0bea44d3" /><Relationship Type="http://schemas.openxmlformats.org/officeDocument/2006/relationships/notesMaster" Target="/ppt/notesMasters/notesMaster1.xml" Id="R08ff2db01a06418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b50ace909444578" /><Relationship Type="http://schemas.openxmlformats.org/officeDocument/2006/relationships/notesMaster" Target="/ppt/notesMasters/notesMaster1.xml" Id="R9be514f9ed894a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1f119a00f3748f4" /><Relationship Type="http://schemas.openxmlformats.org/officeDocument/2006/relationships/notesMaster" Target="/ppt/notesMasters/notesMaster1.xml" Id="Raba48c32f9a8455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126a03dc9c24ae8" /><Relationship Type="http://schemas.openxmlformats.org/officeDocument/2006/relationships/notesMaster" Target="/ppt/notesMasters/notesMaster1.xml" Id="R354bda28698048b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70038650fb5497a" /><Relationship Type="http://schemas.openxmlformats.org/officeDocument/2006/relationships/notesMaster" Target="/ppt/notesMasters/notesMaster1.xml" Id="Rb499c80801c8408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981584b33be496a" /><Relationship Type="http://schemas.openxmlformats.org/officeDocument/2006/relationships/notesMaster" Target="/ppt/notesMasters/notesMaster1.xml" Id="Ra98f4731a65c42a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379491d93cd4b6c" /><Relationship Type="http://schemas.openxmlformats.org/officeDocument/2006/relationships/notesMaster" Target="/ppt/notesMasters/notesMaster1.xml" Id="R00ef515ac14141b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2925ec027e54ea8" /><Relationship Type="http://schemas.openxmlformats.org/officeDocument/2006/relationships/notesMaster" Target="/ppt/notesMasters/notesMaster1.xml" Id="Rf1ed3565a96b406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651188068c4b86" /><Relationship Type="http://schemas.openxmlformats.org/officeDocument/2006/relationships/notesMaster" Target="/ppt/notesMasters/notesMaster1.xml" Id="R40d40cb1c1e041c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8db895a63a7431e" /><Relationship Type="http://schemas.openxmlformats.org/officeDocument/2006/relationships/notesMaster" Target="/ppt/notesMasters/notesMaster1.xml" Id="R4bbfa2de84cb47b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a5e0b4e09374561" /><Relationship Type="http://schemas.openxmlformats.org/officeDocument/2006/relationships/notesMaster" Target="/ppt/notesMasters/notesMaster1.xml" Id="R8f2ff2c67e0a4ec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9dd3d55a24e4d72" /><Relationship Type="http://schemas.openxmlformats.org/officeDocument/2006/relationships/notesMaster" Target="/ppt/notesMasters/notesMaster1.xml" Id="Rabd6f1c853984c2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954a14079d64144" /><Relationship Type="http://schemas.openxmlformats.org/officeDocument/2006/relationships/notesMaster" Target="/ppt/notesMasters/notesMaster1.xml" Id="R2de9aa9fe5214c9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5390de7c7c140e7" /><Relationship Type="http://schemas.openxmlformats.org/officeDocument/2006/relationships/notesMaster" Target="/ppt/notesMasters/notesMaster1.xml" Id="R63319c29ab704e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开场给出完整投资命题：教育是可验证入口，长期价值来自同一 Agent 语言、运行内核与项目积木化。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已验证可视化编程的教育价值；Blocky 把同样的可见性带到 Agent 的角色、知识、工具、记忆与权限。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https://scratch.mit.edu/educators/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产品答案是一套 Scratch 式 Agent 语言。截图只代表 Windows Core 技术尖峰实证，正式产品状态在后页分层说明。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课堂采用多课时项目制，每课时完成一个可检查里程碑，避免把复杂 Agent 误写成一节课完成。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工程证据包括 Windows Core 长稳、Host 保存重载与正式契约验收。技术证据不等同于课堂或收入证据。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- D:/1Folder/Blocky-AI/doc/验收/归档/2026-08-23/验收-Blocky阶段0契约冻结.md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个月漏斗假设：20 名共创教师形成 30 个课堂样板；每课堂 40 人、10% 转个人年费，共 120 人；5 家付费试点扩至 10 家年度机构、每家 80 席，共 800 席。合计 920 个教育付费席位，均为目标而非当前牵引。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18-month funnel targets; 30 classrooms × 40 students × 10% conversion + 10 institutions × 80 seats = 920 education paid seats.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个月 SOM 直接承接上一页漏斗：920 个教育席位与 100 个专业年费用户，年化订阅收入 142.16 万元。Y3 扩大路径为 5,000 教育与 500 专业用户。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Calculation: 920×980 + 100×5,200 = RMB 1,421,600; 5,000×980 + 500×5,200 = RMB 7,500,000.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竞争页比较用户替代方案的学习门槛、结构可见性和工程要求，不把 Blocky 描述为传统连线工具。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https://scratch.mit.edu/educators/</a:t>
            </a:r>
          </a:p>
          <a:p xmlns:a="http://schemas.openxmlformats.org/drawingml/2006/main">
            <a:r>
              <a:t>- https://docs.dify.ai/</a:t>
            </a:r>
          </a:p>
          <a:p xmlns:a="http://schemas.openxmlformats.org/drawingml/2006/main">
            <a:r>
              <a:t>- https://docs.n8n.io/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https://github.com/dkorobtsov/pitch-deck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壁垒链由可见 AST、稳定 IR、受控 Runtime 和可回放 Trace 组成；课程、适配器和社区资产在同一语言上累积。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教育是首个入口，同一项目格式继续承载个人创作、办公自动化、服务交付、社区和多端使用。页面描述的是目标形态。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订阅价格来自当前商业基线；毛利目标用透明成本比例约束。教育成本目标为模型云 18%、支付 2%、支持 5%；专业为 22%、2%、6%；机构与企业毛利依赖课程、交付人天和私有资产复用。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Assumption: cost shares and gross-margin targets are management targets for scenario planning, not historical performance.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GTM 从教师共创开始，以作品、轨迹、引用和复用证据推动机构决策，再通过订阅与服务形成复购。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cycle lengths and conversion stages are operating hypotheses.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四道门槛分别验证共创意愿、学生完成、教师复用和机构采购承诺；机构门槛要求进入正式预算流程并形成至少 5 家付费试点或订金。数值均是目标。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- Assumption: 20 teachers, 30 classroom samples, 70% completion, 50% reuse and 5 paid pilots or deposits.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团队页如实呈现创始人主导状态，不虚构姓名或履历；本轮资金支持 3 人核心配置：创始人负责产品与 Agent 工程，新增桌面运行工程和教育商业两个岗位，并建立教师、教研与合规合作网络。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D:/1Folder/Blocky-AI/AGENTS.md</a:t>
            </a:r>
          </a:p>
          <a:p xmlns:a="http://schemas.openxmlformats.org/drawingml/2006/main">
            <a:r>
              <a:t>- D:/1Folder/Blocky-AI/doc/技术设计/Windows-Core技术尖峰报告.md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三年基准情景只计算教育与专业订阅，不计机构和企业服务。现金结果按订阅收入×综合毛利率减团队与运营投入：Y1 约负 187 万、Y2 约负 153 万、Y3 正 90 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</a:t>
            </a:r>
          </a:p>
          <a:p xmlns:a="http://schemas.openxmlformats.org/drawingml/2006/main">
            <a:r>
              <a:t>- Calculation: Y1 220,000×60%-2,000,000≈-1,868,000; Y2 1,421,600×68%-2,500,000≈-1,533,000; Y3 7,500,000×72%-4,500,000=900,000.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300 万元覆盖 18 个月，平均月度投入约 16.7 万元。0–6 月完成 3 人配置、正式产品闭环和 20 名共创教师；7–12 月形成 30 个课堂样板与至少 5 家付费试点；13–18 月目标 920 教育席和 100 专业订阅。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Assumption: proposed RMB 3 million / 18-month milestone and staffing plan for investor review.</a:t>
            </a:r>
          </a:p>
          <a:p xmlns:a="http://schemas.openxmlformats.org/drawingml/2006/main">
            <a:r>
              <a:t>- D:/1Folder/Blocky-AI/doc/执行计划/2026-08-23-Blocky-竞品驱动完整开发计划.md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资源诉求以 300 万元、18 个月、3 人核心团队和平均月度投入 16.7 万元为口径，目标是完成正式产品闭环、课堂样板、付费试点与首批机构复制。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Assumption: proposed seed resource envelope of RMB 3 million over 18 months.</a:t>
            </a:r>
          </a:p>
          <a:p xmlns:a="http://schemas.openxmlformats.org/drawingml/2006/main">
            <a:r>
              <a:t>- https://js.news.cn/20260814/e55cedf9698f4f56a99a8a96d8473a54/c.html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收束投资命题：教育验证易学，工程底座保证可用，项目积木化和资产复用打开长期平台价值。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附录保留完整产品、服务、兼容模板、CLI、社区、移动使用器和长期路线。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D:/1Folder/Blocky-AI/AGENTS.md</a:t>
            </a:r>
          </a:p>
          <a:p xmlns:a="http://schemas.openxmlformats.org/drawingml/2006/main">
            <a:r>
              <a:t>- D:/1Folder/Blocky-AI/doc/产品设计/Blocky-完整积木与Agent兼容设计.md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 3 分钟是基于现成蓝图的产品演示时长，不是完整课程时长。五步连续呈现选择蓝图、修改角色/知识/工具、运行、查看轨迹与保存重开，并让引用、拒答和项目复现证据同屏。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creation depths share one project format: compatibility templates, expandable Blocky blueprints, atomic blocks, and controlled internal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(four creation levels)</a:t>
            </a:r>
          </a:p>
          <a:p xmlns:a="http://schemas.openxmlformats.org/drawingml/2006/main">
            <a:r>
              <a:t>- D:/1Folder/Blocky-AI/doc/产品设计/Blocky-积木完整清单.md (19 capability families and stable semantic catalog)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Internal code is a controlled local implementation layer, not a place to hide Agent topology, tool contracts, or permissions.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D:/1Folder/Blocky-AI/doc/产品设计/Blocky-完整积木与Agent兼容设计.md (block internal code and status)</a:t>
            </a:r>
          </a:p>
          <a:p xmlns:a="http://schemas.openxmlformats.org/drawingml/2006/main">
            <a:r>
              <a:t>- D:/1Folder/Blocky-AI/doc/产品设计/Blocky-交互入口与工具积木设计.md (visual and code custom blocks)</a:t>
            </a:r>
          </a:p>
          <a:p xmlns:a="http://schemas.openxmlformats.org/drawingml/2006/main">
            <a:r>
              <a:t>- D:/1Folder/Blocky-AI/doc/技术设计/ADR-004-开放扩展与社区安全边界.md (code extension isolation and permissions)</a:t>
            </a:r>
          </a:p>
          <a:p xmlns:a="http://schemas.openxmlformats.org/drawingml/2006/main">
            <a:r>
              <a:t>- D:/1Folder/Blocky-AI/PPT与商业计划书/assets/blocky-block-internals-v1.png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AppSurface is optional and explicit. Creating a page does not implicitly create authentication, a database, a domain, or deployment.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(multi-canvas, AppSurface, browser preview)</a:t>
            </a:r>
          </a:p>
          <a:p xmlns:a="http://schemas.openxmlformats.org/drawingml/2006/main">
            <a:r>
              <a:t>- D:/1Folder/Blocky-AI/doc/技术设计/ADR-005-多模块应用界面与RPA边界.md (explicit creation and isolated bridge)</a:t>
            </a:r>
          </a:p>
          <a:p xmlns:a="http://schemas.openxmlformats.org/drawingml/2006/main">
            <a:r>
              <a:t>- D:/1Folder/Blocky-AI/PPT与商业计划书/assets/blocky-appsurface-frontend-v1.png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Office expansion uses the same module language. The first route is attended automation with explicit approvals, checkpoints, and semantic/UIA targeting.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(office scenarios and attended RPA)</a:t>
            </a:r>
          </a:p>
          <a:p xmlns:a="http://schemas.openxmlformats.org/drawingml/2006/main">
            <a:r>
              <a:t>- D:/1Folder/Blocky-AI/doc/技术设计/ADR-005-多模块应用界面与RPA边界.md (RPA Host and recovery boundary)</a:t>
            </a:r>
          </a:p>
          <a:p xmlns:a="http://schemas.openxmlformats.org/drawingml/2006/main">
            <a:r>
              <a:t>- D:/1Folder/Blocky-AI/PPT与商业计划书/assets/blocky-office-automation-v1.png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office blueprint families are product scenarios derived from the office/RPA design, not current implementation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D:/1Folder/Blocky-AI/doc/产品设计/Blocky-多画布应用界面与RPA设计.md (legacy system, browser-desktop, Excel/form, reconciliation, ticket, no-API scenarios)</a:t>
            </a:r>
          </a:p>
          <a:p xmlns:a="http://schemas.openxmlformats.org/drawingml/2006/main">
            <a:r>
              <a:t>- D:/1Folder/Blocky-AI/doc/产品设计/Blocky-积木完整清单.md (computer, browser, data, approval, checkpoint capabilities)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desktop workbench separates editing facts, runtime events, user terminals, Agent process requests, logs, and audit while preserving stable source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D:/1Folder/Blocky-AI/doc/产品设计/Blocky-底部面板终端与日志系统设计.md (Problems, Run Log, Terminal, Output, redaction)</a:t>
            </a:r>
          </a:p>
          <a:p xmlns:a="http://schemas.openxmlformats.org/drawingml/2006/main">
            <a:r>
              <a:t>- D:/1Folder/Blocky-AI/doc/产品设计/Blocky-设置中心设计模板.md (workspace, preview, RPA, terminal, logging settings)</a:t>
            </a:r>
          </a:p>
          <a:p xmlns:a="http://schemas.openxmlformats.org/drawingml/2006/main">
            <a:r>
              <a:t>- D:/1Folder/Blocky-AI/doc/技术设计/ADR-006-底部面板终端与日志系统边界.md (terminal and event isolation)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构建助手不仅搭建 Agent，还承担项目积木化入口：锁定来源，理解源码与行为，映射 Blocky 语义，生成幽灵差异，再通过编译、测试和运行轨迹验证。它让新的仓库、Agent 与业务能力持续进入 Blocky，而核心积木目录仍保持稳定。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(核心决策、证据链与性能设计)</a:t>
            </a:r>
          </a:p>
          <a:p xmlns:a="http://schemas.openxmlformats.org/drawingml/2006/main">
            <a:r>
              <a:t>- D:/1Folder/Blocky-AI/doc/技术设计/ADR-003-CLI与官方Agent-Skill接口.md (conversion-core、Build Spec 与语义补丁)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项目积木化的输入不只是一类 GitHub 仓库。Blocky 可以面向本地代码、现有 Agent、知识/RAG、MCP/CLI/API、业务自动化与教学或组织资产进行分型，再把它们组合进同一模块项目。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(仓库分型、RAG 组件与 Harness 夹具)</a:t>
            </a:r>
          </a:p>
          <a:p xmlns:a="http://schemas.openxmlformats.org/drawingml/2006/main">
            <a:r>
              <a:t>- D:/1Folder/Blocky-AI/doc/产品设计/Blocky-多画布应用界面与RPA设计.md (业务流程、RPA 与跨模块表达)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项目积木化不是强迫所有内容变成同一种形态。稳定组件进入自定义积木，多步通用能力进入可展开蓝图，完整 Harness 进入兼容模板草案，许可证、性能或动态边界进入原生保留报告；同一项目可同时产生四类结果。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D:/1Folder/Blocky-AI/doc/产品设计/Blocky-GitHub项目积木化与Agent组件设计.md (四类产物与选择规则)</a:t>
            </a:r>
          </a:p>
          <a:p xmlns:a="http://schemas.openxmlformats.org/drawingml/2006/main">
            <a:r>
              <a:t>- D:/1Folder/Blocky-AI/doc/技术设计/ADR-004-开放扩展与社区安全边界.md (自定义积木、扩展包与安全边界)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四个官方 Skills 分别负责搭建 Agent、创建积木、项目积木化和逆向现有 Agent。图形页、构建助手、CLI、Skills 与 Codex 插件共同读取相同的积木目录、编译器、IR、权限和运行事件。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D:/1Folder/Blocky-AI/doc/产品设计/CLI与官方Agent-Skill.md (CLI 家族与四个官方 Skills)</a:t>
            </a:r>
          </a:p>
          <a:p xmlns:a="http://schemas.openxmlformats.org/drawingml/2006/main">
            <a:r>
              <a:t>- D:/1Folder/Blocky-AI/doc/技术设计/ADR-003-CLI与官方Agent-Skill接口.md (Build Spec、语义补丁与插件边界)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Community objects are classified by execution risk. Signatures identify publishers and content integrity but do not replace scanning, permissions, sandboxing, or revocation.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D:/1Folder/Blocky-AI/doc/技术设计/ADR-004-开放扩展与社区安全边界.md (four distribution objects and supply-chain controls)</a:t>
            </a:r>
          </a:p>
          <a:p xmlns:a="http://schemas.openxmlformats.org/drawingml/2006/main">
            <a:r>
              <a:t>- D:/1Folder/Blocky-AI/doc/产品设计/Blocky-积木完整清单.md (community publish/install/update/fork)</a:t>
            </a:r>
          </a:p>
          <a:p xmlns:a="http://schemas.openxmlformats.org/drawingml/2006/main">
            <a:r>
              <a:t>- D:/1Folder/Blocky-AI/PPT与商业计划书/assets/blocky-community-packages-v1.png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mobile product is an Agent runner, not a reduced desktop editor. It reads InteractionManifest and negotiates local, desktop, or user-selected server targets.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(mobile Agent runner scope)</a:t>
            </a:r>
          </a:p>
          <a:p xmlns:a="http://schemas.openxmlformats.org/drawingml/2006/main">
            <a:r>
              <a:t>- D:/1Folder/Blocky-AI/doc/产品设计/Blocky-交互入口与工具积木设计.md (mobile InteractionManifest and target choice)</a:t>
            </a:r>
          </a:p>
          <a:p xmlns:a="http://schemas.openxmlformats.org/drawingml/2006/main">
            <a:r>
              <a:t>- D:/1Folder/Blocky-AI/doc/技术设计/ADR-001-首版跨端技术选型.md (Android, HarmonyOS, iOS responsibilities)</a:t>
            </a:r>
          </a:p>
          <a:p xmlns:a="http://schemas.openxmlformats.org/drawingml/2006/main">
            <a:r>
              <a:t>- D:/1Folder/Blocky-AI/PPT与商业计划书/assets/blocky-mobile-runner-v1.png (OpenAI image generation, concept illustration)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的拓展服务分为三类客户：个人学习与创作、学校或教育机构、企业与行业团队。标准产品提供统一语言与运行底座，服务层围绕课程、蓝图、知识、系统集成、治理和运营形成场景解决方案。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D:/1Folder/Blocky-AI/doc/产品设计/Blocky-初版产品方案.md (目标用户、教育机构和企业咨询方案)</a:t>
            </a:r>
          </a:p>
          <a:p xmlns:a="http://schemas.openxmlformats.org/drawingml/2006/main">
            <a:r>
              <a:t>- D:/1Folder/Blocky-AI/doc/执行计划/2026-08-23-Blocky-竞品驱动完整开发计划.md (阶段 10 教育工作区、阶段 11 企业交付、阶段 14 商业化)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定制服务沿统一交付链推进：先做场景诊断，再形成 Agent 与模块蓝图，连接内容、数据和业务系统，完成部署治理，最后通过培训、运营和版本升级持续服务。交付成果回流为组织蓝图、私有积木、适配器和版本化资产包。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(教育、团队、部署、企业 RPA 与社区阶段)</a:t>
            </a:r>
          </a:p>
          <a:p xmlns:a="http://schemas.openxmlformats.org/drawingml/2006/main">
            <a:r>
              <a:t>- D:/1Folder/Blocky-AI/doc/产品设计/Blocky-多画布应用界面与RPA设计.md (应用界面、RPA 与组织交付边界)</a:t>
            </a:r>
          </a:p>
          <a:p xmlns:a="http://schemas.openxmlformats.org/drawingml/2006/main">
            <a:r>
              <a:t>- D:/1Folder/Blocky-AI/doc/技术设计/ADR-004-开放扩展与社区安全边界.md (自定义能力、私有包与供应链治理)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路线图把产品能力、场景服务和生态放在同一节奏中：R0 建立正式地基，R1 完成自助产品与项目积木化，R2 扩展教育机构、团队、部署和企业服务，R3 建立社区、多端与商业服务目录。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D:/1Folder/Blocky-AI/doc/执行计划/2026-08-23-Blocky-竞品驱动完整开发计划.md (R0-R3、阶段 0-14)</a:t>
            </a:r>
          </a:p>
          <a:p xmlns:a="http://schemas.openxmlformats.org/drawingml/2006/main">
            <a:r>
              <a:t>- D:/1Folder/Blocky-AI/doc/产品设计/Blocky-状态与阶段替换账本.md (阶段替换与正式边界)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432bd6ec1641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2c221c64dc43fb" /><Relationship Type="http://schemas.openxmlformats.org/officeDocument/2006/relationships/slideLayout" Target="/ppt/slideLayouts/slideLayout1.xml" Id="Rb389d0715fd740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89d0715fd740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3d2f4257840a2" /><Relationship Type="http://schemas.openxmlformats.org/officeDocument/2006/relationships/image" Target="/ppt/media/image.png" Id="Rb0ee1a03a8a14148" /><Relationship Type="http://schemas.openxmlformats.org/officeDocument/2006/relationships/notesSlide" Target="/ppt/notesSlides/notesSlide1.xml" Id="Ra1a9da30ce8d4c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1ba1b1dfe433b" /><Relationship Type="http://schemas.openxmlformats.org/officeDocument/2006/relationships/image" Target="/ppt/media/image2.png" Id="Rbd031a46bc7a45e1" /><Relationship Type="http://schemas.openxmlformats.org/officeDocument/2006/relationships/notesSlide" Target="/ppt/notesSlides/notesSlide2.xml" Id="Rbee72093463541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1e8340e4e4d88" /><Relationship Type="http://schemas.openxmlformats.org/officeDocument/2006/relationships/image" Target="/ppt/media/image3.png" Id="R6293c945e23b40c0" /><Relationship Type="http://schemas.openxmlformats.org/officeDocument/2006/relationships/notesSlide" Target="/ppt/notesSlides/notesSlide3.xml" Id="R9d074e0143294d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fd0861679422c" /><Relationship Type="http://schemas.openxmlformats.org/officeDocument/2006/relationships/image" Target="/ppt/media/image4.png" Id="R31a70bdbf5cf46ce" /><Relationship Type="http://schemas.openxmlformats.org/officeDocument/2006/relationships/notesSlide" Target="/ppt/notesSlides/notesSlide4.xml" Id="R6512a3c78a104a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8e1b6a1a441c7" /><Relationship Type="http://schemas.openxmlformats.org/officeDocument/2006/relationships/image" Target="/ppt/media/image5.png" Id="R9f7e9f1b3491431a" /><Relationship Type="http://schemas.openxmlformats.org/officeDocument/2006/relationships/notesSlide" Target="/ppt/notesSlides/notesSlide5.xml" Id="Rc73784ad852541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12b1b594c4e2f" /><Relationship Type="http://schemas.openxmlformats.org/officeDocument/2006/relationships/notesSlide" Target="/ppt/notesSlides/notesSlide6.xml" Id="R1a2c29304e6e49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c20f3333949bb" /><Relationship Type="http://schemas.openxmlformats.org/officeDocument/2006/relationships/notesSlide" Target="/ppt/notesSlides/notesSlide7.xml" Id="R747ed9101de14c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b411358634ee0" /><Relationship Type="http://schemas.openxmlformats.org/officeDocument/2006/relationships/notesSlide" Target="/ppt/notesSlides/notesSlide8.xml" Id="R0a181ecd7dbf4b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b8f60131247ca" /><Relationship Type="http://schemas.openxmlformats.org/officeDocument/2006/relationships/image" Target="/ppt/media/image6.png" Id="R58a3765f8b83428f" /><Relationship Type="http://schemas.openxmlformats.org/officeDocument/2006/relationships/notesSlide" Target="/ppt/notesSlides/notesSlide9.xml" Id="Ra0a9e5495c4445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17d7de07e4552" /><Relationship Type="http://schemas.openxmlformats.org/officeDocument/2006/relationships/notesSlide" Target="/ppt/notesSlides/notesSlide10.xml" Id="R31a8e857a72242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9e02395a246ed" /><Relationship Type="http://schemas.openxmlformats.org/officeDocument/2006/relationships/image" Target="/ppt/media/image7.png" Id="R942ef0951b6a4051" /><Relationship Type="http://schemas.openxmlformats.org/officeDocument/2006/relationships/notesSlide" Target="/ppt/notesSlides/notesSlide11.xml" Id="R7e42bcb47a004b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73de432c34cc6" /><Relationship Type="http://schemas.openxmlformats.org/officeDocument/2006/relationships/image" Target="/ppt/media/image7.png" Id="R4124d77a6c5447c3" /><Relationship Type="http://schemas.openxmlformats.org/officeDocument/2006/relationships/notesSlide" Target="/ppt/notesSlides/notesSlide12.xml" Id="Re4dd55695b0d4e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6c6614ecf4b2d" /><Relationship Type="http://schemas.openxmlformats.org/officeDocument/2006/relationships/image" Target="/ppt/media/image6.png" Id="R15bf028c5c4a43f6" /><Relationship Type="http://schemas.openxmlformats.org/officeDocument/2006/relationships/notesSlide" Target="/ppt/notesSlides/notesSlide13.xml" Id="R0e51c9b1192042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a356ee31245a5" /><Relationship Type="http://schemas.openxmlformats.org/officeDocument/2006/relationships/image" Target="/ppt/media/image5.png" Id="R5e69d212422642f4" /><Relationship Type="http://schemas.openxmlformats.org/officeDocument/2006/relationships/notesSlide" Target="/ppt/notesSlides/notesSlide14.xml" Id="Rb9eefe07be8943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6effe7ed64075" /><Relationship Type="http://schemas.openxmlformats.org/officeDocument/2006/relationships/image" Target="/ppt/media/image7.png" Id="R04b7f1350585483d" /><Relationship Type="http://schemas.openxmlformats.org/officeDocument/2006/relationships/notesSlide" Target="/ppt/notesSlides/notesSlide15.xml" Id="R15ae72e7c5224d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33d599989445f" /><Relationship Type="http://schemas.openxmlformats.org/officeDocument/2006/relationships/image" Target="/ppt/media/image6.png" Id="R674a6062573642e9" /><Relationship Type="http://schemas.openxmlformats.org/officeDocument/2006/relationships/notesSlide" Target="/ppt/notesSlides/notesSlide16.xml" Id="R386036973ea94a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b0f1b364945fc" /><Relationship Type="http://schemas.openxmlformats.org/officeDocument/2006/relationships/image" Target="/ppt/media/image7.png" Id="Rc74b7a66f2784df1" /><Relationship Type="http://schemas.openxmlformats.org/officeDocument/2006/relationships/notesSlide" Target="/ppt/notesSlides/notesSlide17.xml" Id="Rbfea945cc88146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4112677c543da" /><Relationship Type="http://schemas.openxmlformats.org/officeDocument/2006/relationships/image" Target="/ppt/media/image.png" Id="R7a221ae1d8114519" /><Relationship Type="http://schemas.openxmlformats.org/officeDocument/2006/relationships/notesSlide" Target="/ppt/notesSlides/notesSlide18.xml" Id="R21562b29ff664a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777fe5f7840fe" /><Relationship Type="http://schemas.openxmlformats.org/officeDocument/2006/relationships/image" Target="/ppt/media/image.png" Id="R1c5bdd3dc2b3434f" /><Relationship Type="http://schemas.openxmlformats.org/officeDocument/2006/relationships/notesSlide" Target="/ppt/notesSlides/notesSlide19.xml" Id="R427ae20679d940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6086bd0a94f7b" /><Relationship Type="http://schemas.openxmlformats.org/officeDocument/2006/relationships/notesSlide" Target="/ppt/notesSlides/notesSlide20.xml" Id="R6d5718075aa647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97c3d3a2c41b1" /><Relationship Type="http://schemas.openxmlformats.org/officeDocument/2006/relationships/image" Target="/ppt/media/image6.png" Id="Rcceb67b732994eb9" /><Relationship Type="http://schemas.openxmlformats.org/officeDocument/2006/relationships/notesSlide" Target="/ppt/notesSlides/notesSlide21.xml" Id="Rbde764b1dc8d463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968a4cf934a27" /><Relationship Type="http://schemas.openxmlformats.org/officeDocument/2006/relationships/image" Target="/ppt/media/image8.png" Id="R3d3cfe26b3e845f9" /><Relationship Type="http://schemas.openxmlformats.org/officeDocument/2006/relationships/notesSlide" Target="/ppt/notesSlides/notesSlide22.xml" Id="R10af2a0958bd48f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6c7c92e1b4922" /><Relationship Type="http://schemas.openxmlformats.org/officeDocument/2006/relationships/image" Target="/ppt/media/image9.png" Id="Re0633e4f172f4897" /><Relationship Type="http://schemas.openxmlformats.org/officeDocument/2006/relationships/notesSlide" Target="/ppt/notesSlides/notesSlide23.xml" Id="R224d3a6ec0ee4cf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99186a415d40cb" /><Relationship Type="http://schemas.openxmlformats.org/officeDocument/2006/relationships/image" Target="/ppt/media/image10.png" Id="R909718bb890a48e3" /><Relationship Type="http://schemas.openxmlformats.org/officeDocument/2006/relationships/notesSlide" Target="/ppt/notesSlides/notesSlide24.xml" Id="Ra2f85740088c40f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4660041514119" /><Relationship Type="http://schemas.openxmlformats.org/officeDocument/2006/relationships/notesSlide" Target="/ppt/notesSlides/notesSlide25.xml" Id="R5d5c63a0bde94e9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7062f5e3b4a96" /><Relationship Type="http://schemas.openxmlformats.org/officeDocument/2006/relationships/image" Target="/ppt/media/image5.png" Id="Rdbe48098576048e7" /><Relationship Type="http://schemas.openxmlformats.org/officeDocument/2006/relationships/notesSlide" Target="/ppt/notesSlides/notesSlide26.xml" Id="R46fda23e9f8a4e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1455b224e47ce" /><Relationship Type="http://schemas.openxmlformats.org/officeDocument/2006/relationships/notesSlide" Target="/ppt/notesSlides/notesSlide27.xml" Id="R9a97ff4b7b16493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3572ca826446c" /><Relationship Type="http://schemas.openxmlformats.org/officeDocument/2006/relationships/notesSlide" Target="/ppt/notesSlides/notesSlide28.xml" Id="R762e8c8813f9431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cf81eeb1d4680" /><Relationship Type="http://schemas.openxmlformats.org/officeDocument/2006/relationships/notesSlide" Target="/ppt/notesSlides/notesSlide29.xml" Id="R78171c41e0944d1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10de6387e4e03" /><Relationship Type="http://schemas.openxmlformats.org/officeDocument/2006/relationships/image" Target="/ppt/media/image6.png" Id="R17d63e38001f474a" /><Relationship Type="http://schemas.openxmlformats.org/officeDocument/2006/relationships/notesSlide" Target="/ppt/notesSlides/notesSlide30.xml" Id="R60085d7a3150411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19c432ff041d7" /><Relationship Type="http://schemas.openxmlformats.org/officeDocument/2006/relationships/notesSlide" Target="/ppt/notesSlides/notesSlide31.xml" Id="R6c3908efbbb1443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1ad37022d4fdb" /><Relationship Type="http://schemas.openxmlformats.org/officeDocument/2006/relationships/image" Target="/ppt/media/image11.png" Id="R1582e5de73b848ed" /><Relationship Type="http://schemas.openxmlformats.org/officeDocument/2006/relationships/notesSlide" Target="/ppt/notesSlides/notesSlide32.xml" Id="R4a8aed68fe38421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38a98866a4293" /><Relationship Type="http://schemas.openxmlformats.org/officeDocument/2006/relationships/image" Target="/ppt/media/image12.png" Id="R5d5dfd0c692e47b7" /><Relationship Type="http://schemas.openxmlformats.org/officeDocument/2006/relationships/notesSlide" Target="/ppt/notesSlides/notesSlide33.xml" Id="R7e0cd60dc8e1475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a7baaad6e4cbf" /><Relationship Type="http://schemas.openxmlformats.org/officeDocument/2006/relationships/notesSlide" Target="/ppt/notesSlides/notesSlide34.xml" Id="R44f3edce74e2421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f4042d2114552" /><Relationship Type="http://schemas.openxmlformats.org/officeDocument/2006/relationships/notesSlide" Target="/ppt/notesSlides/notesSlide35.xml" Id="Rf5781ad4c34d4be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80933b08d4b0b" /><Relationship Type="http://schemas.openxmlformats.org/officeDocument/2006/relationships/image" Target="/ppt/media/image6.png" Id="R2094c00f6cca4e84" /><Relationship Type="http://schemas.openxmlformats.org/officeDocument/2006/relationships/notesSlide" Target="/ppt/notesSlides/notesSlide36.xml" Id="Rd71721d70e3f49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e1a03a8a14148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3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语言 × Runtime Core × 项目积木化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教育验证入口 · 个人与组织扩展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教育是首个可验证场景，同一底座扩展到个人创作、项目积木化与组织自动化。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证明可视化编程能教会系统思维，Agent 需要同级入口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学生已经会提问，但还缺少看见结构、理解权限、解释运行并承担结果的创作工具。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8–16 岁｜用可视积木学习创造、推理与协作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聊天界面只呈现输入与答案，不呈现结构、工具调用与责任边界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/>
              <a:t>用 Scratch 式积木组合角色、知识、记忆、工具和权限，并以轨迹解释运行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31a46bc7a45e1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 · Technical Spike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把角色、知识、工具与权限变成 Scratch 式 Agent 积木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 Workspace、IR、Runtime Core 与权限模型，让入门视图和专业工程共享一份项目事实。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3c945e23b40c0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189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Technical Spike · 100 积木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IR、Runtime Core、轨迹与权限模型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4–6 课时项目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首门课程按 4–6 课时设计：完成可复现、可解释的 Agent 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课程设计门槛｜每课时只完成一个可检查里程碑：需求边界、角色知识、工具核验、展示复盘。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需求与边界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1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定题 · 资料 ·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角色与知识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2–3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工具与核验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4–5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 · 权限 · 轨迹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展示与复盘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6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· 拒答 · 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a70bdbf5cf46ce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工程执行实证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33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Technical Spike + Contract Baseline 验证核心运行、安全与保存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可复核证据同时覆盖运行闭环、Host 边界、项目格式、诊断、权限与 Log Redaction。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Quality Gates 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Contract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Contract Baseline：独立验收通过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 Contract / Handoff 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Fixtures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Patch Reject、Terminal Isolation、Log Redaction 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e9f1b3491431a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Schemas + 10 Fixtures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BEACHHEAD · 融资后 18 个月计划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 名教师共创，计划形成首批 920 个教育付费席位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1,200 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课堂触达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120 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个人年费转化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800 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机构年度席位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 个月漏斗｜30 个课堂 × 40 人 × 10% + 10 家机构 × 80 席 = 920 个教育付费席位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课堂转化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 名教师 → 30 个课堂样板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30 × 40 人 = 1,200 人触达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10% 个人转化 = 120 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证据｜完成率 / 复用率 / 付费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机构转化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计划｜5 家付费试点 → 10 家年度机构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 × 80 席 = 800 席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决策｜校方 / 教研 / 机构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证据｜预算 / 合同 / 采购时间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18 个月目标市场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首个可获得市场，由课堂与机构漏斗直接推导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920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教育付费 SOM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专业付费 SOM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¥142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年化订阅收入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收入公式｜920 × ¥980 + 100 × ¥5,200 = ¥142.16 万 / 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触达渠道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教师共创 / 赛事与社群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高校与职教课程合作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课堂作品驱动口碑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项目积木化触达专业用户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扩大路径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Y3｜5,000 教育 + 500 专业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订阅收入｜¥750 万 / 年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上行｜机构方案 / 企业服务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增量｜社区资产与多端使用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COMPETITION · 用户替代方案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五类替代方案各有边界，Blocky 优化非程序员的 Agent 创作路径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并列比较目标用户、创作范式、第一次成功门槛、结构可见性与专业扩展深度。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Scratch</a:t>
            </a:r>
          </a:p>
          <a:p xmlns:a="http://schemas.openxmlformats.org/drawingml/2006/main">
            <a:r>
              <a:t>教育积木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用户｜学生 / 教师</a:t>
            </a:r>
          </a:p>
          <a:p xmlns:a="http://schemas.openxmlformats.org/drawingml/2006/main">
            <a:r>
              <a:t>范式｜教育积木</a:t>
            </a:r>
          </a:p>
          <a:p xmlns:a="http://schemas.openxmlformats.org/drawingml/2006/main">
            <a:r>
              <a:t>边界｜缺 Agent 语义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AI 对话</a:t>
            </a:r>
          </a:p>
          <a:p xmlns:a="http://schemas.openxmlformats.org/drawingml/2006/main">
            <a:r>
              <a:t>低门槛问答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用户｜大众</a:t>
            </a:r>
          </a:p>
          <a:p xmlns:a="http://schemas.openxmlformats.org/drawingml/2006/main">
            <a:r>
              <a:t>范式｜对话</a:t>
            </a:r>
          </a:p>
          <a:p xmlns:a="http://schemas.openxmlformats.org/drawingml/2006/main">
            <a:r>
              <a:t>边界｜结构不可见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Coze / Dify</a:t>
            </a:r>
          </a:p>
          <a:p xmlns:a="http://schemas.openxmlformats.org/drawingml/2006/main">
            <a:r>
              <a:t>n8n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用户｜运营 / 专业用户</a:t>
            </a:r>
          </a:p>
          <a:p xmlns:a="http://schemas.openxmlformats.org/drawingml/2006/main">
            <a:r>
              <a:t>范式｜流程编排</a:t>
            </a:r>
          </a:p>
          <a:p xmlns:a="http://schemas.openxmlformats.org/drawingml/2006/main">
            <a:r>
              <a:t>边界｜学习成本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Codex 等</a:t>
            </a:r>
          </a:p>
          <a:p xmlns:a="http://schemas.openxmlformats.org/drawingml/2006/main">
            <a:r>
              <a:t>编码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用户｜开发者</a:t>
            </a:r>
          </a:p>
          <a:p xmlns:a="http://schemas.openxmlformats.org/drawingml/2006/main">
            <a:r>
              <a:t>范式｜代码 / Shell</a:t>
            </a:r>
          </a:p>
          <a:p xmlns:a="http://schemas.openxmlformats.org/drawingml/2006/main">
            <a:r>
              <a:t>边界｜工程环境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8098"/>
          </a:bodyPr>
          <a:lstStyle xmlns:a="http://schemas.openxmlformats.org/drawingml/2006/main"/>
          <a:p xmlns:a="http://schemas.openxmlformats.org/drawingml/2006/main">
            <a:r>
              <a:t>Blocky</a:t>
            </a:r>
          </a:p>
          <a:p xmlns:a="http://schemas.openxmlformats.org/drawingml/2006/main">
            <a:r>
              <a:t>Scratch 式 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34722"/>
          </a:bodyPr>
          <a:lstStyle xmlns:a="http://schemas.openxmlformats.org/drawingml/2006/main"/>
          <a:p xmlns:a="http://schemas.openxmlformats.org/drawingml/2006/main">
            <a:r>
              <a:t>用户｜学生 → 专业</a:t>
            </a:r>
          </a:p>
          <a:p xmlns:a="http://schemas.openxmlformats.org/drawingml/2006/main">
            <a:r>
              <a:t>范式｜Scratch 式 Agent</a:t>
            </a:r>
          </a:p>
          <a:p xmlns:a="http://schemas.openxmlformats.org/drawingml/2006/main">
            <a:r>
              <a:t>深度｜IR / Trace / 代码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 保留 Scratch 的学习曲线，补上 Agent 语义、可解释运行与专业展开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竞争焦点｜谁能把第一次成功变成可解释、可复用、可升级的 Agent 创作能力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MOAT · 可累积壁垒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壁垒是一条从可见语法到可逆证据的完整链路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每一层都验证上一层，并把课程、适配器与项目资产沉淀到同一语言内核。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课堂｜看见结构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工程｜类型约束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资产｜蓝图与积木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语义｜跨界面共享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来源｜稳定映射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升级｜版本迁移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权限｜Tool 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执行｜确定性边界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安全｜窄 Host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证据｜事件与引用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复盘｜错误可定位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转换｜项目可逆映射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三类复利资产｜Agent Language &amp; Contracts / 适配器与证据图 / 课程与社区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3765f8b83428f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PLATFORM · 从教育入口扩张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同一语言从课堂延伸到个人创作、办公自动化与组织服务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目标形态｜教育验证易学，工程内核承接复杂度，场景服务持续沉淀为可复用资产。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积木创作
内部代码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7→12 类投影
参数 / 代码 / 回退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多画布
AppSurface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稳定引用 / 前端源码
隔离预览 / Bridge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办公 Agent
+ RPA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浏览器 / 桌面 / 表格
审批 / 检查点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兼容 / CLI
4 Skills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Codex / OpenClaw
DeepSeek Harness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场景服务</a:t>
            </a:r>
          </a:p>
          <a:p xmlns:a="http://schemas.openxmlformats.org/drawingml/2006/main">
            <a:r>
              <a:t>社区与多端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学习 / 机构 / 企业</a:t>
            </a:r>
          </a:p>
          <a:p xmlns:a="http://schemas.openxmlformats.org/drawingml/2006/main">
            <a:r>
              <a:t>社区 / 移动 / 服务端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一个教育入口，四条增长路径：专业订阅 / 机构方案 / 企业服务 / 生态分发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 / 机构与企业方案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每次场景共创都能沉淀为蓝图、积木、适配器或私有资产包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订阅 + 资产化服务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订阅规模化，场景服务提升客单价并沉淀资产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个人教育与学习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收入｜¥980 / 年</a:t>
            </a:r>
          </a:p>
          <a:p xmlns:a="http://schemas.openxmlformats.org/drawingml/2006/main">
            <a:r>
              <a:t>成本｜模型云18% + 支付2% + 支持5%</a:t>
            </a:r>
          </a:p>
          <a:p xmlns:a="http://schemas.openxmlformats.org/drawingml/2006/main">
            <a:r>
              <a:t>毛利目标｜≥75%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专业创作订阅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收入｜¥5,200 / 年</a:t>
            </a:r>
          </a:p>
          <a:p xmlns:a="http://schemas.openxmlformats.org/drawingml/2006/main">
            <a:r>
              <a:t>成本｜模型云22% + 支付2% + 支持6%</a:t>
            </a:r>
          </a:p>
          <a:p xmlns:a="http://schemas.openxmlformats.org/drawingml/2006/main">
            <a:r>
              <a:t>毛利目标｜≥70%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教育机构方案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收入｜席位 + 服务</a:t>
            </a:r>
          </a:p>
          <a:p xmlns:a="http://schemas.openxmlformats.org/drawingml/2006/main">
            <a:r>
              <a:t>成本｜平台20% + 培训15% + 支持5%</a:t>
            </a:r>
          </a:p>
          <a:p xmlns:a="http://schemas.openxmlformats.org/drawingml/2006/main">
            <a:r>
              <a:t>资产复用后毛利｜≥60%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企业与行业定制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收入｜范围与边界报价</a:t>
            </a:r>
          </a:p>
          <a:p xmlns:a="http://schemas.openxmlformats.org/drawingml/2006/main">
            <a:r>
              <a:t>成本｜交付人天35% + 云10%</a:t>
            </a:r>
          </a:p>
          <a:p xmlns:a="http://schemas.openxmlformats.org/drawingml/2006/main">
            <a:r>
              <a:t>私有资产复用后毛利｜≥55%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定价为商业基线；机构与企业按席位、交付边界与资产复用率报价。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ef0951b6a4051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教师共创驱动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教师共创与课堂证据是第一条获客路径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课程共创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使用者｜教师 / 学生</a:t>
            </a:r>
          </a:p>
          <a:p xmlns:a="http://schemas.openxmlformats.org/drawingml/2006/main">
            <a:r>
              <a:t>触达｜比赛 / 社群 / 高校</a:t>
            </a:r>
          </a:p>
          <a:p xmlns:a="http://schemas.openxmlformats.org/drawingml/2006/main">
            <a:r>
              <a:t>周期｜2–4 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课堂样板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证据｜作品 / 轨迹 / 引用</a:t>
            </a:r>
          </a:p>
          <a:p xmlns:a="http://schemas.openxmlformats.org/drawingml/2006/main">
            <a:r>
              <a:t>门槛｜完成率 / 复用率</a:t>
            </a:r>
          </a:p>
          <a:p xmlns:a="http://schemas.openxmlformats.org/drawingml/2006/main">
            <a:r>
              <a:t>周期｜4–6 课时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机构合同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决策者｜校方 / 教研 / 机构</a:t>
            </a:r>
          </a:p>
          <a:p xmlns:a="http://schemas.openxmlformats.org/drawingml/2006/main">
            <a:r>
              <a:t>付费者｜学校 / 教培</a:t>
            </a:r>
          </a:p>
          <a:p xmlns:a="http://schemas.openxmlformats.org/drawingml/2006/main">
            <a:r>
              <a:t>周期｜1–2 学期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资产放大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复购｜课程 / 席位 / 支持</a:t>
            </a:r>
          </a:p>
          <a:p xmlns:a="http://schemas.openxmlformats.org/drawingml/2006/main">
            <a:r>
              <a:t>扩展｜专业 / 企业服务</a:t>
            </a:r>
          </a:p>
          <a:p xmlns:a="http://schemas.openxmlformats.org/drawingml/2006/main">
            <a:r>
              <a:t>沉淀｜蓝图 / 私有积木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比赛 / 教师社群 → 课程共创 → 课堂样板 → 机构采购 → 订阅与服务复购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4d77a6c5447c3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VALIDATION · 12 个月商业门槛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技术证据之后，四道门槛验证学习价值、采用与付费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每项均标注目标样本、证据与通过条件；现有工程证据见第 5 页。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共创意愿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样本｜20 名教师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证据｜访谈 / 共创记录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门槛｜≥50% 愿意试教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样本｜30 个课堂样板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/ 轨迹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门槛｜≥70% 完成项目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教师复用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样本｜参与试教教师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证据｜二次开课记录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门槛｜≥50% 再次使用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采购承诺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样本｜教育机构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证据｜预算流程 / 试点意向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门槛｜≥5 家付费试点或订金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学习价值看作品与证据；商业价值看复用、采购动作与付费转化。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f028c5c4a43f6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TEAM · 可复核执行力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创始人主导产品与 Agent 工程，18 个月按 3 人核心团队配置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当前角色｜项目发起人、产品与 Agent 工程负责人；Technical Spike / Contract Baseline 可复核。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创始人 / 产品与 Agent 工程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身份｜Blocky Studio 项目发起人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当前职责｜产品、Agent 语言、工程地基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Proof｜Windows Core Technical Spike / Contract Baseline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资产｜完整产品设计地图 / 6 ADR / 21 Schema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优势｜把复杂 Agent 语义变成可学习产品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考核｜正式产品、课堂样板、付费席位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18 个月核心配置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01 创始人｜产品与 Agent 工程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02 工程招聘｜桌面与运行基础设施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03 商业招聘｜教育产品与机构合作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顾问网络｜教师 / 教研 / 合规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月考核｜产品闭环 + 20 名共创教师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 月考核｜920 教育席 + 100 专业订阅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9d212422642f4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本轮｜新增 2 个核心岗位 + 教育 / 教研 / 合规合作网络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现有｜创始人主导 + Runtime Core Spike + 可复核工程资产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FINANCIALS · 三年基准情景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从课堂验证、机构复制走向经营现金转正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Y1 · 课堂验证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专业｜120 / 20</a:t>
            </a:r>
          </a:p>
          <a:p xmlns:a="http://schemas.openxmlformats.org/drawingml/2006/main">
            <a:r>
              <a:t>订阅收入｜¥22 万</a:t>
            </a:r>
          </a:p>
          <a:p xmlns:a="http://schemas.openxmlformats.org/drawingml/2006/main">
            <a:r>
              <a:t>综合毛利｜60%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Y2 · 机构复制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专业｜920 / 100</a:t>
            </a:r>
          </a:p>
          <a:p xmlns:a="http://schemas.openxmlformats.org/drawingml/2006/main">
            <a:r>
              <a:t>订阅收入｜¥142 万</a:t>
            </a:r>
          </a:p>
          <a:p xmlns:a="http://schemas.openxmlformats.org/drawingml/2006/main">
            <a:r>
              <a:t>综合毛利｜68%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Y3 · 规模增长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教育 / 专业｜5,000 / 500</a:t>
            </a:r>
          </a:p>
          <a:p xmlns:a="http://schemas.openxmlformats.org/drawingml/2006/main">
            <a:r>
              <a:t>订阅收入｜¥750 万</a:t>
            </a:r>
          </a:p>
          <a:p xmlns:a="http://schemas.openxmlformats.org/drawingml/2006/main">
            <a:r>
              <a:t>综合毛利｜72%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现金路径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团队与运营｜200 / 250 / 450 万</a:t>
            </a:r>
          </a:p>
          <a:p xmlns:a="http://schemas.openxmlformats.org/drawingml/2006/main">
            <a:r>
              <a:t>年度现金结果｜-187 / -153 / +90 万</a:t>
            </a:r>
          </a:p>
          <a:p xmlns:a="http://schemas.openxmlformats.org/drawingml/2006/main">
            <a:r>
              <a:t>造血触发｜Y3 经营现金转正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计划口径｜以下为测算，不代表已实现收入；订阅收入不含机构与企业服务。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7f1350585483d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RESOURCE PLAN · 18 个月投入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 个月用三段里程碑把 300 万转成付费席位与机构复制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核心团队、月度投入、6 个月门槛和下一融资 / 自我造血触发均可检查。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 + 团队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1–6 月</a:t>
            </a:r>
          </a:p>
          <a:p xmlns:a="http://schemas.openxmlformats.org/drawingml/2006/main">
            <a:r>
              <a:t>3 人核心配置</a:t>
            </a:r>
          </a:p>
          <a:p xmlns:a="http://schemas.openxmlformats.org/drawingml/2006/main">
            <a:r>
              <a:t>正式产品闭环</a:t>
            </a:r>
          </a:p>
          <a:p xmlns:a="http://schemas.openxmlformats.org/drawingml/2006/main">
            <a:r>
              <a:t>20 名共创教师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 + 试点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7–12 月</a:t>
            </a:r>
          </a:p>
          <a:p xmlns:a="http://schemas.openxmlformats.org/drawingml/2006/main">
            <a:r>
              <a:t>30 个课堂样板</a:t>
            </a:r>
          </a:p>
          <a:p xmlns:a="http://schemas.openxmlformats.org/drawingml/2006/main">
            <a:r>
              <a:t>≥70% 项目完成率</a:t>
            </a:r>
          </a:p>
          <a:p xmlns:a="http://schemas.openxmlformats.org/drawingml/2006/main">
            <a:r>
              <a:t>≥5 家付费试点 / 订金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机构复制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13–18 月</a:t>
            </a:r>
          </a:p>
          <a:p xmlns:a="http://schemas.openxmlformats.org/drawingml/2006/main">
            <a:r>
              <a:t>10 家机构 × 80 席</a:t>
            </a:r>
          </a:p>
          <a:p xmlns:a="http://schemas.openxmlformats.org/drawingml/2006/main">
            <a:r>
              <a:t>120 个个人教育订阅</a:t>
            </a:r>
          </a:p>
          <a:p xmlns:a="http://schemas.openxmlformats.org/drawingml/2006/main">
            <a:r>
              <a:t>100 个专业订阅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现金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资金纪律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917"/>
          </a:bodyPr>
          <a:lstStyle xmlns:a="http://schemas.openxmlformats.org/drawingml/2006/main"/>
          <a:p xmlns:a="http://schemas.openxmlformats.org/drawingml/2006/main">
            <a:r>
              <a:t>¥300 万 / 18 个月</a:t>
            </a:r>
          </a:p>
          <a:p xmlns:a="http://schemas.openxmlformats.org/drawingml/2006/main">
            <a:r>
              <a:t>平均月度投入 ¥16.7 万</a:t>
            </a:r>
          </a:p>
          <a:p xmlns:a="http://schemas.openxmlformats.org/drawingml/2006/main">
            <a:r>
              <a:t>下一触发｜920 教育席 + 100 专业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下一轮 / 自我造血触发｜付费试点 → 920 教育席 + 100 专业订阅 → Y3 经营现金转正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a6062573642e9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ASK · 息壤杯资源协同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息壤杯可以帮助 Blocky 跨过三道商业化门槛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课堂样板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目标｜20 名共创教师</a:t>
            </a:r>
          </a:p>
          <a:p xmlns:a="http://schemas.openxmlformats.org/drawingml/2006/main">
            <a:r>
              <a:t>产出｜30 个课堂样板</a:t>
            </a:r>
          </a:p>
          <a:p xmlns:a="http://schemas.openxmlformats.org/drawingml/2006/main">
            <a:r>
              <a:t>证据｜作品 / 轨迹 / 复用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机构复制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伙伴｜学校 / 教培 / 高校</a:t>
            </a:r>
          </a:p>
          <a:p xmlns:a="http://schemas.openxmlformats.org/drawingml/2006/main">
            <a:r>
              <a:t>路径｜课程包 / 培训 / 席位</a:t>
            </a:r>
          </a:p>
          <a:p xmlns:a="http://schemas.openxmlformats.org/drawingml/2006/main">
            <a:r>
              <a:t>结果｜首批可复制方案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模型与算力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需求｜教育 Provider / 算力</a:t>
            </a:r>
          </a:p>
          <a:p xmlns:a="http://schemas.openxmlformats.org/drawingml/2006/main">
            <a:r>
              <a:t>目标｜稳定、低成本、可审计</a:t>
            </a:r>
          </a:p>
          <a:p xmlns:a="http://schemas.openxmlformats.org/drawingml/2006/main">
            <a:r>
              <a:t>协同｜模型 / 云 / 生态渠道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种子资金与团队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130"/>
          </a:bodyPr>
          <a:lstStyle xmlns:a="http://schemas.openxmlformats.org/drawingml/2006/main"/>
          <a:p xmlns:a="http://schemas.openxmlformats.org/drawingml/2006/main">
            <a:r>
              <a:t>额度｜¥300 万 / 18 个月</a:t>
            </a:r>
          </a:p>
          <a:p xmlns:a="http://schemas.openxmlformats.org/drawingml/2006/main">
            <a:r>
              <a:t>配置｜3 人核心团队</a:t>
            </a:r>
          </a:p>
          <a:p xmlns:a="http://schemas.openxmlformats.org/drawingml/2006/main">
            <a:r>
              <a:t>月度投入｜¥16.7 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一笔资源完成三次价值跃迁：技术可行 → 课堂可用 → 机构可复制。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搭建与场景化服务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b7a66f2784df1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21ae1d8114519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 STUDIO · AGENT 创作基础设施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看懂、改动、负责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自己搭建的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从课堂样板开始，成长为 Agent 时代的创作基础设施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课堂可验证 · 商业可复制 · 生态可生长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教育验证易学，工程底座保证可用，项目积木化与服务资产打开长期平台价值。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bdd3dc2b3434f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完整产品与生态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附录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完整产品、服务与生态全景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Blocky Studio · 目标形态与技术证据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产品结构 · 工程边界 · 生态路线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以下页面保留完整产品设计，并统一标注实证、Contract Baseline 与目标形态。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验收演示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基于课程蓝图呈现“选择—修改—运行—轨迹—保存”；这是目标验收脚本，不等于完整课程时长。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Provider / RuntimeEvent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本地运行可读回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Citation / Guard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引用与拒答可复核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Workspace / Stable ID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保存重开语义一致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四层创作深度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从“拿来即用”到“修改内部实现”，能力按需展开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四层共享同一 Project Manifest、Workspace、IR、权限与运行证据；切换深度不换项目。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兼容模板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原子积木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同一底座｜兼容模板 → 蓝图 → 原子积木 → 内部代码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b67b732994eb9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积木内部修改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积木不是黑盒：从公开参数一直改到内部实现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官方基线、用户差异、诊断与回退同屏呈现；代码只封装局部逻辑，不隐藏 Agent 拓扑与权限。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参数与接口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输入 / 输出
类型 / 默认值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展开与封装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展开原子积木
保留公开插槽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内部代码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局部代码实现
差异 / 诊断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校验与回退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编译 / 测试
接受 / 回退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同一块能力：可组合 · 可展开 · 可编辑 · 可验证 · 可回退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cfe26b3e845f9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多画布与应用界面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项目需要页面时，前端由同一项目显式创建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画布标签拆分 Agent / 自动化 / 规则｜浏览器标签预览可选 AppSurface｜关闭标签不删除产物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1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AppSurface 由用户主动创建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项目内一套交付路径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多画布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稳定引用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应用界面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前端源码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浏览器预览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Bridge 清单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隔离存储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IR、Runtime Core、轨迹与权限模型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33e4f172f4897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Agent + 自动化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办公场景沿用同一积木语言，不另起一套产品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把资料理解、浏览器操作、桌面应用与人工确认，组合成可追踪的有人值守流程。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资料与表格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读取结构化
来源 /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浏览器与桌面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语义操作
浏览器 / 桌面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+ RPA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有人值守
审批 / 检查点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人工与恢复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/>
              <a:t>动作确认
暂停 / 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同一项目可容纳 Agent、自动化、规则、数据与应用界面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718bb890a48e3"/>
          <a:stretch xmlns:a="http://schemas.openxmlformats.org/drawingml/2006/main"/>
        </p:blipFill>
        <p:spPr>
          <a:xfrm xmlns:a="http://schemas.openxmlformats.org/drawingml/2006/main" flipH="0" flipV="0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办公蓝图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六类办公蓝图覆盖“理解—执行—核验—交付”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先以有人值守流程进入真实办公；团队可按权限、数据与系统逐步扩展。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共同底座：项目模块 + 权限 + 检查点 + RuntimeEvent +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办公价值：减少重复搬运，同时保留来源、授权、过程与责任边界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资料问答与报告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带引用回答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摘要 / 周报 / 研究整理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表格清洗与汇总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Excel / CSV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去重 / 对账 / 指标回填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ERP / CRM 录入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旧系统表单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字段映射 / 校验 / 失败定位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工单与客服协作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知识 + 人工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归类 / 回复草稿 / 升级处理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跨系统数据搬运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 ↔ 桌面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附件 / 表单 / 数据库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财务对账与回填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 + Agent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差异解释 / 审批 / 复现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创作与运行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前端、积木、终端与运行轨迹，都回到一个可控工作台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编辑事实、运行事实、用户终端和 Agent 进程各有边界，却共享稳定来源与关联标识。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创作工作台 · 桌面端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18"/>
          </a:bodyPr>
          <a:lstStyle xmlns:a="http://schemas.openxmlformats.org/drawingml/2006/main"/>
          <a:p xmlns:a="http://schemas.openxmlformats.org/drawingml/2006/main">
            <a:r>
              <a:t>✓ 顶部：项目标签 / 命令中心 / 运行</a:t>
            </a:r>
          </a:p>
          <a:p xmlns:a="http://schemas.openxmlformats.org/drawingml/2006/main">
            <a:r>
              <a:t>✓ 左侧：7→12 类积木 / 搜索 / 蓝图</a:t>
            </a:r>
          </a:p>
          <a:p xmlns:a="http://schemas.openxmlformats.org/drawingml/2006/main">
            <a:r>
              <a:t>✓ 中间：多模块画布 / 浏览器预览</a:t>
            </a:r>
          </a:p>
          <a:p xmlns:a="http://schemas.openxmlformats.org/drawingml/2006/main">
            <a:r>
              <a:t>✓ 右侧：构建助手 / 检查器 / 资源</a:t>
            </a:r>
          </a:p>
          <a:p xmlns:a="http://schemas.openxmlformats.org/drawingml/2006/main">
            <a:r>
              <a:t>✓ 底部：问题 / 运行日志 / 终端 / 输出</a:t>
            </a:r>
          </a:p>
          <a:p xmlns:a="http://schemas.openxmlformats.org/drawingml/2006/main">
            <a:r>
              <a:t>✓ 设置：应用 / 项目 / 资源 / 积木</a:t>
            </a:r>
          </a:p>
          <a:p xmlns:a="http://schemas.openxmlformats.org/drawingml/2006/main">
            <a:r>
              <a:t>✓ 保存：Manifest + Workspace + AppSurface</a:t>
            </a:r>
          </a:p>
          <a:p xmlns:a="http://schemas.openxmlformats.org/drawingml/2006/main">
            <a:r>
              <a:t>✓ Semantic Patch：幽灵积木 / 接受 / 拒绝 / 撤销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运行治理 · 同源可追踪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27"/>
          </a:bodyPr>
          <a:lstStyle xmlns:a="http://schemas.openxmlformats.org/drawingml/2006/main"/>
          <a:p xmlns:a="http://schemas.openxmlformats.org/drawingml/2006/main">
            <a:r>
              <a:t>✓ 编译：Module IR / Project IR / SourceMap</a:t>
            </a:r>
          </a:p>
          <a:p xmlns:a="http://schemas.openxmlformats.org/drawingml/2006/main">
            <a:r>
              <a:t>✓ 入口：InteractionManifest / ToolContract</a:t>
            </a:r>
          </a:p>
          <a:p xmlns:a="http://schemas.openxmlformats.org/drawingml/2006/main">
            <a:r>
              <a:t>✓ 事件：RuntimeEvent / Diagnostic / LogEnvelope</a:t>
            </a:r>
          </a:p>
          <a:p xmlns:a="http://schemas.openxmlformats.org/drawingml/2006/main">
            <a:r>
              <a:t>✓ 轨迹：步骤 / 状态 / 引用 / 权限 / 高亮</a:t>
            </a:r>
          </a:p>
          <a:p xmlns:a="http://schemas.openxmlformats.org/drawingml/2006/main">
            <a:r>
              <a:t>✓ 隔离：用户终端 ≠ Agent 进程工具</a:t>
            </a:r>
          </a:p>
          <a:p xmlns:a="http://schemas.openxmlformats.org/drawingml/2006/main">
            <a:r>
              <a:t>✓ Log Redaction：Normalizer → Redactor → Log Bus</a:t>
            </a:r>
          </a:p>
          <a:p xmlns:a="http://schemas.openxmlformats.org/drawingml/2006/main">
            <a:r>
              <a:t>✓ 回收：Host / PTY / Sidecar / 预览服务</a:t>
            </a:r>
          </a:p>
          <a:p xmlns:a="http://schemas.openxmlformats.org/drawingml/2006/main">
            <a:r>
              <a:t>✓ 审计：授权 / 拒绝 / 截断 / 恢复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48098576048e7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运行：状态同源、Log Redaction、终端不越权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创作：修改可见、权限可读、差异可撤销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六类兼容模板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工具调用｜read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工程规则｜AGENTS.md / Skills / MCP /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会话记忆｜Gateway / 会话 / 记忆 /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团队协作｜消息 / 任务 /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主子协作｜工具权限 /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组合研究｜Profile / Bundle / Cordis /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项目积木化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构建助手把现有项目拆解为可编辑的积木资产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基于源码证据识别边界、权限与行为，再生成可审查、可验证、可升级的 Blocky 产物。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锁定来源</a:t>
            </a:r>
          </a:p>
          <a:p xmlns:a="http://schemas.openxmlformats.org/drawingml/2006/main">
            <a:r>
              <a:t>建立证据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仓库 / commit / 许可</a:t>
            </a:r>
          </a:p>
          <a:p xmlns:a="http://schemas.openxmlformats.org/drawingml/2006/main">
            <a:r>
              <a:t>源码 / 配置 / 测试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只读理解</a:t>
            </a:r>
          </a:p>
          <a:p xmlns:a="http://schemas.openxmlformats.org/drawingml/2006/main">
            <a:r>
              <a:t>识别边界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入口 / 类型 / 状态</a:t>
            </a:r>
          </a:p>
          <a:p xmlns:a="http://schemas.openxmlformats.org/drawingml/2006/main">
            <a:r>
              <a:t>副作用 / 性能热点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语义映射</a:t>
            </a:r>
          </a:p>
          <a:p xmlns:a="http://schemas.openxmlformats.org/drawingml/2006/main">
            <a:r>
              <a:t>产物裁决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积木 / 蓝图 / 模板</a:t>
            </a:r>
          </a:p>
          <a:p xmlns:a="http://schemas.openxmlformats.org/drawingml/2006/main">
            <a:r>
              <a:t>原生保留报告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幽灵差异</a:t>
            </a:r>
          </a:p>
          <a:p xmlns:a="http://schemas.openxmlformats.org/drawingml/2006/main">
            <a:r>
              <a:t>接受或拒绝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Build Spec / Patch</a:t>
            </a:r>
          </a:p>
          <a:p xmlns:a="http://schemas.openxmlformats.org/drawingml/2006/main">
            <a:r>
              <a:t>权限 / 依赖 / 预算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验证往返</a:t>
            </a:r>
          </a:p>
          <a:p xmlns:a="http://schemas.openxmlformats.org/drawingml/2006/main">
            <a:r>
              <a:t>持续升级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编译 / 测试 / Trace</a:t>
            </a:r>
          </a:p>
          <a:p xmlns:a="http://schemas.openxmlformats.org/drawingml/2006/main">
            <a:r>
              <a:t>增量扫描 /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项目积木化，让外部能力持续进入 Blocky 语言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源码、Agent、RAG、MCP、CLI 与业务流程都能沉淀为可复用资产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扩展空间不再受预装积木数量限制，用户可持续创造自己的能力目录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积木化输入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一个入口连接代码、Agent、知识与业务流程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构建助手先判断输入类型，再选择最适合的可编辑结果；不同来源可以组合进入同一项目。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同一项目可以吸收多种来源，不把复杂能力压成一个黑盒代码块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输入越丰富，转换证据越清晰，可复用资产越多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GitHub / 本地仓库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库 · SDK · 应用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API / 类型 / 依赖 / 测试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现有 Agent / Harness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循环 · 工具 · 权限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 / 事件 / 插件 / 配置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知识库与 RAG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摄取 · 检索 · 引用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 / 索引 / 重排 / ACL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MCP / CLI / API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工具与连接器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Contracts / Auth / Errors / Rate Limits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业务流程与 RPA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浏览器 ↔ 桌面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表单 / 文件 / 检查点 / 审批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教学与组织资产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 · 文档 · 规则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教案 / SOP / 表格 / 旧系统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四类转换结果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项目积木化既释放能力，也保留真实边界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同一项目可以同时生成四类产物：能拆则拆、能复用则复用、必须原生则明确保留。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自定义积木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适合｜稳定组件 / SDK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结果｜类型化输入输出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价值｜跨项目复用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可展开蓝图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适合｜多步通用流程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结果｜可学习可改造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价值｜降低上手门槛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兼容模板草案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适合｜完整 Agent Harness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结果｜运行时 + 可逆投影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价值｜保留行为与升级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原生保留报告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适合｜许可 / 性能 / 动态边界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结果｜定位与兼容说明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价值｜不伪装转换成功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一份源码可拆出积木、蓝图与模板；修改后仍可追溯来源、差异与权限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63e38001f474a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CLI / SKILLS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图形页、构建助手、CLI 与四个 Skills 共用同一语义内核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无论人或 Agent 操作，都通过 Build Spec、Semantic Patch、Compiler 和 Permission Contract 改变同一份项目。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搭建 Agent</a:t>
            </a:r>
          </a:p>
          <a:p xmlns:a="http://schemas.openxmlformats.org/drawingml/2006/main">
            <a:r>
              <a:t>$build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$build-blocky-agents</a:t>
            </a:r>
          </a:p>
          <a:p xmlns:a="http://schemas.openxmlformats.org/drawingml/2006/main">
            <a:r>
              <a:t>创建 / 修改 / 解释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创建积木</a:t>
            </a:r>
          </a:p>
          <a:p xmlns:a="http://schemas.openxmlformats.org/drawingml/2006/main">
            <a:r>
              <a:t>$create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$create-blocky-blocks</a:t>
            </a:r>
          </a:p>
          <a:p xmlns:a="http://schemas.openxmlformats.org/drawingml/2006/main">
            <a:r>
              <a:t>可视 / 代码自定义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项目积木化</a:t>
            </a:r>
          </a:p>
          <a:p xmlns:a="http://schemas.openxmlformats.org/drawingml/2006/main">
            <a:r>
              <a:t>$convert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GitHub / 本地项目</a:t>
            </a:r>
          </a:p>
          <a:p xmlns:a="http://schemas.openxmlformats.org/drawingml/2006/main">
            <a:r>
              <a:t>积木 / 蓝图 / 模板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逆向 Agent</a:t>
            </a:r>
          </a:p>
          <a:p xmlns:a="http://schemas.openxmlformats.org/drawingml/2006/main">
            <a:r>
              <a:t>$reverse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结构 / 配置 / 行为</a:t>
            </a:r>
          </a:p>
          <a:p xmlns:a="http://schemas.openxmlformats.org/drawingml/2006/main">
            <a:r>
              <a:t>证据 / 覆盖 / 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56"/>
          </a:bodyPr>
          <a:lstStyle xmlns:a="http://schemas.openxmlformats.org/drawingml/2006/main"/>
          <a:p xmlns:a="http://schemas.openxmlformats.org/drawingml/2006/main">
            <a:r>
              <a:t>CLI 验证</a:t>
            </a:r>
          </a:p>
          <a:p xmlns:a="http://schemas.openxmlformats.org/drawingml/2006/main">
            <a:r>
              <a:t>Shared Contract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2083"/>
          </a:bodyPr>
          <a:lstStyle xmlns:a="http://schemas.openxmlformats.org/drawingml/2006/main"/>
          <a:p xmlns:a="http://schemas.openxmlformats.org/drawingml/2006/main">
            <a:r>
              <a:t>validate / compile / test</a:t>
            </a:r>
          </a:p>
          <a:p xmlns:a="http://schemas.openxmlformats.org/drawingml/2006/main">
            <a:r>
              <a:t>inspect / pack / apply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Project Manifest · Workspace · IR · RuntimeEvent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 Skills 是专业入口，不是四套隐藏语言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开放生态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社区分发的是可审查能力，不是不可见的黑盒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纯模板、组合积木、代码扩展与原生兼容包分型；安装与更新都展示来源、许可、权限、依赖和差异。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87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来源、权限、版本与签名分层可见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四类对象 + 三道治理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纯模板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组合积木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代码扩展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兼容包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版本锁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权限审查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签名撤回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IR、Runtime Core、轨迹与权限模型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2e5de73b848ed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MOBILE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手机负责使用与操控 Agent，不把桌面画布硬塞进小屏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Android、HarmonyOS、iOS 读取交互清单，显示消息、附件、审批、进度与轨迹摘要。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76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概念示意 · 本机 / 桌面 / 服务器运行目标协商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移动端七项核心能力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列表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交互入口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附件输入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工具进度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审批取消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断线恢复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目标协商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IR、Runtime Core、轨迹与权限模型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dfd0c692e47b7"/>
          <a:srcRect xmlns:a="http://schemas.openxmlformats.org/drawingml/2006/main" l="0" t="2671" r="0" b="2671"/>
          <a:stretch xmlns:a="http://schemas.openxmlformats.org/drawingml/2006/main"/>
        </p:blipFill>
        <p:spPr>
          <a:xfrm xmlns:a="http://schemas.openxmlformats.org/drawingml/2006/main" flipH="0" flipV="0">
            <a:off x="819150" y="2076450"/>
            <a:ext cx="6305550" cy="30861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场景化拓展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从个人学习到组织生产，服务围绕同一产品底座展开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标准功能解决通用搭建，拓展服务把目标、课程、数据、系统和治理要求组合成可用方案。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一套内核支撑个人订阅、机构方案与企业交付，作品格式与运行证据保持一致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服务价值：缩短场景落地周期，让定制能力继续沉淀为可复用资产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个人学习进阶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路径与项目包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 / 挑战 / 作品集 / 反馈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个人创作拓展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场景蓝图与能力包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知识 / 工具 / 模型 / 发布指导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学校课程方案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课程与蓝图共创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教案 / 任务 / 评价 / 版本锁定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教育机构运营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班级与教师服务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培训 / 分发 / 提交 / 本地资源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企业场景共创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流程诊断与方案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数据 / 系统 / 风险边界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企业定制交付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+ App + RPA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集成 / 私有化 / 审计 / 运维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定制服务体系 · 目标形态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定制不是一次性交付，而是可复用的产品化链路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每次场景共创都沿统一步骤落地，并把成果沉淀为组织蓝图、私有积木与版本化解决方案。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标准积木优先，自定义能力有 Contract，原生能力有保留区；交付可升级、可 Rollback、可复用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办公问答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浏览器任务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桌面任务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+ 自动化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交付闭环：诊断 → 设计 → 共创 → 验证 → 部署 → 运营 → 资产回流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场景诊断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目标与流程建模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 / 任务 / KPI / 责任边界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与模块蓝图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知识 / 工具 / 权限 / 人工节点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内容与数据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课程 / 知识 / 规则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来源 / ACL / 更新 / 引用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连接与开发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 / MCP / API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AppSurface / RPA / 旧系统适配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部署与治理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环境 / Secrets / 审计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 / Rollback / 成本 / 可用性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培训与运营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员工 / 管理员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上线 / 支持 / 评测 / 版本升级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APPENDIX ·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产品、解决方案与生态按四个阶段共同扩张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底层能力稳定后，再扩大服务目录、组织交付与多端运行；所有场景共享同一项目格式。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正式地基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58333"/>
          </a:bodyPr>
          <a:lstStyle xmlns:a="http://schemas.openxmlformats.org/drawingml/2006/main"/>
          <a:p xmlns:a="http://schemas.openxmlformats.org/drawingml/2006/main">
            <a:r>
              <a:t>阶段 0–2｜Contract Baseline / 多模块</a:t>
            </a:r>
          </a:p>
          <a:p xmlns:a="http://schemas.openxmlformats.org/drawingml/2006/main">
            <a:r>
              <a:t>桌面｜面板 / 终端 / 日志</a:t>
            </a:r>
          </a:p>
          <a:p xmlns:a="http://schemas.openxmlformats.org/drawingml/2006/main">
            <a:r>
              <a:t>地基｜设置 / 资源 / 权限</a:t>
            </a:r>
          </a:p>
          <a:p xmlns:a="http://schemas.openxmlformats.org/drawingml/2006/main">
            <a:r>
              <a:t>闭环｜保存 / 窗口 / 回收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7031"/>
          </a:bodyPr>
          <a:lstStyle xmlns:a="http://schemas.openxmlformats.org/drawingml/2006/main"/>
          <a:p xmlns:a="http://schemas.openxmlformats.org/drawingml/2006/main">
            <a:r>
              <a:t>阶段 3–7｜RAG / 项目积木化</a:t>
            </a:r>
          </a:p>
          <a:p xmlns:a="http://schemas.openxmlformats.org/drawingml/2006/main">
            <a:r>
              <a:t>产品｜蓝图 / Agent / 构建助手</a:t>
            </a:r>
          </a:p>
          <a:p xmlns:a="http://schemas.openxmlformats.org/drawingml/2006/main">
            <a:r>
              <a:t>交付｜Trace / AppSurface</a:t>
            </a:r>
          </a:p>
          <a:p xmlns:a="http://schemas.openxmlformats.org/drawingml/2006/main">
            <a:r>
              <a:t>办公｜有人值守 RPA / 多架构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规模化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0348"/>
          </a:bodyPr>
          <a:lstStyle xmlns:a="http://schemas.openxmlformats.org/drawingml/2006/main"/>
          <a:p xmlns:a="http://schemas.openxmlformats.org/drawingml/2006/main">
            <a:r>
              <a:t>阶段 8–11｜6 模板 / CLI / 4 Skills</a:t>
            </a:r>
          </a:p>
          <a:p xmlns:a="http://schemas.openxmlformats.org/drawingml/2006/main">
            <a:r>
              <a:t>教育｜工作区 / 机构方案</a:t>
            </a:r>
          </a:p>
          <a:p xmlns:a="http://schemas.openxmlformats.org/drawingml/2006/main">
            <a:r>
              <a:t>企业｜团队 / 部署 / 无人值守 RPA</a:t>
            </a:r>
          </a:p>
          <a:p xmlns:a="http://schemas.openxmlformats.org/drawingml/2006/main">
            <a:r>
              <a:t>服务｜定制方案 / 私有资产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生态与多端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9115"/>
          </a:bodyPr>
          <a:lstStyle xmlns:a="http://schemas.openxmlformats.org/drawingml/2006/main"/>
          <a:p xmlns:a="http://schemas.openxmlformats.org/drawingml/2006/main">
            <a:r>
              <a:t>阶段 12–14｜社区供应链</a:t>
            </a:r>
          </a:p>
          <a:p xmlns:a="http://schemas.openxmlformats.org/drawingml/2006/main">
            <a:r>
              <a:t>桌面｜macOS + 移动使用器</a:t>
            </a:r>
          </a:p>
          <a:p xmlns:a="http://schemas.openxmlformats.org/drawingml/2006/main">
            <a:r>
              <a:t>商业｜权益 / 订阅 / 服务目录</a:t>
            </a:r>
          </a:p>
          <a:p xmlns:a="http://schemas.openxmlformats.org/drawingml/2006/main">
            <a:r>
              <a:t>生态｜多端分发 / 国际化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每个服务方案都回流为蓝图、积木、适配器或私有资产包，形成复用飞轮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4c00f6cca4e84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2026-08-26T16:03:27.8620000Z</dcterms:created>
  <dcterms:modified xsi:type="dcterms:W3CDTF">2026-08-26T16:03:27.8620000Z</dcterms:modified>
</coreProperties>
</file>
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277f8f66cc94e6a" /><Relationship Type="http://schemas.openxmlformats.org/officeDocument/2006/relationships/extended-properties" Target="/docProps/app.xml" Id="R7799535629eb429b" /><Relationship Type="http://schemas.openxmlformats.org/officeDocument/2006/relationships/officeDocument" Target="/ppt/presentation.xml" Id="R576f5b5075534fe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4f1af229dda4d1c"/>
  </p:sldMasterIdLst>
  <p:notesMasterIdLst>
    <p:notesMasterId xmlns:r="http://schemas.openxmlformats.org/officeDocument/2006/relationships" r:id="R4990afe2e43a4da5"/>
  </p:notesMasterIdLst>
  <p:sldIdLst>
    <p:sldId xmlns:r="http://schemas.openxmlformats.org/officeDocument/2006/relationships" id="256" r:id="R38c92258164b47e5"/>
    <p:sldId xmlns:r="http://schemas.openxmlformats.org/officeDocument/2006/relationships" id="257" r:id="R383db96aaf49456d"/>
    <p:sldId xmlns:r="http://schemas.openxmlformats.org/officeDocument/2006/relationships" id="258" r:id="Ra8046b80f3ce4942"/>
    <p:sldId xmlns:r="http://schemas.openxmlformats.org/officeDocument/2006/relationships" id="259" r:id="R75b94b02a8f041a4"/>
    <p:sldId xmlns:r="http://schemas.openxmlformats.org/officeDocument/2006/relationships" id="260" r:id="R267d82bb0084430b"/>
    <p:sldId xmlns:r="http://schemas.openxmlformats.org/officeDocument/2006/relationships" id="261" r:id="Red01a3ea18164cf8"/>
    <p:sldId xmlns:r="http://schemas.openxmlformats.org/officeDocument/2006/relationships" id="262" r:id="R40d578b858b44c6b"/>
    <p:sldId xmlns:r="http://schemas.openxmlformats.org/officeDocument/2006/relationships" id="263" r:id="R4dde7b7801884832"/>
    <p:sldId xmlns:r="http://schemas.openxmlformats.org/officeDocument/2006/relationships" id="264" r:id="Ra613b999aaf14b8e"/>
    <p:sldId xmlns:r="http://schemas.openxmlformats.org/officeDocument/2006/relationships" id="265" r:id="Rba9e8ca9251240d9"/>
    <p:sldId xmlns:r="http://schemas.openxmlformats.org/officeDocument/2006/relationships" id="266" r:id="Ra4ad784907934c18"/>
    <p:sldId xmlns:r="http://schemas.openxmlformats.org/officeDocument/2006/relationships" id="267" r:id="R61bf7d7f48c24dab"/>
    <p:sldId xmlns:r="http://schemas.openxmlformats.org/officeDocument/2006/relationships" id="268" r:id="R2deeab7f8f194f30"/>
    <p:sldId xmlns:r="http://schemas.openxmlformats.org/officeDocument/2006/relationships" id="269" r:id="Rc576c99670084b8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dd78b79cc244ed9" /><Relationship Type="http://schemas.openxmlformats.org/officeDocument/2006/relationships/slideMaster" Target="/ppt/slideMasters/slideMaster1.xml" Id="Ra4f1af229dda4d1c" /><Relationship Type="http://schemas.openxmlformats.org/officeDocument/2006/relationships/notesMaster" Target="/ppt/notesMasters/notesMaster1.xml" Id="R4990afe2e43a4da5" /><Relationship Type="http://schemas.openxmlformats.org/officeDocument/2006/relationships/presProps" Target="/ppt/presProps.xml" Id="R0454c71dd8f2400a" /><Relationship Type="http://schemas.openxmlformats.org/officeDocument/2006/relationships/tableStyles" Target="/ppt/tableStyles.xml" Id="R26d39c85955440c0" /><Relationship Type="http://schemas.openxmlformats.org/officeDocument/2006/relationships/slide" Target="/ppt/slides/slide1.xml" Id="R38c92258164b47e5" /><Relationship Type="http://schemas.openxmlformats.org/officeDocument/2006/relationships/slide" Target="/ppt/slides/slide2.xml" Id="R383db96aaf49456d" /><Relationship Type="http://schemas.openxmlformats.org/officeDocument/2006/relationships/slide" Target="/ppt/slides/slide3.xml" Id="Ra8046b80f3ce4942" /><Relationship Type="http://schemas.openxmlformats.org/officeDocument/2006/relationships/slide" Target="/ppt/slides/slide4.xml" Id="R75b94b02a8f041a4" /><Relationship Type="http://schemas.openxmlformats.org/officeDocument/2006/relationships/slide" Target="/ppt/slides/slide5.xml" Id="R267d82bb0084430b" /><Relationship Type="http://schemas.openxmlformats.org/officeDocument/2006/relationships/slide" Target="/ppt/slides/slide6.xml" Id="Red01a3ea18164cf8" /><Relationship Type="http://schemas.openxmlformats.org/officeDocument/2006/relationships/slide" Target="/ppt/slides/slide7.xml" Id="R40d578b858b44c6b" /><Relationship Type="http://schemas.openxmlformats.org/officeDocument/2006/relationships/slide" Target="/ppt/slides/slide8.xml" Id="R4dde7b7801884832" /><Relationship Type="http://schemas.openxmlformats.org/officeDocument/2006/relationships/slide" Target="/ppt/slides/slide9.xml" Id="Ra613b999aaf14b8e" /><Relationship Type="http://schemas.openxmlformats.org/officeDocument/2006/relationships/slide" Target="/ppt/slides/slide10.xml" Id="Rba9e8ca9251240d9" /><Relationship Type="http://schemas.openxmlformats.org/officeDocument/2006/relationships/slide" Target="/ppt/slides/slide11.xml" Id="Ra4ad784907934c18" /><Relationship Type="http://schemas.openxmlformats.org/officeDocument/2006/relationships/slide" Target="/ppt/slides/slide12.xml" Id="R61bf7d7f48c24dab" /><Relationship Type="http://schemas.openxmlformats.org/officeDocument/2006/relationships/slide" Target="/ppt/slides/slide13.xml" Id="R2deeab7f8f194f30" /><Relationship Type="http://schemas.openxmlformats.org/officeDocument/2006/relationships/slide" Target="/ppt/slides/slide14.xml" Id="Rc576c99670084b8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b9bfef476d34af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ef9d51b232b43c8" /><Relationship Type="http://schemas.openxmlformats.org/officeDocument/2006/relationships/notesMaster" Target="/ppt/notesMasters/notesMaster1.xml" Id="Rb5ac1312b8bc403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266a65c2ecf4f7c" /><Relationship Type="http://schemas.openxmlformats.org/officeDocument/2006/relationships/notesMaster" Target="/ppt/notesMasters/notesMaster1.xml" Id="R5fa2db4a5d774bc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892c5b3c9ee4472" /><Relationship Type="http://schemas.openxmlformats.org/officeDocument/2006/relationships/notesMaster" Target="/ppt/notesMasters/notesMaster1.xml" Id="R7cf86d235106434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71e66227a004fdc" /><Relationship Type="http://schemas.openxmlformats.org/officeDocument/2006/relationships/notesMaster" Target="/ppt/notesMasters/notesMaster1.xml" Id="Rb3236fde71c447f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abc22c9ef9c453f" /><Relationship Type="http://schemas.openxmlformats.org/officeDocument/2006/relationships/notesMaster" Target="/ppt/notesMasters/notesMaster1.xml" Id="R80e1c16eb9ae45b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c4c3fb102b94a4d" /><Relationship Type="http://schemas.openxmlformats.org/officeDocument/2006/relationships/notesMaster" Target="/ppt/notesMasters/notesMaster1.xml" Id="Rb2c9c99a234441b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293249afaee4bdf" /><Relationship Type="http://schemas.openxmlformats.org/officeDocument/2006/relationships/notesMaster" Target="/ppt/notesMasters/notesMaster1.xml" Id="R3e59603ca2e7466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8c4ba22a3f94d9b" /><Relationship Type="http://schemas.openxmlformats.org/officeDocument/2006/relationships/notesMaster" Target="/ppt/notesMasters/notesMaster1.xml" Id="Rf3e48f70d1e4411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82b69aed4504cd1" /><Relationship Type="http://schemas.openxmlformats.org/officeDocument/2006/relationships/notesMaster" Target="/ppt/notesMasters/notesMaster1.xml" Id="R9d00974b7db3433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1e2dccade5a4fb1" /><Relationship Type="http://schemas.openxmlformats.org/officeDocument/2006/relationships/notesMaster" Target="/ppt/notesMasters/notesMaster1.xml" Id="Rdbbb68ae2dc042f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fef61c9f1d74584" /><Relationship Type="http://schemas.openxmlformats.org/officeDocument/2006/relationships/notesMaster" Target="/ppt/notesMasters/notesMaster1.xml" Id="Rf600b897d28649e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f303a606e2543da" /><Relationship Type="http://schemas.openxmlformats.org/officeDocument/2006/relationships/notesMaster" Target="/ppt/notesMasters/notesMaster1.xml" Id="Raf659d4ede4b430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dd6bb39e1654ffd" /><Relationship Type="http://schemas.openxmlformats.org/officeDocument/2006/relationships/notesMaster" Target="/ppt/notesMasters/notesMaster1.xml" Id="R7ed1a3c7629f4fc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01d7e57c79f4809" /><Relationship Type="http://schemas.openxmlformats.org/officeDocument/2006/relationships/notesMaster" Target="/ppt/notesMasters/notesMaster1.xml" Id="Re1eba7ca8074472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开场直接回答产品是什么：Blocky Studio 是 Scratch 式 Agent 搭建与学习软件，让学生从“使用 AI”进入“设计、搭建并负责运行 Agent”。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https://js.news.cn/20260814/e55cedf9698f4f56a99a8a96d8473a54/c.html (2026 息壤杯惠民产品创新与 AI+教育方向)</a:t>
            </a:r>
          </a:p>
          <a:p xmlns:a="http://schemas.openxmlformats.org/drawingml/2006/main">
            <a:r>
              <a:t>- D:\1Folder\Blocky-AI\doc\产品设计\Blocky-完整积木与Agent兼容设计.md (Scratch 式 Agent 产品定位)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Scratch 已经证明，可视积木适合把抽象编程结构转成青少年可操作的学习对象；Blocky 把这条路径延伸到 Agent 的角色、知识、工具、记忆、权限和运行轨迹。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https://scratch.mit.edu/help/about (Scratch 面向 8–16 岁，并强调创造性思考、系统化推理与协作)</a:t>
            </a:r>
          </a:p>
          <a:p xmlns:a="http://schemas.openxmlformats.org/drawingml/2006/main">
            <a:r>
              <a:t>- https://doi.org/10.1016/j.compedu.2019.103607 (K-9 学生通过 Scratch 学习计算思维的实证综述)</a:t>
            </a:r>
          </a:p>
          <a:p xmlns:a="http://schemas.openxmlformats.org/drawingml/2006/main">
            <a:r>
              <a:t>- D:\1Folder\Blocky-AI\doc\产品设计\Blocky-完整积木与Agent兼容设计.md (Scratch 式 Agent 搭建与语义设计)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OpenAI image generation, original student Agent-building illustration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全国教育体系提供广泛入口，但商业计划不把所有学校都当作首批市场。Blocky 先服务 12 岁以上学生、职教/高校入门课程与教师创作者，再连接个人高频搭建者和学校/教育机构。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https://hudong.moe.gov.cn/jyb_sjzl/sjzl_fztjgb/202506/t20250611_1193760.html (2024 年全国教育事业发展统计公报)</a:t>
            </a:r>
          </a:p>
          <a:p xmlns:a="http://schemas.openxmlformats.org/drawingml/2006/main">
            <a:r>
              <a:t>- D:\1Folder\Blocky-AI\doc\产品设计\Blocky-初版产品方案.md (教育用户、个人与机构服务)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产品形态坚持 Scratch 式嵌套画布，而不是通用节点连线工作流。入门七类与专业十二类共享项目格式、IR、运行内核、轨迹与权限模型。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(桌面 Agent 搭建布局)</a:t>
            </a:r>
          </a:p>
          <a:p xmlns:a="http://schemas.openxmlformats.org/drawingml/2006/main">
            <a:r>
              <a:t>- D:\1Folder\Blocky-AI\doc\产品设计\Blocky-完整积木与Agent兼容设计.md (入门七类、专业十二类与统一语义)</a:t>
            </a:r>
          </a:p>
          <a:p xmlns:a="http://schemas.openxmlformats.org/drawingml/2006/main">
            <a:r>
              <a:t>- D:\1Folder\Blocky-AI\doc\技术设计\Windows-Core视觉验收\13-professional-conversation-trace.png (本地技术尖峰截图)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课堂采用 4–6 课时项目制：先定义问题与边界，再完成角色与知识、工具与权限、运行核验，最后展示和复盘。每课时交付一个可保存、可继续的里程碑，复杂 Agent 在后续项目中持续扩展。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(资料问答 Agent 课堂闭环)</a:t>
            </a:r>
          </a:p>
          <a:p xmlns:a="http://schemas.openxmlformats.org/drawingml/2006/main">
            <a:r>
              <a:t>- https://hudong.moe.gov.cn/jyb_xwfb/gzdt_gzdt/s5987/202412/t20241202_1165500.html (探究实践与学用结合)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OpenAI image generation, original classroom Agent collaboration illustration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这里的 3 分钟是基于现成蓝图的产品演示时长，不是完整课程时长。五步连续呈现选择蓝图、修改角色/知识/工具、运行、查看轨迹与保存重开，并让引用、拒答和项目复现证据同屏。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搭建展示旅程)</a:t>
            </a:r>
          </a:p>
          <a:p xmlns:a="http://schemas.openxmlformats.org/drawingml/2006/main">
            <a:r>
              <a:t>- D:\1Folder\Blocky-AI\doc\技术设计\Windows-Core技术尖峰报告.md (确定性运行、保存重开与事件证据)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Blocky 的差异化不是堆功能：学生操作 Scratch 式 Agent 积木，系统生成稳定 Project IR，经受控 Runtime 执行，再由 RuntimeEvent/Trace 为教师提供逐步复核，并通过版本化适配器连接六类 Agent 生态。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(可观察 Agent 语言与产品壁垒)</a:t>
            </a:r>
          </a:p>
          <a:p xmlns:a="http://schemas.openxmlformats.org/drawingml/2006/main">
            <a:r>
              <a:t>- D:\1Folder\Blocky-AI\doc\产品设计\CLI与官方Agent-Skill.md (四个官方 Skills 与共享语义)</a:t>
            </a:r>
          </a:p>
          <a:p xmlns:a="http://schemas.openxmlformats.org/drawingml/2006/main">
            <a:r>
              <a:t>- D:\1Folder\Blocky-AI\doc\技术设计\ADR-002-原生Agent兼容运行时.md (版本化适配器与可逆投影)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六个方向分别承载轻量编码、专业编程、个人助理、团队协作、工程开发和组合研究等 Agent 架构。这里表达的是兼容版图与教学入口，不把设计方向写成已经完成的“原生完整兼容”。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D:\1Folder\Blocky-AI\doc\产品设计\Blocky-内置兼容模板.md (Pi、Codex、OpenClaw、Hermes、OpenCode、DeepSeek Harness 六模板设计)</a:t>
            </a:r>
          </a:p>
          <a:p xmlns:a="http://schemas.openxmlformats.org/drawingml/2006/main">
            <a:r>
              <a:t>- D:\1Folder\Blocky-AI\doc\技术设计\ADR-002-原生Agent兼容运行时.md (进程外运行时、版本化适配器与可逆投影)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这一页只陈述已经验收的证据：左侧是 Windows Core 尖峰的编辑、编译、运行、保存和 Host 证据；右侧是正式产品契约、正反夹具与独立文档验收。两者不等于正式产品全部完成。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D:\1Folder\Blocky-AI\doc\技术设计\Windows-Core技术尖峰报告.md (Windows Core 实证与长稳数据)</a:t>
            </a:r>
          </a:p>
          <a:p xmlns:a="http://schemas.openxmlformats.org/drawingml/2006/main">
            <a:r>
              <a:t>- D:\1Folder\Blocky-AI\doc\技术设计\正式契约\README.md (正式契约注册表)</a:t>
            </a:r>
          </a:p>
          <a:p xmlns:a="http://schemas.openxmlformats.org/drawingml/2006/main">
            <a:r>
              <a:t>- D:\1Folder\Blocky-AI\doc\验收\归档\2026-08-23\验收-Blocky阶段0契约冻结.md (独立验收结果)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四项成果都能转成课堂指标：完成一个可运行 Agent、解释关键积木和轨迹、提供可定位来源或在缺证据时拒答、保存重开后保持语义一致。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D:\1Folder\Blocky-AI\doc\执行计划\2026-08-23-Blocky-竞品驱动完整开发计划.md (Agent 课堂闭环验收旅程)</a:t>
            </a:r>
          </a:p>
          <a:p xmlns:a="http://schemas.openxmlformats.org/drawingml/2006/main">
            <a:r>
              <a:t>- D:\1Folder\Blocky-AI\doc\技术设计\正式契约\03-交互工具运行与可观察性-v1alpha1.md (运行事件、高亮、日志与轨迹同源)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OpenAI image generation, original blueprint line-art illustration for Agent learning outcomes,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商业模式使用同一项目格式和运行内核：教育基础作为课堂与学习入口；教育拓展服务个人高频搭建者；学校与机构通过席位、课程、支持和私有化服务获得持续价值。页面价格来自已确认产品设计基线，不代表已产生收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(教育基础、教育拓展价格与机构方案)</a:t>
            </a:r>
          </a:p>
          <a:p xmlns:a="http://schemas.openxmlformats.org/drawingml/2006/main">
            <a:r>
              <a:t>- D:\1Folder\Blocky-AI\doc\产品设计\Blocky-完整积木与Agent兼容设计.md (商业约束与统一项目语义)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学校采用路径围绕四个阻力设计：首次使用门槛、课程资料控制、成果验收和教师复用。获客以一个 4–6 课时基础 Agent 项目为单元，持续服务以教师、班级和年度机构授权为单元。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D:\1Folder\Blocky-AI\doc\产品设计\Blocky-初版产品方案.md (教育场景与机构服务)</a:t>
            </a:r>
          </a:p>
          <a:p xmlns:a="http://schemas.openxmlformats.org/drawingml/2006/main">
            <a:r>
              <a:t>- D:\1Folder\Blocky-AI\doc\产品设计\Blocky-底部面板终端与日志系统设计.md (运行证据、日志脱敏与终端隔离)</a:t>
            </a:r>
          </a:p>
          <a:p xmlns:a="http://schemas.openxmlformats.org/drawingml/2006/main">
            <a:r>
              <a:t>- D:\1Folder\Blocky-AI\doc\执行计划\2026-08-23-Blocky-竞品驱动完整开发计划.md (课堂 Provider、教师/班级/作业与教育工作区路线)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OpenAI image generation, original colored-pencil illustration for Agent safety, permissions and responsibility,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里程碑不按功能数量推进，而按证据推进：初赛用 3 分钟蓝图路径交付可运行产品证据；复赛用 4–6 课时项目形成教师共创和课堂指标；总决赛形成试点数据、机构意向与首批适配报告。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https://js.news.cn/20260814/e55cedf9698f4f56a99a8a96d8473a54/c.html (2026 息壤杯赛事信息与惠民产品方向)</a:t>
            </a:r>
          </a:p>
          <a:p xmlns:a="http://schemas.openxmlformats.org/drawingml/2006/main">
            <a:r>
              <a:t>- D:\1Folder\Blocky-AI\doc\执行计划\2026-08-23-Blocky-竞品驱动完整开发计划.md (Agent 教育、兼容与商业路线)</a:t>
            </a:r>
          </a:p>
          <a:p xmlns:a="http://schemas.openxmlformats.org/drawingml/2006/main">
            <a:r>
              <a:t>- D:\1Folder\Blocky-AI\doc\产品设计\Blocky-内置兼容模板.md (六模板兼容矩阵)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OpenAI image generation, original paper-cut collage illustration for Agent education growth,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收束到产品目的、商业模式、社会价值、已验收进展和生态潜力，并把赛事诉求具体化为试点教师、合作学校、模型算力、教育渠道和孵化资源。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https://js.news.cn/20260814/e55cedf9698f4f56a99a8a96d8473a54/c.html (2026 息壤杯惠民产品创新与孵化方向)</a:t>
            </a:r>
          </a:p>
          <a:p xmlns:a="http://schemas.openxmlformats.org/drawingml/2006/main">
            <a:r>
              <a:t>- D:\1Folder\Blocky-AI\doc\产品设计\Blocky-完整积木与Agent兼容设计.md (Agent 搭建产品定位)</a:t>
            </a:r>
          </a:p>
          <a:p xmlns:a="http://schemas.openxmlformats.org/drawingml/2006/main">
            <a:r>
              <a:t>- D:\1Folder\Blocky-AI\doc\执行计划\2026-08-23-Blocky-竞品驱动完整开发计划.md (CLI、Skills、兼容与多端路线)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- OpenAI image generation, original student Agent-builder vision illustration created for this deck, 2026-08-25.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bac0d96993448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44de33c85b346be" /><Relationship Type="http://schemas.openxmlformats.org/officeDocument/2006/relationships/slideLayout" Target="/ppt/slideLayouts/slideLayout1.xml" Id="Rc6d0a10f57a147e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6d0a10f57a147e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947035da314f24" /><Relationship Type="http://schemas.openxmlformats.org/officeDocument/2006/relationships/image" Target="/ppt/media/image.png" Id="R19944c9077e741d9" /><Relationship Type="http://schemas.openxmlformats.org/officeDocument/2006/relationships/notesSlide" Target="/ppt/notesSlides/notesSlide1.xml" Id="R6e22967180c7422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049a7b7cfe4504" /><Relationship Type="http://schemas.openxmlformats.org/officeDocument/2006/relationships/image" Target="/ppt/media/image2.png" Id="Rb804a248e4984b4d" /><Relationship Type="http://schemas.openxmlformats.org/officeDocument/2006/relationships/notesSlide" Target="/ppt/notesSlides/notesSlide2.xml" Id="R1aac939fc37a446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8bcc07feca4515" /><Relationship Type="http://schemas.openxmlformats.org/officeDocument/2006/relationships/notesSlide" Target="/ppt/notesSlides/notesSlide3.xml" Id="Rc0aea57a13af4b0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54ecf4dc424abf" /><Relationship Type="http://schemas.openxmlformats.org/officeDocument/2006/relationships/image" Target="/ppt/media/image3.png" Id="Re1dfdaf2644847d7" /><Relationship Type="http://schemas.openxmlformats.org/officeDocument/2006/relationships/notesSlide" Target="/ppt/notesSlides/notesSlide4.xml" Id="R3ebfc135d8d24cf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23a1ddb2eb41e7" /><Relationship Type="http://schemas.openxmlformats.org/officeDocument/2006/relationships/image" Target="/ppt/media/image4.png" Id="R31449699198b48ad" /><Relationship Type="http://schemas.openxmlformats.org/officeDocument/2006/relationships/notesSlide" Target="/ppt/notesSlides/notesSlide5.xml" Id="Red9d030ee0494ed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032d745d4f4a0f" /><Relationship Type="http://schemas.openxmlformats.org/officeDocument/2006/relationships/notesSlide" Target="/ppt/notesSlides/notesSlide6.xml" Id="R6733949acd66499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28611817d94cd5" /><Relationship Type="http://schemas.openxmlformats.org/officeDocument/2006/relationships/notesSlide" Target="/ppt/notesSlides/notesSlide7.xml" Id="Rc4145c2c034c4ec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cc54a75227430d" /><Relationship Type="http://schemas.openxmlformats.org/officeDocument/2006/relationships/notesSlide" Target="/ppt/notesSlides/notesSlide8.xml" Id="R1e584a1ba8e5445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ca6f193a0d4085" /><Relationship Type="http://schemas.openxmlformats.org/officeDocument/2006/relationships/image" Target="/ppt/media/image5.png" Id="R987c3a75bc084477" /><Relationship Type="http://schemas.openxmlformats.org/officeDocument/2006/relationships/notesSlide" Target="/ppt/notesSlides/notesSlide9.xml" Id="Rd7a795ddb81f46a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5b91c388b84f9d" /><Relationship Type="http://schemas.openxmlformats.org/officeDocument/2006/relationships/image" Target="/ppt/media/image6.png" Id="R8ef0558e40b34318" /><Relationship Type="http://schemas.openxmlformats.org/officeDocument/2006/relationships/notesSlide" Target="/ppt/notesSlides/notesSlide10.xml" Id="R811ae4ee3483406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05884d83bd4749" /><Relationship Type="http://schemas.openxmlformats.org/officeDocument/2006/relationships/notesSlide" Target="/ppt/notesSlides/notesSlide11.xml" Id="Rf12f3daf9bc04db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3a703dad0745c5" /><Relationship Type="http://schemas.openxmlformats.org/officeDocument/2006/relationships/image" Target="/ppt/media/image7.png" Id="R6b046f23f7ac412c" /><Relationship Type="http://schemas.openxmlformats.org/officeDocument/2006/relationships/notesSlide" Target="/ppt/notesSlides/notesSlide12.xml" Id="Rffe135e65b894f8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48a2865c27476e" /><Relationship Type="http://schemas.openxmlformats.org/officeDocument/2006/relationships/image" Target="/ppt/media/image8.png" Id="Re25f3f6b09a54172" /><Relationship Type="http://schemas.openxmlformats.org/officeDocument/2006/relationships/notesSlide" Target="/ppt/notesSlides/notesSlide13.xml" Id="R04c5ed06d91a414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6181658dff4350" /><Relationship Type="http://schemas.openxmlformats.org/officeDocument/2006/relationships/image" Target="/ppt/media/image9.png" Id="Rf9c247b0cd334267" /><Relationship Type="http://schemas.openxmlformats.org/officeDocument/2006/relationships/notesSlide" Target="/ppt/notesSlides/notesSlide14.xml" Id="Rc1df5c0904cc45d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0D9BE4-76F9-4A7D-9C8D-2F5EF2565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4CCF9B-8A6D-4873-B7C6-72B7F16F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0"/>
            <a:ext cx="209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4AD890-3E02-4B32-A590-73AF68E4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781050"/>
            <a:ext cx="1695450" cy="1695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D44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944c9077e741d9"/>
          <a:stretch xmlns:a="http://schemas.openxmlformats.org/drawingml/2006/main"/>
        </p:blipFill>
        <p:spPr>
          <a:xfrm xmlns:a="http://schemas.openxmlformats.org/drawingml/2006/main">
            <a:off x="8029575" y="1257300"/>
            <a:ext cx="2952750" cy="2952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369273-24D0-4097-89BD-DB290BEA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2026 息壤杯｜惠民产品创新｜AI+教育赛道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12D827-8A22-4FC0-8118-2EA4F9F6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619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让学生真正搭建 Agent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820EF3-5C41-49AB-9DB0-278C191C1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6477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看得懂、改得动、跑得通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3CB7FC-A2C8-4032-B5FB-5BDAD9D7A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E5E5DB-B502-4C97-A633-16C100D08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Scratch 式 Agent 搭建与学习软件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806E6E-DF21-46F4-84A1-E56863B71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2952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D8E6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856512-3F11-4BC5-BBFE-0365EA462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38725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7 类入门 · 4 项成果 · 6 类兼容生态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94BB3B-9431-4961-B921-BE763B2F2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5905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把“只会提问”升级为能设计角色、知识、工具、权限并解释运行过程。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D0086F-B57E-43C0-B341-1F4B85AA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153150"/>
            <a:ext cx="1571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Blocky Studio</a:t>
            </a:r>
          </a:p>
        </p:txBody>
      </p:sp>
    </p:spTree>
    <p:extLst>
      <p:ext uri="{BB962C8B-B14F-4D97-AF65-F5344CB8AC3E}">
        <p14:creationId xmlns:p14="http://schemas.microsoft.com/office/powerpoint/2010/main" val="132586192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6DE290-F233-4EA8-B16E-409742FCC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WHY NOW · 教育断层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540E2D-BEFB-41DE-A2EC-A7BFC2D2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Scratch 已证明积木式编程启蒙；Agent 教育仍缺同级工具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44CACA-0CE4-40DB-B2E2-8BE7B71AF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学生已会“用 AI”，却很难看见角色、知识、工具、记忆与权限如何组成可运行系统。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0599E7-286E-4CEB-8ADD-B581260DA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95600"/>
            <a:ext cx="6743700" cy="1905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AA88ED-3F7F-4892-A17B-A48C5F03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52675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5A4442-86C5-4DBE-B966-1E22F6210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4193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方法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D5BBB-CF18-459F-89A2-0A0FDD0A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2764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Scratch 启蒙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BB09F4-5080-4128-A92D-ECF4FE194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09800"/>
            <a:ext cx="346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76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面向 8–16 岁，用可视积木学习创造、系统化推理与协作。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5DA8EC-409C-4867-98FA-3B237753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48100"/>
            <a:ext cx="6743700" cy="1905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F2932F-EF45-40EC-BFB1-02393B5A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305175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E62B85-C3E2-4470-9235-AA031C74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3718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断层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6C706B-C168-4645-A2AA-6D71C55B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289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只会对话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CAE70C-34DE-4B49-BC59-72916708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62300"/>
            <a:ext cx="346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聊天界面呈现输入与答案，却不呈现 Agent 结构、工具调用与责任边界。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71AE33-BE20-47DD-8783-063FEE2E2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00600"/>
            <a:ext cx="6743700" cy="19050"/>
          </a:xfrm>
          <a:prstGeom xmlns:a="http://schemas.openxmlformats.org/drawingml/2006/main" prst="roundRect">
            <a:avLst>
              <a:gd name="adj" fmla="val 7746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C036CF-9EEB-4C8E-9ECE-8C718079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257675"/>
            <a:ext cx="723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BF48A1-AB51-4748-9371-48647738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43243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EC989C-9445-4F80-958F-20ACA0A30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18147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搭建 Agent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8B500E-DE01-45BB-89B3-2630FCA98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114800"/>
            <a:ext cx="3467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76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用 Scratch 式积木组合角色、知识、记忆、工具与权限，并用轨迹解释运行。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DDF664-42F9-4557-A074-F6D4E3617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7630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992B56-2143-41CF-A6C7-C76679FB6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10200"/>
            <a:ext cx="1017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把“会问 AI”升级为“会设计、搭建并负责运行 Agent”。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773103-2070-44F1-BB78-268997BD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C57BBC-E125-46E2-80A6-3C79EF39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49C1A0-F743-4893-90AB-031ABD891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04a248e4984b4d"/>
          <a:stretch xmlns:a="http://schemas.openxmlformats.org/drawingml/2006/main"/>
        </p:blipFill>
        <p:spPr>
          <a:xfrm xmlns:a="http://schemas.openxmlformats.org/drawingml/2006/main">
            <a:off x="685800" y="2145506"/>
            <a:ext cx="3524250" cy="26431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0325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1F39D0-3FC4-4C0E-A1D5-86D2F8ECF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MARKET · 教育入口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5C0489-E690-4515-8532-7EB6EF145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先进入可验证课堂，再扩大个人与机构市场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775723-017E-439C-BAFF-4E7F1EC3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F850C1-E5E4-4E20-BF13-55AADFF31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47 万所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9ABFEC-285F-4A91-B85F-F75A4E32D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各级各类学校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1B2A9D-4985-446A-87D6-92E232AB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B0E0B3-9F29-4BA5-9C8F-694467624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2.86465 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CD9912-FD7C-4501-9DB1-2D0BD12D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在校生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85F1D3-4FE8-477D-AB48-A4F5E6B5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790700"/>
            <a:ext cx="3276600" cy="1390650"/>
          </a:xfrm>
          <a:prstGeom xmlns:a="http://schemas.openxmlformats.org/drawingml/2006/main" prst="roundRect">
            <a:avLst>
              <a:gd name="adj" fmla="val 15068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2DD1C9-15C8-4C45-B24D-0F3F1C253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38350"/>
            <a:ext cx="2895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1885.10 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99323C-011B-4B20-8558-5F51814F5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47950"/>
            <a:ext cx="2895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专任教师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73A88D-0CF5-4432-A256-E2EEA4DF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1082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数据口径：2024 全国教育事业统计｜首个教学产品：4–6 课时基础 Agent 项目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2CB344-CD97-45D5-BC37-4EBCBB6D4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51244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2A8040-09B1-491B-BCEB-B4DBF039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005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目标使用者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F655CE-95D1-43DB-9C45-AC34A9554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495800"/>
            <a:ext cx="44767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• 12+ 学生｜Agent 启蒙与创作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• 职教 / 高校｜工程化入门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• 教师 / 教研｜课程共创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• 个人创作者｜高频搭建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8DF826-4961-4CE8-9C98-C75C7FA22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752850"/>
            <a:ext cx="5353050" cy="2038350"/>
          </a:xfrm>
          <a:prstGeom xmlns:a="http://schemas.openxmlformats.org/drawingml/2006/main" prst="roundRect">
            <a:avLst>
              <a:gd name="adj" fmla="val 9346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66A8CA-19C6-434E-AD6C-5F818DBEA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005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采用与付费者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03AD2-7FC8-4B13-94FE-2B56DA410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476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• 个人订阅｜模型、工具、Skills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• 学校 / 机构｜席位、班级、作业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• 课程服务｜支持与私有化</a:t>
            </a:r>
          </a:p>
          <a:p xmlns:a="http://schemas.openxmlformats.org/drawingml/2006/main">
            <a:pPr algn="l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• 复购单位｜教师、班级、年度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4AA025-0E59-4FE6-AC7A-41E48C41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355FAC-5400-4765-91DC-A939B191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12907B-4B8C-490E-9ECF-1C0176FBB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014836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5900A0-923A-4E1C-846F-F3A51072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PRODUCT · Agent 搭建形态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AB7AA0-9727-4E4C-BBF2-EEFD311E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一套 Scratch 式 Agent 语言，连接课堂入门与专业工程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B59B95-7AD1-45F7-BF1A-D167D669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左：Agent 积木库｜中：模块画布 / 浏览器｜右：构建助手 / 运行 Agent｜下：诊断 / 日志 / 终端 / 输出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FA51A-88FD-4410-B098-83E927B7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6572250" cy="3790950"/>
          </a:xfrm>
          <a:prstGeom xmlns:a="http://schemas.openxmlformats.org/drawingml/2006/main" prst="roundRect">
            <a:avLst>
              <a:gd name="adj" fmla="val 5528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dfdaf2644847d7"/>
          <a:srcRect xmlns:a="http://schemas.openxmlformats.org/drawingml/2006/main" l="0" t="2671" r="0" b="26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9150" y="2076450"/>
            <a:ext cx="6305550" cy="3276600"/>
          </a:xfrm>
          <a:prstGeom xmlns:a="http://schemas.openxmlformats.org/drawingml/2006/main" prst="roundRect">
            <a:avLst>
              <a:gd name="adj" fmla="val 581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61A894-4ED3-4098-A787-A216B85C6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162550"/>
            <a:ext cx="2419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E048C9-2F90-43B2-9A6E-237B4222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29225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Windows Core · 100 积木运行实证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5A2940-0D37-4B5C-88BF-0A81177F0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621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入门七类 → 专业十二类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20E0F9-1BA2-45FA-A5DC-B1170BE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6DA326-0AB4-44AA-B072-DC5B94BD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开始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4AD1FB-B3C4-4112-B08A-E37E6553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146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B38E6-C18D-4E35-B6A5-8AA91FDE5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384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角色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7209BE-AF05-4C3A-938C-A41B2F8E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F6BB91-EC5F-4ABB-B3A5-5DF4EABB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会思考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4DC32F-04E8-4D1B-A6E1-CB7BAC03A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432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2E0D15-2836-4F23-99A8-0A64734D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2670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会查找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666679-9916-4127-93CF-54C50FC49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1C3D2-2DDE-40D5-91FD-9B30DF02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会记住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DD0FF4-49F3-46E6-958D-DE7737338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77190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D576F6-9BD2-41A0-8E5B-F4513EA7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89572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会行动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A1C88-A08D-4D68-8ED0-EF46CECCF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4400550"/>
            <a:ext cx="146685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89A2F2-3DD2-4C06-A9F0-228B03F4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524375"/>
            <a:ext cx="1238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会回答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33F627-823A-489F-94C4-FC9D9CE71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5200650"/>
            <a:ext cx="32385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6272D5-C6B4-478C-9CFF-B9CFF8A8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29225"/>
            <a:ext cx="2971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统一 Agent 项目格式</a:t>
            </a:r>
          </a:p>
          <a:p xmlns:a="http://schemas.openxmlformats.org/drawingml/2006/main">
            <a:pPr algn="ctr">
              <a:buNone/>
              <a:defRPr sz="10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共享 IR、运行内核、轨迹与权限模型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25289-91C1-4471-8AA3-88C75A96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7B57DB-12D0-452A-88EA-454AE1E72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9F2206-526C-4EC7-9D06-DFA927D6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880803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6BEB0-5134-4740-8BC5-70438A9E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USE CASE · 多课时项目制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93C4D-248B-4BA9-B5FD-3076450D4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基础 Agent 项目按 4–6 课时逐步完成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A294B6-FC5C-481E-9BCB-E0BD442C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每课时只完成一个可验收里程碑；复杂 Agent 在后续项目中持续扩展。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EE404-A53E-47C8-BD14-1A6FF57E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87655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A320BC-DCBD-459B-B601-6F0A4EF6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8BF5B1-FF19-480C-A1F9-B3EBD55A3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EB8ED1-07E5-4EEC-85C0-40D8A0D6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需求与边界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B674A9-88C9-467B-8B72-EE50C9BD6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第 1 课时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定题 · 资料 · 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2DC4C0-F9C1-4B05-86E6-F1C7ABDF1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25F763-49D5-4981-BAE1-812D10DBB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3C79FC-38CA-4920-BCFA-97252FFA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角色与知识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6934EE-6AF6-484E-B295-F7557057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第 2–3 课时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 · 知识 · 检索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00918C-A06B-4E1A-8C9D-0648588A8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1C48E-5BD0-4783-9B5F-9CD7A9A7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E7325C-B220-4DD8-937A-0AFCD38A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工具与核验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E1AD58-3805-4CBB-B0C5-AD0CFD42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05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第 4–5 课时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工具 · 权限 · 轨迹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DAF4FD-BC3F-4584-9B71-B1636FEDB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5336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EA1FC6-3496-484C-95F5-14F46B1D3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695575"/>
            <a:ext cx="685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475CB5-1F52-4474-A185-5DCFD29B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333750"/>
            <a:ext cx="1695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展示与复盘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F6F002-6517-421A-8333-2339096B4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3981450"/>
            <a:ext cx="1695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第 6 课时</a:t>
            </a:r>
          </a:p>
          <a:p xmlns:a="http://schemas.openxmlformats.org/drawingml/2006/main">
            <a:pPr algn="ctr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展示 · 拒答 · 保存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D85272-C52C-40FA-B761-776CF4360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820400" cy="800100"/>
          </a:xfrm>
          <a:prstGeom xmlns:a="http://schemas.openxmlformats.org/drawingml/2006/main" prst="roundRect">
            <a:avLst>
              <a:gd name="adj" fmla="val 2381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5759AD1-71DC-48F0-89B6-BD531D8DC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911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项目成果：搭得出 · 说得清 · 引得准 · 复现得了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40A4D9-AB1E-4082-B642-C0C46F98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5E1450-E4DF-4EFF-A864-D90D800E3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08E4714-55B0-428F-BB84-CF5DF9C58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449699198b48ad"/>
          <a:stretch xmlns:a="http://schemas.openxmlformats.org/drawingml/2006/main"/>
        </p:blipFill>
        <p:spPr>
          <a:xfrm xmlns:a="http://schemas.openxmlformats.org/drawingml/2006/main">
            <a:off x="685800" y="2145506"/>
            <a:ext cx="3524250" cy="264318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0891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61BF2F6-7820-4F71-A5F3-44000ED8B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EVIDENCE · 产品演示闭环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381ADE-80F5-42E9-8853-EF5280D4C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3 分钟验证 5 件事：选择、修改、运行、追踪、保存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EA1F63-0E40-4377-9F6C-F7E155EA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基于现成蓝图演示“选择—修改—运行—轨迹—保存”；这是产品验证，不等于完整课程时长。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E04AFC-6A82-41C7-ABEB-5D0B08086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B70C2E-A825-44BD-BFC3-2F9092FD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8E383A-D3C9-463D-90D3-B0C8254CF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F47339-424A-4575-BFED-D712680E3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009900"/>
            <a:ext cx="7048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149493-3133-4D57-B418-0FC64E040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C735B2-1D95-42CD-9390-53260701C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789284-904D-4CA8-AF84-68B161FB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选择蓝图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F9AD1A-0529-4DCF-B052-8C59974E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课堂知识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FFD2D7-BE35-487B-8AF1-CFA6A5C49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48D6E0-39E4-47B1-957D-861949DEB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2CF790-33C9-4CCB-A157-EF7C63A8E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修改积木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779A17-5ACC-4FC3-9593-C038762D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角色 · 知识 · 工具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3931BE-909D-4CA1-A8AB-20443305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14AEE4-C3AD-424F-BF93-521A3B46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14F98A-F223-47A2-9F28-C1B6DA0F0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 Agent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4A1067-0938-4671-9EFE-71111399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本地检索 + 引用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14FD71-DF17-4CA8-A89C-001B0D22D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E6B1F2-F786-4907-9B38-6D5B309AE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967383-C63A-4BD0-9C8F-2977BF77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查看轨迹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BA1E21-50FB-423D-A459-1A0C693B3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步骤 · 状态 · 输出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B396C4-30A2-4334-9ED5-17BFDFAEA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66950"/>
            <a:ext cx="1657350" cy="156210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51A61D-3FAE-48E2-A03D-6F11EB65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3840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1E3B23B-6531-4174-AD4B-5499123F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819400"/>
            <a:ext cx="1314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保存重开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7C8725-F881-4B20-8922-9BCB26A4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2956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069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Agent 语义保持一致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65D525-758B-44D0-90F2-EE5FBAD25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2FF6B1-7E33-4870-A17A-CF1D956F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0344CA-4B17-44A6-BE50-710321E1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084B3E6-57A9-45C0-A2E9-15BEA851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本地运行有证据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7570BE-5162-4D12-AE16-D2927C1A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Provider / RuntimeEvent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本地运行可读回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8BFF40-00F6-42F3-A709-F0FF0B483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82C568-EB54-4F86-9719-69A443CD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33FE7DA-9E56-4BD7-9F7A-4A7695B0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44E849-D3A9-43C7-BF9A-8C9434B5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引用与拒答可见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1D2692-8CDD-4B60-95CF-492AB2A4B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Citation / Guard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引用与拒答可复核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5B5C15-EEE9-4585-B27F-51E7E83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343400"/>
            <a:ext cx="327660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77F557-EDEC-4BE2-B1CE-221DCA3E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5382B6-9835-4B93-B708-3D9BCA1D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386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FAA06BF-AFB7-4CF2-8847-FC5A1A09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51485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项目可保存复现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E803178-7941-42C1-A1DB-7806CAA6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914900"/>
            <a:ext cx="2324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Workspace / Stable ID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保存重开语义一致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F3F74DB-353E-4AC3-8319-F0E8F80D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584835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229199D-0A09-4447-ADBA-1032DD292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915025"/>
            <a:ext cx="228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548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闭环证据：五步连续呈现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8F5750-0E1E-40F3-9F23-28AE1F197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5473D5A-F999-426D-96D7-1D006B67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DBEA014-107A-40CA-8682-5991D33EB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740985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FB98D4-8A9E-4310-AC05-96F1315D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DIFFERENTIATION · 核心壁垒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70E22-46A8-4D3F-A933-FA5CB30D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差异不是多一个 AI 功能，而是把 Agent 变成可学习的工程对象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7B9416-8927-4FDD-917D-66714D81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对话产品只给结果，代码框架依赖配置；Blocky 让结构、运行、权限与证据进入同一可视课堂。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99917-4785-4FF2-9985-F6BA06501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B5AC8B-8B9F-4695-9A04-96E9C71C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CCDC8-7024-494D-AA95-7BFAEFB34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8FE4A2-B622-4C5E-AFC6-49E01F515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5E4D1E-C2BE-43FE-97BC-475FE4A6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9FA4B3-0E29-4B42-9E8B-B19439EE3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E01B1A-FBF1-410D-A8FE-40496C9C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095625"/>
            <a:ext cx="7429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27299-7A47-4BD8-8DDF-623868A85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847975"/>
            <a:ext cx="34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809E88-4FD6-4362-9922-851886FF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A020EA-0F76-4C5F-99C3-F8E787B2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Scratch 式</a:t>
            </a:r>
          </a:p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Agent 积木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209DFC-0DB0-4F03-997E-ED022F53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7→12 类投影</a:t>
            </a:r>
          </a:p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学生可读可改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E863CB-E606-406C-8E49-63E02746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EBB333-8FEB-4A68-A6D7-A07BB5A5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稳定</a:t>
            </a:r>
          </a:p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Project IR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A3A16-F7D2-4375-AD05-98B39C160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稳定 ID / SourceMap</a:t>
            </a:r>
          </a:p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系统校验语义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BBCBCB-D598-47CF-A31D-DE2AFCFB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DB15EC2-77A0-44D3-961C-3C1B64DF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受控</a:t>
            </a:r>
          </a:p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Runtime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BA4644-3DF6-4D5D-A39E-7633F3E1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Host 窄接口</a:t>
            </a:r>
          </a:p>
          <a:p xmlns:a="http://schemas.openxmlformats.org/drawingml/2006/main">
            <a:pPr algn="ctr">
              <a:buNone/>
              <a:def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权限与预算有界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9DA042-F4B5-409E-A55D-9D81D4EE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EA51D8-9E31-4734-9C09-B3CF40E05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RuntimeEvent</a:t>
            </a:r>
          </a:p>
          <a:p xmlns:a="http://schemas.openxmlformats.org/drawingml/2006/main">
            <a:pPr algn="ctr">
              <a:buNone/>
              <a:defRPr sz="17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&amp; Trace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E9A07E-9C57-41E0-98BE-FB36F1B34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状态 / 输出 / 高亮</a:t>
            </a:r>
          </a:p>
          <a:p xmlns:a="http://schemas.openxmlformats.org/drawingml/2006/main">
            <a:pPr algn="ctr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教师逐步复核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D7090C-B895-46C1-8E74-265295F9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86000"/>
            <a:ext cx="1676400" cy="1676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1F2994-A241-41AC-A0A0-8832A0CF7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28900"/>
            <a:ext cx="13716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可逆兼容</a:t>
            </a:r>
          </a:p>
          <a:p xmlns:a="http://schemas.openxmlformats.org/drawingml/2006/main">
            <a:pPr algn="ctr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适配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C53ED7-2762-4673-B1D7-3AD8965A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71850"/>
            <a:ext cx="1409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模板 / 原生往返</a:t>
            </a:r>
          </a:p>
          <a:p xmlns:a="http://schemas.openxmlformats.org/drawingml/2006/main">
            <a:pPr algn="ctr">
              <a:buNone/>
              <a:defRPr sz="120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不锁定上游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D28F7F-9AB1-4D9F-9291-E09FBFEFE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33900"/>
            <a:ext cx="9067800" cy="10668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FBA31EE-5FD9-4E8B-B02A-C5D35D3E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762500"/>
            <a:ext cx="8534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FF8A0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Scratch 易上手 × Agent 可解释 × 工程可扩展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8A8729-2378-4A20-A1EE-2FBF3D7D7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143500"/>
            <a:ext cx="8534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同一语义贯通桌面 / CLI / 4 Skills / 6 模板</a:t>
            </a:r>
          </a:p>
          <a:p xmlns:a="http://schemas.openxmlformats.org/drawingml/2006/main">
            <a:pPr algn="ctr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$build-blocky-agents · $create-blocky-blocks · $convert-github-project-to-blocky · $reverse-agent-to-blocky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6E5C844-E2E1-463A-B081-124788438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8B031E-3513-477C-9387-EAA67136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396D7D8-64FA-4C92-BE0C-FC36C8479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85010189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5339E4-F604-4D6A-86EF-DF2CD0929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ECOSYSTEM · 兼容版图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70CF98-9ECF-4290-B608-8ACEB1A0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六类 Agent 生态，沉淀为可教学、可改造的积木结构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087C1-24E9-4883-BB39-FFC3752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19300"/>
            <a:ext cx="7905750" cy="3429000"/>
          </a:xfrm>
          <a:prstGeom xmlns:a="http://schemas.openxmlformats.org/drawingml/2006/main" prst="roundRect">
            <a:avLst>
              <a:gd name="adj" fmla="val 5556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5C7A3-B066-45AE-9611-3A53A158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0" y="2438400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CF3443-2956-4DCD-9397-CE8B308C9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4895850"/>
            <a:ext cx="6191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AB1834-49B3-4F51-9EB9-455297343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11200" y="3648075"/>
            <a:ext cx="6191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7254A-D248-480E-A64C-9F3D94656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49300" y="2438400"/>
            <a:ext cx="952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039EF-8669-48E6-8355-B3E3CDD6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Pi、Codex、OpenClaw、Hermes、OpenCode、DeepSeek Harness 对应六类真实 Agent 架构。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52EBC-6654-4A56-A43D-04234BEB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10439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456C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统一 Agent 语义 + 进程外原生运行时 + 版本化适配器 + 可逆积木投影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09C619-2BD1-4EF2-9FB4-E67118A2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7400" y="40386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049E2C-638C-4C84-9984-35EE7E45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514850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问答型 Agent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BE703F-ECE8-4177-B632-BC2BAF53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63600" y="37814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7900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B245E4-7D7B-4DD8-84A1-4F701573F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1700" y="4314825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流程编排工具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65A70-FD04-45E9-8824-2BD37261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27622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EFD31-A748-48DC-9B67-88B96D45E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7900" y="333375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代码型 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2ECAB1-E514-4F89-A764-A2DA3B8D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0" y="27051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A9564E-1B04-4A3B-9C90-58816AC91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54100" y="3390900"/>
            <a:ext cx="1371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Blocky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0F48B-9833-4CEA-96EC-F710C0DB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76450"/>
            <a:ext cx="1600200" cy="3352800"/>
          </a:xfrm>
          <a:prstGeom xmlns:a="http://schemas.openxmlformats.org/drawingml/2006/main" prst="roundRect">
            <a:avLst>
              <a:gd name="adj" fmla="val 11905"/>
            </a:avLst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B3CED9-2289-46C4-878F-B09658EEE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2200" y="2362200"/>
            <a:ext cx="1219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积木搭建 / 深度扩展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DE07F1-2CE1-4A8A-BE82-360BF6C6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0" y="3238500"/>
            <a:ext cx="12192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入门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专业 Agent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蓝图 / 代码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  <a:p xmlns:a="http://schemas.openxmlformats.org/drawingml/2006/main">
            <a:pPr algn="ctr">
              <a:buNone/>
              <a:def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运行轨迹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CF8F47-F459-4EE8-AFFB-431D2346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0070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教学价值：从六类真实架构学习角色、工具、权限、协作、会话与扩展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A2238B-6981-4EEF-9644-CAB79A1ED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EEB512-B61D-4234-BF5B-E7FCE68F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6BBFE9-8C7C-4891-A36F-ED778245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26" name="compat-card-fill-1-1">
            <a:extLst xmlns:a="http://schemas.openxmlformats.org/drawingml/2006/main">
              <a:ext uri="{FF2B5EF4-FFF2-40B4-BE49-F238E27FC236}">
                <a16:creationId xmlns:a16="http://schemas.microsoft.com/office/drawing/2014/main" id="{F69DB481-5385-40C6-8BEA-8619F0A3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compat-card-fill-1-2">
            <a:extLst xmlns:a="http://schemas.openxmlformats.org/drawingml/2006/main">
              <a:ext uri="{FF2B5EF4-FFF2-40B4-BE49-F238E27FC236}">
                <a16:creationId xmlns:a16="http://schemas.microsoft.com/office/drawing/2014/main" id="{E4EF5A44-61F6-43D8-A716-C98483ED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compat-card-fill-1-3">
            <a:extLst xmlns:a="http://schemas.openxmlformats.org/drawingml/2006/main">
              <a:ext uri="{FF2B5EF4-FFF2-40B4-BE49-F238E27FC236}">
                <a16:creationId xmlns:a16="http://schemas.microsoft.com/office/drawing/2014/main" id="{2D5C7F0A-2376-4FCC-B006-D475EB461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compat-card-1">
            <a:extLst xmlns:a="http://schemas.openxmlformats.org/drawingml/2006/main">
              <a:ext uri="{FF2B5EF4-FFF2-40B4-BE49-F238E27FC236}">
                <a16:creationId xmlns:a16="http://schemas.microsoft.com/office/drawing/2014/main" id="{6C151DE4-71A9-4FA2-9A44-BC594719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0" name="compat-accent-1">
            <a:extLst xmlns:a="http://schemas.openxmlformats.org/drawingml/2006/main">
              <a:ext uri="{FF2B5EF4-FFF2-40B4-BE49-F238E27FC236}">
                <a16:creationId xmlns:a16="http://schemas.microsoft.com/office/drawing/2014/main" id="{4A5AF1A7-B885-4B88-B017-97B67775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compat-title-1">
            <a:extLst xmlns:a="http://schemas.openxmlformats.org/drawingml/2006/main">
              <a:ext uri="{FF2B5EF4-FFF2-40B4-BE49-F238E27FC236}">
                <a16:creationId xmlns:a16="http://schemas.microsoft.com/office/drawing/2014/main" id="{34755EBE-93F0-4137-A1C0-A92B874A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轻量编码 Agent</a:t>
            </a:r>
          </a:p>
        </p:txBody>
      </p:sp>
      <p:sp>
        <p:nvSpPr>
          <p:cNvPr id="32" name="compat-name-1">
            <a:extLst xmlns:a="http://schemas.openxmlformats.org/drawingml/2006/main">
              <a:ext uri="{FF2B5EF4-FFF2-40B4-BE49-F238E27FC236}">
                <a16:creationId xmlns:a16="http://schemas.microsoft.com/office/drawing/2014/main" id="{7B4D9A5C-E768-4DC4-A8BF-A0C0D3177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Pi</a:t>
            </a:r>
          </a:p>
        </p:txBody>
      </p:sp>
      <p:sp>
        <p:nvSpPr>
          <p:cNvPr id="33" name="compat-desc-1">
            <a:extLst xmlns:a="http://schemas.openxmlformats.org/drawingml/2006/main">
              <a:ext uri="{FF2B5EF4-FFF2-40B4-BE49-F238E27FC236}">
                <a16:creationId xmlns:a16="http://schemas.microsoft.com/office/drawing/2014/main" id="{6EEF4EE7-6902-4F7D-979E-88501EA44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工具调用｜read / write / edit / bash</a:t>
            </a:r>
          </a:p>
        </p:txBody>
      </p:sp>
      <p:sp>
        <p:nvSpPr>
          <p:cNvPr id="34" name="compat-card-fill-2-1">
            <a:extLst xmlns:a="http://schemas.openxmlformats.org/drawingml/2006/main">
              <a:ext uri="{FF2B5EF4-FFF2-40B4-BE49-F238E27FC236}">
                <a16:creationId xmlns:a16="http://schemas.microsoft.com/office/drawing/2014/main" id="{6678D41D-B7A4-47ED-A705-BC8B0F76C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compat-card-fill-2-2">
            <a:extLst xmlns:a="http://schemas.openxmlformats.org/drawingml/2006/main">
              <a:ext uri="{FF2B5EF4-FFF2-40B4-BE49-F238E27FC236}">
                <a16:creationId xmlns:a16="http://schemas.microsoft.com/office/drawing/2014/main" id="{AF7B2C68-02AD-4AB9-9093-19F05DEF1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compat-card-fill-2-3">
            <a:extLst xmlns:a="http://schemas.openxmlformats.org/drawingml/2006/main">
              <a:ext uri="{FF2B5EF4-FFF2-40B4-BE49-F238E27FC236}">
                <a16:creationId xmlns:a16="http://schemas.microsoft.com/office/drawing/2014/main" id="{E3636D79-096C-47D6-B78F-E30DAF50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compat-card-2">
            <a:extLst xmlns:a="http://schemas.openxmlformats.org/drawingml/2006/main">
              <a:ext uri="{FF2B5EF4-FFF2-40B4-BE49-F238E27FC236}">
                <a16:creationId xmlns:a16="http://schemas.microsoft.com/office/drawing/2014/main" id="{59DCAF35-0EEB-4DA4-B734-CCF9E9C4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38" name="compat-accent-2">
            <a:extLst xmlns:a="http://schemas.openxmlformats.org/drawingml/2006/main">
              <a:ext uri="{FF2B5EF4-FFF2-40B4-BE49-F238E27FC236}">
                <a16:creationId xmlns:a16="http://schemas.microsoft.com/office/drawing/2014/main" id="{6D379EDB-817E-4F0B-91DB-DF83E8488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compat-title-2">
            <a:extLst xmlns:a="http://schemas.openxmlformats.org/drawingml/2006/main">
              <a:ext uri="{FF2B5EF4-FFF2-40B4-BE49-F238E27FC236}">
                <a16:creationId xmlns:a16="http://schemas.microsoft.com/office/drawing/2014/main" id="{E6BC2108-034B-409A-ABE7-48551937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专业编程 Agent</a:t>
            </a:r>
          </a:p>
        </p:txBody>
      </p:sp>
      <p:sp>
        <p:nvSpPr>
          <p:cNvPr id="40" name="compat-name-2">
            <a:extLst xmlns:a="http://schemas.openxmlformats.org/drawingml/2006/main">
              <a:ext uri="{FF2B5EF4-FFF2-40B4-BE49-F238E27FC236}">
                <a16:creationId xmlns:a16="http://schemas.microsoft.com/office/drawing/2014/main" id="{53F45C2E-A901-407B-AAAB-6E9BA20F4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Codex</a:t>
            </a:r>
          </a:p>
        </p:txBody>
      </p:sp>
      <p:sp>
        <p:nvSpPr>
          <p:cNvPr id="41" name="compat-desc-2">
            <a:extLst xmlns:a="http://schemas.openxmlformats.org/drawingml/2006/main">
              <a:ext uri="{FF2B5EF4-FFF2-40B4-BE49-F238E27FC236}">
                <a16:creationId xmlns:a16="http://schemas.microsoft.com/office/drawing/2014/main" id="{7857053F-D439-4C53-B6DB-03E22CF1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11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工程规则｜AGENTS.md / Skills / MCP / 沙箱</a:t>
            </a:r>
          </a:p>
        </p:txBody>
      </p:sp>
      <p:sp>
        <p:nvSpPr>
          <p:cNvPr id="42" name="compat-card-fill-3-1">
            <a:extLst xmlns:a="http://schemas.openxmlformats.org/drawingml/2006/main">
              <a:ext uri="{FF2B5EF4-FFF2-40B4-BE49-F238E27FC236}">
                <a16:creationId xmlns:a16="http://schemas.microsoft.com/office/drawing/2014/main" id="{D02C6BBE-B855-49E3-9FFF-F9AAB4710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133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compat-card-fill-3-2">
            <a:extLst xmlns:a="http://schemas.openxmlformats.org/drawingml/2006/main">
              <a:ext uri="{FF2B5EF4-FFF2-40B4-BE49-F238E27FC236}">
                <a16:creationId xmlns:a16="http://schemas.microsoft.com/office/drawing/2014/main" id="{777F7FB1-AD1C-4E78-AC1C-0C013DEA0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5146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compat-card-fill-3-3">
            <a:extLst xmlns:a="http://schemas.openxmlformats.org/drawingml/2006/main">
              <a:ext uri="{FF2B5EF4-FFF2-40B4-BE49-F238E27FC236}">
                <a16:creationId xmlns:a16="http://schemas.microsoft.com/office/drawing/2014/main" id="{45AFEE63-5A0B-450B-8AC2-1BF30F6B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956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compat-card-3">
            <a:extLst xmlns:a="http://schemas.openxmlformats.org/drawingml/2006/main">
              <a:ext uri="{FF2B5EF4-FFF2-40B4-BE49-F238E27FC236}">
                <a16:creationId xmlns:a16="http://schemas.microsoft.com/office/drawing/2014/main" id="{EFD30262-A6C0-4D53-A7BF-1B52ACFE3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764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46" name="compat-accent-3">
            <a:extLst xmlns:a="http://schemas.openxmlformats.org/drawingml/2006/main">
              <a:ext uri="{FF2B5EF4-FFF2-40B4-BE49-F238E27FC236}">
                <a16:creationId xmlns:a16="http://schemas.microsoft.com/office/drawing/2014/main" id="{B425A560-FF61-42E2-8088-6874D276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2288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compat-title-3">
            <a:extLst xmlns:a="http://schemas.openxmlformats.org/drawingml/2006/main">
              <a:ext uri="{FF2B5EF4-FFF2-40B4-BE49-F238E27FC236}">
                <a16:creationId xmlns:a16="http://schemas.microsoft.com/office/drawing/2014/main" id="{DE4D6871-BF98-4AEC-B845-AFDCEC1F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479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个人助理 Agent</a:t>
            </a:r>
          </a:p>
        </p:txBody>
      </p:sp>
      <p:sp>
        <p:nvSpPr>
          <p:cNvPr id="48" name="compat-name-3">
            <a:extLst xmlns:a="http://schemas.openxmlformats.org/drawingml/2006/main">
              <a:ext uri="{FF2B5EF4-FFF2-40B4-BE49-F238E27FC236}">
                <a16:creationId xmlns:a16="http://schemas.microsoft.com/office/drawing/2014/main" id="{DED0F3A4-98EC-4B28-99FD-5C1D27931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336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OpenClaw</a:t>
            </a:r>
          </a:p>
        </p:txBody>
      </p:sp>
      <p:sp>
        <p:nvSpPr>
          <p:cNvPr id="49" name="compat-desc-3">
            <a:extLst xmlns:a="http://schemas.openxmlformats.org/drawingml/2006/main">
              <a:ext uri="{FF2B5EF4-FFF2-40B4-BE49-F238E27FC236}">
                <a16:creationId xmlns:a16="http://schemas.microsoft.com/office/drawing/2014/main" id="{18FAF0F3-633A-440E-8341-779737970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9527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会话记忆｜Gateway / 会话 / 记忆 / 渠道</a:t>
            </a:r>
          </a:p>
        </p:txBody>
      </p:sp>
      <p:sp>
        <p:nvSpPr>
          <p:cNvPr id="50" name="compat-card-fill-4-1">
            <a:extLst xmlns:a="http://schemas.openxmlformats.org/drawingml/2006/main">
              <a:ext uri="{FF2B5EF4-FFF2-40B4-BE49-F238E27FC236}">
                <a16:creationId xmlns:a16="http://schemas.microsoft.com/office/drawing/2014/main" id="{E0562B3F-3B89-4B8F-A3C5-10385080D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compat-card-fill-4-2">
            <a:extLst xmlns:a="http://schemas.openxmlformats.org/drawingml/2006/main">
              <a:ext uri="{FF2B5EF4-FFF2-40B4-BE49-F238E27FC236}">
                <a16:creationId xmlns:a16="http://schemas.microsoft.com/office/drawing/2014/main" id="{48C12C69-CFB1-4C46-BBD9-D4625CCBA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compat-card-fill-4-3">
            <a:extLst xmlns:a="http://schemas.openxmlformats.org/drawingml/2006/main">
              <a:ext uri="{FF2B5EF4-FFF2-40B4-BE49-F238E27FC236}">
                <a16:creationId xmlns:a16="http://schemas.microsoft.com/office/drawing/2014/main" id="{B526D05E-C47D-49D2-A72B-7996334C2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compat-card-4">
            <a:extLst xmlns:a="http://schemas.openxmlformats.org/drawingml/2006/main">
              <a:ext uri="{FF2B5EF4-FFF2-40B4-BE49-F238E27FC236}">
                <a16:creationId xmlns:a16="http://schemas.microsoft.com/office/drawing/2014/main" id="{78665501-39CF-43AB-A709-09CE61C4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4" name="compat-accent-4">
            <a:extLst xmlns:a="http://schemas.openxmlformats.org/drawingml/2006/main">
              <a:ext uri="{FF2B5EF4-FFF2-40B4-BE49-F238E27FC236}">
                <a16:creationId xmlns:a16="http://schemas.microsoft.com/office/drawing/2014/main" id="{49B9AA27-CD03-495D-9699-BB6DE584A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compat-title-4">
            <a:extLst xmlns:a="http://schemas.openxmlformats.org/drawingml/2006/main">
              <a:ext uri="{FF2B5EF4-FFF2-40B4-BE49-F238E27FC236}">
                <a16:creationId xmlns:a16="http://schemas.microsoft.com/office/drawing/2014/main" id="{D90E428E-D28E-44FA-B3D2-A6261DEF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团队协作 Agent</a:t>
            </a:r>
          </a:p>
        </p:txBody>
      </p:sp>
      <p:sp>
        <p:nvSpPr>
          <p:cNvPr id="56" name="compat-name-4">
            <a:extLst xmlns:a="http://schemas.openxmlformats.org/drawingml/2006/main">
              <a:ext uri="{FF2B5EF4-FFF2-40B4-BE49-F238E27FC236}">
                <a16:creationId xmlns:a16="http://schemas.microsoft.com/office/drawing/2014/main" id="{D67341F5-F649-4091-824C-34F94796A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Hermes</a:t>
            </a:r>
          </a:p>
        </p:txBody>
      </p:sp>
      <p:sp>
        <p:nvSpPr>
          <p:cNvPr id="57" name="compat-desc-4">
            <a:extLst xmlns:a="http://schemas.openxmlformats.org/drawingml/2006/main">
              <a:ext uri="{FF2B5EF4-FFF2-40B4-BE49-F238E27FC236}">
                <a16:creationId xmlns:a16="http://schemas.microsoft.com/office/drawing/2014/main" id="{47CDDB18-5D86-4CBA-8410-B9E666436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团队协作｜消息 / 任务 / 扩展</a:t>
            </a:r>
          </a:p>
        </p:txBody>
      </p:sp>
      <p:sp>
        <p:nvSpPr>
          <p:cNvPr id="58" name="compat-card-fill-5-1">
            <a:extLst xmlns:a="http://schemas.openxmlformats.org/drawingml/2006/main">
              <a:ext uri="{FF2B5EF4-FFF2-40B4-BE49-F238E27FC236}">
                <a16:creationId xmlns:a16="http://schemas.microsoft.com/office/drawing/2014/main" id="{396A1AB6-3033-43F3-ACA5-9A38A7DB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compat-card-fill-5-2">
            <a:extLst xmlns:a="http://schemas.openxmlformats.org/drawingml/2006/main">
              <a:ext uri="{FF2B5EF4-FFF2-40B4-BE49-F238E27FC236}">
                <a16:creationId xmlns:a16="http://schemas.microsoft.com/office/drawing/2014/main" id="{341658E3-D68B-4E28-80D8-EE43D6BF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compat-card-fill-5-3">
            <a:extLst xmlns:a="http://schemas.openxmlformats.org/drawingml/2006/main">
              <a:ext uri="{FF2B5EF4-FFF2-40B4-BE49-F238E27FC236}">
                <a16:creationId xmlns:a16="http://schemas.microsoft.com/office/drawing/2014/main" id="{F78F7300-8212-4596-BBCE-56316A9D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compat-card-5">
            <a:extLst xmlns:a="http://schemas.openxmlformats.org/drawingml/2006/main">
              <a:ext uri="{FF2B5EF4-FFF2-40B4-BE49-F238E27FC236}">
                <a16:creationId xmlns:a16="http://schemas.microsoft.com/office/drawing/2014/main" id="{9ADA23D9-4B4A-410F-95B5-E660DEDA7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62" name="compat-accent-5">
            <a:extLst xmlns:a="http://schemas.openxmlformats.org/drawingml/2006/main">
              <a:ext uri="{FF2B5EF4-FFF2-40B4-BE49-F238E27FC236}">
                <a16:creationId xmlns:a16="http://schemas.microsoft.com/office/drawing/2014/main" id="{211650E4-8E44-4E1D-B760-CDAD74E7C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compat-title-5">
            <a:extLst xmlns:a="http://schemas.openxmlformats.org/drawingml/2006/main">
              <a:ext uri="{FF2B5EF4-FFF2-40B4-BE49-F238E27FC236}">
                <a16:creationId xmlns:a16="http://schemas.microsoft.com/office/drawing/2014/main" id="{8E1DBBC4-BF46-47E4-A7DB-7D88F6BF0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工程开发 Agent</a:t>
            </a:r>
          </a:p>
        </p:txBody>
      </p:sp>
      <p:sp>
        <p:nvSpPr>
          <p:cNvPr id="64" name="compat-name-5">
            <a:extLst xmlns:a="http://schemas.openxmlformats.org/drawingml/2006/main">
              <a:ext uri="{FF2B5EF4-FFF2-40B4-BE49-F238E27FC236}">
                <a16:creationId xmlns:a16="http://schemas.microsoft.com/office/drawing/2014/main" id="{B47D0A35-7660-433A-889E-BA518CAD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OpenCode</a:t>
            </a:r>
          </a:p>
        </p:txBody>
      </p:sp>
      <p:sp>
        <p:nvSpPr>
          <p:cNvPr id="65" name="compat-desc-5">
            <a:extLst xmlns:a="http://schemas.openxmlformats.org/drawingml/2006/main">
              <a:ext uri="{FF2B5EF4-FFF2-40B4-BE49-F238E27FC236}">
                <a16:creationId xmlns:a16="http://schemas.microsoft.com/office/drawing/2014/main" id="{31B375FF-D546-47FA-A589-63E7B6D57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主子协作｜工具权限 / 插件</a:t>
            </a:r>
          </a:p>
        </p:txBody>
      </p:sp>
      <p:sp>
        <p:nvSpPr>
          <p:cNvPr id="66" name="compat-card-fill-6-1">
            <a:extLst xmlns:a="http://schemas.openxmlformats.org/drawingml/2006/main">
              <a:ext uri="{FF2B5EF4-FFF2-40B4-BE49-F238E27FC236}">
                <a16:creationId xmlns:a16="http://schemas.microsoft.com/office/drawing/2014/main" id="{ECA9979D-C56C-4AA7-AA58-5B1AEACB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695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compat-card-fill-6-2">
            <a:extLst xmlns:a="http://schemas.openxmlformats.org/drawingml/2006/main">
              <a:ext uri="{FF2B5EF4-FFF2-40B4-BE49-F238E27FC236}">
                <a16:creationId xmlns:a16="http://schemas.microsoft.com/office/drawing/2014/main" id="{64024621-3F06-4AC9-9FF2-CF3E3393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076700"/>
            <a:ext cx="3162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compat-card-fill-6-3">
            <a:extLst xmlns:a="http://schemas.openxmlformats.org/drawingml/2006/main">
              <a:ext uri="{FF2B5EF4-FFF2-40B4-BE49-F238E27FC236}">
                <a16:creationId xmlns:a16="http://schemas.microsoft.com/office/drawing/2014/main" id="{DC1041DE-C570-4450-8E05-373C0B3D6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57700"/>
            <a:ext cx="31623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compat-card-6">
            <a:extLst xmlns:a="http://schemas.openxmlformats.org/drawingml/2006/main">
              <a:ext uri="{FF2B5EF4-FFF2-40B4-BE49-F238E27FC236}">
                <a16:creationId xmlns:a16="http://schemas.microsoft.com/office/drawing/2014/main" id="{A0845199-7DAE-4F90-B433-E53849F2B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638550"/>
            <a:ext cx="3276600" cy="1352550"/>
          </a:xfrm>
          <a:prstGeom xmlns:a="http://schemas.openxmlformats.org/drawingml/2006/main" prst="roundRect">
            <a:avLst>
              <a:gd name="adj" fmla="val 563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70" name="compat-accent-6">
            <a:extLst xmlns:a="http://schemas.openxmlformats.org/drawingml/2006/main">
              <a:ext uri="{FF2B5EF4-FFF2-40B4-BE49-F238E27FC236}">
                <a16:creationId xmlns:a16="http://schemas.microsoft.com/office/drawing/2014/main" id="{1EAA9EC5-B647-4985-93CD-2920FC7D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90950"/>
            <a:ext cx="4762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compat-title-6">
            <a:extLst xmlns:a="http://schemas.openxmlformats.org/drawingml/2006/main">
              <a:ext uri="{FF2B5EF4-FFF2-40B4-BE49-F238E27FC236}">
                <a16:creationId xmlns:a16="http://schemas.microsoft.com/office/drawing/2014/main" id="{80C194AA-D60E-4C5B-BEA3-071A33EC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810000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组合研究 Agent</a:t>
            </a:r>
          </a:p>
        </p:txBody>
      </p:sp>
      <p:sp>
        <p:nvSpPr>
          <p:cNvPr id="72" name="compat-name-6">
            <a:extLst xmlns:a="http://schemas.openxmlformats.org/drawingml/2006/main">
              <a:ext uri="{FF2B5EF4-FFF2-40B4-BE49-F238E27FC236}">
                <a16:creationId xmlns:a16="http://schemas.microsoft.com/office/drawing/2014/main" id="{3405F951-01AF-4756-B8E9-74CA6384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9575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DeepSeek Harness</a:t>
            </a:r>
          </a:p>
        </p:txBody>
      </p:sp>
      <p:sp>
        <p:nvSpPr>
          <p:cNvPr id="73" name="compat-desc-6">
            <a:extLst xmlns:a="http://schemas.openxmlformats.org/drawingml/2006/main">
              <a:ext uri="{FF2B5EF4-FFF2-40B4-BE49-F238E27FC236}">
                <a16:creationId xmlns:a16="http://schemas.microsoft.com/office/drawing/2014/main" id="{2ECFBFFD-E59A-4A3A-8724-DE354923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14850"/>
            <a:ext cx="281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组合研究｜Profile / Bundle / Cordis / 审批</a:t>
            </a:r>
          </a:p>
        </p:txBody>
      </p:sp>
    </p:spTree>
    <p:extLst>
      <p:ext uri="{BB962C8B-B14F-4D97-AF65-F5344CB8AC3E}">
        <p14:creationId xmlns:p14="http://schemas.microsoft.com/office/powerpoint/2010/main" val="11520931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387266-2A32-4DAA-B660-5E5EABCE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PROGRESS · 已验收进展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8F1EAF-E370-4FDB-93A0-A8A1C537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执行能力用实证说话：运行尖峰与正式契约两轮验收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08558F-8F1D-45F1-B8C2-D2DFAE8A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运行实证覆盖编辑—编译—运行—保存；契约验收覆盖项目—交互—诊断—权限。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1ACDB7-70DB-42B5-9BF7-1EC316D90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52578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10B61B-741F-4A50-9E91-8504EE4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52650"/>
            <a:ext cx="2857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1B3B13-0F03-4E53-89EB-30E7EAD81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19325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已验证 · Windows Core 运行实证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8F19B-7745-4186-8A85-EDA802BFD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24150"/>
            <a:ext cx="46482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8 项 Windows Core 门禁全部通过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本地 Blockly + 稳定 Agent IR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InteractionManifest + ToolContract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确定性 Runtime + 窄 Tauri Host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100 积木项目保存、关闭、重开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360 次循环 / 30 分 03 秒长稳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30 次真实 Rust Host 保存 / 重载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覆盖：编辑 · 编译 · 运行 · 保存 · Host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65E33F-B2AF-4819-8F01-A9FD68E3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24050"/>
            <a:ext cx="5257800" cy="3886200"/>
          </a:xfrm>
          <a:prstGeom xmlns:a="http://schemas.openxmlformats.org/drawingml/2006/main" prst="roundRect">
            <a:avLst>
              <a:gd name="adj" fmla="val 5392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365F07-950A-4D07-A025-90EE4873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152650"/>
            <a:ext cx="2857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222E42-B3B5-4113-8A95-7228B5B7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219325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EF444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已验收 · 正式产品契约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7811E7-D896-4913-B268-3DD1943B2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24150"/>
            <a:ext cx="464820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正式契约：独立验收通过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21 个必需 Schema 逐项复核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9 份契约 / 交接文档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10 个正反 JSON 夹具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63 条相对链接全部核对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高亮 / 日志 / 轨迹同源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✓ 补丁拒绝、终端隔离、日志脱敏负例</a:t>
            </a:r>
          </a:p>
          <a:p xmlns:a="http://schemas.openxmlformats.org/drawingml/2006/main">
            <a:pPr algn="l">
              <a:buNone/>
              <a:defRPr sz="1200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覆盖：项目 · 交互 · 运行 · 构建 · 安全</a:t>
            </a:r>
          </a:p>
        </p:txBody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7c3a75bc084477"/>
          <a:srcRect xmlns:a="http://schemas.openxmlformats.org/drawingml/2006/main" l="0" t="11290" r="0" b="112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335000" y="4095750"/>
            <a:ext cx="2952750" cy="1428750"/>
          </a:xfrm>
          <a:prstGeom xmlns:a="http://schemas.openxmlformats.org/drawingml/2006/main" prst="roundRect">
            <a:avLst>
              <a:gd name="adj" fmla="val 13333"/>
            </a:avLst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36E84C-0488-46CA-AE0D-E70BA935F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219700"/>
            <a:ext cx="46482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51F7CB-5C7D-4222-A237-0CBB7F6ED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286375"/>
            <a:ext cx="4457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21 Schema + 10 夹具 + 63 链接：产品边界已通过独立核验。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28B773-2B04-44AF-B2B3-BA8929F4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B40E5D-88E5-46E2-AEF4-2A8359C6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7AF61F-E60E-4BA3-B5A8-4BF88AFA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21" name="Unified left evidence conclusion">
            <a:extLst xmlns:a="http://schemas.openxmlformats.org/drawingml/2006/main">
              <a:ext uri="{FF2B5EF4-FFF2-40B4-BE49-F238E27FC236}">
                <a16:creationId xmlns:a16="http://schemas.microsoft.com/office/drawing/2014/main" id="{EFACA68A-A9A1-4F5A-99A6-DD4693702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19700"/>
            <a:ext cx="46482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360 次循环 + 30 次 Host 重载：核心链路已有可复现实证。</a:t>
            </a:r>
          </a:p>
        </p:txBody>
      </p:sp>
    </p:spTree>
    <p:extLst>
      <p:ext uri="{BB962C8B-B14F-4D97-AF65-F5344CB8AC3E}">
        <p14:creationId xmlns:p14="http://schemas.microsoft.com/office/powerpoint/2010/main" val="8317505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F8F04E4-5685-46EC-B7BF-FF503FC0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OUTCOME · 可验收学习成果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FCCFBD-EC4D-495B-9570-BB048A24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课堂价值可量化：搭建、解释、引用、复现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F493F2-5172-4084-94AC-6144F45F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四项结果对应四个可观察证据，教师无需只凭“答案像不像”判断学习效果。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84ED5-104D-4B3B-BA7D-6F35FC15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BE7AD9-2F88-4BEC-9E9A-6C8E2BE2C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41301F-E876-4E53-B5B1-F226FE859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搭得出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20170A-1964-4746-B530-F4E1E4EF4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产物｜可运行 Agent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证据｜Workspace + RuntimeEvent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指标｜完成率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2643C-E4A7-4144-849B-26D585C55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41C02-BC0E-44C6-8C20-F2749EB7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12ABA-CC1D-4413-A11C-66EFF8303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说得清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17920F-5001-4FBE-B984-FF8CDE84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行为｜指认关键积木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证据｜高亮 + Trace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指标｜解释率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39D476-BFC0-467D-953B-DAD47B6E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BFFE6-3806-4E0B-B8B2-4849CEE10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A4E758-33B1-4B19-AC92-39FB3CD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引得准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D6523-38D3-4000-876A-1730A7882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行为｜回答含可定位来源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证据｜引用 / 拒答记录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指标｜引用可定位率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784C53-44C1-42A2-B33A-A95ACBEB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419350" cy="2781300"/>
          </a:xfrm>
          <a:prstGeom xmlns:a="http://schemas.openxmlformats.org/drawingml/2006/main" prst="roundRect">
            <a:avLst>
              <a:gd name="adj" fmla="val 8661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ED2EAD-8316-4D07-B9D2-EF0FD529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860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E2529C-D364-4829-A0AC-71E3C7BE2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78130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复现得了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EB2C4D-2107-42C6-974F-818DE79A7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562350"/>
            <a:ext cx="2000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行为｜保存重开语义一致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证据｜Project reload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指标｜保存复现率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CB4DB1-39DE-46AA-9842-ACA8ED2F9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6858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885AED-F686-45CE-BACD-85EAF9B1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41020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指标口径｜完成率 · 解释率 · 引用可定位率 · 保存复现率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F81F25-CA1D-42EA-95BF-4FA2DCB1B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1AEA12-AB50-4D32-8FDF-96E4B5B4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5CDD87-5796-4A69-900F-7A9A60775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f0558e40b34318"/>
          <a:stretch xmlns:a="http://schemas.openxmlformats.org/drawingml/2006/main"/>
        </p:blipFill>
        <p:spPr>
          <a:xfrm xmlns:a="http://schemas.openxmlformats.org/drawingml/2006/main">
            <a:off x="9667875" y="228600"/>
            <a:ext cx="1504950" cy="15049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8985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D9F801-11D2-4770-9D73-CC453882A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BUSINESS MODEL · 收入路径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6EEE3C-F2DB-419D-8E4A-C0492B7CB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免费课堂入口，个人订阅与机构授权形成收入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485F63-6E1A-4874-B484-F14079A9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1055DC-BEB6-4BE8-9F0C-89EEC418A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42DAFB-92E8-4CB8-A483-FAEE19A83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教育基础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B875B8-3BFF-4492-8F51-45AD8698F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课堂入口｜学生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A8D270-B003-44BF-BFD5-A5C035F24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能力｜基础搭建、运行、保存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用户｜学生 / 课堂体验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价格｜离线可用 / 无需登录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作用｜学习与获客入口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BC6560-7379-4A0D-9771-514028A7A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9050">
            <a:solidFill>
              <a:srgbClr val="176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5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79BD13-F0A6-4588-A04F-EFD3FB3E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E2392B-87FB-4350-BDE4-FDF39240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教育拓展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F2061D-88A6-46E7-90EB-F6D30A25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7900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核心订阅｜个人高频搭建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CC134-48BA-48A7-8F54-C4127DC4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能力｜高级模型、工具、Skills、资源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用户｜个人高频搭建者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价格｜¥128/月 · 连续包月 ¥98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年付｜¥980/年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C67FA5-AD1C-45CC-9AA3-7D6ED066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1962150"/>
            <a:ext cx="3276600" cy="3162300"/>
          </a:xfrm>
          <a:prstGeom xmlns:a="http://schemas.openxmlformats.org/drawingml/2006/main" prst="roundRect">
            <a:avLst>
              <a:gd name="adj" fmla="val 6627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E970C2-1B42-4711-A3FD-1EAF4B66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171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5DA7E4-9817-4475-9421-F8AB56E32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4795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学校 / 机构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CFD50C-AF56-4D8F-9D4D-8DD15787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81350"/>
            <a:ext cx="2819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机构服务｜教师 / 学校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E82D53-5E47-4036-9F9E-1A9818A58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14750"/>
            <a:ext cx="2819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能力｜席位、班级、作业、课程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用户｜教师 / 教研 / 学校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收入｜机构授权 + 持续服务</a:t>
            </a:r>
          </a:p>
          <a:p xmlns:a="http://schemas.openxmlformats.org/drawingml/2006/main">
            <a:pPr algn="l">
              <a:buNone/>
              <a:def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扩展｜支持与私有化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EBF9D9-166F-487F-AF75-7142C9743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同一项目格式与运行内核；收入来自扩展能力、课程与持续服务，不靠锁住用户作品。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A82CBC-DA42-4D42-A9D8-24F2DCAF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651773-040F-4A56-B7E6-CA9911EA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371BBA-887D-4B81-B454-F5A217BE2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8944141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A27B5C-FFF8-4BA6-8AA8-D1D9233B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GO-TO-MARKET · 学校采用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8EE994-63C8-4810-8512-496778EA1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用低门槛、可控、可验收、可复用，跨过学校采用门槛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8C2394-E478-4A35-ACBE-A67CFD17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8FFC8-C87E-4425-842E-FF0B44101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22C28-74B8-480B-A5F0-7E848C120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149FBD-B9E2-4937-8B71-F37ADC28A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低门槛开始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62D701-95C6-4BED-A41F-8D6A6AF6A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路径｜本地 / 无密钥优先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首课｜完成需求与蓝图起步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验证｜项目可保存并续接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5B7810-3F26-43BB-93A0-F55D68BF7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718EFF-3796-4785-9452-469623611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6695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6341AC-2841-4CC4-9481-27E55026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8125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382CA7-1DDC-4F08-83E5-C455DB14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2885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教师可控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0B39A9-8513-47ED-A1BC-F37C3E47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4795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控制｜锁定资料与蓝图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边界｜权限与回答规则可预设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验证｜教师可读回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452A7-E5CE-4924-A445-B48DA60A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D7D452-E553-4345-AF90-902F7EB5B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24F0E1-6D97-4839-AE0B-76B2877E1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753769-E44A-4AD1-B4F6-DA8F0484A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成果可验收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0EC42B-1C31-477E-9175-1ACFD0A9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结果｜搭建 / 解释 / 引用 / 复现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证据｜作品 + 轨迹 + 引用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验证｜四项指标可记录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0FC9EB-61C0-4993-B35C-2BE0AF1D5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95700"/>
            <a:ext cx="5105400" cy="1428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9E6542-76CB-47D0-9041-4F49CD08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624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926C71-5036-45B0-8D5C-FA1AA0A1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767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69A4BE-6C95-405D-B13D-444A3D13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24300"/>
            <a:ext cx="394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能力可复用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A712BE-4630-4C3A-BB09-CE74B5161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343400"/>
            <a:ext cx="3943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复用｜课程 + 蓝图 + 作业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单位｜教师 / 班级 / 年度</a:t>
            </a:r>
          </a:p>
          <a:p xmlns:a="http://schemas.openxmlformats.org/drawingml/2006/main">
            <a:pPr algn="l">
              <a:buNone/>
              <a:defRPr sz="135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目标｜降低重复开课成本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BE1531-D33C-4A90-9B37-2141B9C0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562600"/>
            <a:ext cx="9486900" cy="49530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47111A-BC8B-4568-93D9-021AC2753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695950"/>
            <a:ext cx="8839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获客单元：一个 4–6 课时基础项目；复购单元：教师、班级与年度机构服务。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1533BF-D6C7-4A7C-A78F-589AA8E1A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028915-1625-43AF-BAE1-77E7B4A05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B49644-EB01-4511-9C5F-A6CFAC638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046f23f7ac412c"/>
          <a:stretch xmlns:a="http://schemas.openxmlformats.org/drawingml/2006/main"/>
        </p:blipFill>
        <p:spPr>
          <a:xfrm xmlns:a="http://schemas.openxmlformats.org/drawingml/2006/main">
            <a:off x="9581059" y="209550"/>
            <a:ext cx="1430931" cy="15621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10908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CC6F84-8BFD-4DC2-AE43-C07A642B0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MILESTONES · 商业证据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26672A-6BAD-4BD0-9897-1F4565053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每一赛程都交付一个可验证的产品与商业证据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74BDB8-14F8-4C09-98A8-8831E865E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从运行闭环，到教师共创，再到机构合作与生态适配。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B3A09C-E327-4DD7-9622-61EE7B47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57500"/>
            <a:ext cx="876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53C3AD-B7D8-4F86-A8E8-F4F73F682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FAA13D-BC4C-4E24-90E4-C82C2AAF5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A21C63-41D7-4B89-9ECD-10A8AAA9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初赛 · 8 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960893-812F-4515-BB0D-E599F2A2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产品证据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63E199-42F3-42FC-A624-654CED799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交付｜3 分钟产品演示闭环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材料｜演示视频 + 商业计划书</a:t>
            </a:r>
          </a:p>
          <a:p xmlns:a="http://schemas.openxmlformats.org/drawingml/2006/main">
            <a:pPr algn="l">
              <a:buNone/>
              <a:defRPr sz="1500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证据｜运行 / 解释 / 保存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8FA2BC-D976-4B4E-B812-9B8C6739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A5C778-6581-4982-A19C-B62ECA696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门槛：可运行、可解释、可保存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E3CF2E-91AD-4331-8107-0E3D29EC3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19050">
            <a:solidFill>
              <a:srgbClr val="176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5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BFA11B-38D4-4760-9FCB-3F3666BE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1FEE58-EFE6-4853-BBD5-9568C92BF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复赛 · 9 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DDC933-92A5-4FED-BA8A-E56C00BE6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课堂证据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CD2712-61AC-442C-9AB7-6DF2BB97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共创｜3–5 位试点教师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课程｜4–6 课时 + 四项指标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证据｜作品 / 轨迹 / 引用 / 复现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7CF10E-DA5A-4AAE-AB25-14CB6D43D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D2FDBE-4F77-4C2D-878F-02272552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门槛：完成率、解释率、引用可定位率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22D5919-A3E1-4D75-832F-367C9E45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038350"/>
            <a:ext cx="3276600" cy="3371850"/>
          </a:xfrm>
          <a:prstGeom xmlns:a="http://schemas.openxmlformats.org/drawingml/2006/main" prst="roundRect">
            <a:avLst>
              <a:gd name="adj" fmla="val 6395"/>
            </a:avLst>
          </a:prstGeom>
          <a:solidFill xmlns:a="http://schemas.openxmlformats.org/drawingml/2006/main">
            <a:srgbClr val="F7F9FC"/>
          </a:solidFill>
          <a:ln xmlns:a="http://schemas.openxmlformats.org/drawingml/2006/main" w="9525">
            <a:solidFill>
              <a:srgbClr val="DCE6F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30024B-6E1D-4848-BB01-69045347E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479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31B707-C157-4B57-A5C8-18EAEFCD5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14575"/>
            <a:ext cx="116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总决赛 · 11 月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28F3A8-4035-4816-9988-13064A53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819400"/>
            <a:ext cx="281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商业证据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FBF23B-D68D-4F20-BE5E-AAF52D68A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86150"/>
            <a:ext cx="2819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验证｜试点数据 + 机构意向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生态｜Pi / Codex 适配报告</a:t>
            </a:r>
          </a:p>
          <a:p xmlns:a="http://schemas.openxmlformats.org/drawingml/2006/main">
            <a:pPr algn="l">
              <a:buNone/>
              <a:defRPr sz="1275" b="0" i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证据｜教师复用 + 兼容边界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E05B61-C16B-45CB-AFAD-BB6C34DA6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14850"/>
            <a:ext cx="28194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3DD4C9-0FA5-4AFF-B6B9-BCBE6CFB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657725"/>
            <a:ext cx="2552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门槛：教师复用、机构合作、兼容边界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7FBF995-549B-4E58-8D25-0A2AA8E6E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38800"/>
            <a:ext cx="10820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0" i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增长飞轮：课堂试点 → 教师复用 → 机构授权 → 六模板 / 四 Skills 生态扩张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8EE038-19C7-497F-94F8-E75E3331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382FD1-A237-43FF-AF48-F064C6AB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53200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Agent 搭建教育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BCD0CB-5032-4335-BCEC-D4607116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53200"/>
            <a:ext cx="552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5f3f6b09a54172"/>
          <a:stretch xmlns:a="http://schemas.openxmlformats.org/drawingml/2006/main"/>
        </p:blipFill>
        <p:spPr>
          <a:xfrm xmlns:a="http://schemas.openxmlformats.org/drawingml/2006/main">
            <a:off x="9906000" y="209550"/>
            <a:ext cx="1028700" cy="15430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94564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3054FE-F36E-4971-9A0D-216F547E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VISION &amp; ASK · 赛事诉求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BFB70B-7462-4B6D-B07B-B54173CD1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857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i="0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让每个学生都成为 Agent 搭建者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B80290-103B-4701-8E1A-B5DD72B4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5784"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把系统设计、运行解释与责任边界，变成每个学生都能掌握的 Agent 素养。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42C0F7-5B3C-4F73-A11B-6BF48C1BE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6529D7-FB5C-4968-B515-E1844BC1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创新性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024F23-B942-4474-9608-EABE10DA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6862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Scratch 式积木 → 稳定 IR → RuntimeEvent / Trace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BF5B33-D30B-424A-8633-05F48502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90F99A-71C3-4776-86BD-BCA02E084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商业模式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978230-F9D1-4817-BFBE-A98516C73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教育基础 → 个人订阅 → 学校 / 机构授权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54E941-6066-4EBC-A98A-A960A6A3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724150"/>
            <a:ext cx="32766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41A91A-464F-4219-9F32-475C04DD8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9560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社会价值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ED0A8-C659-4859-921C-03C67B238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2385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0691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从会用 AI 到会设计、搭建并负责运行 Agent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8CCF3B-7F61-4F8E-8114-B179283C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9A626C-9C04-4FAE-BC65-E8A521273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实证基础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C57EE7-7F81-4464-8979-197EB2005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360 次循环 · 30 分长稳 · 100 积木 · 30 次 Host 重载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33A06B-7BFF-4E7E-8DAA-60EA648D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05400" cy="933450"/>
          </a:xfrm>
          <a:prstGeom xmlns:a="http://schemas.openxmlformats.org/drawingml/2006/main" prst="roundRect">
            <a:avLst>
              <a:gd name="adj" fmla="val 18367"/>
            </a:avLst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DDE7F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D38A3C-288C-4A00-97FF-634528A0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957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 i="0">
                <a:solidFill>
                  <a:srgbClr val="FFD4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76BFF"/>
                </a:solidFill>
                <a:latin typeface="Microsoft YaHei"/>
                <a:ea typeface="Microsoft YaHei"/>
                <a:cs typeface="Microsoft YaHei"/>
              </a:rPr>
              <a:t>生态潜力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D18F7C-02D0-4648-A0C5-EB888F4E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38650"/>
            <a:ext cx="472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667085"/>
                </a:solidFill>
                <a:latin typeface="Microsoft YaHei"/>
                <a:ea typeface="Microsoft YaHei"/>
                <a:cs typeface="Microsoft YaHei"/>
              </a:rPr>
              <a:t>6 类兼容模板 · Agent CLI · 4 Skills · 社区与多端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C48DC8-FD0E-4409-AF0D-36EA44C81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820400" cy="5715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176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25158D-A40F-4F26-A504-ACC88C82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638800"/>
            <a:ext cx="10210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希望赛事连接：3–5 位试点教师、合作学校、模型与算力、教育渠道与孵化资源。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6ABEAE-0810-4707-A36D-B3CBE2D3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98A2B3"/>
                </a:solidFill>
                <a:latin typeface="Microsoft YaHei"/>
                <a:ea typeface="Microsoft YaHei"/>
                <a:cs typeface="Microsoft YaHei"/>
              </a:rPr>
              <a:t>Blocky Studio · 2026 息壤杯 · Agent 搭建教育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c247b0cd334267"/>
          <a:stretch xmlns:a="http://schemas.openxmlformats.org/drawingml/2006/main"/>
        </p:blipFill>
        <p:spPr>
          <a:xfrm xmlns:a="http://schemas.openxmlformats.org/drawingml/2006/main">
            <a:off x="9219887" y="428625"/>
            <a:ext cx="1753225" cy="21907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013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2026-08-25T06:53:37.3180000Z</dcterms:created>
  <dcterms:modified xsi:type="dcterms:W3CDTF">2026-08-25T06:53:37.3180000Z</dcterms:modified>
</coreProperties>
</file>
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5f99de6be541dc" /><Relationship Type="http://schemas.openxmlformats.org/officeDocument/2006/relationships/extended-properties" Target="/docProps/app.xml" Id="R0dd2ca8b965745c6" /><Relationship Type="http://schemas.openxmlformats.org/officeDocument/2006/relationships/officeDocument" Target="/ppt/presentation.xml" Id="R4781af262ec24c1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48baf62e834203"/>
  </p:sldMasterIdLst>
  <p:notesMasterIdLst>
    <p:notesMasterId xmlns:r="http://schemas.openxmlformats.org/officeDocument/2006/relationships" r:id="Rc5e348bd8dbb4713"/>
  </p:notesMasterIdLst>
  <p:sldIdLst>
    <p:sldId xmlns:r="http://schemas.openxmlformats.org/officeDocument/2006/relationships" id="256" r:id="R655c58a9439045bd"/>
    <p:sldId xmlns:r="http://schemas.openxmlformats.org/officeDocument/2006/relationships" id="257" r:id="R84c1c36aee164fc7"/>
    <p:sldId xmlns:r="http://schemas.openxmlformats.org/officeDocument/2006/relationships" id="258" r:id="R3114039ad457450c"/>
    <p:sldId xmlns:r="http://schemas.openxmlformats.org/officeDocument/2006/relationships" id="259" r:id="Rcac524204e0242dc"/>
    <p:sldId xmlns:r="http://schemas.openxmlformats.org/officeDocument/2006/relationships" id="260" r:id="Rc1b2393006164a07"/>
    <p:sldId xmlns:r="http://schemas.openxmlformats.org/officeDocument/2006/relationships" id="261" r:id="R4355caf9dd2d4041"/>
    <p:sldId xmlns:r="http://schemas.openxmlformats.org/officeDocument/2006/relationships" id="262" r:id="Re687423ad6e741a9"/>
    <p:sldId xmlns:r="http://schemas.openxmlformats.org/officeDocument/2006/relationships" id="263" r:id="R6a591eaf1af24469"/>
    <p:sldId xmlns:r="http://schemas.openxmlformats.org/officeDocument/2006/relationships" id="264" r:id="R03dc2b0d0a0646c4"/>
    <p:sldId xmlns:r="http://schemas.openxmlformats.org/officeDocument/2006/relationships" id="265" r:id="Ra993b65c2e3c49f9"/>
    <p:sldId xmlns:r="http://schemas.openxmlformats.org/officeDocument/2006/relationships" id="266" r:id="Rcfdc4ed3d3bc4934"/>
    <p:sldId xmlns:r="http://schemas.openxmlformats.org/officeDocument/2006/relationships" id="267" r:id="Re3e4d05cb359457f"/>
    <p:sldId xmlns:r="http://schemas.openxmlformats.org/officeDocument/2006/relationships" id="268" r:id="R749b6dec04f94bb3"/>
    <p:sldId xmlns:r="http://schemas.openxmlformats.org/officeDocument/2006/relationships" id="269" r:id="Ree395e6f5359464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2e339825e84a04" /><Relationship Type="http://schemas.openxmlformats.org/officeDocument/2006/relationships/slideMaster" Target="/ppt/slideMasters/slideMaster1.xml" Id="R9c48baf62e834203" /><Relationship Type="http://schemas.openxmlformats.org/officeDocument/2006/relationships/notesMaster" Target="/ppt/notesMasters/notesMaster1.xml" Id="Rc5e348bd8dbb4713" /><Relationship Type="http://schemas.openxmlformats.org/officeDocument/2006/relationships/presProps" Target="/ppt/presProps.xml" Id="R40489c640c4047c3" /><Relationship Type="http://schemas.openxmlformats.org/officeDocument/2006/relationships/tableStyles" Target="/ppt/tableStyles.xml" Id="R5d2615ab25b54b6a" /><Relationship Type="http://schemas.openxmlformats.org/officeDocument/2006/relationships/slide" Target="/ppt/slides/slide1.xml" Id="R655c58a9439045bd" /><Relationship Type="http://schemas.openxmlformats.org/officeDocument/2006/relationships/slide" Target="/ppt/slides/slide2.xml" Id="R84c1c36aee164fc7" /><Relationship Type="http://schemas.openxmlformats.org/officeDocument/2006/relationships/slide" Target="/ppt/slides/slide3.xml" Id="R3114039ad457450c" /><Relationship Type="http://schemas.openxmlformats.org/officeDocument/2006/relationships/slide" Target="/ppt/slides/slide4.xml" Id="Rcac524204e0242dc" /><Relationship Type="http://schemas.openxmlformats.org/officeDocument/2006/relationships/slide" Target="/ppt/slides/slide5.xml" Id="Rc1b2393006164a07" /><Relationship Type="http://schemas.openxmlformats.org/officeDocument/2006/relationships/slide" Target="/ppt/slides/slide6.xml" Id="R4355caf9dd2d4041" /><Relationship Type="http://schemas.openxmlformats.org/officeDocument/2006/relationships/slide" Target="/ppt/slides/slide7.xml" Id="Re687423ad6e741a9" /><Relationship Type="http://schemas.openxmlformats.org/officeDocument/2006/relationships/slide" Target="/ppt/slides/slide8.xml" Id="R6a591eaf1af24469" /><Relationship Type="http://schemas.openxmlformats.org/officeDocument/2006/relationships/slide" Target="/ppt/slides/slide9.xml" Id="R03dc2b0d0a0646c4" /><Relationship Type="http://schemas.openxmlformats.org/officeDocument/2006/relationships/slide" Target="/ppt/slides/slide10.xml" Id="Ra993b65c2e3c49f9" /><Relationship Type="http://schemas.openxmlformats.org/officeDocument/2006/relationships/slide" Target="/ppt/slides/slide11.xml" Id="Rcfdc4ed3d3bc4934" /><Relationship Type="http://schemas.openxmlformats.org/officeDocument/2006/relationships/slide" Target="/ppt/slides/slide12.xml" Id="Re3e4d05cb359457f" /><Relationship Type="http://schemas.openxmlformats.org/officeDocument/2006/relationships/slide" Target="/ppt/slides/slide13.xml" Id="R749b6dec04f94bb3" /><Relationship Type="http://schemas.openxmlformats.org/officeDocument/2006/relationships/slide" Target="/ppt/slides/slide14.xml" Id="Ree395e6f535946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7f98b987c9845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3541a0f353b4429" /><Relationship Type="http://schemas.openxmlformats.org/officeDocument/2006/relationships/notesMaster" Target="/ppt/notesMasters/notesMaster1.xml" Id="Rd6803dc39a6b463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f21fb6ad8044c1" /><Relationship Type="http://schemas.openxmlformats.org/officeDocument/2006/relationships/notesMaster" Target="/ppt/notesMasters/notesMaster1.xml" Id="Rb2a2fc6333804db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68194fe85c94248" /><Relationship Type="http://schemas.openxmlformats.org/officeDocument/2006/relationships/notesMaster" Target="/ppt/notesMasters/notesMaster1.xml" Id="R897483737ffa47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819f63afa4a47f4" /><Relationship Type="http://schemas.openxmlformats.org/officeDocument/2006/relationships/notesMaster" Target="/ppt/notesMasters/notesMaster1.xml" Id="R23e1836fcce845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4e3bcf287d4e10" /><Relationship Type="http://schemas.openxmlformats.org/officeDocument/2006/relationships/notesMaster" Target="/ppt/notesMasters/notesMaster1.xml" Id="R8ac8455362f74b0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6cac439840842d0" /><Relationship Type="http://schemas.openxmlformats.org/officeDocument/2006/relationships/notesMaster" Target="/ppt/notesMasters/notesMaster1.xml" Id="R889259d7914a415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fa80492549b47e2" /><Relationship Type="http://schemas.openxmlformats.org/officeDocument/2006/relationships/notesMaster" Target="/ppt/notesMasters/notesMaster1.xml" Id="Rbb9bf7f542a8421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4efcd78bb04f57" /><Relationship Type="http://schemas.openxmlformats.org/officeDocument/2006/relationships/notesMaster" Target="/ppt/notesMasters/notesMaster1.xml" Id="R4343ff28463043e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9705921fbf54539" /><Relationship Type="http://schemas.openxmlformats.org/officeDocument/2006/relationships/notesMaster" Target="/ppt/notesMasters/notesMaster1.xml" Id="R868850b7ee1f46b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99a2fb9f84541b1" /><Relationship Type="http://schemas.openxmlformats.org/officeDocument/2006/relationships/notesMaster" Target="/ppt/notesMasters/notesMaster1.xml" Id="Rd36cfc0c2bed4de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47bf744ac1e4542" /><Relationship Type="http://schemas.openxmlformats.org/officeDocument/2006/relationships/notesMaster" Target="/ppt/notesMasters/notesMaster1.xml" Id="Rb0173bb8c68b4ef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2cb17af02404cf5" /><Relationship Type="http://schemas.openxmlformats.org/officeDocument/2006/relationships/notesMaster" Target="/ppt/notesMasters/notesMaster1.xml" Id="Raf56d5ed908946f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80be6c104b34f6a" /><Relationship Type="http://schemas.openxmlformats.org/officeDocument/2006/relationships/notesMaster" Target="/ppt/notesMasters/notesMaster1.xml" Id="R2b7e6662636d4d6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ba01a28bcaa4b74" /><Relationship Type="http://schemas.openxmlformats.org/officeDocument/2006/relationships/notesMaster" Target="/ppt/notesMasters/notesMaster1.xml" Id="Rc83bed43e466437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开场聚焦 Agent：Blocky 不是帮助学生多问一个答案，而是把角色、知识、工具、记忆、权限和运行过程交给学生亲手搭建。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息壤杯主题、主办方与赛道)</a:t>
            </a:r>
          </a:p>
          <a:p xmlns:a="http://schemas.openxmlformats.org/drawingml/2006/main">
            <a:r>
              <a:t>- D:\1Folder\Blocky-AI\doc\产品设计\Blocky-完整积木与Agent兼容设计.md (Scratch 式积木搭建 Agent 的产品定位)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Scratch 将抽象语法变成可拖动、可拼接、可运行的积木，形成面向青少年的成熟编程启蒙方式。Blocky 沿用这条学习路径，把角色、知识、记忆、工具、权限和运行轨迹变成学生可以搭建、运行与解释的 Agent 积木。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D:\1Folder\Blocky-AI\doc\产品设计\Blocky-完整积木与Agent兼容设计.md (Agent 语义、Scratch 式搭建与目标用户)</a:t>
            </a:r>
          </a:p>
          <a:p xmlns:a="http://schemas.openxmlformats.org/drawingml/2006/main">
            <a:r>
              <a:t>- https://scratch.mit.edu/help/about (Scratch 面向 8–16 岁，并以创造性思考、系统推理与协作为学习目标)</a:t>
            </a:r>
          </a:p>
          <a:p xmlns:a="http://schemas.openxmlformats.org/drawingml/2006/main">
            <a:r>
              <a:t>- https://doi.org/10.1016/j.compedu.2019.103607 (Zhang &amp; Nouri, 2019；综合 55 项实证研究，梳理 K-9 学生通过 Scratch 学习计算思维的证据)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student Agent-building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政策背景指向人工智能素养、实践创造与安全责任；Blocky 把这些抽象目标落到 Agent 搭建任务，让学生能够设计结构、运行系统并解释结果。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https://hudong.moe.gov.cn/jyb_sjzl/sjzl_fztjgb/202506/t20250611_1193760.html (2024 年全国教育事业发展统计公报)</a:t>
            </a:r>
          </a:p>
          <a:p xmlns:a="http://schemas.openxmlformats.org/drawingml/2006/main">
            <a:r>
              <a:t>- https://www.moe.gov.cn/jyb_xxgk/moe_1777/moe_1778/202501/t20250119_1176193.html (教育强国建设规划纲要与教育数字化方向)</a:t>
            </a:r>
          </a:p>
          <a:p xmlns:a="http://schemas.openxmlformats.org/drawingml/2006/main">
            <a:r>
              <a:t>- D:\1Folder\Blocky-AI\doc\产品设计\Blocky-初版产品方案.md (教育用户与 Agent 搭建场景)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这页展示 Agent 搭建工作台：左侧选择 Agent 能力积木，中间组合模块，右侧由构建助手协助搭建并在运行 Agent 中测试，底部用诊断、日志、终端和输出解释执行。入门七类与专业十二类共享同一 Agent 项目。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(桌面 Agent 搭建与运行布局)</a:t>
            </a:r>
          </a:p>
          <a:p xmlns:a="http://schemas.openxmlformats.org/drawingml/2006/main">
            <a:r>
              <a:t>- D:\1Folder\Blocky-AI\doc\产品设计\Blocky-完整积木与Agent兼容设计.md (入门七类、专业十二类与共享 Agent 项目)</a:t>
            </a:r>
          </a:p>
          <a:p xmlns:a="http://schemas.openxmlformats.org/drawingml/2006/main">
            <a:r>
              <a:t>- D:\1Folder\Blocky-AI\doc\技术设计\Windows-Core视觉验收\13-professional-conversation-trace.png (本地技术尖峰截图)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课堂任务不是制作一个问答页面，而是搭建课堂知识 Agent：学生明确角色、资料、检索、回答规则和权限，再通过引用、轨迹和保存重开证明 Agent 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(资料问答 Agent 课堂闭环)</a:t>
            </a:r>
          </a:p>
          <a:p xmlns:a="http://schemas.openxmlformats.org/drawingml/2006/main">
            <a:r>
              <a:t>- https://hudong.moe.gov.cn/jyb_xwfb/gzdt_gzdt/s5987/202412/t20241202_1165500.html (探究实践与学用结合)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classroom Agent collaboration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演示视频用五步证明 Agent 搭建闭环：选择课堂知识 Agent 蓝图、配置角色知识工具、运行 Agent、检查轨迹、保存重开；同步展示引用、拒答与行为复现。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搭建演示旅程)</a:t>
            </a:r>
          </a:p>
          <a:p xmlns:a="http://schemas.openxmlformats.org/drawingml/2006/main">
            <a:r>
              <a:t>- D:\1Folder\Blocky-AI\doc\技术设计\正式契约\07-阶段1-Demo接口交接.md (固定夹具与 Agent 运行事件契约)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不是一个黑箱标签，而是一条可检查的语义链：学生编辑积木，编译器生成稳定 Agent IR，受控运行时执行工具，Trace 回放每一步，适配器再与原生 Agent 配置双向映射。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产品墙与四层创作)</a:t>
            </a:r>
          </a:p>
          <a:p xmlns:a="http://schemas.openxmlformats.org/drawingml/2006/main">
            <a:r>
              <a:t>- D:\1Folder\Blocky-AI\doc\产品设计\CLI与官方Agent-Skill.md (四个官方 Skills 与共享 Agent 语义)</a:t>
            </a:r>
          </a:p>
          <a:p xmlns:a="http://schemas.openxmlformats.org/drawingml/2006/main">
            <a:r>
              <a:t>- D:\1Folder\Blocky-AI\doc\技术设计\ADR-002-原生Agent兼容运行时.md (版本化适配器与可逆投影)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六个方向不是六套互不相通的产品，而是六类 Agent 生态进入 Blocky 的兼容版图。公共 Agent 语义投影为可编辑积木，框架特有能力保留定位，配置与行为通过独立兼容矩阵核验。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D:\1Folder\Blocky-AI\doc\产品设计\Blocky-内置兼容模板.md (六个 Agent 模板方向与兼容矩阵)</a:t>
            </a:r>
          </a:p>
          <a:p xmlns:a="http://schemas.openxmlformats.org/drawingml/2006/main">
            <a:r>
              <a:t>- D:\1Folder\Blocky-AI\doc\技术设计\ADR-002-原生Agent兼容运行时.md (进程外运行时、版本化适配器与可逆投影)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左侧是 Agent Core 的可复现实测：积木编辑、Agent IR、交互清单、工具契约、确定性运行与保存重开；右侧是通过验收的正式 Agent 项目契约。证据支持的是 Agent 产品地基。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D:\1Folder\Blocky-AI\doc\技术设计\Windows-Core技术尖峰报告.md (Agent Core 尖峰验证范围与长稳证据)</a:t>
            </a:r>
          </a:p>
          <a:p xmlns:a="http://schemas.openxmlformats.org/drawingml/2006/main">
            <a:r>
              <a:t>- D:\1Folder\Blocky-AI\doc\技术设计\正式契约\README.md (Agent 项目正式契约注册表)</a:t>
            </a:r>
          </a:p>
          <a:p xmlns:a="http://schemas.openxmlformats.org/drawingml/2006/main">
            <a:r>
              <a:t>- D:\1Folder\Blocky-AI\doc\验收\归档\2026-08-23\验收-Blocky阶段0契约冻结.md (正式契约验收)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四项成果都围绕 Agent 搭建：学生能搭出可运行 Agent，能指出结构与轨迹，能核对引用和拒答，能保存重开并复现行为。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课堂闭环验收旅程)</a:t>
            </a:r>
          </a:p>
          <a:p xmlns:a="http://schemas.openxmlformats.org/drawingml/2006/main">
            <a:r>
              <a:t>- D:\1Folder\Blocky-AI\doc\技术设计\正式契约\07-阶段1-Demo接口交接.md (固定 Agent 夹具与运行事件契约)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blueprint line-art illustration for Agent learning outcomes,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商业入口是免费 Agent 搭建底座；个人扩展为高频搭建者提供模型、工具、Skills 与资源，学校和机构购买教师管理、Agent 课程、支持与私有化服务。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(教育基础版、个人扩展与机构服务设计)</a:t>
            </a:r>
          </a:p>
          <a:p xmlns:a="http://schemas.openxmlformats.org/drawingml/2006/main">
            <a:r>
              <a:t>- D:\1Folder\Blocky-AI\doc\执行计划\2026-08-23-Blocky-竞品驱动完整开发计划.md (Agent 教育工作区与机构服务路线)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教育把安全变成可学习的系统能力：资料边界、工具权限、密钥隔离、运行轨迹和日志脱敏都在搭建与运行过程中直接呈现。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https://www.moe.gov.cn/jyb_xxgk/moe_1777/moe_1778/202501/t20250119_1176193.html (数字素养、安全与伦理方向)</a:t>
            </a:r>
          </a:p>
          <a:p xmlns:a="http://schemas.openxmlformats.org/drawingml/2006/main">
            <a:r>
              <a:t>- D:\1Folder\Blocky-AI\AGENTS.md (Agent 秘密、权限与 Host 安全边界)</a:t>
            </a:r>
          </a:p>
          <a:p xmlns:a="http://schemas.openxmlformats.org/drawingml/2006/main">
            <a:r>
              <a:t>- D:\1Folder\Blocky-AI\doc\产品设计\Blocky-底部面板终端与日志系统设计.md (Agent 日志脱敏、终端隔离与审计边界)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colored-pencil illustration for Agent safety, permissions and responsibility,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赛事路线围绕 Agent 搭建逐步放大：初赛证明 Agent 闭环，复赛验证教师与课堂数据，总决赛验证 Agent 兼容边界、教育扩展和机构合作。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息壤杯赛程与项目迭代方式)</a:t>
            </a:r>
          </a:p>
          <a:p xmlns:a="http://schemas.openxmlformats.org/drawingml/2006/main">
            <a:r>
              <a:t>- D:\1Folder\Blocky-AI\doc\执行计划\2026-08-23-Blocky-竞品驱动完整开发计划.md (Agent 教育、兼容与商业路线)</a:t>
            </a:r>
          </a:p>
          <a:p xmlns:a="http://schemas.openxmlformats.org/drawingml/2006/main">
            <a:r>
              <a:t>- D:\1Folder\Blocky-AI\doc\产品设计\Blocky-内置兼容模板.md (六模板 Agent 兼容矩阵)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paper-cut collage illustration for learning-to-scale Agent education growth,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收束到一个核心：Blocky 让学生成为 Agent 搭建者。创新来自透明 Agent 语义链；商业来自 Agent 教育底座与持续服务；社会价值来自可解释、负责任的 Agent 设计；应用成效用搭建、解释、引用、复现核验；孵化空间连接六模板、CLI、Skills、社区与多端。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(赛事评估维度与孵化资源)</a:t>
            </a:r>
          </a:p>
          <a:p xmlns:a="http://schemas.openxmlformats.org/drawingml/2006/main">
            <a:r>
              <a:t>- D:\1Folder\Blocky-AI\doc\产品设计\Blocky-完整积木与Agent兼容设计.md (Agent 搭建产品定位)</a:t>
            </a:r>
          </a:p>
          <a:p xmlns:a="http://schemas.openxmlformats.org/drawingml/2006/main">
            <a:r>
              <a:t>- D:\1Folder\Blocky-AI\doc\执行计划\2026-08-23-Blocky-竞品驱动完整开发计划.md (Agent CLI、Skills、兼容与多端路线)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student Agent-builder vision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bf0aada13248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173920171164ee2" /><Relationship Type="http://schemas.openxmlformats.org/officeDocument/2006/relationships/slideLayout" Target="/ppt/slideLayouts/slideLayout1.xml" Id="R61b2f9dddda947e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1b2f9dddda947e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7aac8ef1944d85" /><Relationship Type="http://schemas.openxmlformats.org/officeDocument/2006/relationships/image" Target="/ppt/media/image.png" Id="Re19a51d6330348f1" /><Relationship Type="http://schemas.openxmlformats.org/officeDocument/2006/relationships/notesSlide" Target="/ppt/notesSlides/notesSlide1.xml" Id="R1cf4d76f6298419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6be557922a4caf" /><Relationship Type="http://schemas.openxmlformats.org/officeDocument/2006/relationships/image" Target="/ppt/media/image2.png" Id="Rb539440197114d71" /><Relationship Type="http://schemas.openxmlformats.org/officeDocument/2006/relationships/notesSlide" Target="/ppt/notesSlides/notesSlide2.xml" Id="R621b94e4517f474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2140d98c974a8c" /><Relationship Type="http://schemas.openxmlformats.org/officeDocument/2006/relationships/notesSlide" Target="/ppt/notesSlides/notesSlide3.xml" Id="R69339c1598684ec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a2db1adb584c73" /><Relationship Type="http://schemas.openxmlformats.org/officeDocument/2006/relationships/image" Target="/ppt/media/image3.png" Id="Rc2e509b0ccce45af" /><Relationship Type="http://schemas.openxmlformats.org/officeDocument/2006/relationships/notesSlide" Target="/ppt/notesSlides/notesSlide4.xml" Id="R229b5741034f44d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b0f2f6a21b4e07" /><Relationship Type="http://schemas.openxmlformats.org/officeDocument/2006/relationships/image" Target="/ppt/media/image4.png" Id="R42908b7bdf73409b" /><Relationship Type="http://schemas.openxmlformats.org/officeDocument/2006/relationships/notesSlide" Target="/ppt/notesSlides/notesSlide5.xml" Id="R671688948c354f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4240b28fa44b8f" /><Relationship Type="http://schemas.openxmlformats.org/officeDocument/2006/relationships/notesSlide" Target="/ppt/notesSlides/notesSlide6.xml" Id="Reb7bcdbd2ead471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dc463a56054905" /><Relationship Type="http://schemas.openxmlformats.org/officeDocument/2006/relationships/notesSlide" Target="/ppt/notesSlides/notesSlide7.xml" Id="R7c30a0982ae8459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38277c3c3442d2" /><Relationship Type="http://schemas.openxmlformats.org/officeDocument/2006/relationships/notesSlide" Target="/ppt/notesSlides/notesSlide8.xml" Id="R6c94978191814f8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ead1f165cc41a6" /><Relationship Type="http://schemas.openxmlformats.org/officeDocument/2006/relationships/image" Target="/ppt/media/image5.png" Id="R8af472c5f58846ed" /><Relationship Type="http://schemas.openxmlformats.org/officeDocument/2006/relationships/notesSlide" Target="/ppt/notesSlides/notesSlide9.xml" Id="Ree8180f5b9f44e3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8ffc6bea0341cb" /><Relationship Type="http://schemas.openxmlformats.org/officeDocument/2006/relationships/image" Target="/ppt/media/image6.png" Id="R879ef8be563c431a" /><Relationship Type="http://schemas.openxmlformats.org/officeDocument/2006/relationships/notesSlide" Target="/ppt/notesSlides/notesSlide10.xml" Id="R99e75e4a63ea452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989ade163e450b" /><Relationship Type="http://schemas.openxmlformats.org/officeDocument/2006/relationships/notesSlide" Target="/ppt/notesSlides/notesSlide11.xml" Id="Rbd7487caa487472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ad06ef0ebe44a3" /><Relationship Type="http://schemas.openxmlformats.org/officeDocument/2006/relationships/image" Target="/ppt/media/image7.png" Id="R2909e9f8386942b6" /><Relationship Type="http://schemas.openxmlformats.org/officeDocument/2006/relationships/notesSlide" Target="/ppt/notesSlides/notesSlide12.xml" Id="R61e9a409d48543e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7e25bd6bfc4b52" /><Relationship Type="http://schemas.openxmlformats.org/officeDocument/2006/relationships/image" Target="/ppt/media/image8.png" Id="Rce9334d960994e3f" /><Relationship Type="http://schemas.openxmlformats.org/officeDocument/2006/relationships/notesSlide" Target="/ppt/notesSlides/notesSlide13.xml" Id="Re579136647e34c8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be407220d425e" /><Relationship Type="http://schemas.openxmlformats.org/officeDocument/2006/relationships/image" Target="/ppt/media/image9.png" Id="R4c120bf547da4d85" /><Relationship Type="http://schemas.openxmlformats.org/officeDocument/2006/relationships/notesSlide" Target="/ppt/notesSlides/notesSlide14.xml" Id="R4bebc6732e6748f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9a51d6330348f1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息壤杯｜惠民产品创新｜AI+教育赛道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让学生真正搭建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看得懂、改得动、跑得通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式积木 Agent 搭建软件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搭建 · 教育场景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把黑箱式模型调用，变成可观察、可解释、可复现的 Agent 搭建过程。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Scratch 启蒙验证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验证积木式编程启蒙，Blocky 延伸到 Agent 搭建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把抽象语法变成可拖、可拼、可运行的结构，再把角色、知识、工具与权限变成学生能理解的 Agent 积木。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95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52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19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启蒙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76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启蒙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09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面向8–16岁，以可视积木学习创造、推理与协作。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051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718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升级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289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素养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学习角色、知识、记忆、工具、权限与责任边界。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00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57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324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产品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81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Scratch积木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14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拖积木搭 Agent，运行看轨迹，修改后保存重开仍一致。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Scratch 已验证“积木式编程启蒙”；Blocky 由此推出 Scratch 式 Agent 搭建工具。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39440197114d71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OPPORTUNITY · Agent 教育机会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搭建正在成为人工智能教育的下一步实践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47 万所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各级各类学校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2.86465 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在校生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1885.10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专任教师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全国教育体系规模，为 Agent 搭建课程提供广泛的课堂入口。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政策方向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教育数字化持续推进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人工智能助力教学变革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强调实践、创造与问题解决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同步重视安全、伦理与规范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教育入口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 岁以上学生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职教与高校 Agent 入门课程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设计 Agent 项目的教师创作者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Agent 搭建形态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一套 Scratch 式 Agent 语言，贯通入门搭建与专业工程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左：Agent 积木库｜中：模块画布 / 浏览器｜右：构建助手 / 运行 Agent｜下：诊断 / 日志 / 终端 / 输出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e509b0ccce45af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Windows Core · Agent 搭建实证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 → 专业十二类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Agent 课堂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一节 45 分钟课，搭出“课堂知识 Agent”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学生组合角色、资料检索、回答规则与权限，再用运行证据讲清系统。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765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老师设定任务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锁定课程资料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定义 Agent 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修改角色与检索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回答带引用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状态与轨迹可见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解释系统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解释回答与拒答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学习成果：Agent 搭得出 · 结构说得清 · 引用找得到 · 重开仍一致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908b7bdf73409b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DEMO · Agent 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分钟完成 Agent 搭建与运行闭环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确定性本地实证呈现“选蓝图—改积木—跑 Agent—看轨迹—存项目”。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课堂知识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配置积木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/ 知识 / 工具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检查轨迹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步骤 / 状态 / 输出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行为一致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Agent 实证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 Provider / 本地检索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拒答与引用可见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回答与来源保持一致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项目可复现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语义与会话状态分离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闭环：五步可复现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INNOVATION · Agent 语义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壁垒是一条可验证、可回放、可逆的 Agent 语义链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同一套 Agent 结构同时服务学生搭建、运行执行、教师复核与原生兼容。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可见 Agent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积木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学生能读懂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 Agent 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系统能校验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 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权限有边界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每步可回放解释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适配器可逆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模板 / 原生写回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同一 Agent 语义链贯通桌面、CLI、四个官方 Skills 与六模板兼容版图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$build-blocky-agents · $create-blocky-blocks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$convert-github-project-to-blocky · $reverse-agent-to-blocky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ECOSYSTEM · Agent 兼容版图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六类 Agent 生态，共用一套可改造的积木语言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Pi、Codex、OpenClaw、Hermes、OpenCode、DeepSeek Harness 映射到统一 Agent 项目。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rPr>
              <a:t>统一 Agent 语义 + 进程外原生运行时 + 版本化适配器 + 可逆积木投影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问答型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流程编排工具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代码型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积木搭建 / 深度扩展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兼容结果：公共语义可编辑，原生能力可定位，项目配置可逆写回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轻量编码 Agent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Pi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 · 文件读写 · Shell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专业编程 Agent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AGENTS.md · Skills · MCP · 沙箱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个人助理 Agent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OpenClaw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Gateway · 会话 · 记忆 · 渠道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团队协作 Agent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Hermes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协作 · 消息 · 任务 · 扩展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工程开发 Agent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主 / 子 Agent · 工具权限 · 插件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组合研究 Agent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Profile · Bundle · Cordis · 审批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Agent 内核实证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技术尖峰已验证 Agent 核心链路，正式契约已通过验收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积木编辑、稳定 IR、确定性运行、保存重开与项目协议均有可复查证据。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49530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781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Agent Core 技术尖峰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62250"/>
            <a:ext cx="43243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与稳定 Agent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 Agent Runtime 与窄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 Agent 项目保存—重开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分钟长稳（历史精确提交）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5E0A2-E73F-44C7-BAD5-6A0D82C2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32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结论：Agent 项目核心风险已有可复现实证。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24050"/>
            <a:ext cx="56007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52650"/>
            <a:ext cx="3048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932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正式契约 · Agent 产品地基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48577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Agent Project Manifest / Module Workspace / IR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RuntimeEvent / Diagnostic / Agent Trace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Build Spec / Semantic Patch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AppSurface / RPA / Window lifecycle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Terminal / LogEnvelope / AuditRecord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f472c5f58846ed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4857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286375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 Agent 语义贯通画布、CLI、官方 Skills、兼容模板与教育工作区。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LEARNING OUTCOME · Agent 学习成效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分钟核验 4 项 Agent 搭建成果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 Agent 项目、结构讲解、来源引用到保存复现，课堂证据一次看清。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搭得出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蓝图变成可运行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说得清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指出关键积木与运行轨迹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引得准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回答有来源，证据不足会拒答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复现得了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保存重开，Agent 行为一致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课堂验收：Agent 搭建、解释、引用、复现四项证据同屏呈现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ef8be563c431a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9F801-11D2-4770-9D73-CC453882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Agent 教育商业模式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EEE3C-F2DB-419D-8E4A-C0492B7C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搭建底座进入课堂，持续服务形成收入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85F63-6E1A-4874-B484-F14079A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055DC-BEB6-4BE8-9F0C-89EEC418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2DAFB-92E8-4CB8-A483-FAEE19A8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搭建底座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75B8-3BFF-4492-8F51-45AD8698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获客与学习入口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8D270-B003-44BF-BFD5-A5C035F2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离线可用 / 无需登录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搭建、运行与保存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C6560-7379-4A0D-9771-514028A7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9BD13-F0A6-4588-A04F-EFD3FB3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2392B-87FB-4350-BDE4-FDF3924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个人 Agent 扩展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2061D-88A6-46E7-90EB-F6D30A25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高频搭建者付费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CC134-48BA-48A7-8F54-C4127DC4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高级模型、工具、Skills 与资源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¥980/年为设计基线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67FA5-AD1C-45CC-9AA3-7D6ED066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970C2-1B42-4711-A3FD-1EAF4B66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DA7E4-9817-4475-9421-F8AB56E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学校 / 机构授权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FD50C-AF56-4D8F-9D4D-8DD1578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规模化课程服务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82D53-5E47-4036-9F9E-1A9818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教师管理、班级与作业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课程、支持与私有化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BF9D9-166F-487F-AF75-7142C97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先验证 Agent 课程价值、教师复用与学生搭建成效，再拓展个人与机构服务。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82CBC-DA42-4D42-A9D8-24F2DCA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51773-040F-4A56-B7E6-CA9911EA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71BBA-887D-4B81-B454-F5A217BE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9441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SAFETY · Agent 教育边界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 Agent，也学会权限、证据与责任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Agent / 无密钥优先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降低首次搭建门槛，减少学生接触真实密钥与外部账户。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教师锁定 Agent 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学生自主设计角色与流程，课程知识和回答边界保持清晰。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权限显式可见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文件、网络、工具与高风险操作在运行前可见、可解释。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轨迹可回放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教师复核每步运行；日志先脱敏，项目文件不混入秘密。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让学生在有边界的系统里，负责任地搭建和运行 Agent。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09e9f8386942b6"/>
          <a:stretch xmlns:a="http://schemas.openxmlformats.org/drawingml/2006/main"/>
        </p:blipFill>
        <p:spPr>
          <a:xfrm xmlns:a="http://schemas.openxmlformats.org/drawingml/2006/main">
            <a:off x="9581059" y="209550"/>
            <a:ext cx="1430931" cy="1562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C6F84-8BFD-4DC2-AE43-C07A642B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ROADMAP · Agent 教育增长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6672A-6BAD-4BD0-9897-1F456505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 Agent 课堂实证走向规模化教育产品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4BDB8-14F8-4C09-98A8-8831E865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初赛展示 Agent 闭环，复赛沉淀教师数据，总决赛验证兼容与商业价值。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3A09C-E327-4DD7-9622-61EE7B47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3C3AD-B7D8-4F86-A8E8-F4F73F6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AA13D-BC4C-4E24-90E4-C82C2AAF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21C63-41D7-4B89-9ECD-10A8AAA9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初赛 · 8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60893-812F-4515-BB0D-E599F2A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闭环实证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3E199-42F3-42FC-A624-654CED7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完成 3 分钟 Agent 搭建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补齐演示视频与材料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FA2BC-D976-4B4E-B812-9B8C6739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C778-6581-4982-A19C-B62ECA6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门槛：Agent 可运行、可解释、可重开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3CF2E-91AD-4331-8107-0E3D29EC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A11B-38D4-4760-9FCB-3F3666B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FEE58-EFE6-4853-BBD5-9568C92B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复赛 · 9 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C933-92A5-4FED-BA8A-E56C00BE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课堂试点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D2712-61AC-442C-9AB7-6DF2BB97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接入真实 RAG / 模型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邀请 3–5 位教师共创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记录搭建率与解释率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CF10E-DA5A-4AAE-AB25-14CB6D43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2FDBE-4F77-4C2D-878F-0227255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门槛：搭建率、解释率、引用与拒答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D5919-A3E1-4D75-832F-367C9E4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0024B-6E1D-4848-BB01-69045347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1B707-C157-4B57-A5C8-18EAEFCD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总决赛 · 11 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8F3A8-4035-4816-9988-13064A53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产品验证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BF23B-D68D-4F20-BE5E-AAF52D6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汇报试点数据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 / Codex 兼容报告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验证教育扩展与机构意向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E05B61-C16B-45CB-AFAD-BB6C34DA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DD4C9-0FA5-4AFF-B6B9-BCBE6CFB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门槛：教师复用、兼容边界、付费试点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BF995-549B-4E58-8D25-0A2AA8E6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六模板兼容版图与四个官方 Skills 构成 Agent 生态增长路线。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8EE038-19C7-497F-94F8-E75E333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382FD1-A237-43FF-AF48-F064C6AB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CD0CB-5032-4335-BCEC-D4607116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9334d960994e3f"/>
          <a:stretch xmlns:a="http://schemas.openxmlformats.org/drawingml/2006/main"/>
        </p:blipFill>
        <p:spPr>
          <a:xfrm xmlns:a="http://schemas.openxmlformats.org/drawingml/2006/main">
            <a:off x="9906000" y="209550"/>
            <a:ext cx="1028700" cy="15430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4564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054FE-F36E-4971-9A0D-216F547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BLOCKY · Agent 教育价值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B70B-7462-4B6D-B07B-B54173CD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让每个学生都成为 Agent 搭建者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0290-103B-4701-8E1A-B5DD72B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把系统设计、运行解释与责任边界变成可学习的能力。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2C0F7-5B3C-4F73-A11B-6BF48C1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529D7-FB5C-4968-B515-E1844BC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4F23-B942-4474-9608-EABE10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0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可见 Agent 积木 → 稳定 IR → Trace → 可逆映射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F5B33-D30B-424A-8633-05F48502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0F99A-71C3-4776-86BD-BCA02E0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78230-F9D1-4817-BFBE-A98516C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底座 → 个人扩展 → 机构授权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E941-6066-4EBC-A98A-A960A6A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1A91A-464F-4219-9F32-475C04D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社会价值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D0A8-C659-4859-921C-03C67B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把人工智能素养落到 Agent 设计、搭建与负责运行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CCF3B-7F61-4F8E-8114-B179283C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A626C-9C04-4FAE-BC65-E8A5212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应用成效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57EE7-7F81-4464-8979-197EB20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分钟验证 Agent 搭建、解释、引用、复现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3A06B-7BFF-4E7E-8DAA-60EA648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A3C-288C-4A00-97FF-634528A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孵化潜力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18F7C-02D0-4648-A0C5-EB888F4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六模板 → Agent CLI / 四 Skills → 社区与多端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48DC8-FD0E-4409-AF0D-36EA44C8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5158D-A40F-4F26-A504-ACC88C8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3880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期待赛事连接 Agent 教育试点学校与教师，并提供模型、算力、渠道与孵化支持。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ABEAE-0810-4707-A36D-B3CBE2D3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2026 息壤杯 · Agent 搭建教育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120bf547da4d85"/>
          <a:stretch xmlns:a="http://schemas.openxmlformats.org/drawingml/2006/main"/>
        </p:blipFill>
        <p:spPr>
          <a:xfrm xmlns:a="http://schemas.openxmlformats.org/drawingml/2006/main">
            <a:off x="9219887" y="428625"/>
            <a:ext cx="1753225" cy="2190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01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2026-08-24T17:01:41.0180000Z</dcterms:created>
  <dcterms:modified xsi:type="dcterms:W3CDTF">2026-08-24T17:01:41.0180000Z</dcterms:modified>
</coreProperties>
</file>
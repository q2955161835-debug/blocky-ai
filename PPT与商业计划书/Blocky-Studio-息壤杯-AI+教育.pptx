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15e0f0cab30457e" /><Relationship Type="http://schemas.openxmlformats.org/officeDocument/2006/relationships/extended-properties" Target="/docProps/app.xml" Id="R7a5d9a990a464e6e" /><Relationship Type="http://schemas.openxmlformats.org/officeDocument/2006/relationships/officeDocument" Target="/ppt/presentation.xml" Id="R58eb1e5cac28440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e35ff7ffae1430b"/>
  </p:sldMasterIdLst>
  <p:notesMasterIdLst>
    <p:notesMasterId xmlns:r="http://schemas.openxmlformats.org/officeDocument/2006/relationships" r:id="Rc27fb4a24a0d45f2"/>
  </p:notesMasterIdLst>
  <p:sldIdLst>
    <p:sldId xmlns:r="http://schemas.openxmlformats.org/officeDocument/2006/relationships" id="256" r:id="R10c64306cabf4662"/>
    <p:sldId xmlns:r="http://schemas.openxmlformats.org/officeDocument/2006/relationships" id="257" r:id="Rd21e93471985493c"/>
    <p:sldId xmlns:r="http://schemas.openxmlformats.org/officeDocument/2006/relationships" id="258" r:id="R4eb0474bf03d4e58"/>
    <p:sldId xmlns:r="http://schemas.openxmlformats.org/officeDocument/2006/relationships" id="259" r:id="R9979e7700f4d424e"/>
    <p:sldId xmlns:r="http://schemas.openxmlformats.org/officeDocument/2006/relationships" id="260" r:id="R82e2582e03ee4e70"/>
    <p:sldId xmlns:r="http://schemas.openxmlformats.org/officeDocument/2006/relationships" id="261" r:id="R3d5dc212f0604521"/>
    <p:sldId xmlns:r="http://schemas.openxmlformats.org/officeDocument/2006/relationships" id="262" r:id="R843d249ba35d4fd7"/>
    <p:sldId xmlns:r="http://schemas.openxmlformats.org/officeDocument/2006/relationships" id="263" r:id="R9423d834aa4c4445"/>
    <p:sldId xmlns:r="http://schemas.openxmlformats.org/officeDocument/2006/relationships" id="264" r:id="R41d902ce156b4a1f"/>
    <p:sldId xmlns:r="http://schemas.openxmlformats.org/officeDocument/2006/relationships" id="265" r:id="Rfd2e87dbe2cf4ad9"/>
    <p:sldId xmlns:r="http://schemas.openxmlformats.org/officeDocument/2006/relationships" id="266" r:id="Rb54be52d68d04fce"/>
    <p:sldId xmlns:r="http://schemas.openxmlformats.org/officeDocument/2006/relationships" id="267" r:id="R0de6a947a84a4d27"/>
    <p:sldId xmlns:r="http://schemas.openxmlformats.org/officeDocument/2006/relationships" id="268" r:id="Ra17a7e31c29047d5"/>
    <p:sldId xmlns:r="http://schemas.openxmlformats.org/officeDocument/2006/relationships" id="269" r:id="R0c2548bc795145a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b6ba7fde5894fd0" /><Relationship Type="http://schemas.openxmlformats.org/officeDocument/2006/relationships/slideMaster" Target="/ppt/slideMasters/slideMaster1.xml" Id="Rde35ff7ffae1430b" /><Relationship Type="http://schemas.openxmlformats.org/officeDocument/2006/relationships/notesMaster" Target="/ppt/notesMasters/notesMaster1.xml" Id="Rc27fb4a24a0d45f2" /><Relationship Type="http://schemas.openxmlformats.org/officeDocument/2006/relationships/presProps" Target="/ppt/presProps.xml" Id="R9b3b13d3bb9f4f06" /><Relationship Type="http://schemas.openxmlformats.org/officeDocument/2006/relationships/tableStyles" Target="/ppt/tableStyles.xml" Id="R7efadf532b614af7" /><Relationship Type="http://schemas.openxmlformats.org/officeDocument/2006/relationships/slide" Target="/ppt/slides/slide1.xml" Id="R10c64306cabf4662" /><Relationship Type="http://schemas.openxmlformats.org/officeDocument/2006/relationships/slide" Target="/ppt/slides/slide2.xml" Id="Rd21e93471985493c" /><Relationship Type="http://schemas.openxmlformats.org/officeDocument/2006/relationships/slide" Target="/ppt/slides/slide3.xml" Id="R4eb0474bf03d4e58" /><Relationship Type="http://schemas.openxmlformats.org/officeDocument/2006/relationships/slide" Target="/ppt/slides/slide4.xml" Id="R9979e7700f4d424e" /><Relationship Type="http://schemas.openxmlformats.org/officeDocument/2006/relationships/slide" Target="/ppt/slides/slide5.xml" Id="R82e2582e03ee4e70" /><Relationship Type="http://schemas.openxmlformats.org/officeDocument/2006/relationships/slide" Target="/ppt/slides/slide6.xml" Id="R3d5dc212f0604521" /><Relationship Type="http://schemas.openxmlformats.org/officeDocument/2006/relationships/slide" Target="/ppt/slides/slide7.xml" Id="R843d249ba35d4fd7" /><Relationship Type="http://schemas.openxmlformats.org/officeDocument/2006/relationships/slide" Target="/ppt/slides/slide8.xml" Id="R9423d834aa4c4445" /><Relationship Type="http://schemas.openxmlformats.org/officeDocument/2006/relationships/slide" Target="/ppt/slides/slide9.xml" Id="R41d902ce156b4a1f" /><Relationship Type="http://schemas.openxmlformats.org/officeDocument/2006/relationships/slide" Target="/ppt/slides/slide10.xml" Id="Rfd2e87dbe2cf4ad9" /><Relationship Type="http://schemas.openxmlformats.org/officeDocument/2006/relationships/slide" Target="/ppt/slides/slide11.xml" Id="Rb54be52d68d04fce" /><Relationship Type="http://schemas.openxmlformats.org/officeDocument/2006/relationships/slide" Target="/ppt/slides/slide12.xml" Id="R0de6a947a84a4d27" /><Relationship Type="http://schemas.openxmlformats.org/officeDocument/2006/relationships/slide" Target="/ppt/slides/slide13.xml" Id="Ra17a7e31c29047d5" /><Relationship Type="http://schemas.openxmlformats.org/officeDocument/2006/relationships/slide" Target="/ppt/slides/slide14.xml" Id="R0c2548bc795145a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92c15188702489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855c8d62ad54bed" /><Relationship Type="http://schemas.openxmlformats.org/officeDocument/2006/relationships/notesMaster" Target="/ppt/notesMasters/notesMaster1.xml" Id="R22b63510b159474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248d6ede1434d5e" /><Relationship Type="http://schemas.openxmlformats.org/officeDocument/2006/relationships/notesMaster" Target="/ppt/notesMasters/notesMaster1.xml" Id="R1e9fdd29322c4aa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170fa6ab21747a9" /><Relationship Type="http://schemas.openxmlformats.org/officeDocument/2006/relationships/notesMaster" Target="/ppt/notesMasters/notesMaster1.xml" Id="Rfc89b9bb64f240c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a94c319dc7d4d39" /><Relationship Type="http://schemas.openxmlformats.org/officeDocument/2006/relationships/notesMaster" Target="/ppt/notesMasters/notesMaster1.xml" Id="Re4451ee3b0dc49f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a7aaf55708348c6" /><Relationship Type="http://schemas.openxmlformats.org/officeDocument/2006/relationships/notesMaster" Target="/ppt/notesMasters/notesMaster1.xml" Id="Ra8caf309dc9c40e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8faa650a0ea414a" /><Relationship Type="http://schemas.openxmlformats.org/officeDocument/2006/relationships/notesMaster" Target="/ppt/notesMasters/notesMaster1.xml" Id="R61cdcba4387a436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9620085c1654688" /><Relationship Type="http://schemas.openxmlformats.org/officeDocument/2006/relationships/notesMaster" Target="/ppt/notesMasters/notesMaster1.xml" Id="R73757bd2ffb4483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e1ee2dbccfb489a" /><Relationship Type="http://schemas.openxmlformats.org/officeDocument/2006/relationships/notesMaster" Target="/ppt/notesMasters/notesMaster1.xml" Id="R8cb54ff0627d4c7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f8ab5ea5f4b4737" /><Relationship Type="http://schemas.openxmlformats.org/officeDocument/2006/relationships/notesMaster" Target="/ppt/notesMasters/notesMaster1.xml" Id="Rab4996b0cc4a4ae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bbfbae3276841e8" /><Relationship Type="http://schemas.openxmlformats.org/officeDocument/2006/relationships/notesMaster" Target="/ppt/notesMasters/notesMaster1.xml" Id="R96e61487fc064d2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f5dcf4b98b14f6a" /><Relationship Type="http://schemas.openxmlformats.org/officeDocument/2006/relationships/notesMaster" Target="/ppt/notesMasters/notesMaster1.xml" Id="R90cd366c25844ec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f4d2c8a929647e8" /><Relationship Type="http://schemas.openxmlformats.org/officeDocument/2006/relationships/notesMaster" Target="/ppt/notesMasters/notesMaster1.xml" Id="R6f7d8b69eb73438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dc9b94859fc4d3f" /><Relationship Type="http://schemas.openxmlformats.org/officeDocument/2006/relationships/notesMaster" Target="/ppt/notesMasters/notesMaster1.xml" Id="R39ebdb5aa3bf4a9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187b47b210f47e3" /><Relationship Type="http://schemas.openxmlformats.org/officeDocument/2006/relationships/notesMaster" Target="/ppt/notesMasters/notesMaster1.xml" Id="R57f0ddf5cf574c7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开场只讲一句：教育场景真正需要的是把 AI 的构造过程交还给学生。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(2026 息壤杯主题、主办方与赛道)</a:t>
            </a:r>
          </a:p>
          <a:p xmlns:a="http://schemas.openxmlformats.org/drawingml/2006/main">
            <a:r>
              <a:t>- D:\1Folder\Blocky-AI\README.md (Blocky 产品定位与当前状态)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三个痛点对应三类现有入口，不点名竞品；结论是教育需要新的表达层。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(目标用户、教育问题与交互定位)</a:t>
            </a:r>
          </a:p>
          <a:p xmlns:a="http://schemas.openxmlformats.org/drawingml/2006/main">
            <a:r>
              <a:t>- https://hudong.moe.gov.cn/jyb_xwfb/gzdt_gzdt/s5987/202412/t20241202_1165500.html (以人为本、激发兴趣、探究实践、学用结合)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数字是全国教育体系基础盘，不做 TAM 推算。重点是政策方向与 Blocky 的目标人群匹配。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https://hudong.moe.gov.cn/jyb_sjzl/sjzl_fztjgb/202506/t20250611_1193760.html (2024 年全国教育事业发展统计公报)</a:t>
            </a:r>
          </a:p>
          <a:p xmlns:a="http://schemas.openxmlformats.org/drawingml/2006/main">
            <a:r>
              <a:t>- https://www.moe.gov.cn/jyb_xxgk/moe_1777/moe_1778/202501/t20250119_1176193.html (教育强国建设规划纲要与教育数字化、AI 助教助学方向)</a:t>
            </a:r>
          </a:p>
          <a:p xmlns:a="http://schemas.openxmlformats.org/drawingml/2006/main">
            <a:r>
              <a:t>- D:\1Folder\Blocky-AI\doc\产品设计\Blocky-初版产品方案.md (首批教育用户)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七类词汇要按学习任务来讲。专业能力不是另一套产品，而是同一语义逐步解锁。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D:\1Folder\Blocky-AI\doc\产品设计\Blocky-完整积木与Agent兼容设计.md (入门七类与专业十二类)</a:t>
            </a:r>
          </a:p>
          <a:p xmlns:a="http://schemas.openxmlformats.org/drawingml/2006/main">
            <a:r>
              <a:t>- D:\1Folder\Blocky-AI\doc\技术设计\Windows-Core视觉验收\13-professional-conversation-trace.png (本地技术尖峰截图)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这是首个课堂 POC 场景。老师掌握资料边界，学生掌握系统构造和解释。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(阶段 1 资料问答伙伴闭环)</a:t>
            </a:r>
          </a:p>
          <a:p xmlns:a="http://schemas.openxmlformats.org/drawingml/2006/main">
            <a:r>
              <a:t>- https://hudong.moe.gov.cn/jyb_xwfb/gzdt_gzdt/s5987/202412/t20241202_1165500.html (探究实践与学用结合)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这页是演示视频脚本骨架。首轮不铺全功能，只证明完整闭环和诚实的失败行为。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(阶段 1 Demo 旅程与固定夹具)</a:t>
            </a:r>
          </a:p>
          <a:p xmlns:a="http://schemas.openxmlformats.org/drawingml/2006/main">
            <a:r>
              <a:t>- D:\1Folder\Blocky-AI\doc\技术设计\正式契约\07-阶段1-Demo接口交接.md (阶段 1 接口与替换边界)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这一页是 Blocky 的技术护城河：教育交互与工程确定性是一条链，不是两套故事。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D:\1Folder\Blocky-AI\doc\产品设计\Blocky-完整积木与Agent兼容设计.md (积木语义与项目格式)</a:t>
            </a:r>
          </a:p>
          <a:p xmlns:a="http://schemas.openxmlformats.org/drawingml/2006/main">
            <a:r>
              <a:t>- D:\1Folder\Blocky-AI\doc\技术设计\Windows-Core技术尖峰报告.md (稳定 IR、运行时与轨迹验证)</a:t>
            </a:r>
          </a:p>
          <a:p xmlns:a="http://schemas.openxmlformats.org/drawingml/2006/main">
            <a:r>
              <a:t>- D:\1Folder\Blocky-AI\doc\产品设计\Blocky-GitHub项目积木化与Agent组件设计.md (可解释转换与来源证据)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这是一张定位图，不使用未经验证的竞品打分。Blocky 的核心是同一底座覆盖入门到专业。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(竞品交互范式研究与产品边界)</a:t>
            </a:r>
          </a:p>
          <a:p xmlns:a="http://schemas.openxmlformats.org/drawingml/2006/main">
            <a:r>
              <a:t>- D:\1Folder\Blocky-AI\doc\产品设计\Blocky-完整积木与Agent兼容设计.md (教育/专业同一 Workspace、IR 与项目格式)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长稳数据绑定到原精确提交，不描述成当前版本重跑。阶段 1 仍是下一步。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D:\1Folder\Blocky-AI\doc\技术设计\Windows-Core技术尖峰报告.md (尖峰验证范围、360 次循环与边界)</a:t>
            </a:r>
          </a:p>
          <a:p xmlns:a="http://schemas.openxmlformats.org/drawingml/2006/main">
            <a:r>
              <a:t>- D:\1Folder\Blocky-AI\doc\验收\归档\2026-08-10\验收-Windows-Core技术尖峰.md (L3 尖峰验收)</a:t>
            </a:r>
          </a:p>
          <a:p xmlns:a="http://schemas.openxmlformats.org/drawingml/2006/main">
            <a:r>
              <a:t>- D:\1Folder\Blocky-AI\doc\验收\归档\2026-08-23\验收-Blocky阶段0契约冻结.md (阶段 0 v1alpha1 契约验收)</a:t>
            </a:r>
          </a:p>
          <a:p xmlns:a="http://schemas.openxmlformats.org/drawingml/2006/main">
            <a:r>
              <a:t>- D:\1Folder\Blocky-AI\doc\产品设计\Blocky-状态与阶段替换账本.md (正式能力未实现清单)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应用成效以可验收行为表述。真实课堂数据要在后续教师试点后补充。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(阶段 1 验收旅程)</a:t>
            </a:r>
          </a:p>
          <a:p xmlns:a="http://schemas.openxmlformats.org/drawingml/2006/main">
            <a:r>
              <a:t>- D:\1Folder\Blocky-AI\doc\技术设计\正式契约\07-阶段1-Demo接口交接.md (固定夹具与失败语义)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商业路径遵循先产品价值、后收入验证。教育扩展价格只作为内部设计基线，不当作已验证价格。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(教育基础版、教育扩展版与价格设计基线)</a:t>
            </a:r>
          </a:p>
          <a:p xmlns:a="http://schemas.openxmlformats.org/drawingml/2006/main">
            <a:r>
              <a:t>- D:\1Folder\Blocky-AI\doc\执行计划\2026-08-23-Blocky-竞品驱动完整开发计划.md (教育工作区与阶段门禁)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安全不是附录，而是教育目标的一部分。所有秘密只进入 Host 安全存储或本地忽略配置。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https://www.moe.gov.cn/jyb_xxgk/moe_1777/moe_1778/202501/t20250119_1176193.html (数字素养、安全与伦理方向)</a:t>
            </a:r>
          </a:p>
          <a:p xmlns:a="http://schemas.openxmlformats.org/drawingml/2006/main">
            <a:r>
              <a:t>- D:\1Folder\Blocky-AI\AGENTS.md (秘密、设置层级与 Host 安全存储边界)</a:t>
            </a:r>
          </a:p>
          <a:p xmlns:a="http://schemas.openxmlformats.org/drawingml/2006/main">
            <a:r>
              <a:t>- D:\1Folder\Blocky-AI\doc\产品设计\Blocky-底部面板终端与日志系统设计.md (日志脱敏、终端隔离与审计边界)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官方赛程是 7 月报名、8 月初赛、9 月复赛、11 月初总决赛。项目路线按此拟定，但不绕过既有阶段门禁。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(2026 息壤杯赛程与项目迭代方式)</a:t>
            </a:r>
          </a:p>
          <a:p xmlns:a="http://schemas.openxmlformats.org/drawingml/2006/main">
            <a:r>
              <a:t>- D:\1Folder\Blocky-AI\doc\执行计划\2026-08-23-Blocky-竞品驱动完整开发计划.md (阶段 1、阶段 3–7 与阶段 10 门禁)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收束到赛事五个评估维度，并给出明确资源诉求。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(创新性、商业模式、社会价值、应用成效、孵化推广潜力等评估维度与赛事资源)</a:t>
            </a:r>
          </a:p>
          <a:p xmlns:a="http://schemas.openxmlformats.org/drawingml/2006/main">
            <a:r>
              <a:t>- D:\1Folder\Blocky-AI\README.md (Blocky 产品愿景与当前阶段)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eb3c81ba7e4e8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fb935539bf84f09" /><Relationship Type="http://schemas.openxmlformats.org/officeDocument/2006/relationships/slideLayout" Target="/ppt/slideLayouts/slideLayout1.xml" Id="R9d5a0cffc8994a7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d5a0cffc8994a7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b68aa7cba34dc0" /><Relationship Type="http://schemas.openxmlformats.org/officeDocument/2006/relationships/image" Target="/ppt/media/image.png" Id="R750be9d05fd7468f" /><Relationship Type="http://schemas.openxmlformats.org/officeDocument/2006/relationships/notesSlide" Target="/ppt/notesSlides/notesSlide1.xml" Id="R8578c773e245471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27139f359e4597" /><Relationship Type="http://schemas.openxmlformats.org/officeDocument/2006/relationships/notesSlide" Target="/ppt/notesSlides/notesSlide2.xml" Id="Rba2948caca69409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e651677b9a4d9a" /><Relationship Type="http://schemas.openxmlformats.org/officeDocument/2006/relationships/notesSlide" Target="/ppt/notesSlides/notesSlide3.xml" Id="R0e3e6f08bb1640c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e1dd974b994117" /><Relationship Type="http://schemas.openxmlformats.org/officeDocument/2006/relationships/image" Target="/ppt/media/image2.png" Id="R623b3a3d385042a7" /><Relationship Type="http://schemas.openxmlformats.org/officeDocument/2006/relationships/notesSlide" Target="/ppt/notesSlides/notesSlide4.xml" Id="Rfaf1e7152c194c8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c2fc4d1b8e441d" /><Relationship Type="http://schemas.openxmlformats.org/officeDocument/2006/relationships/notesSlide" Target="/ppt/notesSlides/notesSlide5.xml" Id="R1f861e0bd0344d5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3575f7dc194e3a" /><Relationship Type="http://schemas.openxmlformats.org/officeDocument/2006/relationships/notesSlide" Target="/ppt/notesSlides/notesSlide6.xml" Id="Rc67301cb2f594c3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34305f0d644d0b" /><Relationship Type="http://schemas.openxmlformats.org/officeDocument/2006/relationships/notesSlide" Target="/ppt/notesSlides/notesSlide7.xml" Id="Re29a927fb5754bd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5d328cb7da4e8e" /><Relationship Type="http://schemas.openxmlformats.org/officeDocument/2006/relationships/notesSlide" Target="/ppt/notesSlides/notesSlide8.xml" Id="Re635d94226a5402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1217175465445f" /><Relationship Type="http://schemas.openxmlformats.org/officeDocument/2006/relationships/image" Target="/ppt/media/image3.png" Id="Rb591936ae1414535" /><Relationship Type="http://schemas.openxmlformats.org/officeDocument/2006/relationships/notesSlide" Target="/ppt/notesSlides/notesSlide9.xml" Id="R6dd05fffac9b40f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e9624172ea4902" /><Relationship Type="http://schemas.openxmlformats.org/officeDocument/2006/relationships/notesSlide" Target="/ppt/notesSlides/notesSlide10.xml" Id="R6e8008cfd20441a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b26d9da35c4fca" /><Relationship Type="http://schemas.openxmlformats.org/officeDocument/2006/relationships/notesSlide" Target="/ppt/notesSlides/notesSlide11.xml" Id="R9eba08647d4c477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5dc6c02ffd4279" /><Relationship Type="http://schemas.openxmlformats.org/officeDocument/2006/relationships/notesSlide" Target="/ppt/notesSlides/notesSlide12.xml" Id="R9e0b94618c3545c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273efbbdc14ef5" /><Relationship Type="http://schemas.openxmlformats.org/officeDocument/2006/relationships/notesSlide" Target="/ppt/notesSlides/notesSlide13.xml" Id="R69c16788fe15492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e658240a9944d1" /><Relationship Type="http://schemas.openxmlformats.org/officeDocument/2006/relationships/notesSlide" Target="/ppt/notesSlides/notesSlide14.xml" Id="R03c479c7879c464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0D9BE4-76F9-4A7D-9C8D-2F5EF256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4CCF9B-8A6D-4873-B7C6-72B7F16F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0"/>
            <a:ext cx="209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4AD890-3E02-4B32-A590-73AF68E4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781050"/>
            <a:ext cx="1695450" cy="1695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44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0be9d05fd7468f"/>
          <a:stretch xmlns:a="http://schemas.openxmlformats.org/drawingml/2006/main"/>
        </p:blipFill>
        <p:spPr>
          <a:xfrm xmlns:a="http://schemas.openxmlformats.org/drawingml/2006/main">
            <a:off x="8029575" y="1257300"/>
            <a:ext cx="2952750" cy="2952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369273-24D0-4097-89BD-DB290BEA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2026 息壤杯｜惠民产品创新｜AI+教育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12D827-8A22-4FC0-8118-2EA4F9F6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619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让学生不只会用 AI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820EF3-5C41-49AB-9DB0-278C191C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647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更能搭出、看懂、讲清 AI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3CB7FC-A2C8-4032-B5FB-5BDAD9D7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E5E5DB-B502-4C97-A633-16C100D0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Scratch 式积木 AI 创作软件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06E6E-DF21-46F4-84A1-E56863B7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856512-3F11-4BC5-BBFE-0365EA462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38725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POC 提案 · 教育优先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94BB3B-9431-4961-B921-BE763B2F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把黑箱式“使用 AI”，变成可观察、可解释、可复现的创造过程。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D0086F-B57E-43C0-B341-1F4B85AA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153150"/>
            <a:ext cx="1571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</p:spTree>
    <p:extLst>
      <p:ext uri="{BB962C8B-B14F-4D97-AF65-F5344CB8AC3E}">
        <p14:creationId xmlns:p14="http://schemas.microsoft.com/office/powerpoint/2010/main" val="13258619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6DE290-F233-4EA8-B16E-409742FCC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WHY NOW · 教育痛点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540E2D-BEFB-41DE-A2EC-A7BFC2D2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AI 进课堂后，学习过程反而更容易变成黑箱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44CACA-0CE4-40DB-B2E2-8BE7B71A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学生可能拿到更快的答案，却没有真正理解系统如何做出答案。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0599E7-286E-4CEB-8ADD-B581260D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3276600" cy="270510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AA88ED-3F7F-4892-A17B-A48C5F03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3150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5A4442-86C5-4DBE-B966-1E22F621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09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会问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D5BBB-CF18-459F-89A2-0A0FDD0A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575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聊天式 AI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BB09F4-5080-4128-A92D-ECF4FE19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2819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结果很快，角色、知识、工具与权限如何协作却不可见。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5DA8EC-409C-4867-98FA-3B237753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114550"/>
            <a:ext cx="3276600" cy="270510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F2932F-EF45-40EC-BFB1-02393B5A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343150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E62B85-C3E2-4470-9235-AA031C74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09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会连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6C706B-C168-4645-A2AA-6D71C55B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575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节点工作流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CAE70C-34DE-4B49-BC59-72916708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390900"/>
            <a:ext cx="2819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把复杂度换成连线、参数和调试面板，仍然不适合作为第一门 AI 创作语言。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71AE33-BE20-47DD-8783-063FEE2E2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114550"/>
            <a:ext cx="3276600" cy="270510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E9F8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C036CF-9EEB-4C8E-9ECE-8C718079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343150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BF48A1-AB51-4748-9371-48647738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09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会写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EC989C-9445-4F80-958F-20ACA0A30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575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代码框架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8B500E-DE01-45BB-89B3-2630FCA9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390900"/>
            <a:ext cx="2819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表达力强，但首次创造门槛高，课堂时间容易耗在环境与语法上。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DDF664-42F9-4557-A074-F6D4E3617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7630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992B56-2143-41CF-A6C7-C76679FB6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10200"/>
            <a:ext cx="1017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教育真正缺的，不是另一个回答器；而是一种能让学生看见过程、解释过程、重做过程的 AI 创作工具。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773103-2070-44F1-BB78-268997BD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C57BBC-E125-46E2-80A6-3C79EF39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49C1A0-F743-4893-90AB-031ABD89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8150325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1F39D0-3FC4-4C0E-A1D5-86D2F8EC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OPPORTUNITY · 政策与规模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5C0489-E690-4515-8532-7EB6EF145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AI 素养正在从“会使用”升级到“会理解、会创造、会负责”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775723-017E-439C-BAFF-4E7F1EC3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F850C1-E5E4-4E20-BF13-55AADFF3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47 万所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9ABFEC-285F-4A91-B85F-F75A4E32D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各级各类学校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1B2A9D-4985-446A-87D6-92E232AB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B0E0B3-9F29-4BA5-9C8F-69446762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2.86465 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CD9912-FD7C-4501-9DB1-2D0BD12D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在校生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85F1D3-4FE8-477D-AB48-A4F5E6B5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2DD1C9-15C8-4C45-B24D-0F3F1C25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1885.10 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99323C-011B-4B20-8558-5F51814F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专任教师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73A88D-0CF5-4432-A256-E2EEA4DF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1082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全国教育体系规模口径，仅用于说明基础覆盖面，不等同于 Blocky 的可服务市场或收入预测。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2CB344-CD97-45D5-BC37-4EBCBB6D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51244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2A8040-09B1-491B-BCEB-B4DBF039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005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政策信号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F655CE-95D1-43DB-9C45-AC34A9554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95800"/>
            <a:ext cx="4476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国家教育数字化持续推进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人工智能助力教育变革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强化师生数字素养与技能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同步强调安全、伦理与规范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8DF826-4961-4CE8-9C98-C75C7FA22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52850"/>
            <a:ext cx="53530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66A8CA-19C6-434E-AD6C-5F818DBE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005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Blocky 的首批人群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203AD2-7FC8-4B13-94FE-2B56DA41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14850"/>
            <a:ext cx="476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12 岁以上学生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职业教育与高校 AI 入门课程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需要设计 AI 项目的教师创作者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4AA025-0E59-4FE6-AC7A-41E48C41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355FAC-5400-4765-91DC-A939B191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12907B-4B8C-490E-9ECF-1C0176FB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014836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5900A0-923A-4E1C-846F-F3A51072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PRODUCT · 产品形态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AB7AA0-9727-4E4C-BBF2-EEFD311E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Blocky 把 AI 系统变成学生看得见的积木语言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B59B95-7AD1-45F7-BF1A-D167D669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不是节点连线壳，也不是提示词黑箱；每个能力都能被选择、组合、运行和解释。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FA51A-88FD-4410-B098-83E927B7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6572250" cy="3790950"/>
          </a:xfrm>
          <a:prstGeom xmlns:a="http://schemas.openxmlformats.org/drawingml/2006/main" prst="roundRect">
            <a:avLst>
              <a:gd name="adj" fmla="val 552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3b3a3d385042a7"/>
          <a:srcRect xmlns:a="http://schemas.openxmlformats.org/drawingml/2006/main" l="0" t="2671" r="0" b="26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9150" y="2076450"/>
            <a:ext cx="6305550" cy="3276600"/>
          </a:xfrm>
          <a:prstGeom xmlns:a="http://schemas.openxmlformats.org/drawingml/2006/main" prst="roundRect">
            <a:avLst>
              <a:gd name="adj" fmla="val 581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1A894-4ED3-4098-A787-A216B85C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62550"/>
            <a:ext cx="2419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E048C9-2F90-43B2-9A6E-237B4222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29225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技术尖峰画面 · 非正式产品界面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A2940-0D37-4B5C-88BF-0A81177F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621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入门视图：七类任务语言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0E0F9-1BA2-45FA-A5DC-B1170BEE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6DA326-0AB4-44AA-B072-DC5B94BD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开始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4AD1FB-B3C4-4112-B08A-E37E6553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B38E6-C18D-4E35-B6A5-8AA91FDE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角色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209BE-AF05-4C3A-938C-A41B2F8E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6BB91-EC5F-4ABB-B3A5-5DF4EABB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会思考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4DC32F-04E8-4D1B-A6E1-CB7BAC03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2E0D15-2836-4F23-99A8-0A64734D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会查找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666679-9916-4127-93CF-54C50FC4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51C3D2-2DDE-40D5-91FD-9B30DF02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会记住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DD0FF4-49F3-46E6-958D-DE773733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D576F6-9BD2-41A0-8E5B-F4513EA7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会行动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5A1C88-A08D-4D68-8ED0-EF46CECC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005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89A2F2-3DD2-4C06-A9F0-228B03F4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24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会回答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33F627-823A-489F-94C4-FC9D9CE7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200650"/>
            <a:ext cx="323850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6272D5-C6B4-478C-9CFF-B9CFF8A8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24475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教育视图与专业视图共享项目格式、运行内核和安全模型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25289-91C1-4471-8AA3-88C75A96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7B57DB-12D0-452A-88EA-454AE1E7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9F2206-526C-4EC7-9D06-DFA927D6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880803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6BEB0-5134-4740-8BC5-70438A9E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USE CASE · 教育场景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593C4D-248B-4BA9-B5FD-3076450D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一节 45 分钟课，完成“课堂知识小老师”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A294B6-FC5C-481E-9BCB-E0BD442C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把课程资料变成可追溯问答伙伴，让学生同时练习构造、验证与表达。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0EE404-A53E-47C8-BD14-1A6FF57E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009900"/>
            <a:ext cx="845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A320BC-DCBD-459B-B601-6F0A4EF6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BF5B1-FF19-480C-A1F9-B3EBD55A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EB8ED1-07E5-4EEC-85C0-40D8A0D6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老师准备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B674A9-88C9-467B-8B72-EE50C9BD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锁定课程资料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定义回答边界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2DC4C0-F9C1-4B05-86E6-F1C7ABDF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25F763-49D5-4981-BAE1-812D10DB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3C79FC-38CA-4920-BCFA-97252FFA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学生搭建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6934EE-6AF6-484E-B295-F7557057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选择蓝图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修改角色与检索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00918C-A06B-4E1A-8C9D-0648588A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1C48E-5BD0-4783-9B5F-9CD7A9A7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E7325C-B220-4DD8-937A-0AFCD38A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运行观察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E1AD58-3805-4CBB-B0C5-AD0CFD42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答案带引用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状态与轨迹可见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DAF4FD-BC3F-4584-9B71-B1636FED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48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EA1FC6-3496-484C-95F5-14F46B1D3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475CB5-1F52-4474-A185-5DCFD29B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讲解反思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F6F002-6517-421A-8333-2339096B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指出关键积木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解释回答或拒答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D85272-C52C-40FA-B761-776CF436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0010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759AD1-71DC-48F0-89B6-BD531D8D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911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可验证学习结果：搭得出  ·  说得清  ·  引得准  ·  复现得了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40A4D9-AB1E-4082-B642-C0C46F98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5E1450-E4DF-4EFF-A864-D90D800E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8E4714-55B0-428F-BB84-CF5DF9C5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440891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61BF2F6-7820-4F71-A5F3-44000ED8B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POC · 首轮交付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381ADE-80F5-42E9-8853-EF5280D4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首个 POC 只验证一个完整闭环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EA1F63-0E40-4377-9F6C-F7E155EA5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阶段 1 计划：用确定性本地夹具完成“创建—运行—解释—保存—重开”。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E04AFC-6A82-41C7-ABEB-5D0B0808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B70C2E-A825-44BD-BFC3-2F9092FD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8E383A-D3C9-463D-90D3-B0C8254C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F47339-424A-4575-BFED-D712680E3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149493-3133-4D57-B418-0FC64E04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C735B2-1D95-42CD-9390-53260701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789284-904D-4CA8-AF84-68B161FB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选择蓝图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F9AD1A-0529-4DCF-B052-8C59974E9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资料问答伙伴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FFD2D7-BE35-487B-8AF1-CFA6A5C4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48D6E0-39E4-47B1-957D-861949DE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2CF790-33C9-4CCB-A157-EF7C63A8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编辑积木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779A17-5ACC-4FC3-9593-C038762D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角色 / 知识 / 风格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3931BE-909D-4CA1-A8AB-20443305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14AEE4-C3AD-424F-BF93-521A3B465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14F98A-F223-47A2-9F28-C1B6DA0F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运行回答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4A1067-0938-4671-9EFE-71111399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本地检索 + 引用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14FD71-DF17-4CA8-A89C-001B0D22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E6B1F2-F786-4907-9B38-6D5B309A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967383-C63A-4BD0-9C8F-2977BF77F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观察轨迹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BA1E21-50FB-423D-A459-1A0C693B3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绿 / 黄 / 红状态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B396C4-30A2-4334-9ED5-17BFDFAE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51A61D-3FAE-48E2-A03D-6F11EB65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E3B23B-6531-4174-AD4B-5499123F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保存重开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7C8725-F881-4B20-8922-9BCB26A4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行为保持一致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65D525-758B-44D0-90F2-EE5FBAD2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2FF6B1-7E33-4870-A17A-CF1D956F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0344CA-4B17-44A6-BE50-710321E1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84B3E6-57A9-45C0-A2E9-15BEA851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无密钥也能演示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7570BE-5162-4D12-AE16-D2927C1A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确定性 Provider / 本地检索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8BFF40-00F6-42F3-A709-F0FF0B483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82C568-EB54-4F86-9719-69A443CD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33FE7DA-9E56-4BD7-9F7A-4A7695B0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444E849-D3A9-43C7-BF9A-8C9434B51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无证据就拒答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1D2692-8CDD-4B60-95CF-492AB2A4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不把幻觉包装成学习结果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5B5C15-EEE9-4585-B27F-51E7E83D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D77F557-EDEC-4BE2-B1CE-221DCA3E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5382B6-9835-4B93-B708-3D9BCA1D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FAA06BF-AFB7-4CF2-8847-FC5A1A092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重开仍可复现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E803178-7941-42C1-A1DB-7806CAA6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项目语义与会话状态分离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F3F74DB-353E-4AC3-8319-F0E8F80D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848350"/>
            <a:ext cx="2476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229199D-0A09-4447-ADBA-1032DD29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9150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rPr>
              <a:t>POC 计划，不等同于已完成产品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8F5750-0E1E-40F3-9F23-28AE1F197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5473D5A-F999-426D-96D7-1D006B67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DBEA014-107A-40CA-8682-5991D33EB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40985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FB98D4-8A9E-4310-AC05-96F1315D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INNOVATION · 技术与教育创新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70E22-46A8-4D3F-A933-FA5CB30D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真正的创新不是积木外观，而是可验证的语义链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7B9416-8927-4FDD-917D-66714D81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从学生能理解的表达，贯通到系统能执行、老师能复核的证据。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B99917-4785-4FF2-9985-F6BA0650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B5AC8B-8B9F-4695-9A04-96E9C71C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3CCDC8-7024-494D-AA95-7BFAEFB3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FE4A2-B622-4C5E-AFC6-49E01F51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5E4D1E-C2BE-43FE-97BC-475FE4A6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FA4B3-0E29-4B42-9E8B-B19439EE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E01B1A-FBF1-410D-A8FE-40496C9C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327299-7A47-4BD8-8DDF-623868A8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809E88-4FD6-4362-9922-851886FF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A020EA-0F76-4C5F-99C3-F8E787B2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可见积木 AST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209DFC-0DB0-4F03-997E-ED022F53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学生能读懂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E863CB-E606-406C-8E49-63E02746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EBB333-8FEB-4A68-A6D7-A07BB5A5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稳定 IR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A3A16-F7D2-4375-AD05-98B39C16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系统能校验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BBCBCB-D598-47CF-A31D-DE2AFCFB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B15EC2-77A0-44D3-961C-3C1B64DF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受控 Runtime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BA4644-3DF6-4D5D-A39E-7633F3E1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权限有边界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9DA042-F4B5-409E-A55D-9D81D4EE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EA51D8-9E31-4734-9C09-B3CF40E0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可回放 Trace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E9A07E-9C57-41E0-98BE-FB36F1B3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过程能解释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D7090C-B895-46C1-8E74-265295F9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1F2994-A241-41AC-A0A0-8832A0CF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可逆映射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C53ED7-2762-4673-B1D7-3AD8965A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蓝图 / 代码可成长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D28F7F-9AB1-4D9F-9291-E09FBFEF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33900"/>
            <a:ext cx="9067800" cy="10668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BA31EE-5FD9-4E8B-B02A-C5D35D3E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762500"/>
            <a:ext cx="8534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可解释性不是运行结束后的“作文”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8A8729-2378-4A20-A1EE-2FBF3D7D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219700"/>
            <a:ext cx="853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它来自积木、编译、权限与运行轨迹本身。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E5C844-E2E1-463A-B081-12478843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8B031E-3513-477C-9387-EAA67136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96D7D8-64FA-4C92-BE0C-FC36C847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501018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5339E4-F604-4D6A-86EF-DF2CD092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DIFFERENTIATION · 差异化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70CF98-9ECF-4290-B608-8ACEB1A0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在“易上手”和“可成长”之间，Blocky 不必二选一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087C1-24E9-4883-BB39-FFC3752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19300"/>
            <a:ext cx="7905750" cy="34290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5C7A3-B066-45AE-9611-3A53A158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438400"/>
            <a:ext cx="285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CF3443-2956-4DCD-9397-CE8B308C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895850"/>
            <a:ext cx="619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B1834-49B3-4F51-9EB9-45529734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648075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17254A-D248-480E-A64C-9F3D9465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438400"/>
            <a:ext cx="952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039EF-8669-48E6-8355-B3E3CDD6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095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解释与可观察性 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52EBC-6654-4A56-A43D-04234BEB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0673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首次创造门槛 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09C619-2BD1-4EF2-9FB4-E67118A2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672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49E2C-638C-4C84-9984-35EE7E45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7434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聊天式回答器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BE703F-ECE8-4177-B632-BC2BAF53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6861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B245E4-7D7B-4DD8-84A1-4F701573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6825" y="4219575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节点工作流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65A70-FD04-45E9-8824-2BD37261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762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EFD31-A748-48DC-9B67-88B96D45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33337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代码框架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ECAB1-E514-4F89-A764-A2DA3B8D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7051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A9564E-1B04-4A3B-9C90-58816AC9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39090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10F48B-9833-4CEA-96EC-F710C0DB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76450"/>
            <a:ext cx="1600200" cy="33528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B3CED9-2289-46C4-878F-B09658EE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62200"/>
            <a:ext cx="1219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同一底座</a:t>
            </a:r>
          </a:p>
          <a:p xmlns:a="http://schemas.openxmlformats.org/drawingml/2006/main">
            <a:pPr algn="ctr">
              <a:buNone/>
              <a:def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逐步成长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DE07F1-2CE1-4A8A-BE82-360BF6C6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238500"/>
            <a:ext cx="12192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入门七类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专业十二类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蓝图与代码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真实运行轨迹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CF8F47-F459-4EE8-AFFB-431D2346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657850"/>
            <a:ext cx="790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定位示意：比较的是产品交互范式，不代表对单一竞品的测评结论。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A2238B-6981-4EEF-9644-CAB79A1E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EEB512-B61D-4234-BF5B-E7FCE68F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6BBFE9-8C7C-4891-A36F-ED778245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5209315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387266-2A32-4DAA-B660-5E5EABCE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EVIDENCE · 当前证据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8F1EAF-E370-4FDB-93A0-A8A1C537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底座已验证；正式产品 Demo 仍在下一阶段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08558F-8F1D-45F1-B8C2-D2DFAE8A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把“已经证明的”与“计划证明的”分开，是本项目最重要的可信度边界。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1ACDB7-70DB-42B5-9BF7-1EC316D9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49530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E9F8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10B61B-741F-4A50-9E91-8504EE4D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52650"/>
            <a:ext cx="27813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1B3B13-0F03-4E53-89EB-30E7EAD8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19325"/>
            <a:ext cx="2590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已验证 · Windows Core 技术尖峰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8F19B-7745-4186-8A85-EDA802BF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62250"/>
            <a:ext cx="43243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本地 Blockly 与稳定 IR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InteractionManifest / ToolContract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确定性运行时与窄 Tauri Host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100 积木保存—重开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360 次循环 / 30 分钟长稳（历史精确提交）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E5E0A2-E73F-44C7-BAD5-6A0D82C2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19700"/>
            <a:ext cx="432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结论：正式架构的关键风险已有可复现证据。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65E33F-B2AF-4819-8F01-A9FD68E3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924050"/>
            <a:ext cx="56007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365F07-950A-4D07-A025-90EE4873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52650"/>
            <a:ext cx="2209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222E42-B3B5-4113-8A95-7228B5B7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9325"/>
            <a:ext cx="201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rPr>
              <a:t>尚未完成 · 正式产品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7811E7-D896-4913-B268-3DD1943B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762250"/>
            <a:ext cx="48577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○ 阶段 1 正式 monorepo Demo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○ 真实 RAG / 模型 / Provider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○ Blocky 构建助手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○ 班级 / 作业 / 提交工作区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○ 正式安装包与试点数据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91936ae1414535"/>
          <a:srcRect xmlns:a="http://schemas.openxmlformats.org/drawingml/2006/main" l="0" t="11290" r="0" b="112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67700" y="4095750"/>
            <a:ext cx="2952750" cy="1428750"/>
          </a:xfrm>
          <a:prstGeom xmlns:a="http://schemas.openxmlformats.org/drawingml/2006/main" prst="roundRect">
            <a:avLst>
              <a:gd name="adj" fmla="val 13333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36E84C-0488-46CA-AE0D-E70BA935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219700"/>
            <a:ext cx="2590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51F7CB-5C7D-4222-A237-0CBB7F6E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286375"/>
            <a:ext cx="2400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技术尖峰 · 非正式产品界面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28B773-2B04-44AF-B2B3-BA8929F4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B40E5D-88E5-46E2-AEF4-2A8359C6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7AF61F-E60E-4BA3-B5A8-4BF88AFA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317505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8F04E4-5685-46EC-B7BF-FF503FC0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APPLICATION EFFECT · 可验收成效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CCFBD-EC4D-495B-9570-BB048A24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POC 可以在 3 分钟内验证 4 个学习结果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493F2-5172-4084-94AC-6144F45F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不先许诺留存率和收入；先让 POC 的行为结果可重复检查。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84ED5-104D-4B3B-BA7D-6F35FC15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E7AD9-2F88-4BEC-9E9A-6C8E2BE2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1301F-E876-4E53-B5B1-F226FE85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搭得出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20170A-1964-4746-B530-F4E1E4EF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从蓝图到可运行项目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62643C-E4A7-4144-849B-26D585C5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41C02-BC0E-44C6-8C20-F2749EB7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12ABA-CC1D-4413-A11C-66EFF830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说得清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7920F-5001-4FBE-B984-FF8CDE84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指出关键积木与运行轨迹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9D476-BFC0-467D-953B-DAD47B6E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BFFE6-3806-4E0B-B8B2-4849CEE1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4E758-33B1-4B19-AC92-39FB3CD8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引得准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3D6523-38D3-4000-876A-1730A788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回答带来源；无证据拒答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784C53-44C1-42A2-B33A-A95ACBEB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D2EAD-8316-4D07-B9D2-EF0FD529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2529C-D364-4829-A0AC-71E3C7BE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复现得了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EB2C4D-2107-42C6-974F-818DE79A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保存重开后行为一致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CB4DB1-39DE-46AA-9842-ACA8ED2F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885AED-F686-45CE-BACD-85EAF9B1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1020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阶段 1 验收口径 · 不是已经发生的用户效果数据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F81F25-CA1D-42EA-95BF-4FA2DCB1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1AEA12-AB50-4D32-8FDF-96E4B5B4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5CDD87-5796-4A69-900F-7A9A6077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53789858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D9F801-11D2-4770-9D73-CC453882A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BUSINESS MODEL · 商业模式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6EEE3C-F2DB-419D-8E4A-C0492B7CB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先用免费教育底座进入课堂，再以持续服务形成收入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485F63-6E1A-4874-B484-F14079A9F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1055DC-BEB6-4BE8-9F0C-89EEC418A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42DAFB-92E8-4CB8-A483-FAEE19A83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免费教育底座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B875B8-3BFF-4492-8F51-45AD8698F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获客与学习入口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A8D270-B003-44BF-BFD5-A5C035F24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离线可用 / 无需登录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核心搭建、运行与保存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BC6560-7379-4A0D-9771-514028A7A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79BD13-F0A6-4588-A04F-EFD3FB3E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E2392B-87FB-4350-BDE4-FDF39240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个人教育扩展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F2061D-88A6-46E7-90EB-F6D30A25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高频创作者付费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ACC134-48BA-48A7-8F54-C4127DC42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高级模型、工具与资源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¥980/年为设计基线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C67FA5-AD1C-45CC-9AA3-7D6ED066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E9F8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E970C2-1B42-4711-A3FD-1EAF4B66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5DA7E4-9817-4475-9421-F8AB56E3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学校 / 机构授权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CFD50C-AF56-4D8F-9D4D-8DD15787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规模化收入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E82D53-5E47-4036-9F9E-1A9818A5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教师管理、班级与作业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支持、私有化与课程服务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EBF9D9-166F-487F-AF75-7142C974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定价与机构采购均为待试点验证的设计假设；当前优先验证课程价值、教师复用与学生学习成效。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A82CBC-DA42-4D42-A9D8-24F2DCAF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651773-040F-4A56-B7E6-CA9911EA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371BBA-887D-4B81-B454-F5A217BE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8944141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A27B5C-FFF8-4BA6-8AA8-D1D9233B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SOCIAL VALUE · 教育价值与安全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8EE994-63C8-4810-8512-496778EA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教育价值与安全边界，必须落在同一套机制里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8C2394-E478-4A35-ACBE-A67CFD17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A8FFC8-C87E-4425-842E-FF0B4410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22C28-74B8-480B-A5F0-7E848C12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149FBD-B9E2-4937-8B71-F37ADC28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本地 / 无密钥优先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62D701-95C6-4BED-A41F-8D6A6AF6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降低首次使用门槛，也减少学生接触真实密钥与外部账户。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5B7810-3F26-43BB-93A0-F55D68BF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718EFF-3796-4785-9452-46962361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6341AC-2841-4CC4-9481-27E55026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382CA7-1DDC-4F08-83E5-C455DB14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教师锁定资料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0B39A9-8513-47ED-A1BC-F37C3E47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学生能探索表达方式，但不能偷偷扩大课程知识与答案边界。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4452A7-E5CE-4924-A445-B48DA60A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D7D452-E553-4345-AF90-902F7EB5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48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24F0E1-6D97-4839-AE0B-76B2877E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753769-E44A-4AD1-B4F6-DA8F0484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权限显式可见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0EC42B-1C31-477E-9175-1ACFD0A9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文件、网络、工具与高风险操作都能在运行前被看见和解释。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0FC9EB-61C0-4993-B35C-2BE0AF1D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9E6542-76CB-47D0-9041-4F49CD08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926C71-5036-45B0-8D5C-FA1AA0A1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69A4BE-6C95-405D-B13D-444A3D13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轨迹可回放、日志先脱敏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A712BE-4630-4C3A-BB09-CE74B516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老师能复核过程，项目文件不混入秘密、终端历史与审计数据。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BE1531-D33C-4A90-9B37-2141B9C0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562600"/>
            <a:ext cx="9486900" cy="49530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47111A-BC8B-4568-93D9-021AC275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695950"/>
            <a:ext cx="883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让学生在有边界的系统里，学会负责地使用和创造 AI。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1533BF-D6C7-4A7C-A78F-589AA8E1A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028915-1625-43AF-BAE1-77E7B4A0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B49644-EB01-4511-9C5F-A6CFAC63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64810908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CC6F84-8BFD-4DC2-AE43-C07A642B0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ROADMAP · 赛事与孵化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26672A-6BAD-4BD0-9897-1F4565053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从 POC 到可规模化教育产品，三道门逐步打开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74BDB8-14F8-4C09-98A8-8831E865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跟随赛事迭代：初赛证明闭环，复赛进入试点，总决赛用真实数据回答价值。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B3A09C-E327-4DD7-9622-61EE7B47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57500"/>
            <a:ext cx="876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53C3AD-B7D8-4F86-A8E8-F4F73F68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FAA13D-BC4C-4E24-90E4-C82C2AAF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A21C63-41D7-4B89-9ECD-10A8AAA9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初赛 · 8 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960893-812F-4515-BB0D-E599F2A2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可展示 POC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63E199-42F3-42FC-A624-654CED799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完成 3 分钟闭环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补齐演示视频与材料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8FA2BC-D976-4B4E-B812-9B8C6739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0D47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A5C778-6581-4982-A19C-B62ECA69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门禁：可运行、可解释、可重开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E3CF2E-91AD-4331-8107-0E3D29EC3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BFA11B-38D4-4760-9FCB-3F3666BE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1FEE58-EFE6-4853-BBD5-9568C92BF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复赛 · 9 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DDC933-92A5-4FED-BA8A-E56C00BE6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教师 / 课堂试点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CD2712-61AC-442C-9AB7-6DF2BB97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接入真实 RAG 与模型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邀请 3–5 位教师共创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7CF10E-DA5A-4AAE-AB25-14CB6D43D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D2FDBE-4F77-4C2D-878F-02272552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门禁：完成率、解释率、引用与拒答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2D5919-A3E1-4D75-832F-367C9E45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30024B-6E1D-4848-BB01-69045347E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31B707-C157-4B57-A5C8-18EAEFCD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总决赛 · 11 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28F3A8-4035-4816-9988-13064A53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产品与商业验证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FBF23B-D68D-4F20-BE5E-AAF52D68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汇报试点数据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验证教育扩展与机构意向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E05B61-C16B-45CB-AFAD-BB6C34DA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3DD4C9-0FA5-4AFF-B6B9-BCBE6CFB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门禁：教师复用、付费试点、部署可行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FBF995-549B-4E58-8D25-0A2AA8E6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时间与试点规模为参赛执行建议；正式研发仍受 Blocky 阶段门禁约束。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8EE038-19C7-497F-94F8-E75E33313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382FD1-A237-43FF-AF48-F064C6AB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息壤杯 AI+教育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BCD0CB-5032-4335-BCEC-D4607116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12945649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3054FE-F36E-4971-9A0D-216F547E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WHY BLOCKY · 五维对齐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BFB70B-7462-4B6D-B07B-B54173CD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让每个学生都成为 AI 的创造者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B80290-103B-4701-8E1A-B5DD72B4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而不是答案的消费者。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42C0F7-5B3C-4F73-A11B-6BF48C1B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6529D7-FB5C-4968-B515-E1844BC1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创新性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024F23-B942-4474-9608-EABE10DA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可见积木 → 稳定 IR → 可回放轨迹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BF5B33-D30B-424A-8633-05F485026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90F99A-71C3-4776-86BD-BCA02E084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商业模式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978230-F9D1-4817-BFBE-A98516C73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免费教育底座 → 个人扩展 → 机构授权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54E941-6066-4EBC-A98A-A960A6A3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41A91A-464F-4219-9F32-475C04DD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社会价值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BED0A8-C659-4859-921C-03C67B238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把 AI 素养从使用推进到创造与负责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8CCF3B-7F61-4F8E-8114-B179283C2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51054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9A626C-9C04-4FAE-BC65-E8A52127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应用成效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C57EE7-7F81-4464-8979-197EB200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386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 分钟验证搭建、解释、引用、复现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33A06B-7BFF-4E7E-8DAA-60EA648D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24300"/>
            <a:ext cx="51054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151F33"/>
          </a:solidFill>
          <a:ln xmlns:a="http://schemas.openxmlformats.org/drawingml/2006/main" w="9525">
            <a:solidFill>
              <a:srgbClr val="26355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D38A3C-288C-4A00-97FF-634528A0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95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rPr>
              <a:t>孵化潜力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D18F7C-02D0-4648-A0C5-EB888F4EF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386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同一项目格式与内核，逐阶段扩展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C48DC8-FD0E-4409-AF0D-36EA44C81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25158D-A40F-4F26-A504-ACC88C82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638800"/>
            <a:ext cx="1021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期待赛事连接试点学校与教师，并提供模型、算力、渠道和投融资孵化支持。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6ABEAE-0810-4707-A36D-B3CBE2D3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2026 息壤杯 AI+教育</a:t>
            </a:r>
          </a:p>
        </p:txBody>
      </p:sp>
    </p:spTree>
    <p:extLst>
      <p:ext uri="{BB962C8B-B14F-4D97-AF65-F5344CB8AC3E}">
        <p14:creationId xmlns:p14="http://schemas.microsoft.com/office/powerpoint/2010/main" val="1675013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2026-08-24T14:10:51.0380000Z</dcterms:created>
  <dcterms:modified xsi:type="dcterms:W3CDTF">2026-08-24T14:10:51.0380000Z</dcterms:modified>
</coreProperties>
</file>
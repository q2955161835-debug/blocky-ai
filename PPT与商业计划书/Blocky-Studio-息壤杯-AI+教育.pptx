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babf140c0547d7" /><Relationship Type="http://schemas.openxmlformats.org/officeDocument/2006/relationships/extended-properties" Target="/docProps/app.xml" Id="Rf4e87c6665bd479a" /><Relationship Type="http://schemas.openxmlformats.org/officeDocument/2006/relationships/officeDocument" Target="/ppt/presentation.xml" Id="Ree7bda26ee4046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42e2fcd01943e3"/>
  </p:sldMasterIdLst>
  <p:notesMasterIdLst>
    <p:notesMasterId xmlns:r="http://schemas.openxmlformats.org/officeDocument/2006/relationships" r:id="R223920ec32e54dc5"/>
  </p:notesMasterIdLst>
  <p:sldIdLst>
    <p:sldId xmlns:r="http://schemas.openxmlformats.org/officeDocument/2006/relationships" id="256" r:id="Rf70ce3f7bf9d4607"/>
    <p:sldId xmlns:r="http://schemas.openxmlformats.org/officeDocument/2006/relationships" id="257" r:id="R3bfa2a3171ad47a8"/>
    <p:sldId xmlns:r="http://schemas.openxmlformats.org/officeDocument/2006/relationships" id="258" r:id="R33f87e76f1df414d"/>
    <p:sldId xmlns:r="http://schemas.openxmlformats.org/officeDocument/2006/relationships" id="259" r:id="Rf83e5e2b80f749e6"/>
    <p:sldId xmlns:r="http://schemas.openxmlformats.org/officeDocument/2006/relationships" id="260" r:id="R90ba9ea66ec64cae"/>
    <p:sldId xmlns:r="http://schemas.openxmlformats.org/officeDocument/2006/relationships" id="261" r:id="R438ca43c130c42e4"/>
    <p:sldId xmlns:r="http://schemas.openxmlformats.org/officeDocument/2006/relationships" id="262" r:id="Raf6fd43e875643a6"/>
    <p:sldId xmlns:r="http://schemas.openxmlformats.org/officeDocument/2006/relationships" id="263" r:id="Rf4b496f343a342d7"/>
    <p:sldId xmlns:r="http://schemas.openxmlformats.org/officeDocument/2006/relationships" id="264" r:id="R6aad64d44f7a4ae6"/>
    <p:sldId xmlns:r="http://schemas.openxmlformats.org/officeDocument/2006/relationships" id="265" r:id="R9c7d614934e74f00"/>
    <p:sldId xmlns:r="http://schemas.openxmlformats.org/officeDocument/2006/relationships" id="266" r:id="R51f41ccc19ca4d39"/>
    <p:sldId xmlns:r="http://schemas.openxmlformats.org/officeDocument/2006/relationships" id="267" r:id="R03a71aa613a94c50"/>
    <p:sldId xmlns:r="http://schemas.openxmlformats.org/officeDocument/2006/relationships" id="268" r:id="R259d804b8d064b54"/>
    <p:sldId xmlns:r="http://schemas.openxmlformats.org/officeDocument/2006/relationships" id="269" r:id="R3fcdfc0ab46f4c3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7d0377aa2d94f29" /><Relationship Type="http://schemas.openxmlformats.org/officeDocument/2006/relationships/slideMaster" Target="/ppt/slideMasters/slideMaster1.xml" Id="R3142e2fcd01943e3" /><Relationship Type="http://schemas.openxmlformats.org/officeDocument/2006/relationships/notesMaster" Target="/ppt/notesMasters/notesMaster1.xml" Id="R223920ec32e54dc5" /><Relationship Type="http://schemas.openxmlformats.org/officeDocument/2006/relationships/presProps" Target="/ppt/presProps.xml" Id="R49f2c20d49f148b9" /><Relationship Type="http://schemas.openxmlformats.org/officeDocument/2006/relationships/tableStyles" Target="/ppt/tableStyles.xml" Id="Rc73d7e4e25f74f2c" /><Relationship Type="http://schemas.openxmlformats.org/officeDocument/2006/relationships/slide" Target="/ppt/slides/slide1.xml" Id="Rf70ce3f7bf9d4607" /><Relationship Type="http://schemas.openxmlformats.org/officeDocument/2006/relationships/slide" Target="/ppt/slides/slide2.xml" Id="R3bfa2a3171ad47a8" /><Relationship Type="http://schemas.openxmlformats.org/officeDocument/2006/relationships/slide" Target="/ppt/slides/slide3.xml" Id="R33f87e76f1df414d" /><Relationship Type="http://schemas.openxmlformats.org/officeDocument/2006/relationships/slide" Target="/ppt/slides/slide4.xml" Id="Rf83e5e2b80f749e6" /><Relationship Type="http://schemas.openxmlformats.org/officeDocument/2006/relationships/slide" Target="/ppt/slides/slide5.xml" Id="R90ba9ea66ec64cae" /><Relationship Type="http://schemas.openxmlformats.org/officeDocument/2006/relationships/slide" Target="/ppt/slides/slide6.xml" Id="R438ca43c130c42e4" /><Relationship Type="http://schemas.openxmlformats.org/officeDocument/2006/relationships/slide" Target="/ppt/slides/slide7.xml" Id="Raf6fd43e875643a6" /><Relationship Type="http://schemas.openxmlformats.org/officeDocument/2006/relationships/slide" Target="/ppt/slides/slide8.xml" Id="Rf4b496f343a342d7" /><Relationship Type="http://schemas.openxmlformats.org/officeDocument/2006/relationships/slide" Target="/ppt/slides/slide9.xml" Id="R6aad64d44f7a4ae6" /><Relationship Type="http://schemas.openxmlformats.org/officeDocument/2006/relationships/slide" Target="/ppt/slides/slide10.xml" Id="R9c7d614934e74f00" /><Relationship Type="http://schemas.openxmlformats.org/officeDocument/2006/relationships/slide" Target="/ppt/slides/slide11.xml" Id="R51f41ccc19ca4d39" /><Relationship Type="http://schemas.openxmlformats.org/officeDocument/2006/relationships/slide" Target="/ppt/slides/slide12.xml" Id="R03a71aa613a94c50" /><Relationship Type="http://schemas.openxmlformats.org/officeDocument/2006/relationships/slide" Target="/ppt/slides/slide13.xml" Id="R259d804b8d064b54" /><Relationship Type="http://schemas.openxmlformats.org/officeDocument/2006/relationships/slide" Target="/ppt/slides/slide14.xml" Id="R3fcdfc0ab46f4c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2cc463f5934bb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047032d08ec4c07" /><Relationship Type="http://schemas.openxmlformats.org/officeDocument/2006/relationships/notesMaster" Target="/ppt/notesMasters/notesMaster1.xml" Id="R2a5bba694ae74f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d6fa37ea49f4a95" /><Relationship Type="http://schemas.openxmlformats.org/officeDocument/2006/relationships/notesMaster" Target="/ppt/notesMasters/notesMaster1.xml" Id="Rb2906c09b77f44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390f0d406744b38" /><Relationship Type="http://schemas.openxmlformats.org/officeDocument/2006/relationships/notesMaster" Target="/ppt/notesMasters/notesMaster1.xml" Id="Rcffa53ddf0794ef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d6432145afe4914" /><Relationship Type="http://schemas.openxmlformats.org/officeDocument/2006/relationships/notesMaster" Target="/ppt/notesMasters/notesMaster1.xml" Id="R69f8fe6fb837419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cec98deee4d4df8" /><Relationship Type="http://schemas.openxmlformats.org/officeDocument/2006/relationships/notesMaster" Target="/ppt/notesMasters/notesMaster1.xml" Id="Rf9c4b6b0246242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97c53577974ac3" /><Relationship Type="http://schemas.openxmlformats.org/officeDocument/2006/relationships/notesMaster" Target="/ppt/notesMasters/notesMaster1.xml" Id="R6c727818e79b486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ddf9ab0cc9f4702" /><Relationship Type="http://schemas.openxmlformats.org/officeDocument/2006/relationships/notesMaster" Target="/ppt/notesMasters/notesMaster1.xml" Id="R359511f9607b49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b7f282851434388" /><Relationship Type="http://schemas.openxmlformats.org/officeDocument/2006/relationships/notesMaster" Target="/ppt/notesMasters/notesMaster1.xml" Id="R6a679b015bf74c0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9c115e703994f13" /><Relationship Type="http://schemas.openxmlformats.org/officeDocument/2006/relationships/notesMaster" Target="/ppt/notesMasters/notesMaster1.xml" Id="Rd562c3b1e298429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8ba77b3aef848ac" /><Relationship Type="http://schemas.openxmlformats.org/officeDocument/2006/relationships/notesMaster" Target="/ppt/notesMasters/notesMaster1.xml" Id="R251d5fe77cbc4af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fd56d2b67c642be" /><Relationship Type="http://schemas.openxmlformats.org/officeDocument/2006/relationships/notesMaster" Target="/ppt/notesMasters/notesMaster1.xml" Id="Rd45bdaa292434fe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8da02dffd4343cc" /><Relationship Type="http://schemas.openxmlformats.org/officeDocument/2006/relationships/notesMaster" Target="/ppt/notesMasters/notesMaster1.xml" Id="Rcc1f03894e5e4b7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48240d568a14138" /><Relationship Type="http://schemas.openxmlformats.org/officeDocument/2006/relationships/notesMaster" Target="/ppt/notesMasters/notesMaster1.xml" Id="Rac2b836d8dd34f1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c95406fcfd848b6" /><Relationship Type="http://schemas.openxmlformats.org/officeDocument/2006/relationships/notesMaster" Target="/ppt/notesMasters/notesMaster1.xml" Id="Re962865d4eb8462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开场直接回答产品是什么：Blocky Studio 是 Scratch 式 Agent 搭建与学习软件，让学生从“使用 AI”进入“设计、搭建并负责运行 Agent”。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https://js.news.cn/20260814/e55cedf9698f4f56a99a8a96d8473a54/c.html (2026 息壤杯惠民产品创新与 AI+教育方向)</a:t>
            </a:r>
          </a:p>
          <a:p xmlns:a="http://schemas.openxmlformats.org/drawingml/2006/main">
            <a:r>
              <a:t>- D:\1Folder\Blocky-AI\doc\产品设计\Blocky-完整积木与Agent兼容设计.md (Scratch 式 Agent 产品定位)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Scratch 已经证明，可视积木适合把抽象编程结构转成青少年可操作的学习对象；Blocky 把这条路径延伸到 Agent 的角色、知识、工具、记忆、权限和运行轨迹。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https://scratch.mit.edu/help/about (Scratch 面向 8–16 岁，并强调创造性思考、系统化推理与协作)</a:t>
            </a:r>
          </a:p>
          <a:p xmlns:a="http://schemas.openxmlformats.org/drawingml/2006/main">
            <a:r>
              <a:t>- https://doi.org/10.1016/j.compedu.2019.103607 (K-9 学生通过 Scratch 学习计算思维的实证综述)</a:t>
            </a:r>
          </a:p>
          <a:p xmlns:a="http://schemas.openxmlformats.org/drawingml/2006/main">
            <a:r>
              <a:t>- D:\1Folder\Blocky-AI\doc\产品设计\Blocky-完整积木与Agent兼容设计.md (Scratch 式 Agent 搭建与语义设计)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student Agent-building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全国教育体系提供广泛入口，但商业计划不把所有学校都当作首批市场。Blocky 先服务 12 岁以上学生、职教/高校入门课程与教师创作者，再连接个人高频搭建者和学校/教育机构。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D:\1Folder\Blocky-AI\doc\产品设计\Blocky-初版产品方案.md (教育用户、个人与机构服务)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产品形态坚持 Scratch 式嵌套画布，而不是通用节点连线工作流。入门七类与专业十二类共享项目格式、IR、运行内核、轨迹与权限模型。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(桌面 Agent 搭建布局)</a:t>
            </a:r>
          </a:p>
          <a:p xmlns:a="http://schemas.openxmlformats.org/drawingml/2006/main">
            <a:r>
              <a:t>- D:\1Folder\Blocky-AI\doc\产品设计\Blocky-完整积木与Agent兼容设计.md (入门七类、专业十二类与统一语义)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课堂任务围绕“搭建—运行—解释—复盘”展开，产物不是一个问答页面，而是包含角色、资料、检索、回答规则和权限的课堂知识 Agent。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(资料问答 Agent 课堂闭环)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classroom Agent collaboration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五步展示把 Agent 搭建证据连续呈现：选择蓝图、修改角色/知识/工具、运行、查看轨迹、保存重开。引用、拒答和项目复现与运行证据同屏。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搭建展示旅程)</a:t>
            </a:r>
          </a:p>
          <a:p xmlns:a="http://schemas.openxmlformats.org/drawingml/2006/main">
            <a:r>
              <a:t>- D:\1Folder\Blocky-AI\doc\技术设计\Windows-Core技术尖峰报告.md (确定性运行、保存重开与事件证据)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Blocky 的差异化不是堆功能：学生操作 Scratch 式 Agent 积木，系统生成稳定 Project IR，经受控 Runtime 执行，再由 RuntimeEvent/Trace 为教师提供逐步复核，并通过版本化适配器连接六类 Agent 生态。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(可观察 Agent 语言与产品壁垒)</a:t>
            </a:r>
          </a:p>
          <a:p xmlns:a="http://schemas.openxmlformats.org/drawingml/2006/main">
            <a:r>
              <a:t>- D:\1Folder\Blocky-AI\doc\产品设计\CLI与官方Agent-Skill.md (四个官方 Skills 与共享语义)</a:t>
            </a:r>
          </a:p>
          <a:p xmlns:a="http://schemas.openxmlformats.org/drawingml/2006/main">
            <a:r>
              <a:t>- D:\1Folder\Blocky-AI\doc\技术设计\ADR-002-原生Agent兼容运行时.md (版本化适配器与可逆投影)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六个方向分别承载轻量编码、专业编程、个人助理、团队协作、工程开发和组合研究等 Agent 架构。这里表达的是兼容版图与教学入口，不把设计方向写成已经完成的“原生完整兼容”。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D:\1Folder\Blocky-AI\doc\产品设计\Blocky-内置兼容模板.md (Pi、Codex、OpenClaw、Hermes、OpenCode、DeepSeek Harness 六模板设计)</a:t>
            </a:r>
          </a:p>
          <a:p xmlns:a="http://schemas.openxmlformats.org/drawingml/2006/main">
            <a:r>
              <a:t>- D:\1Folder\Blocky-AI\doc\技术设计\ADR-002-原生Agent兼容运行时.md (进程外运行时、版本化适配器与可逆投影)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这一页只陈述已经验收的证据：左侧是 Windows Core 尖峰的编辑、编译、运行、保存和 Host 证据；右侧是正式产品契约、正反夹具与独立文档验收。两者不等于正式产品全部完成。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(Windows Core 实证与长稳数据)</a:t>
            </a:r>
          </a:p>
          <a:p xmlns:a="http://schemas.openxmlformats.org/drawingml/2006/main">
            <a:r>
              <a:t>- D:\1Folder\Blocky-AI\doc\技术设计\正式契约\README.md (正式契约注册表)</a:t>
            </a:r>
          </a:p>
          <a:p xmlns:a="http://schemas.openxmlformats.org/drawingml/2006/main">
            <a:r>
              <a:t>- D:\1Folder\Blocky-AI\doc\验收\归档\2026-08-23\验收-Blocky阶段0契约冻结.md (独立验收结果)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四项成果都能转成课堂指标：完成一个可运行 Agent、解释关键积木和轨迹、提供可定位来源或在缺证据时拒答、保存重开后保持语义一致。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课堂闭环验收旅程)</a:t>
            </a:r>
          </a:p>
          <a:p xmlns:a="http://schemas.openxmlformats.org/drawingml/2006/main">
            <a:r>
              <a:t>- D:\1Folder\Blocky-AI\doc\技术设计\正式契约\03-交互工具运行与可观察性-v1alpha1.md (运行事件、高亮、日志与轨迹同源)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blueprint line-art illustration for Agent learning outcomes,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业模式使用同一项目格式和运行内核：教育基础作为课堂与学习入口；教育拓展服务个人高频搭建者；学校与机构通过席位、课程、支持和私有化服务获得持续价值。页面价格来自已确认产品设计基线，不代表已产生收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(教育基础、教育拓展价格与机构方案)</a:t>
            </a:r>
          </a:p>
          <a:p xmlns:a="http://schemas.openxmlformats.org/drawingml/2006/main">
            <a:r>
              <a:t>- D:\1Folder\Blocky-AI\doc\产品设计\Blocky-完整积木与Agent兼容设计.md (商业约束与统一项目语义)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学校采用路径围绕四个阻力设计：首次使用门槛、课程资料控制、成果验收和教师复用。获客以一节 45 分钟课为单元，持续服务以教师、班级和年度机构授权为单元。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(教育场景与机构服务)</a:t>
            </a:r>
          </a:p>
          <a:p xmlns:a="http://schemas.openxmlformats.org/drawingml/2006/main">
            <a:r>
              <a:t>- D:\1Folder\Blocky-AI\doc\产品设计\Blocky-底部面板终端与日志系统设计.md (运行证据、日志脱敏与终端隔离)</a:t>
            </a:r>
          </a:p>
          <a:p xmlns:a="http://schemas.openxmlformats.org/drawingml/2006/main">
            <a:r>
              <a:t>- D:\1Folder\Blocky-AI\doc\执行计划\2026-08-23-Blocky-竞品驱动完整开发计划.md (课堂 Provider、教师/班级/作业与教育工作区路线)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colored-pencil illustration for Agent safety, permissions and responsibility,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里程碑不按功能数量推进，而按证据推进：初赛交付可运行产品证据，复赛形成教师共创和课堂指标，总决赛形成试点数据、机构意向与首批适配报告。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https://js.news.cn/20260814/e55cedf9698f4f56a99a8a96d8473a54/c.html (2026 息壤杯赛事信息与惠民产品方向)</a:t>
            </a:r>
          </a:p>
          <a:p xmlns:a="http://schemas.openxmlformats.org/drawingml/2006/main">
            <a:r>
              <a:t>- D:\1Folder\Blocky-AI\doc\执行计划\2026-08-23-Blocky-竞品驱动完整开发计划.md (Agent 教育、兼容与商业路线)</a:t>
            </a:r>
          </a:p>
          <a:p xmlns:a="http://schemas.openxmlformats.org/drawingml/2006/main">
            <a:r>
              <a:t>- D:\1Folder\Blocky-AI\doc\产品设计\Blocky-内置兼容模板.md (六模板兼容矩阵)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paper-cut collage illustration for Agent education growth,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收束到产品目的、商业模式、社会价值、已验收进展和生态潜力，并把赛事诉求具体化为试点教师、合作学校、模型算力、教育渠道和孵化资源。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https://js.news.cn/20260814/e55cedf9698f4f56a99a8a96d8473a54/c.html (2026 息壤杯惠民产品创新与孵化方向)</a:t>
            </a:r>
          </a:p>
          <a:p xmlns:a="http://schemas.openxmlformats.org/drawingml/2006/main">
            <a:r>
              <a:t>- D:\1Folder\Blocky-AI\doc\产品设计\Blocky-完整积木与Agent兼容设计.md (Agent 搭建产品定位)</a:t>
            </a:r>
          </a:p>
          <a:p xmlns:a="http://schemas.openxmlformats.org/drawingml/2006/main">
            <a:r>
              <a:t>- D:\1Folder\Blocky-AI\doc\执行计划\2026-08-23-Blocky-竞品驱动完整开发计划.md (CLI、Skills、兼容与多端路线)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student Agent-builder vision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4d489805cb485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1da0a522ea4ae2" /><Relationship Type="http://schemas.openxmlformats.org/officeDocument/2006/relationships/slideLayout" Target="/ppt/slideLayouts/slideLayout1.xml" Id="R486a16080f424a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6a16080f424a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4141048034d69" /><Relationship Type="http://schemas.openxmlformats.org/officeDocument/2006/relationships/image" Target="/ppt/media/image.png" Id="R375a2453438847ea" /><Relationship Type="http://schemas.openxmlformats.org/officeDocument/2006/relationships/notesSlide" Target="/ppt/notesSlides/notesSlide1.xml" Id="R1ad8ca7e8582475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3cbac8e5d14dc4" /><Relationship Type="http://schemas.openxmlformats.org/officeDocument/2006/relationships/image" Target="/ppt/media/image2.png" Id="R42d369636dd5430a" /><Relationship Type="http://schemas.openxmlformats.org/officeDocument/2006/relationships/notesSlide" Target="/ppt/notesSlides/notesSlide2.xml" Id="R168286f98596438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f3c71551fc4d1e" /><Relationship Type="http://schemas.openxmlformats.org/officeDocument/2006/relationships/notesSlide" Target="/ppt/notesSlides/notesSlide3.xml" Id="R575db79c37e446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1d155d91c74131" /><Relationship Type="http://schemas.openxmlformats.org/officeDocument/2006/relationships/image" Target="/ppt/media/image3.png" Id="Rf5f985b51c1e4b3f" /><Relationship Type="http://schemas.openxmlformats.org/officeDocument/2006/relationships/notesSlide" Target="/ppt/notesSlides/notesSlide4.xml" Id="Rcc62e08a0ed047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f795ef3ecb44b9" /><Relationship Type="http://schemas.openxmlformats.org/officeDocument/2006/relationships/image" Target="/ppt/media/image4.png" Id="R8e781325ee6c4546" /><Relationship Type="http://schemas.openxmlformats.org/officeDocument/2006/relationships/notesSlide" Target="/ppt/notesSlides/notesSlide5.xml" Id="Rfde40cfa6e014a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955b4cd2134264" /><Relationship Type="http://schemas.openxmlformats.org/officeDocument/2006/relationships/notesSlide" Target="/ppt/notesSlides/notesSlide6.xml" Id="Rc7df98d39e044d5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7e2d0c7d614e38" /><Relationship Type="http://schemas.openxmlformats.org/officeDocument/2006/relationships/notesSlide" Target="/ppt/notesSlides/notesSlide7.xml" Id="Rd7940308212e4d5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91bc670f1e411d" /><Relationship Type="http://schemas.openxmlformats.org/officeDocument/2006/relationships/notesSlide" Target="/ppt/notesSlides/notesSlide8.xml" Id="R50322528831747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30b098a40049bc" /><Relationship Type="http://schemas.openxmlformats.org/officeDocument/2006/relationships/image" Target="/ppt/media/image5.png" Id="R9db78d3b1c934a2d" /><Relationship Type="http://schemas.openxmlformats.org/officeDocument/2006/relationships/notesSlide" Target="/ppt/notesSlides/notesSlide9.xml" Id="Rd5d53795f6654ea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459ce35a6e48fc" /><Relationship Type="http://schemas.openxmlformats.org/officeDocument/2006/relationships/image" Target="/ppt/media/image6.png" Id="Rebf9dc007b5f4f9e" /><Relationship Type="http://schemas.openxmlformats.org/officeDocument/2006/relationships/notesSlide" Target="/ppt/notesSlides/notesSlide10.xml" Id="R7954f427fb5e486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b372a428f74985" /><Relationship Type="http://schemas.openxmlformats.org/officeDocument/2006/relationships/notesSlide" Target="/ppt/notesSlides/notesSlide11.xml" Id="R87eef1ed13a44d1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01f1ef3a764bfe" /><Relationship Type="http://schemas.openxmlformats.org/officeDocument/2006/relationships/image" Target="/ppt/media/image7.png" Id="R5bdd78e3ac164070" /><Relationship Type="http://schemas.openxmlformats.org/officeDocument/2006/relationships/notesSlide" Target="/ppt/notesSlides/notesSlide12.xml" Id="Rd9ee0b7e5de6426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8ce1a5676d471d" /><Relationship Type="http://schemas.openxmlformats.org/officeDocument/2006/relationships/image" Target="/ppt/media/image8.png" Id="R77a2f87529da41b0" /><Relationship Type="http://schemas.openxmlformats.org/officeDocument/2006/relationships/notesSlide" Target="/ppt/notesSlides/notesSlide13.xml" Id="R009472a0c37348c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b8c53cd81b4e91" /><Relationship Type="http://schemas.openxmlformats.org/officeDocument/2006/relationships/image" Target="/ppt/media/image9.png" Id="R46eb8bcc3be2425d" /><Relationship Type="http://schemas.openxmlformats.org/officeDocument/2006/relationships/notesSlide" Target="/ppt/notesSlides/notesSlide14.xml" Id="Rd921c411195c443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5a2453438847ea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息壤杯｜惠民产品创新｜AI+教育赛道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让学生真正搭建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看得懂、改得动、跑得通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 Agent 搭建与学习软件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2952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8E6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3872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7 类入门 · 4 项成果 · 6 类兼容生态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把“只会提问”升级为能设计角色、知识、工具、权限并解释运行过程。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教育断层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已证明积木式编程启蒙；Agent 教育仍缺同级工具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学生已会“用 AI”，却很难看见角色、知识、工具、记忆与权限如何组成可运行系统。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95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52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19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76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启蒙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09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76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面向 8–16 岁，用可视积木学习创造、系统化推理与协作。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051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718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断层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289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只会对话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聊天界面呈现输入与答案，却不呈现 Agent 结构、工具调用与责任边界。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00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57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324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81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搭建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14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76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 Scratch 式积木组合角色、知识、记忆、工具与权限，并用轨迹解释运行。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把“会问 AI”升级为“会设计、搭建并负责运行 Agent”。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d369636dd5430a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MARKET · 教育入口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先进入可验证课堂，再扩大个人与机构市场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数据口径：2024 全国教育事业统计｜首个产品单元：45 分钟 Agent 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目标使用者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12+ 学生｜Agent 启蒙与创作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职教 / 高校｜工程化入门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教师 / 教研｜课程共创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个人创作者｜高频搭建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采用与付费者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个人订阅｜模型、工具、Skills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学校 / 机构｜席位、班级、作业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课程服务｜支持与私有化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复购单位｜教师、班级、年度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Agent 搭建形态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一套 Scratch 式 Agent 语言，连接课堂入门与专业工程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左：Agent 积木库｜中：模块画布 / 浏览器｜右：构建助手 / 运行 Agent｜下：诊断 / 日志 / 终端 / 输出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f985b51c1e4b3f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Windows Core · 100 积木运行实证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 → 专业十二类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IR、运行内核、轨迹与权限模型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45 分钟课堂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一节 45 分钟课，完成从搭建到证据复盘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学生组合角色、资料检索、回答规则与权限，再用运行轨迹解释系统如何工作。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765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给任务 · 5′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锁定课程资料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明确问题与边界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搭 Agent · 20′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修改角色与检索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运行核验 · 10′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回答带引用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状态与轨迹可见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讲解复盘 · 10′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指出关键积木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解释回答与拒答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学习成果：搭得出 · 说得清 · 引得准 · 复现得了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781325ee6c4546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三分钟闭环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分钟验证 5 件事：选择、修改、运行、追踪、保存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用确定性本地运行把“选蓝图—改积木—跑 Agent—看轨迹—存项目”连续呈现。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课堂知识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修改积木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· 知识 · 工具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查看轨迹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步骤 · 状态 · 输出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069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语义保持一致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本地运行有证据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Provider / RuntimeEvent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本地运行可读回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引用与拒答可见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Citation / Guard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引用与拒答可复核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项目可保存复现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Workspace / Stable ID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保存重开语义一致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闭环证据：五步连续呈现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DIFFERENTIATION · 核心壁垒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差异不是多一个 AI 功能，而是把 Agent 变成可学习的工程对象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对话产品只给结果，代码框架依赖配置；Blocky 让结构、运行、权限与证据进入同一可视课堂。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式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积木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7→12 类投影</a:t>
            </a:r>
          </a:p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学生可读可改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Project 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稳定 ID / SourceMap</a:t>
            </a:r>
          </a:p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系统校验语义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Host 窄接口</a:t>
            </a:r>
          </a:p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权限与预算有界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RuntimeEvent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&amp;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 / 输出 / 高亮</a:t>
            </a:r>
          </a:p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教师逐步复核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可逆兼容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模板 / 原生往返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不锁定上游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Scratch 易上手 × Agent 可解释 × 工程可扩展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同一语义贯通桌面 / CLI / 4 Skills / 6 模板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$build-blocky-agents · $create-blocky-blocks · $convert-github-project-to-blocky · $reverse-agent-to-blocky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ECOSYSTEM · 兼容版图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六类 Agent 生态，沉淀为可教学、可改造的积木结构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Pi、Codex、OpenClaw、Hermes、OpenCode、DeepSeek Harness 对应六类真实 Agent 架构。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统一 Agent 语义 + 进程外原生运行时 + 版本化适配器 + 可逆积木投影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问答型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流程编排工具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代码型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积木搭建 / 深度扩展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教学价值：从六类真实架构学习角色、工具、权限、协作、会话与扩展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轻量编码 Agent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工具调用｜read / write / edit / bash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专业编程 Agent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1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工程规则｜AGENTS.md / Skills / MCP / 沙箱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个人助理 Agent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OpenClaw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会话记忆｜Gateway / 会话 / 记忆 / 渠道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团队协作 Agent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Hermes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团队协作｜消息 / 任务 / 扩展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工程开发 Agent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主子协作｜工具权限 / 插件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组合研究 Agent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组合研究｜Profile / Bundle / Cordis / 审批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PROGRESS · 已验收进展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执行能力用实证说话：运行尖峰与正式契约两轮验收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运行实证覆盖编辑—编译—运行—保存；契约验收覆盖项目—交互—诊断—权限。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Windows Core 运行实证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8 项 Windows Core 门禁全部通过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+ 稳定 Agent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+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 Runtime + 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积木项目保存、关闭、重开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 03 秒长稳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30 次真实 Rust Host 保存 / 重载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覆盖：编辑 · 编译 · 运行 · 保存 · Host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已验收 · 正式产品契约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正式契约：独立验收通过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21 个必需 Schema 逐项复核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9 份契约 / 交接文档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 个正反 JSON 夹具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63 条相对链接全部核对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高亮 / 日志 / 轨迹同源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补丁拒绝、终端隔离、日志脱敏负例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覆盖：项目 · 交互 · 运行 · 构建 · 安全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b78d3b1c934a2d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19700"/>
            <a:ext cx="4648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86375"/>
            <a:ext cx="445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21 Schema + 10 夹具 + 63 链接：产品边界已通过独立核验。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21" name="Unified left evidence conclusion">
            <a:extLst xmlns:a="http://schemas.openxmlformats.org/drawingml/2006/main">
              <a:ext uri="{FF2B5EF4-FFF2-40B4-BE49-F238E27FC236}">
                <a16:creationId xmlns:a16="http://schemas.microsoft.com/office/drawing/2014/main" id="{EFACA68A-A9A1-4F5A-99A6-DD469370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6482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360 次循环 + 30 次 Host 重载：核心链路已有可复现实证。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OUTCOME · 可验收学习成果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课堂价值可量化：搭建、解释、引用、复现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四项结果对应四个可观察证据，教师无需只凭“答案像不像”判断学习效果。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产物｜可运行 Agent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证据｜Workspace + RuntimeEvent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指标｜完成率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行为｜指认关键积木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证据｜高亮 + Trace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指标｜解释率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行为｜回答含可定位来源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证据｜引用 / 拒答记录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指标｜引用可定位率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行为｜保存重开语义一致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证据｜Project reload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指标｜保存复现率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指标口径｜完成率 · 解释率 · 引用可定位率 · 保存复现率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f9dc007b5f4f9e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9F801-11D2-4770-9D73-CC453882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收入路径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EEE3C-F2DB-419D-8E4A-C0492B7C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免费课堂入口，个人订阅与机构授权形成收入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85F63-6E1A-4874-B484-F14079A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55DC-BEB6-4BE8-9F0C-89EEC418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2DAFB-92E8-4CB8-A483-FAEE19A8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教育基础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75B8-3BFF-4492-8F51-45AD869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课堂入口｜学生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8D270-B003-44BF-BFD5-A5C035F2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能力｜基础搭建、运行、保存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用户｜学生 / 课堂体验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价格｜离线可用 / 无需登录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作用｜学习与获客入口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C6560-7379-4A0D-9771-514028A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9050">
            <a:solidFill>
              <a:srgbClr val="176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5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9BD13-F0A6-4588-A04F-EFD3FB3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2392B-87FB-4350-BDE4-FDF3924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教育拓展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061D-88A6-46E7-90EB-F6D30A2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核心订阅｜个人高频搭建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C134-48BA-48A7-8F54-C4127DC4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能力｜高级模型、工具、Skills、资源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用户｜个人高频搭建者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价格｜¥128/月 · 连续包月 ¥98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年付｜¥980/年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67FA5-AD1C-45CC-9AA3-7D6ED06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970C2-1B42-4711-A3FD-1EAF4B6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A7E4-9817-4475-9421-F8AB56E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学校 / 机构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FD50C-AF56-4D8F-9D4D-8DD1578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机构服务｜教师 / 学校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2D53-5E47-4036-9F9E-1A9818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能力｜席位、班级、作业、课程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用户｜教师 / 教研 / 学校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收入｜机构授权 + 持续服务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扩展｜支持与私有化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BF9D9-166F-487F-AF75-7142C97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同一项目格式与运行内核；收入来自扩展能力、课程与持续服务，不靠锁住用户作品。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82CBC-DA42-4D42-A9D8-24F2DCA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51773-040F-4A56-B7E6-CA9911E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71BBA-887D-4B81-B454-F5A217BE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9441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GO-TO-MARKET · 学校采用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用低门槛、可控、可验收、可复用，跨过学校采用门槛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低门槛开始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路径｜本地 / 无密钥优先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首课｜45 分钟完成搭建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验证｜首次作品可保存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教师可控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控制｜锁定资料与蓝图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边界｜权限与回答规则可预设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验证｜教师可读回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成果可验收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结果｜搭建 / 解释 / 引用 / 复现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证据｜作品 + 轨迹 + 引用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验证｜四项指标可记录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能力可复用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复用｜课程 + 蓝图 + 作业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单位｜教师 / 班级 / 年度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目标｜降低重复开课成本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获客单元：一节 45 分钟课；复购单元：教师、班级与年度机构服务。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dd78e3ac164070"/>
          <a:stretch xmlns:a="http://schemas.openxmlformats.org/drawingml/2006/main"/>
        </p:blipFill>
        <p:spPr>
          <a:xfrm xmlns:a="http://schemas.openxmlformats.org/drawingml/2006/main">
            <a:off x="9581059" y="209550"/>
            <a:ext cx="1430931" cy="1562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C6F84-8BFD-4DC2-AE43-C07A642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MILESTONES · 商业证据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6672A-6BAD-4BD0-9897-1F45650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每一赛程都交付一个可验证的产品与商业证据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4BDB8-14F8-4C09-98A8-8831E86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从运行闭环，到教师共创，再到机构合作与生态适配。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3A09C-E327-4DD7-9622-61EE7B4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C3AD-B7D8-4F86-A8E8-F4F73F6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AA13D-BC4C-4E24-90E4-C82C2AAF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C63-41D7-4B89-9ECD-10A8AAA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初赛 · 8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60893-812F-4515-BB0D-E599F2A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产品证据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199-42F3-42FC-A624-654CED7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交付｜3 分钟搭建闭环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材料｜演示视频 + 商业计划书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证据｜运行 / 解释 / 保存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FA2BC-D976-4B4E-B812-9B8C6739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C778-6581-4982-A19C-B62ECA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门槛：可运行、可解释、可保存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3CF2E-91AD-4331-8107-0E3D29EC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9050">
            <a:solidFill>
              <a:srgbClr val="176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5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A11B-38D4-4760-9FCB-3F3666B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FEE58-EFE6-4853-BBD5-9568C92B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复赛 · 9 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C933-92A5-4FED-BA8A-E56C00B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课堂证据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D2712-61AC-442C-9AB7-6DF2BB97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共创｜3–5 位试点教师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课堂｜45 分钟 + 四项指标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证据｜作品 / 轨迹 / 引用 / 复现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CF10E-DA5A-4AAE-AB25-14CB6D43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2FDBE-4F77-4C2D-878F-0227255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门槛：完成率、解释率、引用可定位率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D5919-A3E1-4D75-832F-367C9E4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0024B-6E1D-4848-BB01-690453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1B707-C157-4B57-A5C8-18EAEFCD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总决赛 · 11 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8F3A8-4035-4816-9988-13064A53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商业证据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BF23B-D68D-4F20-BE5E-AAF52D6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验证｜试点数据 + 机构意向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生态｜Pi / Codex 适配报告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证据｜教师复用 + 兼容边界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05B61-C16B-45CB-AFAD-BB6C34D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DD4C9-0FA5-4AFF-B6B9-BCBE6CF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门槛：教师复用、机构合作、兼容边界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BF995-549B-4E58-8D25-0A2AA8E6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增长飞轮：课堂试点 → 教师复用 → 机构授权 → 六模板 / 四 Skills 生态扩张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8EE038-19C7-497F-94F8-E75E33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82FD1-A237-43FF-AF48-F064C6AB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D0CB-5032-4335-BCEC-D4607116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a2f87529da41b0"/>
          <a:stretch xmlns:a="http://schemas.openxmlformats.org/drawingml/2006/main"/>
        </p:blipFill>
        <p:spPr>
          <a:xfrm xmlns:a="http://schemas.openxmlformats.org/drawingml/2006/main">
            <a:off x="9906000" y="209550"/>
            <a:ext cx="1028700" cy="15430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4564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VISION &amp; ASK · 赛事诉求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让每个学生都成为 Agent 搭建者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5784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把系统设计、运行解释与责任边界，变成每个学生都能掌握的 Agent 素养。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6862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式积木 → 稳定 IR → RuntimeEvent / Trace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教育基础 → 个人订阅 → 学校 / 机构授权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0691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从会用 AI 到会设计、搭建并负责运行 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实证基础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360 次循环 · 30 分长稳 · 100 积木 · 30 次 Host 重载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生态潜力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6 类兼容模板 · Agent CLI · 4 Skills · 社区与多端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希望赛事连接：3–5 位试点教师、合作学校、模型与算力、教育渠道与孵化资源。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2026 息壤杯 · Agent 搭建教育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eb8bcc3be2425d"/>
          <a:stretch xmlns:a="http://schemas.openxmlformats.org/drawingml/2006/main"/>
        </p:blipFill>
        <p:spPr>
          <a:xfrm xmlns:a="http://schemas.openxmlformats.org/drawingml/2006/main">
            <a:off x="9219887" y="428625"/>
            <a:ext cx="1753225" cy="2190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2026-08-24T18:23:43.6490000Z</dcterms:created>
  <dcterms:modified xsi:type="dcterms:W3CDTF">2026-08-24T18:23:43.6490000Z</dcterms:modified>
</coreProperties>
</file>
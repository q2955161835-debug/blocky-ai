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b3978e2384d14d3a" /><Relationship Type="http://schemas.openxmlformats.org/officeDocument/2006/relationships/extended-properties" Target="/docProps/app.xml" Id="Rb91045caae194bdc" /><Relationship Type="http://schemas.openxmlformats.org/officeDocument/2006/relationships/officeDocument" Target="/ppt/presentation.xml" Id="R86efe248824746f6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6437fb45b29b4c2f"/>
  </p:sldMasterIdLst>
  <p:notesMasterIdLst>
    <p:notesMasterId xmlns:r="http://schemas.openxmlformats.org/officeDocument/2006/relationships" r:id="R483f44de5f85490f"/>
  </p:notesMasterIdLst>
  <p:sldIdLst>
    <p:sldId xmlns:r="http://schemas.openxmlformats.org/officeDocument/2006/relationships" id="256" r:id="Reb5049db30b84970"/>
    <p:sldId xmlns:r="http://schemas.openxmlformats.org/officeDocument/2006/relationships" id="257" r:id="R4c03c4b7da0f405b"/>
    <p:sldId xmlns:r="http://schemas.openxmlformats.org/officeDocument/2006/relationships" id="258" r:id="R1fbf9006927d416e"/>
    <p:sldId xmlns:r="http://schemas.openxmlformats.org/officeDocument/2006/relationships" id="259" r:id="R3feb3e81ec5a4e10"/>
    <p:sldId xmlns:r="http://schemas.openxmlformats.org/officeDocument/2006/relationships" id="260" r:id="R78ca2104513e4b46"/>
    <p:sldId xmlns:r="http://schemas.openxmlformats.org/officeDocument/2006/relationships" id="261" r:id="Re82676541a8e4b4f"/>
    <p:sldId xmlns:r="http://schemas.openxmlformats.org/officeDocument/2006/relationships" id="262" r:id="Re6f2c4c85edd4433"/>
    <p:sldId xmlns:r="http://schemas.openxmlformats.org/officeDocument/2006/relationships" id="263" r:id="Ra1d190eaa2a34ff9"/>
    <p:sldId xmlns:r="http://schemas.openxmlformats.org/officeDocument/2006/relationships" id="264" r:id="R3bdd4111b1274dcd"/>
    <p:sldId xmlns:r="http://schemas.openxmlformats.org/officeDocument/2006/relationships" id="265" r:id="Rd23d0346898d4533"/>
    <p:sldId xmlns:r="http://schemas.openxmlformats.org/officeDocument/2006/relationships" id="266" r:id="Rd6f22a8629834e2c"/>
    <p:sldId xmlns:r="http://schemas.openxmlformats.org/officeDocument/2006/relationships" id="267" r:id="Rb102c369bb9347d0"/>
    <p:sldId xmlns:r="http://schemas.openxmlformats.org/officeDocument/2006/relationships" id="268" r:id="Rb2a05b67e00d4d5f"/>
    <p:sldId xmlns:r="http://schemas.openxmlformats.org/officeDocument/2006/relationships" id="269" r:id="R565e16d4e46a4671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df0077c3741e4f8c" /><Relationship Type="http://schemas.openxmlformats.org/officeDocument/2006/relationships/slideMaster" Target="/ppt/slideMasters/slideMaster1.xml" Id="R6437fb45b29b4c2f" /><Relationship Type="http://schemas.openxmlformats.org/officeDocument/2006/relationships/notesMaster" Target="/ppt/notesMasters/notesMaster1.xml" Id="R483f44de5f85490f" /><Relationship Type="http://schemas.openxmlformats.org/officeDocument/2006/relationships/presProps" Target="/ppt/presProps.xml" Id="Ref3fff1179014d20" /><Relationship Type="http://schemas.openxmlformats.org/officeDocument/2006/relationships/tableStyles" Target="/ppt/tableStyles.xml" Id="Re74e6a1a28634d8c" /><Relationship Type="http://schemas.openxmlformats.org/officeDocument/2006/relationships/slide" Target="/ppt/slides/slide1.xml" Id="Reb5049db30b84970" /><Relationship Type="http://schemas.openxmlformats.org/officeDocument/2006/relationships/slide" Target="/ppt/slides/slide2.xml" Id="R4c03c4b7da0f405b" /><Relationship Type="http://schemas.openxmlformats.org/officeDocument/2006/relationships/slide" Target="/ppt/slides/slide3.xml" Id="R1fbf9006927d416e" /><Relationship Type="http://schemas.openxmlformats.org/officeDocument/2006/relationships/slide" Target="/ppt/slides/slide4.xml" Id="R3feb3e81ec5a4e10" /><Relationship Type="http://schemas.openxmlformats.org/officeDocument/2006/relationships/slide" Target="/ppt/slides/slide5.xml" Id="R78ca2104513e4b46" /><Relationship Type="http://schemas.openxmlformats.org/officeDocument/2006/relationships/slide" Target="/ppt/slides/slide6.xml" Id="Re82676541a8e4b4f" /><Relationship Type="http://schemas.openxmlformats.org/officeDocument/2006/relationships/slide" Target="/ppt/slides/slide7.xml" Id="Re6f2c4c85edd4433" /><Relationship Type="http://schemas.openxmlformats.org/officeDocument/2006/relationships/slide" Target="/ppt/slides/slide8.xml" Id="Ra1d190eaa2a34ff9" /><Relationship Type="http://schemas.openxmlformats.org/officeDocument/2006/relationships/slide" Target="/ppt/slides/slide9.xml" Id="R3bdd4111b1274dcd" /><Relationship Type="http://schemas.openxmlformats.org/officeDocument/2006/relationships/slide" Target="/ppt/slides/slide10.xml" Id="Rd23d0346898d4533" /><Relationship Type="http://schemas.openxmlformats.org/officeDocument/2006/relationships/slide" Target="/ppt/slides/slide11.xml" Id="Rd6f22a8629834e2c" /><Relationship Type="http://schemas.openxmlformats.org/officeDocument/2006/relationships/slide" Target="/ppt/slides/slide12.xml" Id="Rb102c369bb9347d0" /><Relationship Type="http://schemas.openxmlformats.org/officeDocument/2006/relationships/slide" Target="/ppt/slides/slide13.xml" Id="Rb2a05b67e00d4d5f" /><Relationship Type="http://schemas.openxmlformats.org/officeDocument/2006/relationships/slide" Target="/ppt/slides/slide14.xml" Id="R565e16d4e46a4671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05171fce5aa54ccb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22afe0e631f444c6" /><Relationship Type="http://schemas.openxmlformats.org/officeDocument/2006/relationships/notesMaster" Target="/ppt/notesMasters/notesMaster1.xml" Id="R239d885bb96e4d5e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ecb3037a59bb4555" /><Relationship Type="http://schemas.openxmlformats.org/officeDocument/2006/relationships/notesMaster" Target="/ppt/notesMasters/notesMaster1.xml" Id="R9bb77848e7c34f19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6b823ff093544fe5" /><Relationship Type="http://schemas.openxmlformats.org/officeDocument/2006/relationships/notesMaster" Target="/ppt/notesMasters/notesMaster1.xml" Id="R8e179c8a64314c5f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272b10d6a8e644b0" /><Relationship Type="http://schemas.openxmlformats.org/officeDocument/2006/relationships/notesMaster" Target="/ppt/notesMasters/notesMaster1.xml" Id="R17b8fbe140864a43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f8ec139651324206" /><Relationship Type="http://schemas.openxmlformats.org/officeDocument/2006/relationships/notesMaster" Target="/ppt/notesMasters/notesMaster1.xml" Id="R1e8ea9beffb24536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eb8c7cbb34cb4a1c" /><Relationship Type="http://schemas.openxmlformats.org/officeDocument/2006/relationships/notesMaster" Target="/ppt/notesMasters/notesMaster1.xml" Id="Re68cdcf67949492e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8182f5d5ff594505" /><Relationship Type="http://schemas.openxmlformats.org/officeDocument/2006/relationships/notesMaster" Target="/ppt/notesMasters/notesMaster1.xml" Id="R2f06824b9a714093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156aacf2a41844b2" /><Relationship Type="http://schemas.openxmlformats.org/officeDocument/2006/relationships/notesMaster" Target="/ppt/notesMasters/notesMaster1.xml" Id="R56c83dcb02774966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cc7d99a2426248d9" /><Relationship Type="http://schemas.openxmlformats.org/officeDocument/2006/relationships/notesMaster" Target="/ppt/notesMasters/notesMaster1.xml" Id="R81aba60c76844cdb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5c0a316c1a2f4019" /><Relationship Type="http://schemas.openxmlformats.org/officeDocument/2006/relationships/notesMaster" Target="/ppt/notesMasters/notesMaster1.xml" Id="R20276ec0f01f4daa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3206ad4ccc494160" /><Relationship Type="http://schemas.openxmlformats.org/officeDocument/2006/relationships/notesMaster" Target="/ppt/notesMasters/notesMaster1.xml" Id="R45271facaf934919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3c9f07f356ed4121" /><Relationship Type="http://schemas.openxmlformats.org/officeDocument/2006/relationships/notesMaster" Target="/ppt/notesMasters/notesMaster1.xml" Id="Rba1d83458f9b4162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817e0a9753fc4799" /><Relationship Type="http://schemas.openxmlformats.org/officeDocument/2006/relationships/notesMaster" Target="/ppt/notesMasters/notesMaster1.xml" Id="R179d4691a915490e" /></Relationships>
</file>

<file path=ppt/notesSlides/_rels/notesSlide14.xml.rels>&#65279;<?xml version="1.0" encoding="utf-8"?><Relationships xmlns="http://schemas.openxmlformats.org/package/2006/relationships"><Relationship Type="http://schemas.openxmlformats.org/officeDocument/2006/relationships/slide" Target="/ppt/slides/slide14.xml" Id="R4b8b9c42b75a4c23" /><Relationship Type="http://schemas.openxmlformats.org/officeDocument/2006/relationships/notesMaster" Target="/ppt/notesMasters/notesMaster1.xml" Id="R1a0d27b5adfd46d0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开场聚焦 Agent：Blocky 不是帮助学生多问一个答案，而是把角色、知识、工具、记忆、权限和运行过程交给学生亲手搭建。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https://js.news.cn/20260717/59d330ba6357464babb402e9c1907680/c.html (2026 息壤杯主题、主办方与赛道)</a:t>
            </a:r>
          </a:p>
          <a:p xmlns:a="http://schemas.openxmlformats.org/drawingml/2006/main">
            <a:r>
              <a:t>- D:\1Folder\Blocky-AI\doc\产品设计\Blocky-完整积木与Agent兼容设计.md (Scratch 式积木搭建 Agent 的产品定位)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Scratch 将抽象语法变成可拖动、可拼接、可运行的积木，形成面向青少年的成熟编程启蒙方式。Blocky 沿用这条学习路径，把角色、知识、记忆、工具、权限和运行轨迹变成学生可以搭建、运行与解释的 Agent 积木。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D:\1Folder\Blocky-AI\doc\产品设计\Blocky-完整积木与Agent兼容设计.md (Agent 语义、Scratch 式搭建与目标用户)</a:t>
            </a:r>
          </a:p>
          <a:p xmlns:a="http://schemas.openxmlformats.org/drawingml/2006/main">
            <a:r>
              <a:t>- https://scratch.mit.edu/help/about (Scratch 面向 8–16 岁，并以创造性思考、系统推理与协作为学习目标)</a:t>
            </a:r>
          </a:p>
          <a:p xmlns:a="http://schemas.openxmlformats.org/drawingml/2006/main">
            <a:r>
              <a:t>- https://doi.org/10.1016/j.compedu.2019.103607 (Zhang &amp; Nouri, 2019；综合 55 项实证研究，梳理 K-9 学生通过 Scratch 学习计算思维的证据)</a:t>
            </a:r>
          </a:p>
          <a:p xmlns:a="http://schemas.openxmlformats.org/drawingml/2006/main">
            <a:r>
              <a:t>[/Sources]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- OpenAI image generation, original student Agent-building illustration created for this deck, 2026-08-25.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政策背景指向人工智能素养、实践创造与安全责任；Blocky 把这些抽象目标落到 Agent 搭建任务，让学生能够设计结构、运行系统并解释结果。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https://hudong.moe.gov.cn/jyb_sjzl/sjzl_fztjgb/202506/t20250611_1193760.html (2024 年全国教育事业发展统计公报)</a:t>
            </a:r>
          </a:p>
          <a:p xmlns:a="http://schemas.openxmlformats.org/drawingml/2006/main">
            <a:r>
              <a:t>- https://www.moe.gov.cn/jyb_xxgk/moe_1777/moe_1778/202501/t20250119_1176193.html (教育强国建设规划纲要与教育数字化方向)</a:t>
            </a:r>
          </a:p>
          <a:p xmlns:a="http://schemas.openxmlformats.org/drawingml/2006/main">
            <a:r>
              <a:t>- D:\1Folder\Blocky-AI\doc\产品设计\Blocky-初版产品方案.md (教育用户与 Agent 搭建场景)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这页展示 Agent 搭建工作台：左侧选择 Agent 能力积木，中间组合模块，右侧由构建助手协助搭建并在运行 Agent 中测试，底部用诊断、日志、终端和输出解释执行。入门七类与专业十二类共享同一 Agent 项目。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D:\1Folder\Blocky-AI\doc\产品设计\Blocky-初版产品方案.md (桌面 Agent 搭建与运行布局)</a:t>
            </a:r>
          </a:p>
          <a:p xmlns:a="http://schemas.openxmlformats.org/drawingml/2006/main">
            <a:r>
              <a:t>- D:\1Folder\Blocky-AI\doc\产品设计\Blocky-完整积木与Agent兼容设计.md (入门七类、专业十二类与共享 Agent 项目)</a:t>
            </a:r>
          </a:p>
          <a:p xmlns:a="http://schemas.openxmlformats.org/drawingml/2006/main">
            <a:r>
              <a:t>- D:\1Folder\Blocky-AI\doc\技术设计\Windows-Core视觉验收\13-professional-conversation-trace.png (本地技术尖峰截图)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课堂任务不是制作一个问答页面，而是搭建课堂知识 Agent：学生明确角色、资料、检索、回答规则和权限，再通过引用、轨迹和保存重开证明 Agent 行为。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D:\1Folder\Blocky-AI\doc\执行计划\2026-08-23-Blocky-竞品驱动完整开发计划.md (资料问答 Agent 课堂闭环)</a:t>
            </a:r>
          </a:p>
          <a:p xmlns:a="http://schemas.openxmlformats.org/drawingml/2006/main">
            <a:r>
              <a:t>- https://hudong.moe.gov.cn/jyb_xwfb/gzdt_gzdt/s5987/202412/t20241202_1165500.html (探究实践与学用结合)</a:t>
            </a:r>
          </a:p>
          <a:p xmlns:a="http://schemas.openxmlformats.org/drawingml/2006/main">
            <a:r>
              <a:t>[/Sources]</a:t>
            </a:r>
          </a:p>
          <a:p xmlns:a="http://schemas.openxmlformats.org/drawingml/2006/main">
            <a:r>
              <a:t>
- OpenAI image generation, original classroom Agent collaboration illustration created for this deck, 2026-08-25.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演示视频用五步证明 Agent 搭建闭环：选择课堂知识 Agent 蓝图、配置角色知识工具、运行 Agent、检查轨迹、保存重开；同步展示引用、拒答与行为复现。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D:\1Folder\Blocky-AI\doc\执行计划\2026-08-23-Blocky-竞品驱动完整开发计划.md (Agent 搭建演示旅程)</a:t>
            </a:r>
          </a:p>
          <a:p xmlns:a="http://schemas.openxmlformats.org/drawingml/2006/main">
            <a:r>
              <a:t>- D:\1Folder\Blocky-AI\doc\技术设计\正式契约\07-阶段1-Demo接口交接.md (固定夹具与 Agent 运行事件契约)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Agent 不是一个黑箱标签，而是一条可检查的语义链：学生编辑积木，编译器生成稳定 Agent IR，受控运行时执行工具，Trace 回放每一步，适配器再与原生 Agent 配置双向映射。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D:\1Folder\Blocky-AI\doc\执行计划\2026-08-23-Blocky-竞品驱动完整开发计划.md (Agent 产品墙与四层创作)</a:t>
            </a:r>
          </a:p>
          <a:p xmlns:a="http://schemas.openxmlformats.org/drawingml/2006/main">
            <a:r>
              <a:t>- D:\1Folder\Blocky-AI\doc\产品设计\CLI与官方Agent-Skill.md (四个官方 Skills 与共享 Agent 语义)</a:t>
            </a:r>
          </a:p>
          <a:p xmlns:a="http://schemas.openxmlformats.org/drawingml/2006/main">
            <a:r>
              <a:t>- D:\1Folder\Blocky-AI\doc\技术设计\ADR-002-原生Agent兼容运行时.md (版本化适配器与可逆投影)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六个方向不是六套互不相通的产品，而是六类 Agent 生态进入 Blocky 的兼容版图。公共 Agent 语义投影为可编辑积木，框架特有能力保留定位，配置与行为通过独立兼容矩阵核验。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D:\1Folder\Blocky-AI\doc\产品设计\Blocky-内置兼容模板.md (六个 Agent 模板方向与兼容矩阵)</a:t>
            </a:r>
          </a:p>
          <a:p xmlns:a="http://schemas.openxmlformats.org/drawingml/2006/main">
            <a:r>
              <a:t>- D:\1Folder\Blocky-AI\doc\技术设计\ADR-002-原生Agent兼容运行时.md (进程外运行时、版本化适配器与可逆投影)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左侧是 Agent Core 的可复现实测：积木编辑、Agent IR、交互清单、工具契约、确定性运行与保存重开；右侧是通过验收的正式 Agent 项目契约。证据支持的是 Agent 产品地基。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D:\1Folder\Blocky-AI\doc\技术设计\Windows-Core技术尖峰报告.md (Agent Core 尖峰验证范围与长稳证据)</a:t>
            </a:r>
          </a:p>
          <a:p xmlns:a="http://schemas.openxmlformats.org/drawingml/2006/main">
            <a:r>
              <a:t>- D:\1Folder\Blocky-AI\doc\技术设计\正式契约\README.md (Agent 项目正式契约注册表)</a:t>
            </a:r>
          </a:p>
          <a:p xmlns:a="http://schemas.openxmlformats.org/drawingml/2006/main">
            <a:r>
              <a:t>- D:\1Folder\Blocky-AI\doc\验收\归档\2026-08-23\验收-Blocky阶段0契约冻结.md (正式契约验收)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四项成果都围绕 Agent 搭建：学生能搭出可运行 Agent，能指出结构与轨迹，能核对引用和拒答，能保存重开并复现行为。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D:\1Folder\Blocky-AI\doc\执行计划\2026-08-23-Blocky-竞品驱动完整开发计划.md (Agent 课堂闭环验收旅程)</a:t>
            </a:r>
          </a:p>
          <a:p xmlns:a="http://schemas.openxmlformats.org/drawingml/2006/main">
            <a:r>
              <a:t>- D:\1Folder\Blocky-AI\doc\技术设计\正式契约\07-阶段1-Demo接口交接.md (固定 Agent 夹具与运行事件契约)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商业入口是免费 Agent 搭建底座；个人扩展为高频搭建者提供模型、工具、Skills 与资源，学校和机构购买教师管理、Agent 课程、支持与私有化服务。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D:\1Folder\Blocky-AI\doc\产品设计\Blocky-初版产品方案.md (教育基础版、个人扩展与机构服务设计)</a:t>
            </a:r>
          </a:p>
          <a:p xmlns:a="http://schemas.openxmlformats.org/drawingml/2006/main">
            <a:r>
              <a:t>- D:\1Folder\Blocky-AI\doc\执行计划\2026-08-23-Blocky-竞品驱动完整开发计划.md (Agent 教育工作区与机构服务路线)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Agent 教育把安全变成可学习的系统能力：资料边界、工具权限、密钥隔离、运行轨迹和日志脱敏都在搭建与运行过程中直接呈现。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https://www.moe.gov.cn/jyb_xxgk/moe_1777/moe_1778/202501/t20250119_1176193.html (数字素养、安全与伦理方向)</a:t>
            </a:r>
          </a:p>
          <a:p xmlns:a="http://schemas.openxmlformats.org/drawingml/2006/main">
            <a:r>
              <a:t>- D:\1Folder\Blocky-AI\AGENTS.md (Agent 秘密、权限与 Host 安全边界)</a:t>
            </a:r>
          </a:p>
          <a:p xmlns:a="http://schemas.openxmlformats.org/drawingml/2006/main">
            <a:r>
              <a:t>- D:\1Folder\Blocky-AI\doc\产品设计\Blocky-底部面板终端与日志系统设计.md (Agent 日志脱敏、终端隔离与审计边界)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赛事路线围绕 Agent 搭建逐步放大：初赛证明 Agent 闭环，复赛验证教师与课堂数据，总决赛验证 Agent 兼容边界、教育扩展和机构合作。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https://js.news.cn/20260717/59d330ba6357464babb402e9c1907680/c.html (2026 息壤杯赛程与项目迭代方式)</a:t>
            </a:r>
          </a:p>
          <a:p xmlns:a="http://schemas.openxmlformats.org/drawingml/2006/main">
            <a:r>
              <a:t>- D:\1Folder\Blocky-AI\doc\执行计划\2026-08-23-Blocky-竞品驱动完整开发计划.md (Agent 教育、兼容与商业路线)</a:t>
            </a:r>
          </a:p>
          <a:p xmlns:a="http://schemas.openxmlformats.org/drawingml/2006/main">
            <a:r>
              <a:t>- D:\1Folder\Blocky-AI\doc\产品设计\Blocky-内置兼容模板.md (六模板 Agent 兼容矩阵)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收束到一个核心：Blocky 让学生成为 Agent 搭建者。创新来自透明 Agent 语义链；商业来自 Agent 教育底座与持续服务；社会价值来自可解释、负责任的 Agent 设计；应用成效用搭建、解释、引用、复现核验；孵化空间连接六模板、CLI、Skills、社区与多端。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https://js.news.cn/20260717/59d330ba6357464babb402e9c1907680/c.html (赛事评估维度与孵化资源)</a:t>
            </a:r>
          </a:p>
          <a:p xmlns:a="http://schemas.openxmlformats.org/drawingml/2006/main">
            <a:r>
              <a:t>- D:\1Folder\Blocky-AI\doc\产品设计\Blocky-完整积木与Agent兼容设计.md (Agent 搭建产品定位)</a:t>
            </a:r>
          </a:p>
          <a:p xmlns:a="http://schemas.openxmlformats.org/drawingml/2006/main">
            <a:r>
              <a:t>- D:\1Folder\Blocky-AI\doc\执行计划\2026-08-23-Blocky-竞品驱动完整开发计划.md (Agent CLI、Skills、兼容与多端路线)</a:t>
            </a:r>
          </a:p>
          <a:p xmlns:a="http://schemas.openxmlformats.org/drawingml/2006/main">
            <a:r>
              <a:t>[/Sources]</a:t>
            </a:r>
          </a:p>
          <a:p xmlns:a="http://schemas.openxmlformats.org/drawingml/2006/main">
            <a:r>
              <a:t>
- OpenAI image generation, original student Agent-builder vision illustration created for this deck, 2026-08-25.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7a6e1ff5bd0f43c3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50ba011ac4bb4beb" /><Relationship Type="http://schemas.openxmlformats.org/officeDocument/2006/relationships/slideLayout" Target="/ppt/slideLayouts/slideLayout1.xml" Id="R2b3c3ff7ae954fc8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2b3c3ff7ae954fc8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edf112323734554" /><Relationship Type="http://schemas.openxmlformats.org/officeDocument/2006/relationships/image" Target="/ppt/media/image.png" Id="Ra4cd1ac3b72f46bd" /><Relationship Type="http://schemas.openxmlformats.org/officeDocument/2006/relationships/notesSlide" Target="/ppt/notesSlides/notesSlide1.xml" Id="R6f7a218a23474cc5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809376586d54ade" /><Relationship Type="http://schemas.openxmlformats.org/officeDocument/2006/relationships/image" Target="/ppt/media/image2.png" Id="R29b12bb5d6a640bd" /><Relationship Type="http://schemas.openxmlformats.org/officeDocument/2006/relationships/notesSlide" Target="/ppt/notesSlides/notesSlide2.xml" Id="R195afb85e477435c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3cba80fc8354ca9" /><Relationship Type="http://schemas.openxmlformats.org/officeDocument/2006/relationships/notesSlide" Target="/ppt/notesSlides/notesSlide3.xml" Id="Rb4bd5a0ccdcd41b6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74c20756f264976" /><Relationship Type="http://schemas.openxmlformats.org/officeDocument/2006/relationships/image" Target="/ppt/media/image3.png" Id="R3fc8f41c535a4724" /><Relationship Type="http://schemas.openxmlformats.org/officeDocument/2006/relationships/notesSlide" Target="/ppt/notesSlides/notesSlide4.xml" Id="R31dfa48b51eb44c1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ccd8439fd654c18" /><Relationship Type="http://schemas.openxmlformats.org/officeDocument/2006/relationships/image" Target="/ppt/media/image4.png" Id="Rd906adfeec3d44a8" /><Relationship Type="http://schemas.openxmlformats.org/officeDocument/2006/relationships/notesSlide" Target="/ppt/notesSlides/notesSlide5.xml" Id="R1a782e249b974347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708214940194f85" /><Relationship Type="http://schemas.openxmlformats.org/officeDocument/2006/relationships/notesSlide" Target="/ppt/notesSlides/notesSlide6.xml" Id="R85abc30b0f0143ba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2097e999ae24253" /><Relationship Type="http://schemas.openxmlformats.org/officeDocument/2006/relationships/notesSlide" Target="/ppt/notesSlides/notesSlide7.xml" Id="R77ad155e11624d17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7578f411084407a" /><Relationship Type="http://schemas.openxmlformats.org/officeDocument/2006/relationships/notesSlide" Target="/ppt/notesSlides/notesSlide8.xml" Id="Rb2a2962c0e97491b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2ed350e5b3d45fb" /><Relationship Type="http://schemas.openxmlformats.org/officeDocument/2006/relationships/image" Target="/ppt/media/image5.png" Id="R112f38f6cbe34483" /><Relationship Type="http://schemas.openxmlformats.org/officeDocument/2006/relationships/notesSlide" Target="/ppt/notesSlides/notesSlide9.xml" Id="R067f1c8f3a8a4d1c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b0bad80f3f549c9" /><Relationship Type="http://schemas.openxmlformats.org/officeDocument/2006/relationships/notesSlide" Target="/ppt/notesSlides/notesSlide10.xml" Id="R7755a65cbc014329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96fb219649a4c45" /><Relationship Type="http://schemas.openxmlformats.org/officeDocument/2006/relationships/notesSlide" Target="/ppt/notesSlides/notesSlide11.xml" Id="Ra917bc0229d0427d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644814b02804360" /><Relationship Type="http://schemas.openxmlformats.org/officeDocument/2006/relationships/notesSlide" Target="/ppt/notesSlides/notesSlide12.xml" Id="R6766057cb37b4361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664f9a96f904c9c" /><Relationship Type="http://schemas.openxmlformats.org/officeDocument/2006/relationships/notesSlide" Target="/ppt/notesSlides/notesSlide13.xml" Id="R07fc98193ae44c9e" /></Relationships>
</file>

<file path=ppt/slides/_rels/slide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544cbddf8b640c9" /><Relationship Type="http://schemas.openxmlformats.org/officeDocument/2006/relationships/image" Target="/ppt/media/image6.png" Id="R1218d725c09545cf" /><Relationship Type="http://schemas.openxmlformats.org/officeDocument/2006/relationships/notesSlide" Target="/ppt/notesSlides/notesSlide14.xml" Id="R3740902056e94d67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A0D9BE4-76F9-4A7D-9C8D-2F5EF25650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0"/>
            <a:ext cx="4953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6D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B4CCF9B-8A6D-4873-B7C6-72B7F16F49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0" y="0"/>
            <a:ext cx="20955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6B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D4AD890-3E02-4B32-A590-73AF68E445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82050" y="781050"/>
            <a:ext cx="1695450" cy="1695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D447"/>
          </a:solidFill>
          <a:ln xmlns:a="http://schemas.openxmlformats.org/drawingml/2006/main" w="0">
            <a:noFill/>
            <a:prstDash val="solid"/>
          </a:ln>
        </p:spPr>
      </p:sp>
      <p:pic>
        <p:nvPicPr>
          <p:cNvPr id="19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4cd1ac3b72f46bd"/>
          <a:stretch xmlns:a="http://schemas.openxmlformats.org/drawingml/2006/main"/>
        </p:blipFill>
        <p:spPr>
          <a:xfrm xmlns:a="http://schemas.openxmlformats.org/drawingml/2006/main">
            <a:off x="8029575" y="1257300"/>
            <a:ext cx="2952750" cy="2952750"/>
          </a:xfrm>
          <a:prstGeom xmlns:a="http://schemas.openxmlformats.org/drawingml/2006/main" prst="rect">
            <a:avLst/>
          </a:prstGeom>
        </p:spPr>
      </p:pic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D369273-24D0-4097-89BD-DB290BEAF9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90550"/>
            <a:ext cx="5905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00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rPr>
              <a:t>2026 息壤杯｜惠民产品创新｜AI+教育赛道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E12D827-8A22-4FC0-8118-2EA4F9F6C4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466850"/>
            <a:ext cx="61912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405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405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让学生真正搭建 Agent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0820EF3-5C41-49AB-9DB0-278C191C10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228850"/>
            <a:ext cx="6477000" cy="1123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4050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4050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rPr>
              <a:t>看得懂、改得动、跑得通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C3CB7FC-A2C8-4032-B5FB-5BDAD9D7A4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733800"/>
            <a:ext cx="47625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210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Blocky Studio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5E5E5DB-B502-4C97-A633-16C100D089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171950"/>
            <a:ext cx="5334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725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25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Scratch 式积木 Agent 搭建软件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5806E6E-DF21-46F4-84A1-E56863B718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972050"/>
            <a:ext cx="1809750" cy="3238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AF2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C856512-3F11-4BC5-BBFE-0365EA4629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5038725"/>
            <a:ext cx="1619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050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rPr>
              <a:t>Agent 搭建 · 教育场景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294BB3B-9431-4961-B921-BE763B2F22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524500"/>
            <a:ext cx="59055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500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把黑箱式模型调用，变成可观察、可解释、可复现的 Agent 搭建过程。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9D0086F-B57E-43C0-B341-1F4B85AAFD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29825" y="6153150"/>
            <a:ext cx="157162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05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Blocky Studio</a:t>
            </a:r>
          </a:p>
        </p:txBody>
      </p:sp>
    </p:spTree>
    <p:extLst>
      <p:ext uri="{BB962C8B-B14F-4D97-AF65-F5344CB8AC3E}">
        <p14:creationId xmlns:p14="http://schemas.microsoft.com/office/powerpoint/2010/main" val="1325861926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A86DE290-F233-4EA8-B16E-409742FCCB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00050"/>
            <a:ext cx="495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00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rPr>
              <a:t>WHY NOW · Scratch 启蒙验证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0540E2D-BEFB-41DE-A2EC-A7BFC2D2A6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42950"/>
            <a:ext cx="108204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315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15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Scratch 验证积木式编程启蒙，Blocky 延伸到 Agent 搭建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144CACA-0CE4-40DB-B2E2-8BE7B71AF6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381125"/>
            <a:ext cx="108204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500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把抽象语法变成可拖、可拼、可运行的结构，再把角色、知识、工具与权限变成学生能理解的 Agent 积木。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40599E7-286E-4CEB-8ADD-B581260DAE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0" y="2895600"/>
            <a:ext cx="6743700" cy="19050"/>
          </a:xfrm>
          <a:prstGeom xmlns:a="http://schemas.openxmlformats.org/drawingml/2006/main" prst="roundRect">
            <a:avLst>
              <a:gd name="adj" fmla="val 7746"/>
            </a:avLst>
          </a:prstGeom>
          <a:solidFill xmlns:a="http://schemas.openxmlformats.org/drawingml/2006/main">
            <a:srgbClr val="F4F7F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8AA88ED-3F7F-4892-A17B-A48C5F0303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91100" y="2352675"/>
            <a:ext cx="723900" cy="3238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C5A4442-86C5-4DBE-B966-1E22F62101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86350" y="2419350"/>
            <a:ext cx="5334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050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rPr>
              <a:t>启蒙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95D5BBB-CF18-459F-89A2-0A0FDD0AAD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0" y="2276475"/>
            <a:ext cx="1809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2025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Scratch 启蒙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BBB09F4-5080-4128-A92D-ECF4FE1946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2209800"/>
            <a:ext cx="34671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500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面向8–16岁，以可视积木学习创造、推理与协作。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B5DA8EC-409C-4867-98FA-3B237753F0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0" y="3848100"/>
            <a:ext cx="6743700" cy="19050"/>
          </a:xfrm>
          <a:prstGeom xmlns:a="http://schemas.openxmlformats.org/drawingml/2006/main" prst="roundRect">
            <a:avLst>
              <a:gd name="adj" fmla="val 7746"/>
            </a:avLst>
          </a:prstGeom>
          <a:solidFill xmlns:a="http://schemas.openxmlformats.org/drawingml/2006/main">
            <a:srgbClr val="F4F7F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FF2932F-EF45-40EC-BFB1-02393B5A0A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91100" y="3305175"/>
            <a:ext cx="723900" cy="3238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6E62B85-C3E2-4470-9235-AA031C745F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86350" y="3371850"/>
            <a:ext cx="5334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050" b="1" i="0">
                <a:solidFill>
                  <a:srgbClr val="F7900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rPr>
              <a:t>升级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26C706B-C168-4645-A2AA-6D71C55B9F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0" y="3228975"/>
            <a:ext cx="1809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2025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Agent 素养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DCAE70C-34DE-4B49-BC59-72916708AC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3162300"/>
            <a:ext cx="34671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500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学习角色、知识、记忆、工具、权限与责任边界。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7171AE33-BE20-47DD-8783-063FEE2E2E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0" y="4800600"/>
            <a:ext cx="6743700" cy="19050"/>
          </a:xfrm>
          <a:prstGeom xmlns:a="http://schemas.openxmlformats.org/drawingml/2006/main" prst="roundRect">
            <a:avLst>
              <a:gd name="adj" fmla="val 7746"/>
            </a:avLst>
          </a:prstGeom>
          <a:solidFill xmlns:a="http://schemas.openxmlformats.org/drawingml/2006/main">
            <a:srgbClr val="F4F7F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9AC036CF-9EEB-4C8E-9ECE-8C71807979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91100" y="4257675"/>
            <a:ext cx="723900" cy="3238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20BF48A1-AB51-4748-9371-48647738AE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86350" y="4324350"/>
            <a:ext cx="5334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050" b="1" i="0">
                <a:solidFill>
                  <a:srgbClr val="17A67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rPr>
              <a:t>产品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71EC989C-9445-4F80-958F-20ACA0A308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0" y="4181475"/>
            <a:ext cx="1809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2025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Scratch积木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0E8B500E-DE01-45BB-89B3-2630FCA988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4114800"/>
            <a:ext cx="34671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500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拖积木搭 Agent，运行看轨迹，修改后保存重开仍一致。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CADDF664-42F9-4557-A074-F6D4E36173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181600"/>
            <a:ext cx="10820400" cy="876300"/>
          </a:xfrm>
          <a:prstGeom xmlns:a="http://schemas.openxmlformats.org/drawingml/2006/main" prst="roundRect">
            <a:avLst>
              <a:gd name="adj" fmla="val 21739"/>
            </a:avLst>
          </a:prstGeom>
          <a:solidFill xmlns:a="http://schemas.openxmlformats.org/drawingml/2006/main">
            <a:srgbClr val="0B122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D8992B56-2143-41CF-A6C7-C76679FB60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5410200"/>
            <a:ext cx="101727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8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Scratch 已验证“积木式编程启蒙”；Blocky 由此推出 Scratch 式 Agent 搭建工具。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2C773103-2070-44F1-BB78-268997BD5B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96050"/>
            <a:ext cx="10820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E3E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E1C57BBC-E125-46E2-80A6-3C79EF39C5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553200"/>
            <a:ext cx="4762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975" b="0" i="0">
                <a:solidFill>
                  <a:srgbClr val="98A2B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0" i="0">
                <a:solidFill>
                  <a:srgbClr val="98A2B3"/>
                </a:solidFill>
                <a:latin typeface="Microsoft YaHei"/>
                <a:ea typeface="Microsoft YaHei"/>
                <a:cs typeface="Microsoft YaHei"/>
              </a:rPr>
              <a:t>Blocky Studio · Agent 搭建教育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6549C1A0-F743-4893-90AB-031ABD8916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6553200"/>
            <a:ext cx="5524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975" b="0" i="0">
                <a:solidFill>
                  <a:srgbClr val="98A2B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0" i="0">
                <a:solidFill>
                  <a:srgbClr val="98A2B3"/>
                </a:solidFill>
                <a:latin typeface="Microsoft YaHei"/>
                <a:ea typeface="Microsoft YaHei"/>
                <a:cs typeface="Microsoft YaHei"/>
              </a:rPr>
              <a:t>02</a:t>
            </a:r>
          </a:p>
        </p:txBody>
      </p:sp>
      <p:pic>
        <p:nvPicPr>
          <p:cNvPr id="49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9b12bb5d6a640bd"/>
          <a:stretch xmlns:a="http://schemas.openxmlformats.org/drawingml/2006/main"/>
        </p:blipFill>
        <p:spPr>
          <a:xfrm xmlns:a="http://schemas.openxmlformats.org/drawingml/2006/main">
            <a:off x="685800" y="2145506"/>
            <a:ext cx="3524250" cy="2643188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15032509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201F39D0-3FC4-4C0E-A1D5-86D2F8ECFD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00050"/>
            <a:ext cx="495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00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rPr>
              <a:t>OPPORTUNITY · Agent 教育机会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C5C0489-E690-4515-8532-7EB6EF1455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42950"/>
            <a:ext cx="108204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315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15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Agent 搭建正在成为人工智能教育的下一步实践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F775723-017E-439C-BAFF-4E7F1EC398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790700"/>
            <a:ext cx="3276600" cy="1390650"/>
          </a:xfrm>
          <a:prstGeom xmlns:a="http://schemas.openxmlformats.org/drawingml/2006/main" prst="roundRect">
            <a:avLst>
              <a:gd name="adj" fmla="val 15068"/>
            </a:avLst>
          </a:prstGeom>
          <a:solidFill xmlns:a="http://schemas.openxmlformats.org/drawingml/2006/main">
            <a:srgbClr val="F4F7F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4F850C1-E5E4-4E20-BF13-55AADFF312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038350"/>
            <a:ext cx="28956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270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70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47 万所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79ABFEC-285F-4A91-B85F-F75A4E32DE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647950"/>
            <a:ext cx="28956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275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各级各类学校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D1B2A9D-4985-446A-87D6-92E232AB58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67200" y="1790700"/>
            <a:ext cx="3276600" cy="1390650"/>
          </a:xfrm>
          <a:prstGeom xmlns:a="http://schemas.openxmlformats.org/drawingml/2006/main" prst="roundRect">
            <a:avLst>
              <a:gd name="adj" fmla="val 15068"/>
            </a:avLst>
          </a:prstGeom>
          <a:solidFill xmlns:a="http://schemas.openxmlformats.org/drawingml/2006/main">
            <a:srgbClr val="F4F7F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0B0E0B3-9F29-4BA5-9C8F-6944676240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57700" y="2038350"/>
            <a:ext cx="28956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27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70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2.86465 亿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0CD9912-FD7C-4501-9DB1-2D0BD12DF0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57700" y="2647950"/>
            <a:ext cx="28956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275" b="0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在校生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185F1D3-4FE8-477D-AB48-A4F5E6B57D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48600" y="1790700"/>
            <a:ext cx="3276600" cy="1390650"/>
          </a:xfrm>
          <a:prstGeom xmlns:a="http://schemas.openxmlformats.org/drawingml/2006/main" prst="roundRect">
            <a:avLst>
              <a:gd name="adj" fmla="val 15068"/>
            </a:avLst>
          </a:prstGeom>
          <a:solidFill xmlns:a="http://schemas.openxmlformats.org/drawingml/2006/main">
            <a:srgbClr val="F4F7F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42DD1C9-15C8-4C45-B24D-0F3F1C2530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9100" y="2038350"/>
            <a:ext cx="28956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270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70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1885.10 万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399323C-011B-4B20-8558-5F51814F58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9100" y="2647950"/>
            <a:ext cx="28956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275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专任教师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673A88D-0CF5-4432-A256-E2EEA4DF35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276600"/>
            <a:ext cx="108204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125" b="0" i="0">
                <a:solidFill>
                  <a:srgbClr val="98A2B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 i="0">
                <a:solidFill>
                  <a:srgbClr val="98A2B3"/>
                </a:solidFill>
                <a:latin typeface="Microsoft YaHei"/>
                <a:ea typeface="Microsoft YaHei"/>
                <a:cs typeface="Microsoft YaHei"/>
              </a:rPr>
              <a:t>全国教育体系规模，为 Agent 搭建课程提供广泛的课堂入口。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82CB344-CD97-45D5-BC37-4EBCBB6D4F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752850"/>
            <a:ext cx="5124450" cy="2038350"/>
          </a:xfrm>
          <a:prstGeom xmlns:a="http://schemas.openxmlformats.org/drawingml/2006/main" prst="roundRect">
            <a:avLst>
              <a:gd name="adj" fmla="val 9346"/>
            </a:avLst>
          </a:prstGeom>
          <a:solidFill xmlns:a="http://schemas.openxmlformats.org/drawingml/2006/main">
            <a:srgbClr val="F4F7F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D62A8040-09B1-491B-BCEB-B4DBF03917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4000500"/>
            <a:ext cx="1905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950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rPr>
              <a:t>政策方向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A7F655CE-95D1-43DB-9C45-AC34A95544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4495800"/>
            <a:ext cx="4476750" cy="1104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500" b="0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• 教育数字化持续推进</a:t>
            </a:r>
          </a:p>
          <a:p xmlns:a="http://schemas.openxmlformats.org/drawingml/2006/main">
            <a:pPr algn="l">
              <a:buNone/>
              <a:defRPr sz="1500" b="0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• 人工智能助力教学变革</a:t>
            </a:r>
          </a:p>
          <a:p xmlns:a="http://schemas.openxmlformats.org/drawingml/2006/main">
            <a:pPr algn="l">
              <a:buNone/>
              <a:defRPr sz="1500" b="0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• 强调实践、创造与问题解决</a:t>
            </a:r>
          </a:p>
          <a:p xmlns:a="http://schemas.openxmlformats.org/drawingml/2006/main">
            <a:pPr algn="l">
              <a:buNone/>
              <a:defRPr sz="1500" b="0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• 同步重视安全、伦理与规范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A28DF826-4961-4CE8-9C98-C75C7FA22E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53150" y="3752850"/>
            <a:ext cx="5353050" cy="2038350"/>
          </a:xfrm>
          <a:prstGeom xmlns:a="http://schemas.openxmlformats.org/drawingml/2006/main" prst="roundRect">
            <a:avLst>
              <a:gd name="adj" fmla="val 9346"/>
            </a:avLst>
          </a:prstGeom>
          <a:solidFill xmlns:a="http://schemas.openxmlformats.org/drawingml/2006/main">
            <a:srgbClr val="F4F7F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C266A8CA-19C6-434E-AD6C-5F818DBEAE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9850" y="4000500"/>
            <a:ext cx="2667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950" b="1" i="0">
                <a:solidFill>
                  <a:srgbClr val="F7900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rPr>
              <a:t>Agent 教育入口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C6203AD2-7FC8-4B13-94FE-2B56DA4106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9850" y="4514850"/>
            <a:ext cx="47625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65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12 岁以上学生</a:t>
            </a:r>
          </a:p>
          <a:p xmlns:a="http://schemas.openxmlformats.org/drawingml/2006/main">
            <a:pPr algn="l">
              <a:buNone/>
              <a:defRPr sz="165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职教与高校 Agent 入门课程</a:t>
            </a:r>
          </a:p>
          <a:p xmlns:a="http://schemas.openxmlformats.org/drawingml/2006/main">
            <a:pPr algn="l">
              <a:buNone/>
              <a:defRPr sz="165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设计 Agent 项目的教师创作者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504AA025-0E59-4FE6-AC7A-41E48C410E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96050"/>
            <a:ext cx="10820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E3E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06355FAC-5400-4765-91DC-A939B19139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553200"/>
            <a:ext cx="4762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975" b="0" i="0">
                <a:solidFill>
                  <a:srgbClr val="98A2B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0" i="0">
                <a:solidFill>
                  <a:srgbClr val="98A2B3"/>
                </a:solidFill>
                <a:latin typeface="Microsoft YaHei"/>
                <a:ea typeface="Microsoft YaHei"/>
                <a:cs typeface="Microsoft YaHei"/>
              </a:rPr>
              <a:t>Blocky Studio · Agent 搭建教育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D612907B-4B8C-490E-9ECF-1C0176FBB7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6553200"/>
            <a:ext cx="5524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975" b="0" i="0">
                <a:solidFill>
                  <a:srgbClr val="98A2B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0" i="0">
                <a:solidFill>
                  <a:srgbClr val="98A2B3"/>
                </a:solidFill>
                <a:latin typeface="Microsoft YaHei"/>
                <a:ea typeface="Microsoft YaHei"/>
                <a:cs typeface="Microsoft YaHei"/>
              </a:rPr>
              <a:t>03</a:t>
            </a:r>
          </a:p>
        </p:txBody>
      </p:sp>
    </p:spTree>
    <p:extLst>
      <p:ext uri="{BB962C8B-B14F-4D97-AF65-F5344CB8AC3E}">
        <p14:creationId xmlns:p14="http://schemas.microsoft.com/office/powerpoint/2010/main" val="1401483607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EF5900A0-923A-4E1C-846F-F3A5107244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00050"/>
            <a:ext cx="495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00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rPr>
              <a:t>PRODUCT · Agent 搭建形态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5AB7AA0-9727-4E4C-BBF2-EEFD311E9B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42950"/>
            <a:ext cx="108204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315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15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一套 Scratch 式 Agent 语言，贯通入门搭建与专业工程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7B59B95-7AD1-45F7-BF1A-D167D66907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381125"/>
            <a:ext cx="108204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425" b="0" i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0" i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左：Agent 积木库｜中：模块画布 / 浏览器｜右：构建助手 / 运行 Agent｜下：诊断 / 日志 / 终端 / 输出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9CFA51A-88FD-4410-B098-83E927B78C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924050"/>
            <a:ext cx="6572250" cy="3790950"/>
          </a:xfrm>
          <a:prstGeom xmlns:a="http://schemas.openxmlformats.org/drawingml/2006/main" prst="roundRect">
            <a:avLst>
              <a:gd name="adj" fmla="val 5528"/>
            </a:avLst>
          </a:prstGeom>
          <a:solidFill xmlns:a="http://schemas.openxmlformats.org/drawingml/2006/main">
            <a:srgbClr val="0B1220"/>
          </a:solidFill>
          <a:ln xmlns:a="http://schemas.openxmlformats.org/drawingml/2006/main" w="0">
            <a:noFill/>
            <a:prstDash val="solid"/>
          </a:ln>
        </p:spPr>
      </p:sp>
      <p:pic>
        <p:nvPicPr>
          <p:cNvPr id="34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fc8f41c535a4724"/>
          <a:srcRect xmlns:a="http://schemas.openxmlformats.org/drawingml/2006/main" l="0" t="2671" r="0" b="2671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819150" y="2076450"/>
            <a:ext cx="6305550" cy="3276600"/>
          </a:xfrm>
          <a:prstGeom xmlns:a="http://schemas.openxmlformats.org/drawingml/2006/main" prst="roundRect">
            <a:avLst>
              <a:gd name="adj" fmla="val 5814"/>
            </a:avLst>
          </a:prstGeom>
        </p:spPr>
      </p:pic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261A894-4ED3-4098-A787-A216B85C60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5162550"/>
            <a:ext cx="2419350" cy="3238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0B122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9E048C9-2F90-43B2-9A6E-237B422265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5229225"/>
            <a:ext cx="22288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05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Windows Core · Agent 搭建实证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55A2940-0D37-4B5C-88BF-0A81177F04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34300" y="1962150"/>
            <a:ext cx="3238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875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入门七类 → 专业十二类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620E0F9-1BA2-45FA-A5DC-B1170BEE77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34300" y="2514600"/>
            <a:ext cx="1466850" cy="457200"/>
          </a:xfrm>
          <a:prstGeom xmlns:a="http://schemas.openxmlformats.org/drawingml/2006/main" prst="roundRect">
            <a:avLst>
              <a:gd name="adj" fmla="val 29167"/>
            </a:avLst>
          </a:prstGeom>
          <a:solidFill xmlns:a="http://schemas.openxmlformats.org/drawingml/2006/main">
            <a:srgbClr val="F4F7F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B6DA326-0AB4-44AA-B072-DC5B94BDB2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48600" y="263842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35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开始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74AD1FB-B3C4-4112-B08A-E37E65537F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10700" y="2514600"/>
            <a:ext cx="1466850" cy="457200"/>
          </a:xfrm>
          <a:prstGeom xmlns:a="http://schemas.openxmlformats.org/drawingml/2006/main" prst="roundRect">
            <a:avLst>
              <a:gd name="adj" fmla="val 29167"/>
            </a:avLst>
          </a:prstGeom>
          <a:solidFill xmlns:a="http://schemas.openxmlformats.org/drawingml/2006/main">
            <a:srgbClr val="F4F7F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B8B38E6-C18D-4E35-B6A5-8AA91FDE5C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0" y="263842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35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角色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E7209BE-AF05-4C3A-938C-A41B2F8E1A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34300" y="3143250"/>
            <a:ext cx="1466850" cy="457200"/>
          </a:xfrm>
          <a:prstGeom xmlns:a="http://schemas.openxmlformats.org/drawingml/2006/main" prst="roundRect">
            <a:avLst>
              <a:gd name="adj" fmla="val 29167"/>
            </a:avLst>
          </a:prstGeom>
          <a:solidFill xmlns:a="http://schemas.openxmlformats.org/drawingml/2006/main">
            <a:srgbClr val="F4F7F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0DF6BB91-EC5F-4ABB-B3A5-5DF4EABB1C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48600" y="32670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35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会思考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634DC32F-04E8-4D1B-A6E1-CB7BAC03A0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10700" y="3143250"/>
            <a:ext cx="1466850" cy="457200"/>
          </a:xfrm>
          <a:prstGeom xmlns:a="http://schemas.openxmlformats.org/drawingml/2006/main" prst="roundRect">
            <a:avLst>
              <a:gd name="adj" fmla="val 29167"/>
            </a:avLst>
          </a:prstGeom>
          <a:solidFill xmlns:a="http://schemas.openxmlformats.org/drawingml/2006/main">
            <a:srgbClr val="F4F7F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2F2E0D15-2836-4F23-99A8-0A64734DDA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0" y="32670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35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会查找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F7666679-9916-4127-93CF-54C50FC49D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34300" y="3771900"/>
            <a:ext cx="1466850" cy="457200"/>
          </a:xfrm>
          <a:prstGeom xmlns:a="http://schemas.openxmlformats.org/drawingml/2006/main" prst="roundRect">
            <a:avLst>
              <a:gd name="adj" fmla="val 29167"/>
            </a:avLst>
          </a:prstGeom>
          <a:solidFill xmlns:a="http://schemas.openxmlformats.org/drawingml/2006/main">
            <a:srgbClr val="F4F7F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0E51C3D2-2DDE-40D5-91FD-9B30DF0220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48600" y="389572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35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会记住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8BDD0FF4-49F3-46E6-958D-DE77373387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10700" y="3771900"/>
            <a:ext cx="1466850" cy="457200"/>
          </a:xfrm>
          <a:prstGeom xmlns:a="http://schemas.openxmlformats.org/drawingml/2006/main" prst="roundRect">
            <a:avLst>
              <a:gd name="adj" fmla="val 29167"/>
            </a:avLst>
          </a:prstGeom>
          <a:solidFill xmlns:a="http://schemas.openxmlformats.org/drawingml/2006/main">
            <a:srgbClr val="F4F7F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E1D576F6-9BD2-41A0-8E5B-F4513EA728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0" y="389572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35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会行动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2F5A1C88-A08D-4D68-8ED0-EF46CECCF4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34300" y="4400550"/>
            <a:ext cx="1466850" cy="457200"/>
          </a:xfrm>
          <a:prstGeom xmlns:a="http://schemas.openxmlformats.org/drawingml/2006/main" prst="roundRect">
            <a:avLst>
              <a:gd name="adj" fmla="val 29167"/>
            </a:avLst>
          </a:prstGeom>
          <a:solidFill xmlns:a="http://schemas.openxmlformats.org/drawingml/2006/main">
            <a:srgbClr val="F4F7F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5B89A2F2-3DD2-4C06-A9F0-228B03F4ED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48600" y="45243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35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会回答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9C33F627-823A-489F-94C4-FC9D9CE713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34300" y="5200650"/>
            <a:ext cx="3238500" cy="514350"/>
          </a:xfrm>
          <a:prstGeom xmlns:a="http://schemas.openxmlformats.org/drawingml/2006/main" prst="roundRect">
            <a:avLst>
              <a:gd name="adj" fmla="val 25926"/>
            </a:avLst>
          </a:prstGeom>
          <a:solidFill xmlns:a="http://schemas.openxmlformats.org/drawingml/2006/main">
            <a:srgbClr val="EAF2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906272D5-C6B4-478C-9CFF-B9CFF8A839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67650" y="5229225"/>
            <a:ext cx="29718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05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统一 Agent 项目格式</a:t>
            </a:r>
          </a:p>
          <a:p xmlns:a="http://schemas.openxmlformats.org/drawingml/2006/main">
            <a:pPr algn="ctr">
              <a:buNone/>
              <a:defRPr sz="105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共享 IR、运行内核与权限模型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B9A25289-91C1-4471-8AA3-88C75A9665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96050"/>
            <a:ext cx="10820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E3E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2B7B57DB-12D0-452A-88EA-454AE1E72B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553200"/>
            <a:ext cx="4762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975" b="0" i="0">
                <a:solidFill>
                  <a:srgbClr val="98A2B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0" i="0">
                <a:solidFill>
                  <a:srgbClr val="98A2B3"/>
                </a:solidFill>
                <a:latin typeface="Microsoft YaHei"/>
                <a:ea typeface="Microsoft YaHei"/>
                <a:cs typeface="Microsoft YaHei"/>
              </a:rPr>
              <a:t>Blocky Studio · Agent 搭建教育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B99F2206-526C-4EC7-9D06-DFA927D68B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6553200"/>
            <a:ext cx="5524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975" b="0" i="0">
                <a:solidFill>
                  <a:srgbClr val="98A2B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0" i="0">
                <a:solidFill>
                  <a:srgbClr val="98A2B3"/>
                </a:solidFill>
                <a:latin typeface="Microsoft YaHei"/>
                <a:ea typeface="Microsoft YaHei"/>
                <a:cs typeface="Microsoft YaHei"/>
              </a:rPr>
              <a:t>04</a:t>
            </a:r>
          </a:p>
        </p:txBody>
      </p:sp>
    </p:spTree>
    <p:extLst>
      <p:ext uri="{BB962C8B-B14F-4D97-AF65-F5344CB8AC3E}">
        <p14:creationId xmlns:p14="http://schemas.microsoft.com/office/powerpoint/2010/main" val="888080303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ACE6BEB0-5134-4740-8BC5-70438A9E54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00050"/>
            <a:ext cx="495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00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rPr>
              <a:t>USE CASE · Agent 课堂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4593C4D-248B-4BA9-B5FD-3076450D43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42950"/>
            <a:ext cx="108204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315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15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一节 45 分钟课，搭出“课堂知识 Agent”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5A294B6-FC5C-481E-9BCB-E0BD442C05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381125"/>
            <a:ext cx="108204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500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学生组合角色、资料检索、回答规则与权限，再用运行证据讲清系统。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E0EE404-A53E-47C8-BD14-1A6FF57ECB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29250" y="2876550"/>
            <a:ext cx="51435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E3E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EA320BC-DCBD-459B-B601-6F0A4EF60D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86350" y="2533650"/>
            <a:ext cx="685800" cy="6858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76B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D8BF5B1-FF19-480C-A1F9-B3EBD55A32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86350" y="2695575"/>
            <a:ext cx="6858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21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1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5EB8ED1-07E5-4EEC-85C0-40D8A0D67C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81525" y="3333750"/>
            <a:ext cx="16954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875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老师设定任务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2B674A9-88C9-467B-8B72-EE50C9BD6D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81525" y="3981450"/>
            <a:ext cx="16954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425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锁定课程资料</a:t>
            </a:r>
          </a:p>
          <a:p xmlns:a="http://schemas.openxmlformats.org/drawingml/2006/main">
            <a:pPr algn="ctr">
              <a:buNone/>
              <a:defRPr sz="1425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定义 Agent 边界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B2DC4C0-F9C1-4B05-86E6-F1C7ABDF1C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00850" y="2533650"/>
            <a:ext cx="685800" cy="6858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76B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E25F763-49D5-4981-BAE1-812D10DBBC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00850" y="2695575"/>
            <a:ext cx="6858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21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2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03C79FC-38CA-4920-BCFA-97252FFA76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96025" y="3333750"/>
            <a:ext cx="16954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875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学生搭 Agent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56934EE-6AF6-484E-B295-F75570571B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96025" y="3981450"/>
            <a:ext cx="16954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425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选择蓝图</a:t>
            </a:r>
          </a:p>
          <a:p xmlns:a="http://schemas.openxmlformats.org/drawingml/2006/main">
            <a:pPr algn="ctr">
              <a:buNone/>
              <a:defRPr sz="1425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修改角色与检索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700918C-A06B-4E1A-8C9D-0648588A84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15350" y="2533650"/>
            <a:ext cx="685800" cy="6858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76B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FF1C48E-5BD0-4783-9B5F-9CD7A9A77D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15350" y="2695575"/>
            <a:ext cx="6858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21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3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AE7325C-B220-4DD8-937A-0AFCD38AC2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10525" y="3333750"/>
            <a:ext cx="16954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875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运行 Agent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E7E1AD58-3805-4CBB-B0C5-AD0CFD42C2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10525" y="3981450"/>
            <a:ext cx="16954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425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回答带引用</a:t>
            </a:r>
          </a:p>
          <a:p xmlns:a="http://schemas.openxmlformats.org/drawingml/2006/main">
            <a:pPr algn="ctr">
              <a:buNone/>
              <a:defRPr sz="1425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状态与轨迹可见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F9DAF4FD-BC3F-4584-9B71-B1636FEDB0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29850" y="2533650"/>
            <a:ext cx="685800" cy="6858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76B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C3EA1FC6-3496-484C-95F5-14F46B1D35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29850" y="2695575"/>
            <a:ext cx="6858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21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4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23475CB5-1F52-4474-A185-5DCFD29BB8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25025" y="3333750"/>
            <a:ext cx="16954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875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解释系统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2CF6F002-6517-421A-8333-2339096B42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25025" y="3981450"/>
            <a:ext cx="16954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425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指出关键积木</a:t>
            </a:r>
          </a:p>
          <a:p xmlns:a="http://schemas.openxmlformats.org/drawingml/2006/main">
            <a:pPr algn="ctr">
              <a:buNone/>
              <a:defRPr sz="1425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解释回答与拒答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2ED85272-C52C-40FA-B761-776CF43600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181600"/>
            <a:ext cx="10820400" cy="800100"/>
          </a:xfrm>
          <a:prstGeom xmlns:a="http://schemas.openxmlformats.org/drawingml/2006/main" prst="roundRect">
            <a:avLst>
              <a:gd name="adj" fmla="val 23810"/>
            </a:avLst>
          </a:prstGeom>
          <a:solidFill xmlns:a="http://schemas.openxmlformats.org/drawingml/2006/main">
            <a:srgbClr val="0B122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35759AD1-71DC-48F0-89B6-BD531D8DC6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5391150"/>
            <a:ext cx="10287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2025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学习成果：Agent 搭得出 · 结构说得清 · 引用找得到 · 重开仍一致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1340A4D9-AB1E-4082-B642-C0C46F98DF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96050"/>
            <a:ext cx="10820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E3E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9C5E1450-E4DF-4EFF-A864-D90D800E3F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553200"/>
            <a:ext cx="4762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975" b="0" i="0">
                <a:solidFill>
                  <a:srgbClr val="98A2B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0" i="0">
                <a:solidFill>
                  <a:srgbClr val="98A2B3"/>
                </a:solidFill>
                <a:latin typeface="Microsoft YaHei"/>
                <a:ea typeface="Microsoft YaHei"/>
                <a:cs typeface="Microsoft YaHei"/>
              </a:rPr>
              <a:t>Blocky Studio · Agent 搭建教育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708E4714-55B0-428F-BB84-CF5DF9C587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6553200"/>
            <a:ext cx="5524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975" b="0" i="0">
                <a:solidFill>
                  <a:srgbClr val="98A2B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0" i="0">
                <a:solidFill>
                  <a:srgbClr val="98A2B3"/>
                </a:solidFill>
                <a:latin typeface="Microsoft YaHei"/>
                <a:ea typeface="Microsoft YaHei"/>
                <a:cs typeface="Microsoft YaHei"/>
              </a:rPr>
              <a:t>05</a:t>
            </a:r>
          </a:p>
        </p:txBody>
      </p:sp>
      <p:pic>
        <p:nvPicPr>
          <p:cNvPr id="5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906adfeec3d44a8"/>
          <a:stretch xmlns:a="http://schemas.openxmlformats.org/drawingml/2006/main"/>
        </p:blipFill>
        <p:spPr>
          <a:xfrm xmlns:a="http://schemas.openxmlformats.org/drawingml/2006/main">
            <a:off x="685800" y="2145506"/>
            <a:ext cx="3524250" cy="2643188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44089128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861BF2F6-7820-4F71-A5F3-44000ED8B7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00050"/>
            <a:ext cx="495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00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rPr>
              <a:t>DEMO · Agent 闭环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0381ADE-80F5-42E9-8853-EF5280D4C3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42950"/>
            <a:ext cx="108204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315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15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3 分钟完成 Agent 搭建与运行闭环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1EA1F63-0E40-4377-9F6C-F7E155EA5C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381125"/>
            <a:ext cx="108204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500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确定性本地实证呈现“选蓝图—改积木—跑 Agent—看轨迹—存项目”。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6E04AFC-6A82-41C7-ABEB-5D0B080865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52675" y="3009900"/>
            <a:ext cx="7048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6B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AB70C2E-A825-44BD-BFC3-2F9092FD59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29125" y="3009900"/>
            <a:ext cx="7048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6B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E8E383A-D3C9-463D-90D3-B0C8254CF7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05575" y="3009900"/>
            <a:ext cx="7048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6B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6F47339-424A-4575-BFED-D712680E32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82025" y="3009900"/>
            <a:ext cx="7048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6B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0149493-3133-4D57-B418-0FC64E040A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266950"/>
            <a:ext cx="1657350" cy="1562100"/>
          </a:xfrm>
          <a:prstGeom xmlns:a="http://schemas.openxmlformats.org/drawingml/2006/main" prst="roundRect">
            <a:avLst>
              <a:gd name="adj" fmla="val 12195"/>
            </a:avLst>
          </a:prstGeom>
          <a:solidFill xmlns:a="http://schemas.openxmlformats.org/drawingml/2006/main">
            <a:srgbClr val="F4F7F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4C735B2-1D95-42CD-9390-53260701C8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438400"/>
            <a:ext cx="476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125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rPr>
              <a:t>01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D789284-904D-4CA8-AF84-68B161FB51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819400"/>
            <a:ext cx="13144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65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选择蓝图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0F9AD1A-0529-4DCF-B052-8C59974E91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3295650"/>
            <a:ext cx="13525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200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课堂知识 Agent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0FFD2D7-BE35-487B-8AF1-CFA6A5C495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81300" y="2266950"/>
            <a:ext cx="1657350" cy="1562100"/>
          </a:xfrm>
          <a:prstGeom xmlns:a="http://schemas.openxmlformats.org/drawingml/2006/main" prst="roundRect">
            <a:avLst>
              <a:gd name="adj" fmla="val 12195"/>
            </a:avLst>
          </a:prstGeom>
          <a:solidFill xmlns:a="http://schemas.openxmlformats.org/drawingml/2006/main">
            <a:srgbClr val="F4F7F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648D6E0-39E4-47B1-957D-861949DEB4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52750" y="2438400"/>
            <a:ext cx="476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125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rPr>
              <a:t>02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C32CF790-33C9-4CCB-A157-EF7C63A8E4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52750" y="2819400"/>
            <a:ext cx="13144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65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配置积木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D6779A17-5ACC-4FC3-9593-C038762DE5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33700" y="3295650"/>
            <a:ext cx="13525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200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角色 / 知识 / 工具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2D3931BE-909D-4CA1-A8AB-20443305CF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0" y="2266950"/>
            <a:ext cx="1657350" cy="1562100"/>
          </a:xfrm>
          <a:prstGeom xmlns:a="http://schemas.openxmlformats.org/drawingml/2006/main" prst="roundRect">
            <a:avLst>
              <a:gd name="adj" fmla="val 12195"/>
            </a:avLst>
          </a:prstGeom>
          <a:solidFill xmlns:a="http://schemas.openxmlformats.org/drawingml/2006/main">
            <a:srgbClr val="F4F7F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8614AEE4-C3AD-424F-BF93-521A3B465A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0" y="2438400"/>
            <a:ext cx="476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125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rPr>
              <a:t>03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2214F98A-F223-47A2-9F28-C1B6DA0F00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0" y="2819400"/>
            <a:ext cx="13144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65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运行 Agent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884A1067-0938-4671-9EFE-7111139931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10150" y="3295650"/>
            <a:ext cx="13525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200" b="0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本地检索 + 引用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2A14FD71-DF17-4CA8-A89C-001B0D22DE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34200" y="2266950"/>
            <a:ext cx="1657350" cy="1562100"/>
          </a:xfrm>
          <a:prstGeom xmlns:a="http://schemas.openxmlformats.org/drawingml/2006/main" prst="roundRect">
            <a:avLst>
              <a:gd name="adj" fmla="val 12195"/>
            </a:avLst>
          </a:prstGeom>
          <a:solidFill xmlns:a="http://schemas.openxmlformats.org/drawingml/2006/main">
            <a:srgbClr val="F4F7F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72E6B1F2-F786-4907-9B38-6D5B309AEF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05650" y="2438400"/>
            <a:ext cx="476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125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rPr>
              <a:t>04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A7967383-C63A-4BD0-9C8F-2977BF77FC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05650" y="2819400"/>
            <a:ext cx="13144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65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检查轨迹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64BA1E21-50FB-423D-A459-1A0C693B3C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86600" y="3295650"/>
            <a:ext cx="13525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200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步骤 / 状态 / 输出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54B396C4-30A2-4334-9ED5-17BFDFAEAF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10650" y="2266950"/>
            <a:ext cx="1657350" cy="1562100"/>
          </a:xfrm>
          <a:prstGeom xmlns:a="http://schemas.openxmlformats.org/drawingml/2006/main" prst="roundRect">
            <a:avLst>
              <a:gd name="adj" fmla="val 12195"/>
            </a:avLst>
          </a:prstGeom>
          <a:solidFill xmlns:a="http://schemas.openxmlformats.org/drawingml/2006/main">
            <a:srgbClr val="F4F7F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1B51A61D-3FAE-48E2-A03D-6F11EB6521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82100" y="2438400"/>
            <a:ext cx="476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125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rPr>
              <a:t>05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B1E3B23B-6531-4174-AD4B-5499123F3F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82100" y="2819400"/>
            <a:ext cx="13144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65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保存重开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E97C8725-F881-4B20-8922-9BCB26A46C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63050" y="3295650"/>
            <a:ext cx="13525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200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Agent 行为一致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9565D525-758B-44D0-90F2-EE5FBAD25A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343400"/>
            <a:ext cx="3276600" cy="1200150"/>
          </a:xfrm>
          <a:prstGeom xmlns:a="http://schemas.openxmlformats.org/drawingml/2006/main" prst="roundRect">
            <a:avLst>
              <a:gd name="adj" fmla="val 1428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CE3EC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E92FF6B1-7E33-4870-A17A-CF1D956F94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4572000"/>
            <a:ext cx="323850" cy="3238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7A67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E70344CA-4B17-44A6-BE50-710321E1F9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4638675"/>
            <a:ext cx="3238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2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✓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3084B3E6-57A9-45C0-A2E9-15BEA85199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4514850"/>
            <a:ext cx="23241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575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本地 Agent 实证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5E7570BE-5162-4D12-AE16-D2927C1A0A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4914900"/>
            <a:ext cx="23241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00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确定性 Provider / 本地检索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D08BFF40-00F6-42F3-A709-F0FF0B4833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67200" y="4343400"/>
            <a:ext cx="3276600" cy="1200150"/>
          </a:xfrm>
          <a:prstGeom xmlns:a="http://schemas.openxmlformats.org/drawingml/2006/main" prst="roundRect">
            <a:avLst>
              <a:gd name="adj" fmla="val 1428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CE3EC"/>
            </a:solidFill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9A82C568-EB54-4F86-9719-69A443CDC2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4572000"/>
            <a:ext cx="323850" cy="3238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7A67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633FE7DA-9E56-4BD7-9F7A-4A7695B093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4638675"/>
            <a:ext cx="3238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2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✓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3444E849-D3A9-43C7-BF9A-8C9434B513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33950" y="4514850"/>
            <a:ext cx="23241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575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拒答与引用可见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101D2692-8CDD-4B60-95CF-492AB2A4B3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33950" y="4914900"/>
            <a:ext cx="23241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00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回答与来源保持一致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915B5C15-EEE9-4585-B27F-51E7E83D46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48600" y="4343400"/>
            <a:ext cx="3276600" cy="1200150"/>
          </a:xfrm>
          <a:prstGeom xmlns:a="http://schemas.openxmlformats.org/drawingml/2006/main" prst="roundRect">
            <a:avLst>
              <a:gd name="adj" fmla="val 1428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CE3EC"/>
            </a:solidFill>
            <a:prstDash val="solid"/>
          </a:ln>
        </p:spPr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6D77F557-EDEC-4BE2-B1CE-221DCA3E95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58150" y="4572000"/>
            <a:ext cx="323850" cy="3238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7A67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525382B6-9835-4B93-B708-3D9BCA1D0A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58150" y="4638675"/>
            <a:ext cx="3238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2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✓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AFAA06BF-AFB7-4CF2-8847-FC5A1A0927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15350" y="4514850"/>
            <a:ext cx="23241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575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Agent 项目可复现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7E803178-7941-42C1-A1DB-7806CAA6EF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15350" y="4914900"/>
            <a:ext cx="23241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00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语义与会话状态分离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2F3F74DB-353E-4AC3-8319-F0E8F80D0A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05850" y="5848350"/>
            <a:ext cx="2476500" cy="3238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AF2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D229199D-0A09-4447-ADBA-1032DD2923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01100" y="5915025"/>
            <a:ext cx="228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050" b="1" i="0">
                <a:solidFill>
                  <a:srgbClr val="E5484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rPr>
              <a:t>Agent 闭环：五步可复现</a:t>
            </a:r>
          </a:p>
        </p:txBody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108F5750-0E1E-40F3-9F23-28AE1F1975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96050"/>
            <a:ext cx="10820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E3E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E5473D5A-F999-426D-96D7-1D006B6715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553200"/>
            <a:ext cx="4762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975" b="0" i="0">
                <a:solidFill>
                  <a:srgbClr val="98A2B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0" i="0">
                <a:solidFill>
                  <a:srgbClr val="98A2B3"/>
                </a:solidFill>
                <a:latin typeface="Microsoft YaHei"/>
                <a:ea typeface="Microsoft YaHei"/>
                <a:cs typeface="Microsoft YaHei"/>
              </a:rPr>
              <a:t>Blocky Studio · Agent 搭建教育</a:t>
            </a:r>
          </a:p>
        </p:txBody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8DBEA014-107A-40CA-8682-5991D33EB8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6553200"/>
            <a:ext cx="5524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975" b="0" i="0">
                <a:solidFill>
                  <a:srgbClr val="98A2B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0" i="0">
                <a:solidFill>
                  <a:srgbClr val="98A2B3"/>
                </a:solidFill>
                <a:latin typeface="Microsoft YaHei"/>
                <a:ea typeface="Microsoft YaHei"/>
                <a:cs typeface="Microsoft YaHei"/>
              </a:rPr>
              <a:t>06</a:t>
            </a:r>
          </a:p>
        </p:txBody>
      </p:sp>
    </p:spTree>
    <p:extLst>
      <p:ext uri="{BB962C8B-B14F-4D97-AF65-F5344CB8AC3E}">
        <p14:creationId xmlns:p14="http://schemas.microsoft.com/office/powerpoint/2010/main" val="74098566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7DFB98D4-8A9E-4310-AC05-96F1315D6B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00050"/>
            <a:ext cx="495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00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rPr>
              <a:t>INNOVATION · Agent 语义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EB70E22-46A8-4D3F-A933-FA5CB30DFE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42950"/>
            <a:ext cx="108204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315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15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壁垒是一条可验证、可回放、可逆的 Agent 语义链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57B9416-8927-4FDD-917D-66714D817F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381125"/>
            <a:ext cx="108204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0" i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 i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同一套 Agent 结构同时服务学生搭建、运行执行、教师复核与原生兼容。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5B99917-4785-4FF2-9985-F6BA06501A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43150" y="3095625"/>
            <a:ext cx="7429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E3E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3B5AC8B-8B9F-4695-9A04-96E9C71C91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43175" y="2847975"/>
            <a:ext cx="3429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2025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rPr>
              <a:t>→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F3CCDC8-7024-494D-AA95-7BFAEFB349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95800" y="3095625"/>
            <a:ext cx="7429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E3E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58FE4A2-B622-4C5E-AFC6-49E01F515B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95825" y="2847975"/>
            <a:ext cx="3429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2025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rPr>
              <a:t>→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05E4D1E-C2BE-43FE-97BC-475FE4A6E6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48450" y="3095625"/>
            <a:ext cx="7429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E3E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D9FA4B3-0E29-4B42-9E8B-B19439EE3E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48475" y="2847975"/>
            <a:ext cx="3429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2025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rPr>
              <a:t>→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0E01B1A-FBF1-410D-A8FE-40496C9C23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01100" y="3095625"/>
            <a:ext cx="7429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E3E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4327299-7A47-4BD8-8DDF-623868A858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01125" y="2847975"/>
            <a:ext cx="3429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2025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rPr>
              <a:t>→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1809E88-4FD6-4362-9922-851886FF03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286000"/>
            <a:ext cx="1676400" cy="1676400"/>
          </a:xfrm>
          <a:prstGeom xmlns:a="http://schemas.openxmlformats.org/drawingml/2006/main" prst="roundRect">
            <a:avLst>
              <a:gd name="adj" fmla="val 12500"/>
            </a:avLst>
          </a:prstGeom>
          <a:solidFill xmlns:a="http://schemas.openxmlformats.org/drawingml/2006/main">
            <a:srgbClr val="F4F7F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4A020EA-0F76-4C5F-99C3-F8E787B2D4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628900"/>
            <a:ext cx="13716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725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25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可见 Agent</a:t>
            </a:r>
          </a:p>
          <a:p xmlns:a="http://schemas.openxmlformats.org/drawingml/2006/main">
            <a:pPr algn="ctr">
              <a:buNone/>
              <a:defRPr sz="1725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25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积木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4209DFC-0DB0-4F03-997E-ED022F5387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3371850"/>
            <a:ext cx="14097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275" b="0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学生能读懂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5FE863CB-E606-406C-8E49-63E027468A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38450" y="2286000"/>
            <a:ext cx="1676400" cy="1676400"/>
          </a:xfrm>
          <a:prstGeom xmlns:a="http://schemas.openxmlformats.org/drawingml/2006/main" prst="roundRect">
            <a:avLst>
              <a:gd name="adj" fmla="val 12500"/>
            </a:avLst>
          </a:prstGeom>
          <a:solidFill xmlns:a="http://schemas.openxmlformats.org/drawingml/2006/main">
            <a:srgbClr val="F4F7F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37EBB333-8FEB-4A68-A6D7-A07BB5A5EF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90850" y="2628900"/>
            <a:ext cx="13716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725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25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稳定 Agent IR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F0CA3A16-F7D2-4375-AD05-98B39C160E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71800" y="3371850"/>
            <a:ext cx="14097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275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系统能校验 Agent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6ABBCBCB-D598-47CF-A31D-DE2AFCFB5A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91100" y="2286000"/>
            <a:ext cx="1676400" cy="1676400"/>
          </a:xfrm>
          <a:prstGeom xmlns:a="http://schemas.openxmlformats.org/drawingml/2006/main" prst="roundRect">
            <a:avLst>
              <a:gd name="adj" fmla="val 12500"/>
            </a:avLst>
          </a:prstGeom>
          <a:solidFill xmlns:a="http://schemas.openxmlformats.org/drawingml/2006/main">
            <a:srgbClr val="F4F7F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0DB15EC2-77A0-44D3-961C-3C1B64DF7D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0" y="2628900"/>
            <a:ext cx="13716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725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25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受控 Runtime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B4BA4644-3DF6-4D5D-A39E-7633F3E107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24450" y="3371850"/>
            <a:ext cx="14097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275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权限有边界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689DA042-F4B5-409E-A55D-9D81D4EE3E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0" y="2286000"/>
            <a:ext cx="1676400" cy="1676400"/>
          </a:xfrm>
          <a:prstGeom xmlns:a="http://schemas.openxmlformats.org/drawingml/2006/main" prst="roundRect">
            <a:avLst>
              <a:gd name="adj" fmla="val 12500"/>
            </a:avLst>
          </a:prstGeom>
          <a:solidFill xmlns:a="http://schemas.openxmlformats.org/drawingml/2006/main">
            <a:srgbClr val="F4F7F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25EA51D8-9E31-4734-9C09-B3CF40E059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96150" y="2628900"/>
            <a:ext cx="13716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725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25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Agent Trace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EAE9A07E-9C57-41E0-98BE-FB36F1B342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77100" y="3371850"/>
            <a:ext cx="14097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275" b="0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每步可回放解释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E7D7090C-B895-46C1-8E74-265295F9DE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96400" y="2286000"/>
            <a:ext cx="1676400" cy="1676400"/>
          </a:xfrm>
          <a:prstGeom xmlns:a="http://schemas.openxmlformats.org/drawingml/2006/main" prst="roundRect">
            <a:avLst>
              <a:gd name="adj" fmla="val 12500"/>
            </a:avLst>
          </a:prstGeom>
          <a:solidFill xmlns:a="http://schemas.openxmlformats.org/drawingml/2006/main">
            <a:srgbClr val="F4F7F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5E1F2994-A241-41AC-A0A0-8832A0CF73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48800" y="2628900"/>
            <a:ext cx="13716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725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25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适配器可逆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E3C53ED7-2762-4673-B1D7-3AD8965A0D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29750" y="3371850"/>
            <a:ext cx="14097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00" b="0" i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 i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模板 / 原生写回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9FD28F7F-9AB1-4D9F-9291-E09FBFEFEF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62100" y="4533900"/>
            <a:ext cx="9067800" cy="1066800"/>
          </a:xfrm>
          <a:prstGeom xmlns:a="http://schemas.openxmlformats.org/drawingml/2006/main" prst="roundRect">
            <a:avLst>
              <a:gd name="adj" fmla="val 17857"/>
            </a:avLst>
          </a:prstGeom>
          <a:solidFill xmlns:a="http://schemas.openxmlformats.org/drawingml/2006/main">
            <a:srgbClr val="EAF2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5FBA31EE-5FD9-4E8B-B02A-C5D35D3ED2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28800" y="4762500"/>
            <a:ext cx="85344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875" b="1" i="0">
                <a:solidFill>
                  <a:srgbClr val="FF8A0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rPr>
              <a:t>同一 Agent 语义链贯通桌面、CLI、四个官方 Skills 与六模板兼容版图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D28A8729-2378-4A20-A1EE-2FBF3D7D7D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28800" y="5143500"/>
            <a:ext cx="85344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00" b="0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$build-blocky-agents · $create-blocky-blocks</a:t>
            </a:r>
          </a:p>
          <a:p xmlns:a="http://schemas.openxmlformats.org/drawingml/2006/main">
            <a:pPr algn="ctr">
              <a:buNone/>
              <a:defRPr sz="1200" b="0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$convert-github-project-to-blocky · $reverse-agent-to-blocky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66E5C844-E2E1-463A-B081-124788438D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96050"/>
            <a:ext cx="10820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E3E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F98B031E-3513-477C-9387-EAA6713695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553200"/>
            <a:ext cx="4762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975" b="0" i="0">
                <a:solidFill>
                  <a:srgbClr val="98A2B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0" i="0">
                <a:solidFill>
                  <a:srgbClr val="98A2B3"/>
                </a:solidFill>
                <a:latin typeface="Microsoft YaHei"/>
                <a:ea typeface="Microsoft YaHei"/>
                <a:cs typeface="Microsoft YaHei"/>
              </a:rPr>
              <a:t>Blocky Studio · Agent 搭建教育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2396D7D8-64FA-4C92-BE0C-FC36C84792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6553200"/>
            <a:ext cx="5524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975" b="0" i="0">
                <a:solidFill>
                  <a:srgbClr val="98A2B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0" i="0">
                <a:solidFill>
                  <a:srgbClr val="98A2B3"/>
                </a:solidFill>
                <a:latin typeface="Microsoft YaHei"/>
                <a:ea typeface="Microsoft YaHei"/>
                <a:cs typeface="Microsoft YaHei"/>
              </a:rPr>
              <a:t>07</a:t>
            </a:r>
          </a:p>
        </p:txBody>
      </p:sp>
    </p:spTree>
    <p:extLst>
      <p:ext uri="{BB962C8B-B14F-4D97-AF65-F5344CB8AC3E}">
        <p14:creationId xmlns:p14="http://schemas.microsoft.com/office/powerpoint/2010/main" val="850101897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A95339E4-F604-4D6A-86EF-DF2CD0929E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00050"/>
            <a:ext cx="495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00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rPr>
              <a:t>ECOSYSTEM · Agent 兼容版图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370CF98-9ECF-4290-B608-8ACEB1A048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42950"/>
            <a:ext cx="108204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315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15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六类 Agent 生态，共用一套可改造的积木语言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79087C1-24E9-4883-BB39-FFC3752BBE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2019300"/>
            <a:ext cx="7905750" cy="3429000"/>
          </a:xfrm>
          <a:prstGeom xmlns:a="http://schemas.openxmlformats.org/drawingml/2006/main" prst="roundRect">
            <a:avLst>
              <a:gd name="adj" fmla="val 5556"/>
            </a:avLst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C15C7A3-B066-45AE-9611-3A53A15827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0" y="2438400"/>
            <a:ext cx="28575" cy="2476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182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8CF3443-2956-4DCD-9397-CE8B308C9C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73100" y="4895850"/>
            <a:ext cx="61912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182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9AB1834-49B3-4F51-9EB9-4552973431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411200" y="3648075"/>
            <a:ext cx="61912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E3E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D17254A-D248-480E-A64C-9F3D946563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449300" y="2438400"/>
            <a:ext cx="9525" cy="2476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E3E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AF039EF-8669-48E6-8355-B3E3CDD61D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428750"/>
            <a:ext cx="108204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425" b="1" i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1" i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Pi、Codex、OpenClaw、Hermes、OpenCode、DeepSeek Harness 映射到统一 Agent 项目。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8252EBC-6654-4A56-A43D-04234BEB26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5105400"/>
            <a:ext cx="104394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125" b="1" i="0">
                <a:solidFill>
                  <a:srgbClr val="1456C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1" i="0">
                <a:solidFill>
                  <a:srgbClr val="1456C7"/>
                </a:solidFill>
                <a:latin typeface="Microsoft YaHei"/>
                <a:ea typeface="Microsoft YaHei"/>
                <a:cs typeface="Microsoft YaHei"/>
              </a:rPr>
              <a:t>统一 Agent 语义 + 进程外原生运行时 + 版本化适配器 + 可逆积木投影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709C619-2BD1-4EF2-9FB4-E67118A238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487400" y="4038600"/>
            <a:ext cx="400050" cy="4000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98A2B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5049E2C-638C-4C84-9984-35EE7E45EF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0" y="4514850"/>
            <a:ext cx="1428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200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问答型 Agent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4BE703F-ECE8-4177-B632-BC2BAF5358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63600" y="3781425"/>
            <a:ext cx="457200" cy="457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7900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AB245E4-7D7B-4DD8-84A1-4F701573FA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601700" y="4314825"/>
            <a:ext cx="13716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200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流程编排工具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4165A70-FD04-45E9-8824-2BD3726149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639800" y="2762250"/>
            <a:ext cx="495300" cy="495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7A67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C1FEFD31-A748-48DC-9B67-88B96D45E1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677900" y="3333750"/>
            <a:ext cx="13716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200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代码型 Agent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152ECAB1-E514-4F89-A764-A2DA3B8D70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716000" y="2705100"/>
            <a:ext cx="609600" cy="6096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76B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E2A9564E-1B04-4A3B-9C90-58816AC914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754100" y="3390900"/>
            <a:ext cx="13716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425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rPr>
              <a:t>Blocky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A710F48B-9833-4CEA-96EC-F710C0DB08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0" y="2076450"/>
            <a:ext cx="1600200" cy="3352800"/>
          </a:xfrm>
          <a:prstGeom xmlns:a="http://schemas.openxmlformats.org/drawingml/2006/main" prst="roundRect">
            <a:avLst>
              <a:gd name="adj" fmla="val 11905"/>
            </a:avLst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24B3CED9-2289-46C4-878F-B09658EEEA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792200" y="2362200"/>
            <a:ext cx="12192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800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00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rPr>
              <a:t>积木搭建 / 深度扩展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E6DE07F1-2CE1-4A8A-BE82-360BF6C6E1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30300" y="3238500"/>
            <a:ext cx="1219200" cy="1809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50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入门 Agent</a:t>
            </a:r>
          </a:p>
          <a:p xmlns:a="http://schemas.openxmlformats.org/drawingml/2006/main">
            <a:pPr algn="ctr">
              <a:buNone/>
              <a:defRPr sz="150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↓</a:t>
            </a:r>
          </a:p>
          <a:p xmlns:a="http://schemas.openxmlformats.org/drawingml/2006/main">
            <a:pPr algn="ctr">
              <a:buNone/>
              <a:defRPr sz="150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专业 Agent</a:t>
            </a:r>
          </a:p>
          <a:p xmlns:a="http://schemas.openxmlformats.org/drawingml/2006/main">
            <a:pPr algn="ctr">
              <a:buNone/>
              <a:defRPr sz="150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↓</a:t>
            </a:r>
          </a:p>
          <a:p xmlns:a="http://schemas.openxmlformats.org/drawingml/2006/main">
            <a:pPr algn="ctr">
              <a:buNone/>
              <a:defRPr sz="150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蓝图 / 代码</a:t>
            </a:r>
          </a:p>
          <a:p xmlns:a="http://schemas.openxmlformats.org/drawingml/2006/main">
            <a:pPr algn="ctr">
              <a:buNone/>
              <a:defRPr sz="150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↓</a:t>
            </a:r>
          </a:p>
          <a:p xmlns:a="http://schemas.openxmlformats.org/drawingml/2006/main">
            <a:pPr algn="ctr">
              <a:buNone/>
              <a:defRPr sz="150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运行轨迹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5ACF8F47-F459-4EE8-AFFB-431D2346A8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600700"/>
            <a:ext cx="108204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050" b="0" i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0" i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兼容结果：公共语义可编辑，原生能力可定位，项目配置可逆写回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7CA2238B-6981-4EEF-9644-CAB79A1ED2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96050"/>
            <a:ext cx="10820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E3E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4EEEB512-B61D-4234-BF5B-E7FCE68FD3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553200"/>
            <a:ext cx="4762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975" b="0" i="0">
                <a:solidFill>
                  <a:srgbClr val="98A2B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0" i="0">
                <a:solidFill>
                  <a:srgbClr val="98A2B3"/>
                </a:solidFill>
                <a:latin typeface="Microsoft YaHei"/>
                <a:ea typeface="Microsoft YaHei"/>
                <a:cs typeface="Microsoft YaHei"/>
              </a:rPr>
              <a:t>Blocky Studio · Agent 搭建教育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F36BBFE9-8C7C-4891-A36F-ED778245CE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6553200"/>
            <a:ext cx="5524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975" b="0" i="0">
                <a:solidFill>
                  <a:srgbClr val="98A2B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0" i="0">
                <a:solidFill>
                  <a:srgbClr val="98A2B3"/>
                </a:solidFill>
                <a:latin typeface="Microsoft YaHei"/>
                <a:ea typeface="Microsoft YaHei"/>
                <a:cs typeface="Microsoft YaHei"/>
              </a:rPr>
              <a:t>08</a:t>
            </a:r>
          </a:p>
        </p:txBody>
      </p:sp>
      <p:sp>
        <p:nvSpPr>
          <p:cNvPr id="26" name="compat-card-fill-1-1">
            <a:extLst xmlns:a="http://schemas.openxmlformats.org/drawingml/2006/main">
              <a:ext uri="{FF2B5EF4-FFF2-40B4-BE49-F238E27FC236}">
                <a16:creationId xmlns:a16="http://schemas.microsoft.com/office/drawing/2014/main" id="{F69DB481-5385-40C6-8BEA-8619F0A3E7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2133600"/>
            <a:ext cx="316230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7" name="compat-card-fill-1-2">
            <a:extLst xmlns:a="http://schemas.openxmlformats.org/drawingml/2006/main">
              <a:ext uri="{FF2B5EF4-FFF2-40B4-BE49-F238E27FC236}">
                <a16:creationId xmlns:a16="http://schemas.microsoft.com/office/drawing/2014/main" id="{E4EF5A44-61F6-43D8-A716-C98483ED07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2514600"/>
            <a:ext cx="316230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8" name="compat-card-fill-1-3">
            <a:extLst xmlns:a="http://schemas.openxmlformats.org/drawingml/2006/main">
              <a:ext uri="{FF2B5EF4-FFF2-40B4-BE49-F238E27FC236}">
                <a16:creationId xmlns:a16="http://schemas.microsoft.com/office/drawing/2014/main" id="{2D5C7F0A-2376-4FCC-B006-D475EB4611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2895600"/>
            <a:ext cx="316230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" name="compat-card-1">
            <a:extLst xmlns:a="http://schemas.openxmlformats.org/drawingml/2006/main">
              <a:ext uri="{FF2B5EF4-FFF2-40B4-BE49-F238E27FC236}">
                <a16:creationId xmlns:a16="http://schemas.microsoft.com/office/drawing/2014/main" id="{6C151DE4-71A9-4FA2-9A44-BC59471961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076450"/>
            <a:ext cx="3276600" cy="1352550"/>
          </a:xfrm>
          <a:prstGeom xmlns:a="http://schemas.openxmlformats.org/drawingml/2006/main" prst="roundRect">
            <a:avLst>
              <a:gd name="adj" fmla="val 5634"/>
            </a:avLst>
          </a:prstGeom>
          <a:noFill xmlns:a="http://schemas.openxmlformats.org/drawingml/2006/main"/>
          <a:ln xmlns:a="http://schemas.openxmlformats.org/drawingml/2006/main" w="9525">
            <a:solidFill>
              <a:srgbClr val="DDE7F5"/>
            </a:solidFill>
            <a:prstDash val="solid"/>
          </a:ln>
        </p:spPr>
      </p:sp>
      <p:sp>
        <p:nvSpPr>
          <p:cNvPr id="30" name="compat-accent-1">
            <a:extLst xmlns:a="http://schemas.openxmlformats.org/drawingml/2006/main">
              <a:ext uri="{FF2B5EF4-FFF2-40B4-BE49-F238E27FC236}">
                <a16:creationId xmlns:a16="http://schemas.microsoft.com/office/drawing/2014/main" id="{4A5AF1A7-B885-4B88-B017-97B67775F8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228850"/>
            <a:ext cx="47625" cy="1047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6B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1" name="compat-title-1">
            <a:extLst xmlns:a="http://schemas.openxmlformats.org/drawingml/2006/main">
              <a:ext uri="{FF2B5EF4-FFF2-40B4-BE49-F238E27FC236}">
                <a16:creationId xmlns:a16="http://schemas.microsoft.com/office/drawing/2014/main" id="{34755EBE-93F0-4137-A1C0-A92B874AF4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2247900"/>
            <a:ext cx="27813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rPr>
              <a:t>轻量编码 Agent</a:t>
            </a:r>
          </a:p>
        </p:txBody>
      </p:sp>
      <p:sp>
        <p:nvSpPr>
          <p:cNvPr id="32" name="compat-name-1">
            <a:extLst xmlns:a="http://schemas.openxmlformats.org/drawingml/2006/main">
              <a:ext uri="{FF2B5EF4-FFF2-40B4-BE49-F238E27FC236}">
                <a16:creationId xmlns:a16="http://schemas.microsoft.com/office/drawing/2014/main" id="{7B4D9A5C-E768-4DC4-A8BF-A0C0D3177F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2533650"/>
            <a:ext cx="27813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950" b="1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 b="1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Pi</a:t>
            </a:r>
          </a:p>
        </p:txBody>
      </p:sp>
      <p:sp>
        <p:nvSpPr>
          <p:cNvPr id="33" name="compat-desc-1">
            <a:extLst xmlns:a="http://schemas.openxmlformats.org/drawingml/2006/main">
              <a:ext uri="{FF2B5EF4-FFF2-40B4-BE49-F238E27FC236}">
                <a16:creationId xmlns:a16="http://schemas.microsoft.com/office/drawing/2014/main" id="{6EEF4EE7-6902-4F7D-979E-88501EA448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2952750"/>
            <a:ext cx="28194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工具调用 · 文件读写 · Shell</a:t>
            </a:r>
          </a:p>
        </p:txBody>
      </p:sp>
      <p:sp>
        <p:nvSpPr>
          <p:cNvPr id="34" name="compat-card-fill-2-1">
            <a:extLst xmlns:a="http://schemas.openxmlformats.org/drawingml/2006/main">
              <a:ext uri="{FF2B5EF4-FFF2-40B4-BE49-F238E27FC236}">
                <a16:creationId xmlns:a16="http://schemas.microsoft.com/office/drawing/2014/main" id="{6678D41D-B7A4-47ED-A705-BC8B0F76C6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38650" y="2133600"/>
            <a:ext cx="316230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5" name="compat-card-fill-2-2">
            <a:extLst xmlns:a="http://schemas.openxmlformats.org/drawingml/2006/main">
              <a:ext uri="{FF2B5EF4-FFF2-40B4-BE49-F238E27FC236}">
                <a16:creationId xmlns:a16="http://schemas.microsoft.com/office/drawing/2014/main" id="{AF7B2C68-02AD-4AB9-9093-19F05DEF1A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38650" y="2514600"/>
            <a:ext cx="316230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6" name="compat-card-fill-2-3">
            <a:extLst xmlns:a="http://schemas.openxmlformats.org/drawingml/2006/main">
              <a:ext uri="{FF2B5EF4-FFF2-40B4-BE49-F238E27FC236}">
                <a16:creationId xmlns:a16="http://schemas.microsoft.com/office/drawing/2014/main" id="{E3636D79-096C-47D6-B78F-E30DAF504A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38650" y="2895600"/>
            <a:ext cx="316230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7" name="compat-card-2">
            <a:extLst xmlns:a="http://schemas.openxmlformats.org/drawingml/2006/main">
              <a:ext uri="{FF2B5EF4-FFF2-40B4-BE49-F238E27FC236}">
                <a16:creationId xmlns:a16="http://schemas.microsoft.com/office/drawing/2014/main" id="{59DCAF35-0EEB-4DA4-B734-CCF9E9C4CF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0" y="2076450"/>
            <a:ext cx="3276600" cy="1352550"/>
          </a:xfrm>
          <a:prstGeom xmlns:a="http://schemas.openxmlformats.org/drawingml/2006/main" prst="roundRect">
            <a:avLst>
              <a:gd name="adj" fmla="val 5634"/>
            </a:avLst>
          </a:prstGeom>
          <a:noFill xmlns:a="http://schemas.openxmlformats.org/drawingml/2006/main"/>
          <a:ln xmlns:a="http://schemas.openxmlformats.org/drawingml/2006/main" w="9525">
            <a:solidFill>
              <a:srgbClr val="DDE7F5"/>
            </a:solidFill>
            <a:prstDash val="solid"/>
          </a:ln>
        </p:spPr>
      </p:sp>
      <p:sp>
        <p:nvSpPr>
          <p:cNvPr id="38" name="compat-accent-2">
            <a:extLst xmlns:a="http://schemas.openxmlformats.org/drawingml/2006/main">
              <a:ext uri="{FF2B5EF4-FFF2-40B4-BE49-F238E27FC236}">
                <a16:creationId xmlns:a16="http://schemas.microsoft.com/office/drawing/2014/main" id="{6D379EDB-817E-4F0B-91DB-DF83E8488E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0" y="2228850"/>
            <a:ext cx="47625" cy="1047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6B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9" name="compat-title-2">
            <a:extLst xmlns:a="http://schemas.openxmlformats.org/drawingml/2006/main">
              <a:ext uri="{FF2B5EF4-FFF2-40B4-BE49-F238E27FC236}">
                <a16:creationId xmlns:a16="http://schemas.microsoft.com/office/drawing/2014/main" id="{E6BC2108-034B-409A-ABE7-485519372F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0100" y="2247900"/>
            <a:ext cx="27813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rPr>
              <a:t>专业编程 Agent</a:t>
            </a:r>
          </a:p>
        </p:txBody>
      </p:sp>
      <p:sp>
        <p:nvSpPr>
          <p:cNvPr id="40" name="compat-name-2">
            <a:extLst xmlns:a="http://schemas.openxmlformats.org/drawingml/2006/main">
              <a:ext uri="{FF2B5EF4-FFF2-40B4-BE49-F238E27FC236}">
                <a16:creationId xmlns:a16="http://schemas.microsoft.com/office/drawing/2014/main" id="{53F45C2E-A901-407B-AAAB-6E9BA20F45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0100" y="2533650"/>
            <a:ext cx="27813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950" b="1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 b="1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Codex</a:t>
            </a:r>
          </a:p>
        </p:txBody>
      </p:sp>
      <p:sp>
        <p:nvSpPr>
          <p:cNvPr id="41" name="compat-desc-2">
            <a:extLst xmlns:a="http://schemas.openxmlformats.org/drawingml/2006/main">
              <a:ext uri="{FF2B5EF4-FFF2-40B4-BE49-F238E27FC236}">
                <a16:creationId xmlns:a16="http://schemas.microsoft.com/office/drawing/2014/main" id="{7857053F-D439-4C53-B6DB-03E22CF164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0100" y="2952750"/>
            <a:ext cx="28194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AGENTS.md · Skills · MCP · 沙箱</a:t>
            </a:r>
          </a:p>
        </p:txBody>
      </p:sp>
      <p:sp>
        <p:nvSpPr>
          <p:cNvPr id="42" name="compat-card-fill-3-1">
            <a:extLst xmlns:a="http://schemas.openxmlformats.org/drawingml/2006/main">
              <a:ext uri="{FF2B5EF4-FFF2-40B4-BE49-F238E27FC236}">
                <a16:creationId xmlns:a16="http://schemas.microsoft.com/office/drawing/2014/main" id="{D02C6BBE-B855-49E3-9FFF-F9AAB4710C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81950" y="2133600"/>
            <a:ext cx="316230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3" name="compat-card-fill-3-2">
            <a:extLst xmlns:a="http://schemas.openxmlformats.org/drawingml/2006/main">
              <a:ext uri="{FF2B5EF4-FFF2-40B4-BE49-F238E27FC236}">
                <a16:creationId xmlns:a16="http://schemas.microsoft.com/office/drawing/2014/main" id="{777F7FB1-AD1C-4E78-AC1C-0C013DEA09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81950" y="2514600"/>
            <a:ext cx="316230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4" name="compat-card-fill-3-3">
            <a:extLst xmlns:a="http://schemas.openxmlformats.org/drawingml/2006/main">
              <a:ext uri="{FF2B5EF4-FFF2-40B4-BE49-F238E27FC236}">
                <a16:creationId xmlns:a16="http://schemas.microsoft.com/office/drawing/2014/main" id="{45AFEE63-5A0B-450B-8AC2-1BF30F6BF4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81950" y="2895600"/>
            <a:ext cx="316230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5" name="compat-card-3">
            <a:extLst xmlns:a="http://schemas.openxmlformats.org/drawingml/2006/main">
              <a:ext uri="{FF2B5EF4-FFF2-40B4-BE49-F238E27FC236}">
                <a16:creationId xmlns:a16="http://schemas.microsoft.com/office/drawing/2014/main" id="{EFD30262-A6C0-4D53-A7BF-1B52ACFE37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24800" y="2076450"/>
            <a:ext cx="3276600" cy="1352550"/>
          </a:xfrm>
          <a:prstGeom xmlns:a="http://schemas.openxmlformats.org/drawingml/2006/main" prst="roundRect">
            <a:avLst>
              <a:gd name="adj" fmla="val 5634"/>
            </a:avLst>
          </a:prstGeom>
          <a:noFill xmlns:a="http://schemas.openxmlformats.org/drawingml/2006/main"/>
          <a:ln xmlns:a="http://schemas.openxmlformats.org/drawingml/2006/main" w="9525">
            <a:solidFill>
              <a:srgbClr val="DDE7F5"/>
            </a:solidFill>
            <a:prstDash val="solid"/>
          </a:ln>
        </p:spPr>
      </p:sp>
      <p:sp>
        <p:nvSpPr>
          <p:cNvPr id="46" name="compat-accent-3">
            <a:extLst xmlns:a="http://schemas.openxmlformats.org/drawingml/2006/main">
              <a:ext uri="{FF2B5EF4-FFF2-40B4-BE49-F238E27FC236}">
                <a16:creationId xmlns:a16="http://schemas.microsoft.com/office/drawing/2014/main" id="{B425A560-FF61-42E2-8088-6874D276AB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24800" y="2228850"/>
            <a:ext cx="47625" cy="1047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6B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7" name="compat-title-3">
            <a:extLst xmlns:a="http://schemas.openxmlformats.org/drawingml/2006/main">
              <a:ext uri="{FF2B5EF4-FFF2-40B4-BE49-F238E27FC236}">
                <a16:creationId xmlns:a16="http://schemas.microsoft.com/office/drawing/2014/main" id="{DE4D6871-BF98-4AEC-B845-AFDCEC1FCA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53400" y="2247900"/>
            <a:ext cx="27813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rPr>
              <a:t>个人助理 Agent</a:t>
            </a:r>
          </a:p>
        </p:txBody>
      </p:sp>
      <p:sp>
        <p:nvSpPr>
          <p:cNvPr id="48" name="compat-name-3">
            <a:extLst xmlns:a="http://schemas.openxmlformats.org/drawingml/2006/main">
              <a:ext uri="{FF2B5EF4-FFF2-40B4-BE49-F238E27FC236}">
                <a16:creationId xmlns:a16="http://schemas.microsoft.com/office/drawing/2014/main" id="{DED0F3A4-98EC-4B28-99FD-5C1D27931B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53400" y="2533650"/>
            <a:ext cx="27813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950" b="1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 b="1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OpenClaw</a:t>
            </a:r>
          </a:p>
        </p:txBody>
      </p:sp>
      <p:sp>
        <p:nvSpPr>
          <p:cNvPr id="49" name="compat-desc-3">
            <a:extLst xmlns:a="http://schemas.openxmlformats.org/drawingml/2006/main">
              <a:ext uri="{FF2B5EF4-FFF2-40B4-BE49-F238E27FC236}">
                <a16:creationId xmlns:a16="http://schemas.microsoft.com/office/drawing/2014/main" id="{18FAF0F3-633A-440E-8341-7797379702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53400" y="2952750"/>
            <a:ext cx="28194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Gateway · 会话 · 记忆 · 渠道</a:t>
            </a:r>
          </a:p>
        </p:txBody>
      </p:sp>
      <p:sp>
        <p:nvSpPr>
          <p:cNvPr id="50" name="compat-card-fill-4-1">
            <a:extLst xmlns:a="http://schemas.openxmlformats.org/drawingml/2006/main">
              <a:ext uri="{FF2B5EF4-FFF2-40B4-BE49-F238E27FC236}">
                <a16:creationId xmlns:a16="http://schemas.microsoft.com/office/drawing/2014/main" id="{E0562B3F-3B89-4B8F-A3C5-10385080D4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3695700"/>
            <a:ext cx="316230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1" name="compat-card-fill-4-2">
            <a:extLst xmlns:a="http://schemas.openxmlformats.org/drawingml/2006/main">
              <a:ext uri="{FF2B5EF4-FFF2-40B4-BE49-F238E27FC236}">
                <a16:creationId xmlns:a16="http://schemas.microsoft.com/office/drawing/2014/main" id="{48C12C69-CFB1-4C46-BBD9-D4625CCBA5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4076700"/>
            <a:ext cx="316230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2" name="compat-card-fill-4-3">
            <a:extLst xmlns:a="http://schemas.openxmlformats.org/drawingml/2006/main">
              <a:ext uri="{FF2B5EF4-FFF2-40B4-BE49-F238E27FC236}">
                <a16:creationId xmlns:a16="http://schemas.microsoft.com/office/drawing/2014/main" id="{B526D05E-C47D-49D2-A72B-7996334C26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4457700"/>
            <a:ext cx="316230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3" name="compat-card-4">
            <a:extLst xmlns:a="http://schemas.openxmlformats.org/drawingml/2006/main">
              <a:ext uri="{FF2B5EF4-FFF2-40B4-BE49-F238E27FC236}">
                <a16:creationId xmlns:a16="http://schemas.microsoft.com/office/drawing/2014/main" id="{78665501-39CF-43AB-A709-09CE61C4A5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638550"/>
            <a:ext cx="3276600" cy="1352550"/>
          </a:xfrm>
          <a:prstGeom xmlns:a="http://schemas.openxmlformats.org/drawingml/2006/main" prst="roundRect">
            <a:avLst>
              <a:gd name="adj" fmla="val 5634"/>
            </a:avLst>
          </a:prstGeom>
          <a:noFill xmlns:a="http://schemas.openxmlformats.org/drawingml/2006/main"/>
          <a:ln xmlns:a="http://schemas.openxmlformats.org/drawingml/2006/main" w="9525">
            <a:solidFill>
              <a:srgbClr val="DDE7F5"/>
            </a:solidFill>
            <a:prstDash val="solid"/>
          </a:ln>
        </p:spPr>
      </p:sp>
      <p:sp>
        <p:nvSpPr>
          <p:cNvPr id="54" name="compat-accent-4">
            <a:extLst xmlns:a="http://schemas.openxmlformats.org/drawingml/2006/main">
              <a:ext uri="{FF2B5EF4-FFF2-40B4-BE49-F238E27FC236}">
                <a16:creationId xmlns:a16="http://schemas.microsoft.com/office/drawing/2014/main" id="{49B9AA27-CD03-495D-9699-BB6DE584A0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790950"/>
            <a:ext cx="47625" cy="1047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6B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5" name="compat-title-4">
            <a:extLst xmlns:a="http://schemas.openxmlformats.org/drawingml/2006/main">
              <a:ext uri="{FF2B5EF4-FFF2-40B4-BE49-F238E27FC236}">
                <a16:creationId xmlns:a16="http://schemas.microsoft.com/office/drawing/2014/main" id="{D90E428E-D28E-44FA-B3D2-A6261DEF95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3810000"/>
            <a:ext cx="27813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rPr>
              <a:t>团队协作 Agent</a:t>
            </a:r>
          </a:p>
        </p:txBody>
      </p:sp>
      <p:sp>
        <p:nvSpPr>
          <p:cNvPr id="56" name="compat-name-4">
            <a:extLst xmlns:a="http://schemas.openxmlformats.org/drawingml/2006/main">
              <a:ext uri="{FF2B5EF4-FFF2-40B4-BE49-F238E27FC236}">
                <a16:creationId xmlns:a16="http://schemas.microsoft.com/office/drawing/2014/main" id="{D67341F5-F649-4091-824C-34F94796A6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4095750"/>
            <a:ext cx="27813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950" b="1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 b="1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Hermes</a:t>
            </a:r>
          </a:p>
        </p:txBody>
      </p:sp>
      <p:sp>
        <p:nvSpPr>
          <p:cNvPr id="57" name="compat-desc-4">
            <a:extLst xmlns:a="http://schemas.openxmlformats.org/drawingml/2006/main">
              <a:ext uri="{FF2B5EF4-FFF2-40B4-BE49-F238E27FC236}">
                <a16:creationId xmlns:a16="http://schemas.microsoft.com/office/drawing/2014/main" id="{47CDDB18-5D86-4CBA-8410-B9E666436D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4514850"/>
            <a:ext cx="28194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协作 · 消息 · 任务 · 扩展</a:t>
            </a:r>
          </a:p>
        </p:txBody>
      </p:sp>
      <p:sp>
        <p:nvSpPr>
          <p:cNvPr id="58" name="compat-card-fill-5-1">
            <a:extLst xmlns:a="http://schemas.openxmlformats.org/drawingml/2006/main">
              <a:ext uri="{FF2B5EF4-FFF2-40B4-BE49-F238E27FC236}">
                <a16:creationId xmlns:a16="http://schemas.microsoft.com/office/drawing/2014/main" id="{396A1AB6-3033-43F3-ACA5-9A38A7DB04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38650" y="3695700"/>
            <a:ext cx="316230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9" name="compat-card-fill-5-2">
            <a:extLst xmlns:a="http://schemas.openxmlformats.org/drawingml/2006/main">
              <a:ext uri="{FF2B5EF4-FFF2-40B4-BE49-F238E27FC236}">
                <a16:creationId xmlns:a16="http://schemas.microsoft.com/office/drawing/2014/main" id="{341658E3-D68B-4E28-80D8-EE43D6BFCB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38650" y="4076700"/>
            <a:ext cx="316230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0" name="compat-card-fill-5-3">
            <a:extLst xmlns:a="http://schemas.openxmlformats.org/drawingml/2006/main">
              <a:ext uri="{FF2B5EF4-FFF2-40B4-BE49-F238E27FC236}">
                <a16:creationId xmlns:a16="http://schemas.microsoft.com/office/drawing/2014/main" id="{F78F7300-8212-4596-BBCE-56316A9D76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38650" y="4457700"/>
            <a:ext cx="316230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1" name="compat-card-5">
            <a:extLst xmlns:a="http://schemas.openxmlformats.org/drawingml/2006/main">
              <a:ext uri="{FF2B5EF4-FFF2-40B4-BE49-F238E27FC236}">
                <a16:creationId xmlns:a16="http://schemas.microsoft.com/office/drawing/2014/main" id="{9ADA23D9-4B4A-410F-95B5-E660DEDA7F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0" y="3638550"/>
            <a:ext cx="3276600" cy="1352550"/>
          </a:xfrm>
          <a:prstGeom xmlns:a="http://schemas.openxmlformats.org/drawingml/2006/main" prst="roundRect">
            <a:avLst>
              <a:gd name="adj" fmla="val 5634"/>
            </a:avLst>
          </a:prstGeom>
          <a:noFill xmlns:a="http://schemas.openxmlformats.org/drawingml/2006/main"/>
          <a:ln xmlns:a="http://schemas.openxmlformats.org/drawingml/2006/main" w="9525">
            <a:solidFill>
              <a:srgbClr val="DDE7F5"/>
            </a:solidFill>
            <a:prstDash val="solid"/>
          </a:ln>
        </p:spPr>
      </p:sp>
      <p:sp>
        <p:nvSpPr>
          <p:cNvPr id="62" name="compat-accent-5">
            <a:extLst xmlns:a="http://schemas.openxmlformats.org/drawingml/2006/main">
              <a:ext uri="{FF2B5EF4-FFF2-40B4-BE49-F238E27FC236}">
                <a16:creationId xmlns:a16="http://schemas.microsoft.com/office/drawing/2014/main" id="{211650E4-8E44-4E1D-B760-CDAD74E7CE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0" y="3790950"/>
            <a:ext cx="47625" cy="1047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6B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3" name="compat-title-5">
            <a:extLst xmlns:a="http://schemas.openxmlformats.org/drawingml/2006/main">
              <a:ext uri="{FF2B5EF4-FFF2-40B4-BE49-F238E27FC236}">
                <a16:creationId xmlns:a16="http://schemas.microsoft.com/office/drawing/2014/main" id="{8E1DBBC4-BF46-47E4-A7DB-7D88F6BF0B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0100" y="3810000"/>
            <a:ext cx="27813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rPr>
              <a:t>工程开发 Agent</a:t>
            </a:r>
          </a:p>
        </p:txBody>
      </p:sp>
      <p:sp>
        <p:nvSpPr>
          <p:cNvPr id="64" name="compat-name-5">
            <a:extLst xmlns:a="http://schemas.openxmlformats.org/drawingml/2006/main">
              <a:ext uri="{FF2B5EF4-FFF2-40B4-BE49-F238E27FC236}">
                <a16:creationId xmlns:a16="http://schemas.microsoft.com/office/drawing/2014/main" id="{B47D0A35-7660-433A-889E-BA518CAD73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0100" y="4095750"/>
            <a:ext cx="27813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950" b="1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 b="1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OpenCode</a:t>
            </a:r>
          </a:p>
        </p:txBody>
      </p:sp>
      <p:sp>
        <p:nvSpPr>
          <p:cNvPr id="65" name="compat-desc-5">
            <a:extLst xmlns:a="http://schemas.openxmlformats.org/drawingml/2006/main">
              <a:ext uri="{FF2B5EF4-FFF2-40B4-BE49-F238E27FC236}">
                <a16:creationId xmlns:a16="http://schemas.microsoft.com/office/drawing/2014/main" id="{31B375FF-D546-47FA-A589-63E7B6D57B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0100" y="4514850"/>
            <a:ext cx="28194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主 / 子 Agent · 工具权限 · 插件</a:t>
            </a:r>
          </a:p>
        </p:txBody>
      </p:sp>
      <p:sp>
        <p:nvSpPr>
          <p:cNvPr id="66" name="compat-card-fill-6-1">
            <a:extLst xmlns:a="http://schemas.openxmlformats.org/drawingml/2006/main">
              <a:ext uri="{FF2B5EF4-FFF2-40B4-BE49-F238E27FC236}">
                <a16:creationId xmlns:a16="http://schemas.microsoft.com/office/drawing/2014/main" id="{ECA9979D-C56C-4AA7-AA58-5B1AEACB7C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81950" y="3695700"/>
            <a:ext cx="316230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7" name="compat-card-fill-6-2">
            <a:extLst xmlns:a="http://schemas.openxmlformats.org/drawingml/2006/main">
              <a:ext uri="{FF2B5EF4-FFF2-40B4-BE49-F238E27FC236}">
                <a16:creationId xmlns:a16="http://schemas.microsoft.com/office/drawing/2014/main" id="{64024621-3F06-4AC9-9FF2-CF3E3393C1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81950" y="4076700"/>
            <a:ext cx="316230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8" name="compat-card-fill-6-3">
            <a:extLst xmlns:a="http://schemas.openxmlformats.org/drawingml/2006/main">
              <a:ext uri="{FF2B5EF4-FFF2-40B4-BE49-F238E27FC236}">
                <a16:creationId xmlns:a16="http://schemas.microsoft.com/office/drawing/2014/main" id="{DC1041DE-C570-4450-8E05-373C0B3D6B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81950" y="4457700"/>
            <a:ext cx="316230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9" name="compat-card-6">
            <a:extLst xmlns:a="http://schemas.openxmlformats.org/drawingml/2006/main">
              <a:ext uri="{FF2B5EF4-FFF2-40B4-BE49-F238E27FC236}">
                <a16:creationId xmlns:a16="http://schemas.microsoft.com/office/drawing/2014/main" id="{A0845199-7DAE-4F90-B433-E53849F2B7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24800" y="3638550"/>
            <a:ext cx="3276600" cy="1352550"/>
          </a:xfrm>
          <a:prstGeom xmlns:a="http://schemas.openxmlformats.org/drawingml/2006/main" prst="roundRect">
            <a:avLst>
              <a:gd name="adj" fmla="val 5634"/>
            </a:avLst>
          </a:prstGeom>
          <a:noFill xmlns:a="http://schemas.openxmlformats.org/drawingml/2006/main"/>
          <a:ln xmlns:a="http://schemas.openxmlformats.org/drawingml/2006/main" w="9525">
            <a:solidFill>
              <a:srgbClr val="DDE7F5"/>
            </a:solidFill>
            <a:prstDash val="solid"/>
          </a:ln>
        </p:spPr>
      </p:sp>
      <p:sp>
        <p:nvSpPr>
          <p:cNvPr id="70" name="compat-accent-6">
            <a:extLst xmlns:a="http://schemas.openxmlformats.org/drawingml/2006/main">
              <a:ext uri="{FF2B5EF4-FFF2-40B4-BE49-F238E27FC236}">
                <a16:creationId xmlns:a16="http://schemas.microsoft.com/office/drawing/2014/main" id="{1EAA9EC5-B647-4985-93CD-2920FC7D0E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24800" y="3790950"/>
            <a:ext cx="47625" cy="1047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6B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1" name="compat-title-6">
            <a:extLst xmlns:a="http://schemas.openxmlformats.org/drawingml/2006/main">
              <a:ext uri="{FF2B5EF4-FFF2-40B4-BE49-F238E27FC236}">
                <a16:creationId xmlns:a16="http://schemas.microsoft.com/office/drawing/2014/main" id="{80C194AA-D60E-4C5B-BEA3-071A33ECE2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53400" y="3810000"/>
            <a:ext cx="27813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rPr>
              <a:t>组合研究 Agent</a:t>
            </a:r>
          </a:p>
        </p:txBody>
      </p:sp>
      <p:sp>
        <p:nvSpPr>
          <p:cNvPr id="72" name="compat-name-6">
            <a:extLst xmlns:a="http://schemas.openxmlformats.org/drawingml/2006/main">
              <a:ext uri="{FF2B5EF4-FFF2-40B4-BE49-F238E27FC236}">
                <a16:creationId xmlns:a16="http://schemas.microsoft.com/office/drawing/2014/main" id="{3405F951-01AF-4756-B8E9-74CA638474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53400" y="4095750"/>
            <a:ext cx="27813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725" b="1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25" b="1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DeepSeek Harness</a:t>
            </a:r>
          </a:p>
        </p:txBody>
      </p:sp>
      <p:sp>
        <p:nvSpPr>
          <p:cNvPr id="73" name="compat-desc-6">
            <a:extLst xmlns:a="http://schemas.openxmlformats.org/drawingml/2006/main">
              <a:ext uri="{FF2B5EF4-FFF2-40B4-BE49-F238E27FC236}">
                <a16:creationId xmlns:a16="http://schemas.microsoft.com/office/drawing/2014/main" id="{2ECFBFFD-E59A-4A3A-8724-DE35492320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53400" y="4514850"/>
            <a:ext cx="28194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Profile · Bundle · Cordis · 审批</a:t>
            </a:r>
          </a:p>
        </p:txBody>
      </p:sp>
    </p:spTree>
    <p:extLst>
      <p:ext uri="{BB962C8B-B14F-4D97-AF65-F5344CB8AC3E}">
        <p14:creationId xmlns:p14="http://schemas.microsoft.com/office/powerpoint/2010/main" val="1152093156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22387266-2A32-4DAA-B660-5E5EABCE39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00050"/>
            <a:ext cx="495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00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rPr>
              <a:t>EVIDENCE · Agent 内核实证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48F1EAF-E370-4FDB-93A0-A8A1C5371A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42950"/>
            <a:ext cx="108204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315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15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技术尖峰已验证 Agent 核心链路，正式契约已通过验收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308558F-8F1D-45F1-B8C2-D2DFAE8A73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381125"/>
            <a:ext cx="108204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500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积木编辑、稳定 IR、确定性运行、保存重开与项目协议均有可复查证据。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41ACDB7-70DB-42B5-9BF7-1EC316D908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924050"/>
            <a:ext cx="4953000" cy="3886200"/>
          </a:xfrm>
          <a:prstGeom xmlns:a="http://schemas.openxmlformats.org/drawingml/2006/main" prst="roundRect">
            <a:avLst>
              <a:gd name="adj" fmla="val 5392"/>
            </a:avLst>
          </a:prstGeom>
          <a:solidFill xmlns:a="http://schemas.openxmlformats.org/drawingml/2006/main">
            <a:srgbClr val="F4F7F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910B61B-741F-4A50-9E91-8504EE4D57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2152650"/>
            <a:ext cx="2781300" cy="3238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61B3B13-0F03-4E53-89EB-30E7EAD811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2219325"/>
            <a:ext cx="25908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050" b="1" i="0">
                <a:solidFill>
                  <a:srgbClr val="17A67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 i="0">
                <a:solidFill>
                  <a:srgbClr val="17A673"/>
                </a:solidFill>
                <a:latin typeface="Microsoft YaHei"/>
                <a:ea typeface="Microsoft YaHei"/>
                <a:cs typeface="Microsoft YaHei"/>
              </a:rPr>
              <a:t>已验证 · Agent Core 技术尖峰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CC8F19B-7745-4186-8A85-EDA802BFDF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2762250"/>
            <a:ext cx="4324350" cy="2076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500" b="0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✓ 本地 Blockly 与稳定 Agent IR</a:t>
            </a:r>
          </a:p>
          <a:p xmlns:a="http://schemas.openxmlformats.org/drawingml/2006/main">
            <a:pPr algn="l">
              <a:buNone/>
              <a:defRPr sz="1500" b="0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✓ InteractionManifest / ToolContract</a:t>
            </a:r>
          </a:p>
          <a:p xmlns:a="http://schemas.openxmlformats.org/drawingml/2006/main">
            <a:pPr algn="l">
              <a:buNone/>
              <a:defRPr sz="1500" b="0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✓ 确定性 Agent Runtime 与窄 Tauri Host</a:t>
            </a:r>
          </a:p>
          <a:p xmlns:a="http://schemas.openxmlformats.org/drawingml/2006/main">
            <a:pPr algn="l">
              <a:buNone/>
              <a:defRPr sz="1500" b="0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✓ 100 积木 Agent 项目保存—重开</a:t>
            </a:r>
          </a:p>
          <a:p xmlns:a="http://schemas.openxmlformats.org/drawingml/2006/main">
            <a:pPr algn="l">
              <a:buNone/>
              <a:defRPr sz="1500" b="0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✓ 360 次循环 / 30 分钟长稳（历史精确提交）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7E5E0A2-E73F-44C7-BAD5-6A0D82C281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5219700"/>
            <a:ext cx="43243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350" b="1" i="0">
                <a:solidFill>
                  <a:srgbClr val="17A67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 i="0">
                <a:solidFill>
                  <a:srgbClr val="17A673"/>
                </a:solidFill>
                <a:latin typeface="Microsoft YaHei"/>
                <a:ea typeface="Microsoft YaHei"/>
                <a:cs typeface="Microsoft YaHei"/>
              </a:rPr>
              <a:t>结论：Agent 项目核心风险已有可复现实证。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B65E33F-B2AF-4819-8F01-A9FD68E3AE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0" y="1924050"/>
            <a:ext cx="5600700" cy="3886200"/>
          </a:xfrm>
          <a:prstGeom xmlns:a="http://schemas.openxmlformats.org/drawingml/2006/main" prst="roundRect">
            <a:avLst>
              <a:gd name="adj" fmla="val 5392"/>
            </a:avLst>
          </a:prstGeom>
          <a:solidFill xmlns:a="http://schemas.openxmlformats.org/drawingml/2006/main">
            <a:srgbClr val="F4F7F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E365F07-950A-4D07-A025-90EE487382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53150" y="2152650"/>
            <a:ext cx="3048000" cy="3238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6222E42-B3B5-4113-8A95-7228B5B7F0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2219325"/>
            <a:ext cx="2857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050" b="1" i="0">
                <a:solidFill>
                  <a:srgbClr val="EF4444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rPr>
              <a:t>正式契约 · Agent 产品地基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F7811E7-D896-4913-B268-3DD1943B29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72200" y="2647950"/>
            <a:ext cx="4857750" cy="2457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0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✓ Agent Project Manifest / Module Workspace / IR</a:t>
            </a:r>
          </a:p>
          <a:p xmlns:a="http://schemas.openxmlformats.org/drawingml/2006/main">
            <a:pPr algn="l">
              <a:buNone/>
              <a:defRPr sz="1200" b="0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✓ InteractionManifest / ToolContract</a:t>
            </a:r>
          </a:p>
          <a:p xmlns:a="http://schemas.openxmlformats.org/drawingml/2006/main">
            <a:pPr algn="l">
              <a:buNone/>
              <a:defRPr sz="1200" b="0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✓ RuntimeEvent / Diagnostic / Agent Trace</a:t>
            </a:r>
          </a:p>
          <a:p xmlns:a="http://schemas.openxmlformats.org/drawingml/2006/main">
            <a:pPr algn="l">
              <a:buNone/>
              <a:defRPr sz="1200" b="0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✓ Build Spec / Semantic Patch</a:t>
            </a:r>
          </a:p>
          <a:p xmlns:a="http://schemas.openxmlformats.org/drawingml/2006/main">
            <a:pPr algn="l">
              <a:buNone/>
              <a:defRPr sz="1200" b="0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✓ AppSurface / RPA / Window lifecycle</a:t>
            </a:r>
          </a:p>
          <a:p xmlns:a="http://schemas.openxmlformats.org/drawingml/2006/main">
            <a:pPr algn="l">
              <a:buNone/>
              <a:defRPr sz="1200" b="0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✓ Terminal / LogEnvelope / AuditRecord</a:t>
            </a:r>
          </a:p>
        </p:txBody>
      </p:sp>
      <p:pic>
        <p:nvPicPr>
          <p:cNvPr id="3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12f38f6cbe34483"/>
          <a:srcRect xmlns:a="http://schemas.openxmlformats.org/drawingml/2006/main" l="0" t="11290" r="0" b="1129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13335000" y="4095750"/>
            <a:ext cx="2952750" cy="1428750"/>
          </a:xfrm>
          <a:prstGeom xmlns:a="http://schemas.openxmlformats.org/drawingml/2006/main" prst="roundRect">
            <a:avLst>
              <a:gd name="adj" fmla="val 13333"/>
            </a:avLst>
          </a:prstGeom>
        </p:spPr>
      </p:pic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C236E84C-0488-46CA-AE0D-E70BA935F9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72200" y="5219700"/>
            <a:ext cx="4857750" cy="3238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0B122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0351F7CB-5C7D-4222-A237-0CBB7F6ED5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7450" y="5286375"/>
            <a:ext cx="4667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05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同一 Agent 语义贯通画布、CLI、官方 Skills、兼容模板与教育工作区。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C128B773-2B04-44AF-B2B3-BA8929F4D0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96050"/>
            <a:ext cx="10820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E3E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9CB40E5D-88E5-46E2-AEF4-2A8359C6C0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553200"/>
            <a:ext cx="4762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975" b="0" i="0">
                <a:solidFill>
                  <a:srgbClr val="98A2B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0" i="0">
                <a:solidFill>
                  <a:srgbClr val="98A2B3"/>
                </a:solidFill>
                <a:latin typeface="Microsoft YaHei"/>
                <a:ea typeface="Microsoft YaHei"/>
                <a:cs typeface="Microsoft YaHei"/>
              </a:rPr>
              <a:t>Blocky Studio · Agent 搭建教育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FB7AF61F-E60E-4BA3-B5A8-4BF88AFAFD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6553200"/>
            <a:ext cx="5524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975" b="0" i="0">
                <a:solidFill>
                  <a:srgbClr val="98A2B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0" i="0">
                <a:solidFill>
                  <a:srgbClr val="98A2B3"/>
                </a:solidFill>
                <a:latin typeface="Microsoft YaHei"/>
                <a:ea typeface="Microsoft YaHei"/>
                <a:cs typeface="Microsoft YaHei"/>
              </a:rPr>
              <a:t>09</a:t>
            </a:r>
          </a:p>
        </p:txBody>
      </p:sp>
    </p:spTree>
    <p:extLst>
      <p:ext uri="{BB962C8B-B14F-4D97-AF65-F5344CB8AC3E}">
        <p14:creationId xmlns:p14="http://schemas.microsoft.com/office/powerpoint/2010/main" val="831750542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3F8F04E4-5685-46EC-B7BF-FF503FC092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00050"/>
            <a:ext cx="495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00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rPr>
              <a:t>LEARNING OUTCOME · Agent 学习成效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5FCCFBD-EC4D-495B-9570-BB048A245D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42950"/>
            <a:ext cx="108204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315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15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3 分钟核验 4 项 Agent 搭建成果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CF493F2-5172-4084-94AC-6144F45F70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381125"/>
            <a:ext cx="108204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500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从 Agent 项目、结构讲解、来源引用到保存复现，课堂证据一次看清。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B084ED5-104D-4B3B-BA7D-6F35FC152F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076450"/>
            <a:ext cx="2419350" cy="2781300"/>
          </a:xfrm>
          <a:prstGeom xmlns:a="http://schemas.openxmlformats.org/drawingml/2006/main" prst="roundRect">
            <a:avLst>
              <a:gd name="adj" fmla="val 8661"/>
            </a:avLst>
          </a:prstGeom>
          <a:solidFill xmlns:a="http://schemas.openxmlformats.org/drawingml/2006/main">
            <a:srgbClr val="F4F7F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8BE7AD9-2F88-4BEC-9E9A-6C8E2BE2CB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2286000"/>
            <a:ext cx="571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rPr>
              <a:t>01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141301F-E876-4E53-B5B1-F226FE8593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2781300"/>
            <a:ext cx="20002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255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55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搭得出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F20170A-1964-4746-B530-F4E1E4EF4D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3562350"/>
            <a:ext cx="2000250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500" b="0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蓝图变成可运行 Agent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262643C-E4A7-4144-849B-26D585C557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90900" y="2076450"/>
            <a:ext cx="2419350" cy="2781300"/>
          </a:xfrm>
          <a:prstGeom xmlns:a="http://schemas.openxmlformats.org/drawingml/2006/main" prst="roundRect">
            <a:avLst>
              <a:gd name="adj" fmla="val 8661"/>
            </a:avLst>
          </a:prstGeom>
          <a:solidFill xmlns:a="http://schemas.openxmlformats.org/drawingml/2006/main">
            <a:srgbClr val="F4F7F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C841C02-BC0E-44C6-8C20-F2749EB780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00450" y="2286000"/>
            <a:ext cx="571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00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rPr>
              <a:t>02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F212ABA-CC1D-4413-A11C-66EFF83035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00450" y="2781300"/>
            <a:ext cx="20002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255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55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说得清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917920F-5001-4FBE-B984-FF8CDE84CD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00450" y="3562350"/>
            <a:ext cx="2000250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500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指出关键积木与运行轨迹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B39D476-BFC0-467D-953B-DAD47B6E17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2076450"/>
            <a:ext cx="2419350" cy="2781300"/>
          </a:xfrm>
          <a:prstGeom xmlns:a="http://schemas.openxmlformats.org/drawingml/2006/main" prst="roundRect">
            <a:avLst>
              <a:gd name="adj" fmla="val 8661"/>
            </a:avLst>
          </a:prstGeom>
          <a:solidFill xmlns:a="http://schemas.openxmlformats.org/drawingml/2006/main">
            <a:srgbClr val="F4F7F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C1DBFFE6-3806-4E0B-B8B2-4849CEE10E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5550" y="2286000"/>
            <a:ext cx="571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00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rPr>
              <a:t>03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8EA4E758-33B1-4B19-AC92-39FB3CD8E4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5550" y="2781300"/>
            <a:ext cx="20002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255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55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引得准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63D6523-38D3-4000-876A-1730A7882E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5550" y="3562350"/>
            <a:ext cx="2000250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500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回答有来源，证据不足会拒答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18784C53-44C1-42A2-B33A-A95ACBEBF7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01100" y="2076450"/>
            <a:ext cx="2419350" cy="2781300"/>
          </a:xfrm>
          <a:prstGeom xmlns:a="http://schemas.openxmlformats.org/drawingml/2006/main" prst="roundRect">
            <a:avLst>
              <a:gd name="adj" fmla="val 8661"/>
            </a:avLst>
          </a:prstGeom>
          <a:solidFill xmlns:a="http://schemas.openxmlformats.org/drawingml/2006/main">
            <a:srgbClr val="F4F7F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00ED2EAD-8316-4D07-B9D2-EF0FD529EF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10650" y="2286000"/>
            <a:ext cx="571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00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rPr>
              <a:t>04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EFE2529C-D364-4829-A0AC-71E3C7BE25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10650" y="2781300"/>
            <a:ext cx="20002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255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55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复现得了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D4EB2C4D-2107-42C6-974F-818DE79A7C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10650" y="3562350"/>
            <a:ext cx="2000250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500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保存重开，Agent 行为一致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96CB4DB1-39DE-46AA-9842-ACA8ED2F9E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76400" y="5219700"/>
            <a:ext cx="8839200" cy="685800"/>
          </a:xfrm>
          <a:prstGeom xmlns:a="http://schemas.openxmlformats.org/drawingml/2006/main" prst="roundRect">
            <a:avLst>
              <a:gd name="adj" fmla="val 25000"/>
            </a:avLst>
          </a:prstGeom>
          <a:solidFill xmlns:a="http://schemas.openxmlformats.org/drawingml/2006/main">
            <a:srgbClr val="EAF2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40885AED-F686-45CE-BACD-85EAF9B1C6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05000" y="5410200"/>
            <a:ext cx="8382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575" b="1" i="0">
                <a:solidFill>
                  <a:srgbClr val="F7900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rPr>
              <a:t>课堂验收：Agent 搭建、解释、引用、复现四项证据同屏呈现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0FF81F25-CA1D-42EA-95BF-4FA2DCB1B7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96050"/>
            <a:ext cx="10820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E3E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111AEA12-AB50-4D32-8FDF-96E4B5B4CC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553200"/>
            <a:ext cx="4762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975" b="0" i="0">
                <a:solidFill>
                  <a:srgbClr val="98A2B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0" i="0">
                <a:solidFill>
                  <a:srgbClr val="98A2B3"/>
                </a:solidFill>
                <a:latin typeface="Microsoft YaHei"/>
                <a:ea typeface="Microsoft YaHei"/>
                <a:cs typeface="Microsoft YaHei"/>
              </a:rPr>
              <a:t>Blocky Studio · Agent 搭建教育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515CDD87-5796-4A69-900F-7A9A60775B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6553200"/>
            <a:ext cx="5524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975" b="0" i="0">
                <a:solidFill>
                  <a:srgbClr val="98A2B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0" i="0">
                <a:solidFill>
                  <a:srgbClr val="98A2B3"/>
                </a:solidFill>
                <a:latin typeface="Microsoft YaHei"/>
                <a:ea typeface="Microsoft YaHei"/>
                <a:cs typeface="Microsoft YaHei"/>
              </a:rPr>
              <a:t>10</a:t>
            </a:r>
          </a:p>
        </p:txBody>
      </p:sp>
    </p:spTree>
    <p:extLst>
      <p:ext uri="{BB962C8B-B14F-4D97-AF65-F5344CB8AC3E}">
        <p14:creationId xmlns:p14="http://schemas.microsoft.com/office/powerpoint/2010/main" val="1537898588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99D9F801-11D2-4770-9D73-CC453882A4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00050"/>
            <a:ext cx="495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00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rPr>
              <a:t>BUSINESS MODEL · Agent 教育商业模式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86EEE3C-F2DB-419D-8E4A-C0492B7CB5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42950"/>
            <a:ext cx="108204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315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15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免费 Agent 搭建底座进入课堂，持续服务形成收入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8485F63-6E1A-4874-B484-F14079A9F0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962150"/>
            <a:ext cx="3276600" cy="3162300"/>
          </a:xfrm>
          <a:prstGeom xmlns:a="http://schemas.openxmlformats.org/drawingml/2006/main" prst="roundRect">
            <a:avLst>
              <a:gd name="adj" fmla="val 6627"/>
            </a:avLst>
          </a:prstGeom>
          <a:solidFill xmlns:a="http://schemas.openxmlformats.org/drawingml/2006/main">
            <a:srgbClr val="F4F7F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21055DC-BEB6-4BE8-9F0C-89EEC418AE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171700"/>
            <a:ext cx="4953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00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rPr>
              <a:t>01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442DAFB-92E8-4CB8-A483-FAEE19A83F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647950"/>
            <a:ext cx="28194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2025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免费 Agent 搭建底座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0B875B8-3BFF-4492-8F51-45AD8698F5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181350"/>
            <a:ext cx="28194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425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rPr>
              <a:t>获客与学习入口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1A8D270-B003-44BF-BFD5-A5C035F241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714750"/>
            <a:ext cx="2819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425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离线可用 / 无需登录</a:t>
            </a:r>
          </a:p>
          <a:p xmlns:a="http://schemas.openxmlformats.org/drawingml/2006/main">
            <a:pPr algn="l">
              <a:buNone/>
              <a:defRPr sz="1425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Agent 搭建、运行与保存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EBC6560-7379-4A0D-9771-514028A7AD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67200" y="1962150"/>
            <a:ext cx="3276600" cy="3162300"/>
          </a:xfrm>
          <a:prstGeom xmlns:a="http://schemas.openxmlformats.org/drawingml/2006/main" prst="roundRect">
            <a:avLst>
              <a:gd name="adj" fmla="val 6627"/>
            </a:avLst>
          </a:prstGeom>
          <a:solidFill xmlns:a="http://schemas.openxmlformats.org/drawingml/2006/main">
            <a:srgbClr val="F4F7F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479BD13-F0A6-4588-A04F-EFD3FB3E5D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95800" y="2171700"/>
            <a:ext cx="4953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00" b="1" i="0">
                <a:solidFill>
                  <a:srgbClr val="F7900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rPr>
              <a:t>02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EE2392B-87FB-4350-BDE4-FDF3924088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95800" y="2647950"/>
            <a:ext cx="28194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2025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个人 Agent 扩展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1F2061D-88A6-46E7-90EB-F6D30A2591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95800" y="3181350"/>
            <a:ext cx="28194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425" b="1" i="0">
                <a:solidFill>
                  <a:srgbClr val="F7900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rPr>
              <a:t>高频搭建者付费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8ACC134-48BA-48A7-8F54-C4127DC421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95800" y="3714750"/>
            <a:ext cx="2819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425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高级模型、工具、Skills 与资源</a:t>
            </a:r>
          </a:p>
          <a:p xmlns:a="http://schemas.openxmlformats.org/drawingml/2006/main">
            <a:pPr algn="l">
              <a:buNone/>
              <a:defRPr sz="1425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¥980/年为设计基线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BC67FA5-AD1C-45CC-9AA3-7D6ED066A0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48600" y="1962150"/>
            <a:ext cx="3276600" cy="3162300"/>
          </a:xfrm>
          <a:prstGeom xmlns:a="http://schemas.openxmlformats.org/drawingml/2006/main" prst="roundRect">
            <a:avLst>
              <a:gd name="adj" fmla="val 6627"/>
            </a:avLst>
          </a:prstGeom>
          <a:solidFill xmlns:a="http://schemas.openxmlformats.org/drawingml/2006/main">
            <a:srgbClr val="F4F7F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9E970C2-1B42-4711-A3FD-1EAF4B668C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77200" y="2171700"/>
            <a:ext cx="4953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00" b="1" i="0">
                <a:solidFill>
                  <a:srgbClr val="17A67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rPr>
              <a:t>03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6A5DA7E4-9817-4475-9421-F8AB56E32E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77200" y="2647950"/>
            <a:ext cx="28194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2025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学校 / 机构授权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19CFD50C-AF56-4D8F-9D4D-8DD1578703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77200" y="3181350"/>
            <a:ext cx="28194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425" b="1" i="0">
                <a:solidFill>
                  <a:srgbClr val="17A67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rPr>
              <a:t>规模化课程服务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9EE82D53-5E47-4036-9F9E-1A9818A586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77200" y="3714750"/>
            <a:ext cx="2819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425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教师管理、班级与作业</a:t>
            </a:r>
          </a:p>
          <a:p xmlns:a="http://schemas.openxmlformats.org/drawingml/2006/main">
            <a:pPr algn="l">
              <a:buNone/>
              <a:defRPr sz="1425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Agent 课程、支持与私有化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16EBF9D9-166F-487F-AF75-7142C97432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391150"/>
            <a:ext cx="108204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350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先验证 Agent 课程价值、教师复用与学生搭建成效，再拓展个人与机构服务。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19A82CBC-DA42-4D42-A9D8-24F2DCAFE4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96050"/>
            <a:ext cx="10820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E3E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FD651773-040F-4A56-B7E6-CA9911EA4D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553200"/>
            <a:ext cx="4762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975" b="0" i="0">
                <a:solidFill>
                  <a:srgbClr val="98A2B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0" i="0">
                <a:solidFill>
                  <a:srgbClr val="98A2B3"/>
                </a:solidFill>
                <a:latin typeface="Microsoft YaHei"/>
                <a:ea typeface="Microsoft YaHei"/>
                <a:cs typeface="Microsoft YaHei"/>
              </a:rPr>
              <a:t>Blocky Studio · Agent 搭建教育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17371BBA-887D-4B81-B454-F5A217BE2D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6553200"/>
            <a:ext cx="5524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975" b="0" i="0">
                <a:solidFill>
                  <a:srgbClr val="98A2B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0" i="0">
                <a:solidFill>
                  <a:srgbClr val="98A2B3"/>
                </a:solidFill>
                <a:latin typeface="Microsoft YaHei"/>
                <a:ea typeface="Microsoft YaHei"/>
                <a:cs typeface="Microsoft YaHei"/>
              </a:rPr>
              <a:t>11</a:t>
            </a:r>
          </a:p>
        </p:txBody>
      </p:sp>
    </p:spTree>
    <p:extLst>
      <p:ext uri="{BB962C8B-B14F-4D97-AF65-F5344CB8AC3E}">
        <p14:creationId xmlns:p14="http://schemas.microsoft.com/office/powerpoint/2010/main" val="689441413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B6A27B5C-FFF8-4BA6-8AA8-D1D9233B5B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00050"/>
            <a:ext cx="495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00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rPr>
              <a:t>SAFETY · Agent 教育边界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A8EE994-63C8-4810-8512-496778EA15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42950"/>
            <a:ext cx="108204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315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15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学生搭 Agent，也学会权限、证据与责任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78C2394-E478-4A35-ACBE-A67CFD1703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000250"/>
            <a:ext cx="5105400" cy="1428750"/>
          </a:xfrm>
          <a:prstGeom xmlns:a="http://schemas.openxmlformats.org/drawingml/2006/main" prst="roundRect">
            <a:avLst>
              <a:gd name="adj" fmla="val 13333"/>
            </a:avLst>
          </a:prstGeom>
          <a:solidFill xmlns:a="http://schemas.openxmlformats.org/drawingml/2006/main">
            <a:srgbClr val="F4F7F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DA8FFC8-C87E-4425-842E-FF0B441019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266950"/>
            <a:ext cx="438150" cy="4381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76B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3A22C28-74B8-480B-A5F0-7E848C1209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381250"/>
            <a:ext cx="438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275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1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1149FBD-B9E2-4937-8B71-F37ADC28A0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2228850"/>
            <a:ext cx="39433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725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25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本地 Agent / 无密钥优先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262D701-95C6-4BED-A41F-8D6A6AF6AC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2647950"/>
            <a:ext cx="39433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350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降低首次搭建门槛，减少学生接触真实密钥与外部账户。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E5B7810-3F26-43BB-93A0-F55D68BF75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2000250"/>
            <a:ext cx="5105400" cy="1428750"/>
          </a:xfrm>
          <a:prstGeom xmlns:a="http://schemas.openxmlformats.org/drawingml/2006/main" prst="roundRect">
            <a:avLst>
              <a:gd name="adj" fmla="val 13333"/>
            </a:avLst>
          </a:prstGeom>
          <a:solidFill xmlns:a="http://schemas.openxmlformats.org/drawingml/2006/main">
            <a:srgbClr val="F4F7F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B718EFF-3796-4785-9452-469623611F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2266950"/>
            <a:ext cx="438150" cy="4381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76B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26341AC-2841-4CC4-9481-27E550260A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2381250"/>
            <a:ext cx="438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275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2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9382CA7-1DDC-4F08-83E5-C455DB14BA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34200" y="2228850"/>
            <a:ext cx="39433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725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25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教师锁定 Agent 资料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D0B39A9-8513-47ED-A1BC-F37C3E47D7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34200" y="2647950"/>
            <a:ext cx="39433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350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学生自主设计角色与流程，课程知识和回答边界保持清晰。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A4452A7-E5CE-4924-A445-B48DA60A64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695700"/>
            <a:ext cx="5105400" cy="1428750"/>
          </a:xfrm>
          <a:prstGeom xmlns:a="http://schemas.openxmlformats.org/drawingml/2006/main" prst="roundRect">
            <a:avLst>
              <a:gd name="adj" fmla="val 13333"/>
            </a:avLst>
          </a:prstGeom>
          <a:solidFill xmlns:a="http://schemas.openxmlformats.org/drawingml/2006/main">
            <a:srgbClr val="F4F7F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B2D7D452-E553-4345-AF90-902F7EB5B8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962400"/>
            <a:ext cx="438150" cy="4381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76B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324F0E1-6D97-4839-AE0B-76B2877E1C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076700"/>
            <a:ext cx="438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275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3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34753769-E44A-4AD1-B4F6-DA8F0484AE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3924300"/>
            <a:ext cx="39433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725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25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Agent 权限显式可见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B50EC42B-1C31-477E-9175-1ACFD0A97C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4343400"/>
            <a:ext cx="39433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350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文件、网络、工具与高风险操作在运行前可见、可解释。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3A0FC9EB-61C0-4993-B35C-2BE0AF1D51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3695700"/>
            <a:ext cx="5105400" cy="1428750"/>
          </a:xfrm>
          <a:prstGeom xmlns:a="http://schemas.openxmlformats.org/drawingml/2006/main" prst="roundRect">
            <a:avLst>
              <a:gd name="adj" fmla="val 13333"/>
            </a:avLst>
          </a:prstGeom>
          <a:solidFill xmlns:a="http://schemas.openxmlformats.org/drawingml/2006/main">
            <a:srgbClr val="F4F7F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E09E6542-76CB-47D0-9041-4F49CD089E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3962400"/>
            <a:ext cx="438150" cy="4381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76B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7A926C71-5036-45B0-8D5C-FA1AA0A169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4076700"/>
            <a:ext cx="438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275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4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6969A4BE-6C95-405D-B13D-444A3D1374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34200" y="3924300"/>
            <a:ext cx="39433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725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25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Agent 轨迹可回放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91A712BE-4630-4C3A-BB09-CE74B5161B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34200" y="4343400"/>
            <a:ext cx="39433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350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教师复核每步运行；日志先脱敏，项目文件不混入秘密。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77BE1531-D33C-4A90-9B37-2141B9C022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5562600"/>
            <a:ext cx="9486900" cy="495300"/>
          </a:xfrm>
          <a:prstGeom xmlns:a="http://schemas.openxmlformats.org/drawingml/2006/main" prst="roundRect">
            <a:avLst>
              <a:gd name="adj" fmla="val 30769"/>
            </a:avLst>
          </a:prstGeom>
          <a:solidFill xmlns:a="http://schemas.openxmlformats.org/drawingml/2006/main">
            <a:srgbClr val="0B122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FD47111A-BC8B-4568-93D9-021AC2753C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76400" y="5695950"/>
            <a:ext cx="88392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65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让学生在有边界的系统里，负责任地搭建和运行 Agent。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5D1533BF-D6C7-4A7C-A78F-589AA8E1A1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96050"/>
            <a:ext cx="10820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E3E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0F028915-1625-43AF-BAE1-77E7B4A056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553200"/>
            <a:ext cx="4762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975" b="0" i="0">
                <a:solidFill>
                  <a:srgbClr val="98A2B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0" i="0">
                <a:solidFill>
                  <a:srgbClr val="98A2B3"/>
                </a:solidFill>
                <a:latin typeface="Microsoft YaHei"/>
                <a:ea typeface="Microsoft YaHei"/>
                <a:cs typeface="Microsoft YaHei"/>
              </a:rPr>
              <a:t>Blocky Studio · Agent 搭建教育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D3B49644-EB01-4511-9C5F-A6CFAC638B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6553200"/>
            <a:ext cx="5524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975" b="0" i="0">
                <a:solidFill>
                  <a:srgbClr val="98A2B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0" i="0">
                <a:solidFill>
                  <a:srgbClr val="98A2B3"/>
                </a:solidFill>
                <a:latin typeface="Microsoft YaHei"/>
                <a:ea typeface="Microsoft YaHei"/>
                <a:cs typeface="Microsoft YaHei"/>
              </a:rPr>
              <a:t>12</a:t>
            </a:r>
          </a:p>
        </p:txBody>
      </p:sp>
    </p:spTree>
    <p:extLst>
      <p:ext uri="{BB962C8B-B14F-4D97-AF65-F5344CB8AC3E}">
        <p14:creationId xmlns:p14="http://schemas.microsoft.com/office/powerpoint/2010/main" val="1648109088"/>
      </p:ext>
    </p:extLst>
  </p:cSld>
</p:sld>
</file>

<file path=ppt/slides/slide1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1DCC6F84-8BFD-4DC2-AE43-C07A642B0C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00050"/>
            <a:ext cx="495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00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rPr>
              <a:t>ROADMAP · Agent 教育增长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626672A-6BAD-4BD0-9897-1F45650539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42950"/>
            <a:ext cx="108204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315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15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从 Agent 课堂实证走向规模化教育产品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374BDB8-14F8-4C09-98A8-8831E865E6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381125"/>
            <a:ext cx="108204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425" b="0" i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0" i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初赛展示 Agent 闭环，复赛沉淀教师数据，总决赛验证兼容与商业价值。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2B3A09C-E327-4DD7-9622-61EE7B47DB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2857500"/>
            <a:ext cx="87630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E3E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553C3AD-B7D8-4F86-A8E8-F4F73F6829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038350"/>
            <a:ext cx="3276600" cy="3371850"/>
          </a:xfrm>
          <a:prstGeom xmlns:a="http://schemas.openxmlformats.org/drawingml/2006/main" prst="roundRect">
            <a:avLst>
              <a:gd name="adj" fmla="val 6395"/>
            </a:avLst>
          </a:prstGeom>
          <a:solidFill xmlns:a="http://schemas.openxmlformats.org/drawingml/2006/main">
            <a:srgbClr val="F4F7F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CFAA13D-BC4C-4E24-90E4-C82C2AAF5B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247900"/>
            <a:ext cx="1352550" cy="3238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AF2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AA21C63-41D7-4B89-9ECD-10A8AAA9BC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2314575"/>
            <a:ext cx="116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050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rPr>
              <a:t>初赛 · 8 月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A960893-812F-4515-BB0D-E599F2A2E6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819400"/>
            <a:ext cx="28194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21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Agent 闭环实证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E63E199-42F3-42FC-A624-654CED799D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486150"/>
            <a:ext cx="28194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500" b="0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完成 3 分钟 Agent 搭建</a:t>
            </a:r>
          </a:p>
          <a:p xmlns:a="http://schemas.openxmlformats.org/drawingml/2006/main">
            <a:pPr algn="l">
              <a:buNone/>
              <a:defRPr sz="1500" b="0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补齐演示视频与材料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78FA2BC-D976-4B4E-B812-9B8C67396D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514850"/>
            <a:ext cx="2819400" cy="609600"/>
          </a:xfrm>
          <a:prstGeom xmlns:a="http://schemas.openxmlformats.org/drawingml/2006/main" prst="roundRect">
            <a:avLst>
              <a:gd name="adj" fmla="val 2187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4A5C778-6581-4982-A19C-B62ECA6961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4657725"/>
            <a:ext cx="25527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125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门槛：Agent 可运行、可解释、可重开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EE3CF2E-91AD-4331-8107-0E3D29EC3D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67200" y="2038350"/>
            <a:ext cx="3276600" cy="3371850"/>
          </a:xfrm>
          <a:prstGeom xmlns:a="http://schemas.openxmlformats.org/drawingml/2006/main" prst="roundRect">
            <a:avLst>
              <a:gd name="adj" fmla="val 6395"/>
            </a:avLst>
          </a:prstGeom>
          <a:solidFill xmlns:a="http://schemas.openxmlformats.org/drawingml/2006/main">
            <a:srgbClr val="F4F7F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EBFA11B-38D4-4760-9FCB-3F3666BEBB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95800" y="2247900"/>
            <a:ext cx="1352550" cy="3238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AF2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51FEE58-EFE6-4853-BBD5-9568C92BFA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91050" y="2314575"/>
            <a:ext cx="116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050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rPr>
              <a:t>复赛 · 9 月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9EDDC933-92A5-4FED-BA8A-E56C00BE67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95800" y="2819400"/>
            <a:ext cx="28194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210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Agent 课堂试点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AFCD2712-61AC-442C-9AB7-6DF2BB972B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95800" y="3486150"/>
            <a:ext cx="28194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0" i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 i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接入真实 RAG / 模型</a:t>
            </a:r>
          </a:p>
          <a:p xmlns:a="http://schemas.openxmlformats.org/drawingml/2006/main">
            <a:pPr algn="l">
              <a:buNone/>
              <a:defRPr sz="1275" b="0" i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 i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邀请 3–5 位教师共创</a:t>
            </a:r>
          </a:p>
          <a:p xmlns:a="http://schemas.openxmlformats.org/drawingml/2006/main">
            <a:pPr algn="l">
              <a:buNone/>
              <a:defRPr sz="1275" b="0" i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 i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记录搭建率与解释率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527CF10E-DA5A-4AAE-AB25-14CB6D43D1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95800" y="4514850"/>
            <a:ext cx="2819400" cy="609600"/>
          </a:xfrm>
          <a:prstGeom xmlns:a="http://schemas.openxmlformats.org/drawingml/2006/main" prst="roundRect">
            <a:avLst>
              <a:gd name="adj" fmla="val 2187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84D2FDBE-4F77-4C2D-878F-0227255214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29150" y="4657725"/>
            <a:ext cx="25527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125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门槛：搭建率、解释率、引用与拒答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322D5919-A3E1-4D75-832F-367C9E4597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48600" y="2038350"/>
            <a:ext cx="3276600" cy="3371850"/>
          </a:xfrm>
          <a:prstGeom xmlns:a="http://schemas.openxmlformats.org/drawingml/2006/main" prst="roundRect">
            <a:avLst>
              <a:gd name="adj" fmla="val 6395"/>
            </a:avLst>
          </a:prstGeom>
          <a:solidFill xmlns:a="http://schemas.openxmlformats.org/drawingml/2006/main">
            <a:srgbClr val="F4F7F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0B30024B-6E1D-4848-BB01-69045347E9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77200" y="2247900"/>
            <a:ext cx="1352550" cy="3238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AF2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DE31B707-C157-4B57-A5C8-18EAEFCD5B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72450" y="2314575"/>
            <a:ext cx="116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050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rPr>
              <a:t>总决赛 · 11 月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7828F3A8-4035-4816-9988-13064A53FC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77200" y="2819400"/>
            <a:ext cx="28194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95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Agent 产品验证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1AFBF23B-D68D-4F20-BE5E-AAF52D68A6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77200" y="3486150"/>
            <a:ext cx="28194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0" i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 i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汇报试点数据</a:t>
            </a:r>
          </a:p>
          <a:p xmlns:a="http://schemas.openxmlformats.org/drawingml/2006/main">
            <a:pPr algn="l">
              <a:buNone/>
              <a:defRPr sz="1275" b="0" i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 i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Pi / Codex 兼容报告</a:t>
            </a:r>
          </a:p>
          <a:p xmlns:a="http://schemas.openxmlformats.org/drawingml/2006/main">
            <a:pPr algn="l">
              <a:buNone/>
              <a:defRPr sz="1275" b="0" i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 i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验证教育扩展与机构意向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67E05B61-C16B-45CB-AFAD-BB6C34DA63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77200" y="4514850"/>
            <a:ext cx="2819400" cy="609600"/>
          </a:xfrm>
          <a:prstGeom xmlns:a="http://schemas.openxmlformats.org/drawingml/2006/main" prst="roundRect">
            <a:avLst>
              <a:gd name="adj" fmla="val 2187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4A3DD4C9-0FA5-4AFF-B6B9-BCBE6CFB0C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10550" y="4657725"/>
            <a:ext cx="25527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125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门槛：教师复用、兼容边界、付费试点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77FBF995-549B-4E58-8D25-0A2AA8E6E9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638800"/>
            <a:ext cx="108204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125" b="0" i="0">
                <a:solidFill>
                  <a:srgbClr val="94A3B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 i="0">
                <a:solidFill>
                  <a:srgbClr val="94A3B8"/>
                </a:solidFill>
                <a:latin typeface="Microsoft YaHei"/>
                <a:ea typeface="Microsoft YaHei"/>
                <a:cs typeface="Microsoft YaHei"/>
              </a:rPr>
              <a:t>六模板兼容版图与四个官方 Skills 构成 Agent 生态增长路线。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A18EE038-19C7-497F-94F8-E75E33313E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96050"/>
            <a:ext cx="10820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E3E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6B382FD1-A237-43FF-AF48-F064C6ABAB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553200"/>
            <a:ext cx="4762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975" b="0" i="0">
                <a:solidFill>
                  <a:srgbClr val="98A2B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0" i="0">
                <a:solidFill>
                  <a:srgbClr val="98A2B3"/>
                </a:solidFill>
                <a:latin typeface="Microsoft YaHei"/>
                <a:ea typeface="Microsoft YaHei"/>
                <a:cs typeface="Microsoft YaHei"/>
              </a:rPr>
              <a:t>Blocky Studio · Agent 搭建教育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58BCD0CB-5032-4335-BCEC-D460711666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6553200"/>
            <a:ext cx="5524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975" b="0" i="0">
                <a:solidFill>
                  <a:srgbClr val="98A2B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0" i="0">
                <a:solidFill>
                  <a:srgbClr val="98A2B3"/>
                </a:solidFill>
                <a:latin typeface="Microsoft YaHei"/>
                <a:ea typeface="Microsoft YaHei"/>
                <a:cs typeface="Microsoft YaHei"/>
              </a:rPr>
              <a:t>13</a:t>
            </a:r>
          </a:p>
        </p:txBody>
      </p:sp>
    </p:spTree>
    <p:extLst>
      <p:ext uri="{BB962C8B-B14F-4D97-AF65-F5344CB8AC3E}">
        <p14:creationId xmlns:p14="http://schemas.microsoft.com/office/powerpoint/2010/main" val="2129456490"/>
      </p:ext>
    </p:extLst>
  </p:cSld>
</p:sld>
</file>

<file path=ppt/slides/slide1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AE3054FE-F36E-4971-9A0D-216F547E0F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5720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00" b="1" i="0">
                <a:solidFill>
                  <a:srgbClr val="FFD44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rPr>
              <a:t>WHY BLOCKY · Agent 教育价值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3BFB70B-7462-4B6D-B07B-B54173CD1B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914400"/>
            <a:ext cx="85725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36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60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让每个学生都成为 Agent 搭建者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1B80290-103B-4701-8E1A-B5DD72B430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581150"/>
            <a:ext cx="72390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3600" b="1" i="0">
                <a:solidFill>
                  <a:srgbClr val="FFD44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600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rPr>
              <a:t>把系统设计、运行解释与责任边界变成可学习的能力。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B42C0F7-5B3C-4F73-A11B-6BF48C1BEE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724150"/>
            <a:ext cx="3276600" cy="933450"/>
          </a:xfrm>
          <a:prstGeom xmlns:a="http://schemas.openxmlformats.org/drawingml/2006/main" prst="roundRect">
            <a:avLst>
              <a:gd name="adj" fmla="val 18367"/>
            </a:avLst>
          </a:prstGeom>
          <a:solidFill xmlns:a="http://schemas.openxmlformats.org/drawingml/2006/main">
            <a:srgbClr val="F4F7FB"/>
          </a:solidFill>
          <a:ln xmlns:a="http://schemas.openxmlformats.org/drawingml/2006/main" w="9525">
            <a:solidFill>
              <a:srgbClr val="DDE7F5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F6529D7-FB5C-4968-B515-E1844BC14C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895600"/>
            <a:ext cx="1047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425" b="1" i="0">
                <a:solidFill>
                  <a:srgbClr val="FFD44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rPr>
              <a:t>创新性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A024F23-B942-4474-9608-EABE10DA41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238500"/>
            <a:ext cx="28956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92037"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0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可见 Agent 积木 → 稳定 IR → Trace → 可逆映射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1BF5B33-D30B-424A-8633-05F4850265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67200" y="2724150"/>
            <a:ext cx="3276600" cy="933450"/>
          </a:xfrm>
          <a:prstGeom xmlns:a="http://schemas.openxmlformats.org/drawingml/2006/main" prst="roundRect">
            <a:avLst>
              <a:gd name="adj" fmla="val 18367"/>
            </a:avLst>
          </a:prstGeom>
          <a:solidFill xmlns:a="http://schemas.openxmlformats.org/drawingml/2006/main">
            <a:srgbClr val="F4F7FB"/>
          </a:solidFill>
          <a:ln xmlns:a="http://schemas.openxmlformats.org/drawingml/2006/main" w="9525">
            <a:solidFill>
              <a:srgbClr val="DDE7F5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D90F99A-71C3-4776-86BD-BCA02E0840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57700" y="2895600"/>
            <a:ext cx="1047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425" b="1" i="0">
                <a:solidFill>
                  <a:srgbClr val="FFD44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rPr>
              <a:t>商业模式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F978230-F9D1-4817-BFBE-A98516C73A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57700" y="3238500"/>
            <a:ext cx="28956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75" b="0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免费 Agent 底座 → 个人扩展 → 机构授权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A54E941-6066-4EBC-A98A-A960A6A379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48600" y="2724150"/>
            <a:ext cx="3276600" cy="933450"/>
          </a:xfrm>
          <a:prstGeom xmlns:a="http://schemas.openxmlformats.org/drawingml/2006/main" prst="roundRect">
            <a:avLst>
              <a:gd name="adj" fmla="val 18367"/>
            </a:avLst>
          </a:prstGeom>
          <a:solidFill xmlns:a="http://schemas.openxmlformats.org/drawingml/2006/main">
            <a:srgbClr val="F4F7FB"/>
          </a:solidFill>
          <a:ln xmlns:a="http://schemas.openxmlformats.org/drawingml/2006/main" w="9525">
            <a:solidFill>
              <a:srgbClr val="DDE7F5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441A91A-464F-4219-9F32-475C04DD8D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9100" y="2895600"/>
            <a:ext cx="1047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425" b="1" i="0">
                <a:solidFill>
                  <a:srgbClr val="FFD44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rPr>
              <a:t>社会价值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7BED0A8-C659-4859-921C-03C67B238E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9100" y="3238500"/>
            <a:ext cx="28956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75" b="0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把人工智能素养落到 Agent 设计、搭建与负责运行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D8CCF3B-7F61-4F8E-8114-B179283C24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924300"/>
            <a:ext cx="5105400" cy="933450"/>
          </a:xfrm>
          <a:prstGeom xmlns:a="http://schemas.openxmlformats.org/drawingml/2006/main" prst="roundRect">
            <a:avLst>
              <a:gd name="adj" fmla="val 18367"/>
            </a:avLst>
          </a:prstGeom>
          <a:solidFill xmlns:a="http://schemas.openxmlformats.org/drawingml/2006/main">
            <a:srgbClr val="F4F7FB"/>
          </a:solidFill>
          <a:ln xmlns:a="http://schemas.openxmlformats.org/drawingml/2006/main" w="9525">
            <a:solidFill>
              <a:srgbClr val="DDE7F5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319A626C-9C04-4FAE-BC65-E8A5212732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095750"/>
            <a:ext cx="1047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425" b="1" i="0">
                <a:solidFill>
                  <a:srgbClr val="FFD44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rPr>
              <a:t>应用成效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B2C57EE7-7F81-4464-8979-197EB20055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438650"/>
            <a:ext cx="47244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75" b="0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3 分钟验证 Agent 搭建、解释、引用、复现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1D33A06B-7BFF-4E7E-8DAA-60EA648D07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3924300"/>
            <a:ext cx="5105400" cy="933450"/>
          </a:xfrm>
          <a:prstGeom xmlns:a="http://schemas.openxmlformats.org/drawingml/2006/main" prst="roundRect">
            <a:avLst>
              <a:gd name="adj" fmla="val 18367"/>
            </a:avLst>
          </a:prstGeom>
          <a:solidFill xmlns:a="http://schemas.openxmlformats.org/drawingml/2006/main">
            <a:srgbClr val="F4F7FB"/>
          </a:solidFill>
          <a:ln xmlns:a="http://schemas.openxmlformats.org/drawingml/2006/main" w="9525">
            <a:solidFill>
              <a:srgbClr val="DDE7F5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2BD38A3C-288C-4A00-97FF-634528A0B9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4095750"/>
            <a:ext cx="1047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425" b="1" i="0">
                <a:solidFill>
                  <a:srgbClr val="FFD44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rPr>
              <a:t>孵化潜力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76D18F7C-02D0-4648-A0C5-EB888F4EFB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4438650"/>
            <a:ext cx="47244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0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六模板 → Agent CLI / 四 Skills → 社区与多端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96C48DC8-FD0E-4409-AF0D-36EA44C818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467350"/>
            <a:ext cx="10820400" cy="571500"/>
          </a:xfrm>
          <a:prstGeom xmlns:a="http://schemas.openxmlformats.org/drawingml/2006/main" prst="roundRect">
            <a:avLst>
              <a:gd name="adj" fmla="val 30000"/>
            </a:avLst>
          </a:prstGeom>
          <a:solidFill xmlns:a="http://schemas.openxmlformats.org/drawingml/2006/main">
            <a:srgbClr val="176B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0B25158D-A40F-4F26-A504-ACC88C82E5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5638800"/>
            <a:ext cx="102108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575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期待赛事连接 Agent 教育试点学校与教师，并提供模型、算力、渠道与孵化支持。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CC6ABEAE-0810-4707-A36D-B3CBE2D35F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381750"/>
            <a:ext cx="5715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050" b="0" i="0">
                <a:solidFill>
                  <a:srgbClr val="98A2B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0" i="0">
                <a:solidFill>
                  <a:srgbClr val="98A2B3"/>
                </a:solidFill>
                <a:latin typeface="Microsoft YaHei"/>
                <a:ea typeface="Microsoft YaHei"/>
                <a:cs typeface="Microsoft YaHei"/>
              </a:rPr>
              <a:t>Blocky Studio · 2026 息壤杯 · Agent 搭建教育</a:t>
            </a:r>
          </a:p>
        </p:txBody>
      </p:sp>
      <p:pic>
        <p:nvPicPr>
          <p:cNvPr id="4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218d725c09545cf"/>
          <a:stretch xmlns:a="http://schemas.openxmlformats.org/drawingml/2006/main"/>
        </p:blipFill>
        <p:spPr>
          <a:xfrm xmlns:a="http://schemas.openxmlformats.org/drawingml/2006/main">
            <a:off x="9219887" y="428625"/>
            <a:ext cx="1753225" cy="219075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7501354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2026-08-24T16:38:02.7930000Z</dcterms:created>
  <dcterms:modified xsi:type="dcterms:W3CDTF">2026-08-24T16:38:02.7930000Z</dcterms:modified>
</coreProperties>
</file>
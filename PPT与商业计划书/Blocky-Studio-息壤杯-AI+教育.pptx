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5b559c0f244da" /><Relationship Type="http://schemas.openxmlformats.org/officeDocument/2006/relationships/extended-properties" Target="/docProps/app.xml" Id="Rd39bf7f5c970443f" /><Relationship Type="http://schemas.openxmlformats.org/officeDocument/2006/relationships/officeDocument" Target="/ppt/presentation.xml" Id="R6402b1dd66b5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23f959913c456b"/>
  </p:sldMasterIdLst>
  <p:notesMasterIdLst>
    <p:notesMasterId xmlns:r="http://schemas.openxmlformats.org/officeDocument/2006/relationships" r:id="Rd318519f7b764224"/>
  </p:notesMasterIdLst>
  <p:sldIdLst>
    <p:sldId xmlns:r="http://schemas.openxmlformats.org/officeDocument/2006/relationships" id="256" r:id="R7958216768084b5d"/>
    <p:sldId xmlns:r="http://schemas.openxmlformats.org/officeDocument/2006/relationships" id="257" r:id="R60ba886a70c54769"/>
    <p:sldId xmlns:r="http://schemas.openxmlformats.org/officeDocument/2006/relationships" id="258" r:id="R5940c22a4e9a4198"/>
    <p:sldId xmlns:r="http://schemas.openxmlformats.org/officeDocument/2006/relationships" id="259" r:id="Rc615dcb4fdd2408c"/>
    <p:sldId xmlns:r="http://schemas.openxmlformats.org/officeDocument/2006/relationships" id="260" r:id="R4d47ce8ff4014dde"/>
    <p:sldId xmlns:r="http://schemas.openxmlformats.org/officeDocument/2006/relationships" id="261" r:id="R492bea4e06944679"/>
    <p:sldId xmlns:r="http://schemas.openxmlformats.org/officeDocument/2006/relationships" id="262" r:id="Rcdd2db99ed6a4bb8"/>
    <p:sldId xmlns:r="http://schemas.openxmlformats.org/officeDocument/2006/relationships" id="263" r:id="R62a2ee9d12e44055"/>
    <p:sldId xmlns:r="http://schemas.openxmlformats.org/officeDocument/2006/relationships" id="264" r:id="Ra484d681c25f4865"/>
    <p:sldId xmlns:r="http://schemas.openxmlformats.org/officeDocument/2006/relationships" id="265" r:id="Rdaa5e7fc3f164a2d"/>
    <p:sldId xmlns:r="http://schemas.openxmlformats.org/officeDocument/2006/relationships" id="266" r:id="Rbac316d3dc8a4709"/>
    <p:sldId xmlns:r="http://schemas.openxmlformats.org/officeDocument/2006/relationships" id="267" r:id="Rb35f19e4497944f3"/>
    <p:sldId xmlns:r="http://schemas.openxmlformats.org/officeDocument/2006/relationships" id="268" r:id="R2ade6c356e524475"/>
    <p:sldId xmlns:r="http://schemas.openxmlformats.org/officeDocument/2006/relationships" id="269" r:id="Rdb47533cc55549fa"/>
    <p:sldId xmlns:r="http://schemas.openxmlformats.org/officeDocument/2006/relationships" id="270" r:id="R848d2aaa53634c79"/>
    <p:sldId xmlns:r="http://schemas.openxmlformats.org/officeDocument/2006/relationships" id="271" r:id="Rcd39a92ba1624744"/>
    <p:sldId xmlns:r="http://schemas.openxmlformats.org/officeDocument/2006/relationships" id="272" r:id="Rbfa6080067d44804"/>
    <p:sldId xmlns:r="http://schemas.openxmlformats.org/officeDocument/2006/relationships" id="273" r:id="R48d4c228b70442ae"/>
    <p:sldId xmlns:r="http://schemas.openxmlformats.org/officeDocument/2006/relationships" id="274" r:id="Reb0c6d4c11f14439"/>
    <p:sldId xmlns:r="http://schemas.openxmlformats.org/officeDocument/2006/relationships" id="275" r:id="R511e01ab819c44c7"/>
    <p:sldId xmlns:r="http://schemas.openxmlformats.org/officeDocument/2006/relationships" id="276" r:id="Re9a5f9281cff4213"/>
    <p:sldId xmlns:r="http://schemas.openxmlformats.org/officeDocument/2006/relationships" id="277" r:id="R8fbd52a8ede2499a"/>
    <p:sldId xmlns:r="http://schemas.openxmlformats.org/officeDocument/2006/relationships" id="278" r:id="R4929e2d909f940dd"/>
    <p:sldId xmlns:r="http://schemas.openxmlformats.org/officeDocument/2006/relationships" id="279" r:id="R3e73736949e34951"/>
    <p:sldId xmlns:r="http://schemas.openxmlformats.org/officeDocument/2006/relationships" id="280" r:id="R2e48f90cf39b48c1"/>
    <p:sldId xmlns:r="http://schemas.openxmlformats.org/officeDocument/2006/relationships" id="281" r:id="R375a5e36a1dd4871"/>
    <p:sldId xmlns:r="http://schemas.openxmlformats.org/officeDocument/2006/relationships" id="282" r:id="R8b609f561a7a4831"/>
    <p:sldId xmlns:r="http://schemas.openxmlformats.org/officeDocument/2006/relationships" id="283" r:id="R257794c1fcf14f3c"/>
    <p:sldId xmlns:r="http://schemas.openxmlformats.org/officeDocument/2006/relationships" id="284" r:id="R1404c5f87ca0442c"/>
    <p:sldId xmlns:r="http://schemas.openxmlformats.org/officeDocument/2006/relationships" id="285" r:id="Rfda7a4299ae74f3b"/>
    <p:sldId xmlns:r="http://schemas.openxmlformats.org/officeDocument/2006/relationships" id="286" r:id="R9b9c8618dea34f43"/>
    <p:sldId xmlns:r="http://schemas.openxmlformats.org/officeDocument/2006/relationships" id="287" r:id="Rdd2dca46eff94528"/>
    <p:sldId xmlns:r="http://schemas.openxmlformats.org/officeDocument/2006/relationships" id="288" r:id="R576e14c48c5844ce"/>
    <p:sldId xmlns:r="http://schemas.openxmlformats.org/officeDocument/2006/relationships" id="289" r:id="R24b92eed9c4d4e6c"/>
    <p:sldId xmlns:r="http://schemas.openxmlformats.org/officeDocument/2006/relationships" id="290" r:id="R28ab84cccebb4d77"/>
    <p:sldId xmlns:r="http://schemas.openxmlformats.org/officeDocument/2006/relationships" id="291" r:id="R9e69ce7e01b645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63b7245e44f68" /><Relationship Type="http://schemas.openxmlformats.org/officeDocument/2006/relationships/slideMaster" Target="/ppt/slideMasters/slideMaster1.xml" Id="Rf423f959913c456b" /><Relationship Type="http://schemas.openxmlformats.org/officeDocument/2006/relationships/notesMaster" Target="/ppt/notesMasters/notesMaster1.xml" Id="Rd318519f7b764224" /><Relationship Type="http://schemas.openxmlformats.org/officeDocument/2006/relationships/presProps" Target="/ppt/presProps.xml" Id="R393125bac5b545c0" /><Relationship Type="http://schemas.openxmlformats.org/officeDocument/2006/relationships/tableStyles" Target="/ppt/tableStyles.xml" Id="Rcb0a7e81dddb4459" /><Relationship Type="http://schemas.openxmlformats.org/officeDocument/2006/relationships/slide" Target="/ppt/slides/slide1.xml" Id="R7958216768084b5d" /><Relationship Type="http://schemas.openxmlformats.org/officeDocument/2006/relationships/slide" Target="/ppt/slides/slide2.xml" Id="R60ba886a70c54769" /><Relationship Type="http://schemas.openxmlformats.org/officeDocument/2006/relationships/slide" Target="/ppt/slides/slide3.xml" Id="R5940c22a4e9a4198" /><Relationship Type="http://schemas.openxmlformats.org/officeDocument/2006/relationships/slide" Target="/ppt/slides/slide4.xml" Id="Rc615dcb4fdd2408c" /><Relationship Type="http://schemas.openxmlformats.org/officeDocument/2006/relationships/slide" Target="/ppt/slides/slide5.xml" Id="R4d47ce8ff4014dde" /><Relationship Type="http://schemas.openxmlformats.org/officeDocument/2006/relationships/slide" Target="/ppt/slides/slide6.xml" Id="R492bea4e06944679" /><Relationship Type="http://schemas.openxmlformats.org/officeDocument/2006/relationships/slide" Target="/ppt/slides/slide7.xml" Id="Rcdd2db99ed6a4bb8" /><Relationship Type="http://schemas.openxmlformats.org/officeDocument/2006/relationships/slide" Target="/ppt/slides/slide8.xml" Id="R62a2ee9d12e44055" /><Relationship Type="http://schemas.openxmlformats.org/officeDocument/2006/relationships/slide" Target="/ppt/slides/slide9.xml" Id="Ra484d681c25f4865" /><Relationship Type="http://schemas.openxmlformats.org/officeDocument/2006/relationships/slide" Target="/ppt/slides/slide10.xml" Id="Rdaa5e7fc3f164a2d" /><Relationship Type="http://schemas.openxmlformats.org/officeDocument/2006/relationships/slide" Target="/ppt/slides/slide11.xml" Id="Rbac316d3dc8a4709" /><Relationship Type="http://schemas.openxmlformats.org/officeDocument/2006/relationships/slide" Target="/ppt/slides/slide12.xml" Id="Rb35f19e4497944f3" /><Relationship Type="http://schemas.openxmlformats.org/officeDocument/2006/relationships/slide" Target="/ppt/slides/slide13.xml" Id="R2ade6c356e524475" /><Relationship Type="http://schemas.openxmlformats.org/officeDocument/2006/relationships/slide" Target="/ppt/slides/slide14.xml" Id="Rdb47533cc55549fa" /><Relationship Type="http://schemas.openxmlformats.org/officeDocument/2006/relationships/slide" Target="/ppt/slides/slide15.xml" Id="R848d2aaa53634c79" /><Relationship Type="http://schemas.openxmlformats.org/officeDocument/2006/relationships/slide" Target="/ppt/slides/slide16.xml" Id="Rcd39a92ba1624744" /><Relationship Type="http://schemas.openxmlformats.org/officeDocument/2006/relationships/slide" Target="/ppt/slides/slide17.xml" Id="Rbfa6080067d44804" /><Relationship Type="http://schemas.openxmlformats.org/officeDocument/2006/relationships/slide" Target="/ppt/slides/slide18.xml" Id="R48d4c228b70442ae" /><Relationship Type="http://schemas.openxmlformats.org/officeDocument/2006/relationships/slide" Target="/ppt/slides/slide19.xml" Id="Reb0c6d4c11f14439" /><Relationship Type="http://schemas.openxmlformats.org/officeDocument/2006/relationships/slide" Target="/ppt/slides/slide20.xml" Id="R511e01ab819c44c7" /><Relationship Type="http://schemas.openxmlformats.org/officeDocument/2006/relationships/slide" Target="/ppt/slides/slide21.xml" Id="Re9a5f9281cff4213" /><Relationship Type="http://schemas.openxmlformats.org/officeDocument/2006/relationships/slide" Target="/ppt/slides/slide22.xml" Id="R8fbd52a8ede2499a" /><Relationship Type="http://schemas.openxmlformats.org/officeDocument/2006/relationships/slide" Target="/ppt/slides/slide23.xml" Id="R4929e2d909f940dd" /><Relationship Type="http://schemas.openxmlformats.org/officeDocument/2006/relationships/slide" Target="/ppt/slides/slide24.xml" Id="R3e73736949e34951" /><Relationship Type="http://schemas.openxmlformats.org/officeDocument/2006/relationships/slide" Target="/ppt/slides/slide25.xml" Id="R2e48f90cf39b48c1" /><Relationship Type="http://schemas.openxmlformats.org/officeDocument/2006/relationships/slide" Target="/ppt/slides/slide26.xml" Id="R375a5e36a1dd4871" /><Relationship Type="http://schemas.openxmlformats.org/officeDocument/2006/relationships/slide" Target="/ppt/slides/slide27.xml" Id="R8b609f561a7a4831" /><Relationship Type="http://schemas.openxmlformats.org/officeDocument/2006/relationships/slide" Target="/ppt/slides/slide28.xml" Id="R257794c1fcf14f3c" /><Relationship Type="http://schemas.openxmlformats.org/officeDocument/2006/relationships/slide" Target="/ppt/slides/slide29.xml" Id="R1404c5f87ca0442c" /><Relationship Type="http://schemas.openxmlformats.org/officeDocument/2006/relationships/slide" Target="/ppt/slides/slide30.xml" Id="Rfda7a4299ae74f3b" /><Relationship Type="http://schemas.openxmlformats.org/officeDocument/2006/relationships/slide" Target="/ppt/slides/slide31.xml" Id="R9b9c8618dea34f43" /><Relationship Type="http://schemas.openxmlformats.org/officeDocument/2006/relationships/slide" Target="/ppt/slides/slide32.xml" Id="Rdd2dca46eff94528" /><Relationship Type="http://schemas.openxmlformats.org/officeDocument/2006/relationships/slide" Target="/ppt/slides/slide33.xml" Id="R576e14c48c5844ce" /><Relationship Type="http://schemas.openxmlformats.org/officeDocument/2006/relationships/slide" Target="/ppt/slides/slide34.xml" Id="R24b92eed9c4d4e6c" /><Relationship Type="http://schemas.openxmlformats.org/officeDocument/2006/relationships/slide" Target="/ppt/slides/slide35.xml" Id="R28ab84cccebb4d77" /><Relationship Type="http://schemas.openxmlformats.org/officeDocument/2006/relationships/slide" Target="/ppt/slides/slide36.xml" Id="R9e69ce7e01b645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538ce76c1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20e640107465e" /><Relationship Type="http://schemas.openxmlformats.org/officeDocument/2006/relationships/notesMaster" Target="/ppt/notesMasters/notesMaster1.xml" Id="Rff0da3156952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5d5cef70a3408c" /><Relationship Type="http://schemas.openxmlformats.org/officeDocument/2006/relationships/notesMaster" Target="/ppt/notesMasters/notesMaster1.xml" Id="Rbcb5201eff0f4e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69ef6a82604f36" /><Relationship Type="http://schemas.openxmlformats.org/officeDocument/2006/relationships/notesMaster" Target="/ppt/notesMasters/notesMaster1.xml" Id="Rcaf2f11e9672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03df0eda98439c" /><Relationship Type="http://schemas.openxmlformats.org/officeDocument/2006/relationships/notesMaster" Target="/ppt/notesMasters/notesMaster1.xml" Id="R77c1ee85d23342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616f8cff474ddb" /><Relationship Type="http://schemas.openxmlformats.org/officeDocument/2006/relationships/notesMaster" Target="/ppt/notesMasters/notesMaster1.xml" Id="Rbe889d24a3da42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5d0558824b45ad" /><Relationship Type="http://schemas.openxmlformats.org/officeDocument/2006/relationships/notesMaster" Target="/ppt/notesMasters/notesMaster1.xml" Id="R344e1481fce540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b2d29d1c2b4bdc" /><Relationship Type="http://schemas.openxmlformats.org/officeDocument/2006/relationships/notesMaster" Target="/ppt/notesMasters/notesMaster1.xml" Id="R87cf03a3c85546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60e1cbc0834438" /><Relationship Type="http://schemas.openxmlformats.org/officeDocument/2006/relationships/notesMaster" Target="/ppt/notesMasters/notesMaster1.xml" Id="R13f08069b7d349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b2af1e80d4628" /><Relationship Type="http://schemas.openxmlformats.org/officeDocument/2006/relationships/notesMaster" Target="/ppt/notesMasters/notesMaster1.xml" Id="R110f6f3b4cc047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92f51271814774" /><Relationship Type="http://schemas.openxmlformats.org/officeDocument/2006/relationships/notesMaster" Target="/ppt/notesMasters/notesMaster1.xml" Id="Rb27abc64d9a84a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94e76f41084fd7" /><Relationship Type="http://schemas.openxmlformats.org/officeDocument/2006/relationships/notesMaster" Target="/ppt/notesMasters/notesMaster1.xml" Id="Reee96b0ecbef4c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2eb2d1ea394432" /><Relationship Type="http://schemas.openxmlformats.org/officeDocument/2006/relationships/notesMaster" Target="/ppt/notesMasters/notesMaster1.xml" Id="Rd856f60d16c046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9c53eff40c4e5e" /><Relationship Type="http://schemas.openxmlformats.org/officeDocument/2006/relationships/notesMaster" Target="/ppt/notesMasters/notesMaster1.xml" Id="R8a1450a7b4ba46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29f9811b0e4e39" /><Relationship Type="http://schemas.openxmlformats.org/officeDocument/2006/relationships/notesMaster" Target="/ppt/notesMasters/notesMaster1.xml" Id="Rcd1bcfad24b241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634080b748487a" /><Relationship Type="http://schemas.openxmlformats.org/officeDocument/2006/relationships/notesMaster" Target="/ppt/notesMasters/notesMaster1.xml" Id="R420fb7ba221146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b7d09ee9324309" /><Relationship Type="http://schemas.openxmlformats.org/officeDocument/2006/relationships/notesMaster" Target="/ppt/notesMasters/notesMaster1.xml" Id="Rc5ad4dbdb22c43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67ccbe2d4746b5" /><Relationship Type="http://schemas.openxmlformats.org/officeDocument/2006/relationships/notesMaster" Target="/ppt/notesMasters/notesMaster1.xml" Id="R488812ff41bb49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f5e34f276d429c" /><Relationship Type="http://schemas.openxmlformats.org/officeDocument/2006/relationships/notesMaster" Target="/ppt/notesMasters/notesMaster1.xml" Id="R46caed2af66e40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bb7733b0ff4087" /><Relationship Type="http://schemas.openxmlformats.org/officeDocument/2006/relationships/notesMaster" Target="/ppt/notesMasters/notesMaster1.xml" Id="R25a80b90488047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02675d85abb4e41" /><Relationship Type="http://schemas.openxmlformats.org/officeDocument/2006/relationships/notesMaster" Target="/ppt/notesMasters/notesMaster1.xml" Id="R2e08c2de987640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e403062fbe45cd" /><Relationship Type="http://schemas.openxmlformats.org/officeDocument/2006/relationships/notesMaster" Target="/ppt/notesMasters/notesMaster1.xml" Id="R701cb439fa6541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91cb5a3b464d25" /><Relationship Type="http://schemas.openxmlformats.org/officeDocument/2006/relationships/notesMaster" Target="/ppt/notesMasters/notesMaster1.xml" Id="R16c90dece83041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85dc88d3e0454b" /><Relationship Type="http://schemas.openxmlformats.org/officeDocument/2006/relationships/notesMaster" Target="/ppt/notesMasters/notesMaster1.xml" Id="Rc167fa97563a4f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d7eaabebbc643ca" /><Relationship Type="http://schemas.openxmlformats.org/officeDocument/2006/relationships/notesMaster" Target="/ppt/notesMasters/notesMaster1.xml" Id="R755697a6bfa94cd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98570e4af5450f" /><Relationship Type="http://schemas.openxmlformats.org/officeDocument/2006/relationships/notesMaster" Target="/ppt/notesMasters/notesMaster1.xml" Id="R0a7b3095f08945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1799bafb20452b" /><Relationship Type="http://schemas.openxmlformats.org/officeDocument/2006/relationships/notesMaster" Target="/ppt/notesMasters/notesMaster1.xml" Id="R76d0b70d67c141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9d18d71fc04a99" /><Relationship Type="http://schemas.openxmlformats.org/officeDocument/2006/relationships/notesMaster" Target="/ppt/notesMasters/notesMaster1.xml" Id="Rba27038876324ab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1c5bc2b6f94555" /><Relationship Type="http://schemas.openxmlformats.org/officeDocument/2006/relationships/notesMaster" Target="/ppt/notesMasters/notesMaster1.xml" Id="Rae30baf6ea0e473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e14a26ed117436c" /><Relationship Type="http://schemas.openxmlformats.org/officeDocument/2006/relationships/notesMaster" Target="/ppt/notesMasters/notesMaster1.xml" Id="Rea6a55f2fdb943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3a99d2c325b4e59" /><Relationship Type="http://schemas.openxmlformats.org/officeDocument/2006/relationships/notesMaster" Target="/ppt/notesMasters/notesMaster1.xml" Id="R2b7db0ddc415480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fd8537fbf1546b6" /><Relationship Type="http://schemas.openxmlformats.org/officeDocument/2006/relationships/notesMaster" Target="/ppt/notesMasters/notesMaster1.xml" Id="R70b4d82eb147413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d355213ed74684" /><Relationship Type="http://schemas.openxmlformats.org/officeDocument/2006/relationships/notesMaster" Target="/ppt/notesMasters/notesMaster1.xml" Id="R4bed6741f1bf4c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d09251d9b7e4a92" /><Relationship Type="http://schemas.openxmlformats.org/officeDocument/2006/relationships/notesMaster" Target="/ppt/notesMasters/notesMaster1.xml" Id="Ra79b8a3090884cb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fdb66a0d10a4ca1" /><Relationship Type="http://schemas.openxmlformats.org/officeDocument/2006/relationships/notesMaster" Target="/ppt/notesMasters/notesMaster1.xml" Id="Rf63e0a816bb649b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5fbbf5a56c4e8f" /><Relationship Type="http://schemas.openxmlformats.org/officeDocument/2006/relationships/notesMaster" Target="/ppt/notesMasters/notesMaster1.xml" Id="R190dd9c472304b5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c1fdd62de494af7" /><Relationship Type="http://schemas.openxmlformats.org/officeDocument/2006/relationships/notesMaster" Target="/ppt/notesMasters/notesMaster1.xml" Id="R84b8d45a4ce4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开场给出完整投资命题：教育是可验证入口，长期价值来自同一 Agent 语言、运行内核与项目积木化。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https://js.news.cn/20260814/e55cedf9698f4f56a99a8a96d8473a54/c.html</a:t>
            </a:r>
          </a:p>
          <a:p xmlns:a="http://schemas.openxmlformats.org/drawingml/2006/main">
            <a:r>
              <a:t>- D:/1Folder/Blocky-AI/doc/产品设计/Blocky-完整积木与Agent兼容设计.md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Scratch 已验证可视化编程的教育价值；Blocky 把同样的可见性带到 Agent 的角色、知识、工具、记忆与权限。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https://scratch.mit.edu/educators/</a:t>
            </a:r>
          </a:p>
          <a:p xmlns:a="http://schemas.openxmlformats.org/drawingml/2006/main">
            <a:r>
              <a:t>- D:/1Folder/Blocky-AI/doc/执行计划/2026-08-23-Blocky-竞品驱动完整开发计划.md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产品答案是一套 Scratch 式 Agent 语言。截图只代表 Windows Core 技术尖峰实证，正式产品状态在后页分层说明。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D:/1Folder/Blocky-AI/doc/产品设计/Blocky-完整积木与Agent兼容设计.md</a:t>
            </a:r>
          </a:p>
          <a:p xmlns:a="http://schemas.openxmlformats.org/drawingml/2006/main">
            <a:r>
              <a:t>- D:/1Folder/Blocky-AI/doc/技术设计/Windows-Core技术尖峰报告.md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课堂采用多课时项目制，每课时完成一个可检查里程碑，避免把复杂 Agent 误写成一节课完成。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D:/1Folder/Blocky-AI/doc/执行计划/2026-08-23-Blocky-竞品驱动完整开发计划.md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工程证据包括 Windows Core 长稳、Host 保存重载与正式契约验收。技术证据不等同于课堂或收入证据。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D:/1Folder/Blocky-AI/doc/技术设计/Windows-Core技术尖峰报告.md</a:t>
            </a:r>
          </a:p>
          <a:p xmlns:a="http://schemas.openxmlformats.org/drawingml/2006/main">
            <a:r>
              <a:t>- D:/1Folder/Blocky-AI/doc/验收/归档/2026-08-23/验收-Blocky阶段0契约冻结.md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 个月漏斗假设：20 名共创教师形成 30 个课堂样板；每课堂 40 人、10% 转个人年费，共 120 人；5 家付费试点扩至 10 家年度机构、每家 80 席，共 800 席。合计 920 个教育付费席位，均为目标而非当前牵引。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D:/1Folder/Blocky-AI/doc/执行计划/2026-08-23-Blocky-竞品驱动完整开发计划.md</a:t>
            </a:r>
          </a:p>
          <a:p xmlns:a="http://schemas.openxmlformats.org/drawingml/2006/main">
            <a:r>
              <a:t>- Assumption: 18-month funnel targets; 30 classrooms × 40 students × 10% conversion + 10 institutions × 80 seats = 920 education paid seats.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 个月 SOM 直接承接上一页漏斗：920 个教育席位与 100 个专业年费用户，年化订阅收入 142.16 万元。Y3 扩大路径为 5,000 教育与 500 专业用户。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D:/1Folder/Blocky-AI/doc/产品设计/Blocky-初版产品方案.md</a:t>
            </a:r>
          </a:p>
          <a:p xmlns:a="http://schemas.openxmlformats.org/drawingml/2006/main">
            <a:r>
              <a:t>- Calculation: 920×980 + 100×5,200 = RMB 1,421,600; 5,000×980 + 500×5,200 = RMB 7,500,000.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竞争页比较用户替代方案的学习门槛、结构可见性和工程要求，不把 Blocky 描述为传统连线工具。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https://scratch.mit.edu/educators/</a:t>
            </a:r>
          </a:p>
          <a:p xmlns:a="http://schemas.openxmlformats.org/drawingml/2006/main">
            <a:r>
              <a:t>- https://docs.dify.ai/</a:t>
            </a:r>
          </a:p>
          <a:p xmlns:a="http://schemas.openxmlformats.org/drawingml/2006/main">
            <a:r>
              <a:t>- https://docs.n8n.io/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https://github.com/dkorobtsov/pitch-deck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壁垒链由可见 AST、稳定 IR、受控 Runtime 和可回放 Trace 组成；课程、适配器和社区资产在同一语言上累积。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D:/1Folder/Blocky-AI/doc/产品设计/Blocky-GitHub项目积木化与Agent组件设计.md</a:t>
            </a:r>
          </a:p>
          <a:p xmlns:a="http://schemas.openxmlformats.org/drawingml/2006/main">
            <a:r>
              <a:t>- D:/1Folder/Blocky-AI/doc/技术设计/Windows-Core技术尖峰报告.md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教育是首个入口，同一项目格式继续承载个人创作、办公自动化、服务交付、社区和多端使用。页面描述的是目标形态。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D:/1Folder/Blocky-AI/doc/产品设计/Blocky-完整积木与Agent兼容设计.md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订阅价格来自当前商业基线；毛利目标用透明成本比例约束。教育成本目标为模型云 18%、支付 2%、支持 5%；专业为 22%、2%、6%；机构与企业毛利依赖课程、交付人天和私有资产复用。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D:/1Folder/Blocky-AI/doc/产品设计/Blocky-初版产品方案.md</a:t>
            </a:r>
          </a:p>
          <a:p xmlns:a="http://schemas.openxmlformats.org/drawingml/2006/main">
            <a:r>
              <a:t>- Assumption: cost shares and gross-margin targets are management targets for scenario planning, not historical performance.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GTM 从教师共创开始，以作品、轨迹、引用和复用证据推动机构决策，再通过订阅与服务形成复购。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D:/1Folder/Blocky-AI/doc/执行计划/2026-08-23-Blocky-竞品驱动完整开发计划.md</a:t>
            </a:r>
          </a:p>
          <a:p xmlns:a="http://schemas.openxmlformats.org/drawingml/2006/main">
            <a:r>
              <a:t>- Assumption: cycle lengths and conversion stages are operating hypotheses.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四道门槛分别验证共创意愿、学生完成、教师复用和机构采购承诺；机构门槛要求进入正式预算流程并形成至少 5 家付费试点或订金。数值均是目标。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D:/1Folder/Blocky-AI/doc/执行计划/2026-08-23-Blocky-竞品驱动完整开发计划.md</a:t>
            </a:r>
          </a:p>
          <a:p xmlns:a="http://schemas.openxmlformats.org/drawingml/2006/main">
            <a:r>
              <a:t>- Assumption: 20 teachers, 30 classroom samples, 70% completion, 50% reuse and 5 paid pilots or deposits.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团队页如实呈现创始人主导状态，不虚构姓名或履历；本轮资金支持 3 人核心配置：创始人负责产品与 Agent 工程，新增桌面运行工程和教育商业两个岗位，并建立教师、教研与合规合作网络。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D:/1Folder/Blocky-AI/AGENTS.md</a:t>
            </a:r>
          </a:p>
          <a:p xmlns:a="http://schemas.openxmlformats.org/drawingml/2006/main">
            <a:r>
              <a:t>- D:/1Folder/Blocky-AI/doc/技术设计/Windows-Core技术尖峰报告.md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三年基准情景只计算教育与专业订阅，不计机构和企业服务。现金结果按订阅收入×综合毛利率减团队与运营投入：Y1 约负 187 万、Y2 约负 153 万、Y3 正 90 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D:/1Folder/Blocky-AI/doc/产品设计/Blocky-初版产品方案.md</a:t>
            </a:r>
          </a:p>
          <a:p xmlns:a="http://schemas.openxmlformats.org/drawingml/2006/main">
            <a:r>
              <a:t>- Calculation: Y1 220,000×60%-2,000,000≈-1,868,000; Y2 1,421,600×68%-2,500,000≈-1,533,000; Y3 7,500,000×72%-4,500,000=900,000.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300 万元覆盖 18 个月，平均月度投入约 16.7 万元。0–6 月完成 3 人配置、正式产品闭环和 20 名共创教师；7–12 月形成 30 个课堂样板与至少 5 家付费试点；13–18 月目标 920 教育席和 100 专业订阅。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Assumption: proposed RMB 3 million / 18-month milestone and staffing plan for investor review.</a:t>
            </a:r>
          </a:p>
          <a:p xmlns:a="http://schemas.openxmlformats.org/drawingml/2006/main">
            <a:r>
              <a:t>- D:/1Folder/Blocky-AI/doc/执行计划/2026-08-23-Blocky-竞品驱动完整开发计划.md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资源诉求以 300 万元、18 个月、3 人核心团队和平均月度投入 16.7 万元为口径，目标是完成正式产品闭环、课堂样板、付费试点与首批机构复制。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Assumption: proposed seed resource envelope of RMB 3 million over 18 months.</a:t>
            </a:r>
          </a:p>
          <a:p xmlns:a="http://schemas.openxmlformats.org/drawingml/2006/main">
            <a:r>
              <a:t>- https://js.news.cn/20260814/e55cedf9698f4f56a99a8a96d8473a54/c.html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收束投资命题：教育验证易学，工程底座保证可用，项目积木化和资产复用打开长期平台价值。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D:/1Folder/Blocky-AI/doc/产品设计/Blocky-完整积木与Agent兼容设计.md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附录保留完整产品、服务、兼容模板、CLI、社区、移动使用器和长期路线。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D:/1Folder/Blocky-AI/AGENTS.md</a:t>
            </a:r>
          </a:p>
          <a:p xmlns:a="http://schemas.openxmlformats.org/drawingml/2006/main">
            <a:r>
              <a:t>- D:/1Folder/Blocky-AI/doc/产品设计/Blocky-完整积木与Agent兼容设计.md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 3 分钟是基于现成蓝图的产品演示时长，不是完整课程时长。五步连续呈现选择蓝图、修改角色/知识/工具、运行、查看轨迹与保存重开，并让引用、拒答和项目复现证据同屏。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D:\1Folder\Blocky-AI\doc\执行计划\2026-08-23-Blocky-竞品驱动完整开发计划.md (Agent 搭建展示旅程)</a:t>
            </a:r>
          </a:p>
          <a:p xmlns:a="http://schemas.openxmlformats.org/drawingml/2006/main">
            <a:r>
              <a:t>- D:\1Folder\Blocky-AI\doc\技术设计\Windows-Core技术尖峰报告.md (确定性运行、保存重开与事件证据)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creation depths share one project format: compatibility templates, expandable Blocky blueprints, atomic blocks, and controlled internal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D:/1Folder/Blocky-AI/doc/执行计划/2026-08-23-Blocky-竞品驱动完整开发计划.md (four creation levels)</a:t>
            </a:r>
          </a:p>
          <a:p xmlns:a="http://schemas.openxmlformats.org/drawingml/2006/main">
            <a:r>
              <a:t>- D:/1Folder/Blocky-AI/doc/产品设计/Blocky-积木完整清单.md (19 capability families and stable semantic catalog)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code is a controlled local implementation layer, not a place to hide Agent topology, tool contracts, or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D:/1Folder/Blocky-AI/doc/产品设计/Blocky-完整积木与Agent兼容设计.md (block internal code and status)</a:t>
            </a:r>
          </a:p>
          <a:p xmlns:a="http://schemas.openxmlformats.org/drawingml/2006/main">
            <a:r>
              <a:t>- D:/1Folder/Blocky-AI/doc/产品设计/Blocky-交互入口与工具积木设计.md (visual and code custom blocks)</a:t>
            </a:r>
          </a:p>
          <a:p xmlns:a="http://schemas.openxmlformats.org/drawingml/2006/main">
            <a:r>
              <a:t>- D:/1Folder/Blocky-AI/doc/技术设计/ADR-004-开放扩展与社区安全边界.md (code extension isolation and permissions)</a:t>
            </a:r>
          </a:p>
          <a:p xmlns:a="http://schemas.openxmlformats.org/drawingml/2006/main">
            <a:r>
              <a:t>- D:/1Folder/Blocky-AI/PPT与商业计划书/assets/blocky-block-internals-v1.png (OpenAI image generation, concept illustration)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AppSurface is optional and explicit. Creating a page does not implicitly create authentication, a database, a domain, or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D:/1Folder/Blocky-AI/doc/产品设计/Blocky-多画布应用界面与RPA设计.md (multi-canvas, AppSurface, browser preview)</a:t>
            </a:r>
          </a:p>
          <a:p xmlns:a="http://schemas.openxmlformats.org/drawingml/2006/main">
            <a:r>
              <a:t>- D:/1Folder/Blocky-AI/doc/技术设计/ADR-005-多模块应用界面与RPA边界.md (explicit creation and isolated bridge)</a:t>
            </a:r>
          </a:p>
          <a:p xmlns:a="http://schemas.openxmlformats.org/drawingml/2006/main">
            <a:r>
              <a:t>- D:/1Folder/Blocky-AI/PPT与商业计划书/assets/blocky-appsurface-frontend-v1.png (OpenAI image generation, concept illustration)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Office expansion uses the same module language. The first route is attended automation with explicit approvals, checkpoints, and semantic/UIA targeting.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D:/1Folder/Blocky-AI/doc/产品设计/Blocky-多画布应用界面与RPA设计.md (office scenarios and attended RPA)</a:t>
            </a:r>
          </a:p>
          <a:p xmlns:a="http://schemas.openxmlformats.org/drawingml/2006/main">
            <a:r>
              <a:t>- D:/1Folder/Blocky-AI/doc/技术设计/ADR-005-多模块应用界面与RPA边界.md (RPA Host and recovery boundary)</a:t>
            </a:r>
          </a:p>
          <a:p xmlns:a="http://schemas.openxmlformats.org/drawingml/2006/main">
            <a:r>
              <a:t>- D:/1Folder/Blocky-AI/PPT与商业计划书/assets/blocky-office-automation-v1.png (OpenAI image generation, concept illustration)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six office blueprint families are product scenarios derived from the office/RPA design, not current implementation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D:/1Folder/Blocky-AI/doc/产品设计/Blocky-多画布应用界面与RPA设计.md (legacy system, browser-desktop, Excel/form, reconciliation, ticket, no-API scenarios)</a:t>
            </a:r>
          </a:p>
          <a:p xmlns:a="http://schemas.openxmlformats.org/drawingml/2006/main">
            <a:r>
              <a:t>- D:/1Folder/Blocky-AI/doc/产品设计/Blocky-积木完整清单.md (computer, browser, data, approval, checkpoint capabilities)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desktop workbench separates editing facts, runtime events, user terminals, Agent process requests, logs, and audit while preserving stable source mapping.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D:/1Folder/Blocky-AI/doc/产品设计/Blocky-底部面板终端与日志系统设计.md (Problems, Run Log, Terminal, Output, redaction)</a:t>
            </a:r>
          </a:p>
          <a:p xmlns:a="http://schemas.openxmlformats.org/drawingml/2006/main">
            <a:r>
              <a:t>- D:/1Folder/Blocky-AI/doc/产品设计/Blocky-设置中心设计模板.md (workspace, preview, RPA, terminal, logging settings)</a:t>
            </a:r>
          </a:p>
          <a:p xmlns:a="http://schemas.openxmlformats.org/drawingml/2006/main">
            <a:r>
              <a:t>- D:/1Folder/Blocky-AI/doc/技术设计/ADR-006-底部面板终端与日志系统边界.md (terminal and event isolation)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六个方向分别承载轻量编码、专业编程、个人助理、团队协作、工程开发和组合研究等 Agent 架构。这里表达的是兼容版图与教学入口，不把设计方向写成已经完成的“原生完整兼容”。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D:\1Folder\Blocky-AI\doc\产品设计\Blocky-内置兼容模板.md (Pi、Codex、OpenClaw、Hermes、OpenCode、DeepSeek Harness 六模板设计)</a:t>
            </a:r>
          </a:p>
          <a:p xmlns:a="http://schemas.openxmlformats.org/drawingml/2006/main">
            <a:r>
              <a:t>- D:\1Folder\Blocky-AI\doc\技术设计\ADR-002-原生Agent兼容运行时.md (进程外运行时、版本化适配器与可逆投影)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Blocky 构建助手不仅搭建 Agent，还承担项目积木化入口：锁定来源，理解源码与行为，映射 Blocky 语义，生成幽灵差异，再通过编译、测试和运行轨迹验证。它让新的仓库、Agent 与业务能力持续进入 Blocky，而核心积木目录仍保持稳定。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D:/1Folder/Blocky-AI/doc/产品设计/Blocky-GitHub项目积木化与Agent组件设计.md (核心决策、证据链与性能设计)</a:t>
            </a:r>
          </a:p>
          <a:p xmlns:a="http://schemas.openxmlformats.org/drawingml/2006/main">
            <a:r>
              <a:t>- D:/1Folder/Blocky-AI/doc/技术设计/ADR-003-CLI与官方Agent-Skill接口.md (conversion-core、Build Spec 与语义补丁)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项目积木化的输入不只是一类 GitHub 仓库。Blocky 可以面向本地代码、现有 Agent、知识/RAG、MCP/CLI/API、业务自动化与教学或组织资产进行分型，再把它们组合进同一模块项目。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D:/1Folder/Blocky-AI/doc/产品设计/Blocky-GitHub项目积木化与Agent组件设计.md (仓库分型、RAG 组件与 Harness 夹具)</a:t>
            </a:r>
          </a:p>
          <a:p xmlns:a="http://schemas.openxmlformats.org/drawingml/2006/main">
            <a:r>
              <a:t>- D:/1Folder/Blocky-AI/doc/产品设计/Blocky-多画布应用界面与RPA设计.md (业务流程、RPA 与跨模块表达)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项目积木化不是强迫所有内容变成同一种形态。稳定组件进入自定义积木，多步通用能力进入可展开蓝图，完整 Harness 进入兼容模板草案，许可证、性能或动态边界进入原生保留报告；同一项目可同时产生四类结果。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D:/1Folder/Blocky-AI/doc/产品设计/Blocky-GitHub项目积木化与Agent组件设计.md (四类产物与选择规则)</a:t>
            </a:r>
          </a:p>
          <a:p xmlns:a="http://schemas.openxmlformats.org/drawingml/2006/main">
            <a:r>
              <a:t>- D:/1Folder/Blocky-AI/doc/技术设计/ADR-004-开放扩展与社区安全边界.md (自定义积木、扩展包与安全边界)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四个官方 Skills 分别负责搭建 Agent、创建积木、项目积木化和逆向现有 Agent。图形页、构建助手、CLI、Skills 与 Codex 插件共同读取相同的积木目录、编译器、IR、权限和运行事件。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D:/1Folder/Blocky-AI/doc/产品设计/CLI与官方Agent-Skill.md (CLI 家族与四个官方 Skills)</a:t>
            </a:r>
          </a:p>
          <a:p xmlns:a="http://schemas.openxmlformats.org/drawingml/2006/main">
            <a:r>
              <a:t>- D:/1Folder/Blocky-AI/doc/技术设计/ADR-003-CLI与官方Agent-Skill接口.md (Build Spec、语义补丁与插件边界)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Community objects are classified by execution risk. Signatures identify publishers and content integrity but do not replace scanning, permissions, sandboxing, or revocation.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D:/1Folder/Blocky-AI/doc/技术设计/ADR-004-开放扩展与社区安全边界.md (four distribution objects and supply-chain controls)</a:t>
            </a:r>
          </a:p>
          <a:p xmlns:a="http://schemas.openxmlformats.org/drawingml/2006/main">
            <a:r>
              <a:t>- D:/1Folder/Blocky-AI/doc/产品设计/Blocky-积木完整清单.md (community publish/install/update/fork)</a:t>
            </a:r>
          </a:p>
          <a:p xmlns:a="http://schemas.openxmlformats.org/drawingml/2006/main">
            <a:r>
              <a:t>- D:/1Folder/Blocky-AI/PPT与商业计划书/assets/blocky-community-packages-v1.png (OpenAI image generation, concept illustration)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mobile product is an Agent runner, not a reduced desktop editor. It reads InteractionManifest and negotiates local, desktop, or user-selected server targets.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D:/1Folder/Blocky-AI/doc/产品设计/Blocky-初版产品方案.md (mobile Agent runner scope)</a:t>
            </a:r>
          </a:p>
          <a:p xmlns:a="http://schemas.openxmlformats.org/drawingml/2006/main">
            <a:r>
              <a:t>- D:/1Folder/Blocky-AI/doc/产品设计/Blocky-交互入口与工具积木设计.md (mobile InteractionManifest and target choice)</a:t>
            </a:r>
          </a:p>
          <a:p xmlns:a="http://schemas.openxmlformats.org/drawingml/2006/main">
            <a:r>
              <a:t>- D:/1Folder/Blocky-AI/doc/技术设计/ADR-001-首版跨端技术选型.md (Android, HarmonyOS, iOS responsibilities)</a:t>
            </a:r>
          </a:p>
          <a:p xmlns:a="http://schemas.openxmlformats.org/drawingml/2006/main">
            <a:r>
              <a:t>- D:/1Folder/Blocky-AI/PPT与商业计划书/assets/blocky-mobile-runner-v1.png (OpenAI image generation, concept illustration)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Blocky 的拓展服务分为三类客户：个人学习与创作、学校或教育机构、企业与行业团队。标准产品提供统一语言与运行底座，服务层围绕课程、蓝图、知识、系统集成、治理和运营形成场景解决方案。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D:/1Folder/Blocky-AI/doc/产品设计/Blocky-初版产品方案.md (目标用户、教育机构和企业咨询方案)</a:t>
            </a:r>
          </a:p>
          <a:p xmlns:a="http://schemas.openxmlformats.org/drawingml/2006/main">
            <a:r>
              <a:t>- D:/1Folder/Blocky-AI/doc/执行计划/2026-08-23-Blocky-竞品驱动完整开发计划.md (阶段 10 教育工作区、阶段 11 企业交付、阶段 14 商业化)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定制服务沿统一交付链推进：先做场景诊断，再形成 Agent 与模块蓝图，连接内容、数据和业务系统，完成部署治理，最后通过培训、运营和版本升级持续服务。交付成果回流为组织蓝图、私有积木、适配器和版本化资产包。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D:/1Folder/Blocky-AI/doc/执行计划/2026-08-23-Blocky-竞品驱动完整开发计划.md (教育、团队、部署、企业 RPA 与社区阶段)</a:t>
            </a:r>
          </a:p>
          <a:p xmlns:a="http://schemas.openxmlformats.org/drawingml/2006/main">
            <a:r>
              <a:t>- D:/1Folder/Blocky-AI/doc/产品设计/Blocky-多画布应用界面与RPA设计.md (应用界面、RPA 与组织交付边界)</a:t>
            </a:r>
          </a:p>
          <a:p xmlns:a="http://schemas.openxmlformats.org/drawingml/2006/main">
            <a:r>
              <a:t>- D:/1Folder/Blocky-AI/doc/技术设计/ADR-004-开放扩展与社区安全边界.md (自定义能力、私有包与供应链治理)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路线图把产品能力、场景服务和生态放在同一节奏中：R0 建立正式地基，R1 完成自助产品与项目积木化，R2 扩展教育机构、团队、部署和企业服务，R3 建立社区、多端与商业服务目录。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D:/1Folder/Blocky-AI/doc/执行计划/2026-08-23-Blocky-竞品驱动完整开发计划.md (R0-R3、阶段 0-14)</a:t>
            </a:r>
          </a:p>
          <a:p xmlns:a="http://schemas.openxmlformats.org/drawingml/2006/main">
            <a:r>
              <a:t>- D:/1Folder/Blocky-AI/doc/产品设计/Blocky-状态与阶段替换账本.md (阶段替换与正式边界)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06d7bab814c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bad6dad5d466f" /><Relationship Type="http://schemas.openxmlformats.org/officeDocument/2006/relationships/slideLayout" Target="/ppt/slideLayouts/slideLayout1.xml" Id="Raa300c59858c4d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300c59858c4d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444d994d34fe7" /><Relationship Type="http://schemas.openxmlformats.org/officeDocument/2006/relationships/image" Target="/ppt/media/image.png" Id="R1a162e58a97e4ba7" /><Relationship Type="http://schemas.openxmlformats.org/officeDocument/2006/relationships/notesSlide" Target="/ppt/notesSlides/notesSlide1.xml" Id="Rc1b7d786f436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2c19bc00f406a" /><Relationship Type="http://schemas.openxmlformats.org/officeDocument/2006/relationships/image" Target="/ppt/media/image2.png" Id="R948f25483b5541cd" /><Relationship Type="http://schemas.openxmlformats.org/officeDocument/2006/relationships/notesSlide" Target="/ppt/notesSlides/notesSlide2.xml" Id="R6e16504111aa42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ff3d2a3764583" /><Relationship Type="http://schemas.openxmlformats.org/officeDocument/2006/relationships/image" Target="/ppt/media/image3.png" Id="R93874103ad054e74" /><Relationship Type="http://schemas.openxmlformats.org/officeDocument/2006/relationships/notesSlide" Target="/ppt/notesSlides/notesSlide3.xml" Id="Rc408aeb09e8e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f59ceba2f4fdb" /><Relationship Type="http://schemas.openxmlformats.org/officeDocument/2006/relationships/image" Target="/ppt/media/image4.png" Id="R056459628a7b4dd2" /><Relationship Type="http://schemas.openxmlformats.org/officeDocument/2006/relationships/notesSlide" Target="/ppt/notesSlides/notesSlide4.xml" Id="Rb5f9b9e2b57742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bc8edc5dd4fcf" /><Relationship Type="http://schemas.openxmlformats.org/officeDocument/2006/relationships/image" Target="/ppt/media/image5.png" Id="R8e3bbf5e3f194f1d" /><Relationship Type="http://schemas.openxmlformats.org/officeDocument/2006/relationships/notesSlide" Target="/ppt/notesSlides/notesSlide5.xml" Id="Rabfb123469574d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60f6fd1ee4003" /><Relationship Type="http://schemas.openxmlformats.org/officeDocument/2006/relationships/notesSlide" Target="/ppt/notesSlides/notesSlide6.xml" Id="R5fef3ed253694f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9e012c261431e" /><Relationship Type="http://schemas.openxmlformats.org/officeDocument/2006/relationships/notesSlide" Target="/ppt/notesSlides/notesSlide7.xml" Id="R72ca73b94f0c42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3a1b5a7664dc7" /><Relationship Type="http://schemas.openxmlformats.org/officeDocument/2006/relationships/notesSlide" Target="/ppt/notesSlides/notesSlide8.xml" Id="R38dba3f4eb1444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60d4a17a2496e" /><Relationship Type="http://schemas.openxmlformats.org/officeDocument/2006/relationships/image" Target="/ppt/media/image6.png" Id="R0f02636d520a4ce0" /><Relationship Type="http://schemas.openxmlformats.org/officeDocument/2006/relationships/notesSlide" Target="/ppt/notesSlides/notesSlide9.xml" Id="Ra9ec0733f8c64a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fae91cf374dbf" /><Relationship Type="http://schemas.openxmlformats.org/officeDocument/2006/relationships/notesSlide" Target="/ppt/notesSlides/notesSlide10.xml" Id="R7287de86b73448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023c4e12f40f0" /><Relationship Type="http://schemas.openxmlformats.org/officeDocument/2006/relationships/image" Target="/ppt/media/image7.png" Id="Rf29a6e4f020f423e" /><Relationship Type="http://schemas.openxmlformats.org/officeDocument/2006/relationships/notesSlide" Target="/ppt/notesSlides/notesSlide11.xml" Id="R75f47f7924eb46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40a87b7e748dd" /><Relationship Type="http://schemas.openxmlformats.org/officeDocument/2006/relationships/image" Target="/ppt/media/image7.png" Id="Reaff70f4966443dd" /><Relationship Type="http://schemas.openxmlformats.org/officeDocument/2006/relationships/notesSlide" Target="/ppt/notesSlides/notesSlide12.xml" Id="Rdb6c938d3f2445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5f338a6224ffc" /><Relationship Type="http://schemas.openxmlformats.org/officeDocument/2006/relationships/image" Target="/ppt/media/image6.png" Id="Rf08aeded6da9427f" /><Relationship Type="http://schemas.openxmlformats.org/officeDocument/2006/relationships/notesSlide" Target="/ppt/notesSlides/notesSlide13.xml" Id="R3f4a8b9c21ba41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c81049d7648b5" /><Relationship Type="http://schemas.openxmlformats.org/officeDocument/2006/relationships/image" Target="/ppt/media/image5.png" Id="R1baa3b6747e84204" /><Relationship Type="http://schemas.openxmlformats.org/officeDocument/2006/relationships/notesSlide" Target="/ppt/notesSlides/notesSlide14.xml" Id="R48f0e6ce79db4d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ca311fcb742b7" /><Relationship Type="http://schemas.openxmlformats.org/officeDocument/2006/relationships/image" Target="/ppt/media/image7.png" Id="Rb4008f9ec845431c" /><Relationship Type="http://schemas.openxmlformats.org/officeDocument/2006/relationships/notesSlide" Target="/ppt/notesSlides/notesSlide15.xml" Id="Raeb17f8a30f446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6a99d95aa4daa" /><Relationship Type="http://schemas.openxmlformats.org/officeDocument/2006/relationships/image" Target="/ppt/media/image6.png" Id="Rc30a56613f0141c8" /><Relationship Type="http://schemas.openxmlformats.org/officeDocument/2006/relationships/notesSlide" Target="/ppt/notesSlides/notesSlide16.xml" Id="Rae0dff055b2d40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5bfbcedf24efa" /><Relationship Type="http://schemas.openxmlformats.org/officeDocument/2006/relationships/image" Target="/ppt/media/image7.png" Id="R2c81b881eb384357" /><Relationship Type="http://schemas.openxmlformats.org/officeDocument/2006/relationships/notesSlide" Target="/ppt/notesSlides/notesSlide17.xml" Id="R1609b6ceaa7f4a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4bf1fbb134573" /><Relationship Type="http://schemas.openxmlformats.org/officeDocument/2006/relationships/image" Target="/ppt/media/image.png" Id="R8ec313f4c75149c6" /><Relationship Type="http://schemas.openxmlformats.org/officeDocument/2006/relationships/notesSlide" Target="/ppt/notesSlides/notesSlide18.xml" Id="R03ad031eb5a843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e527899604291" /><Relationship Type="http://schemas.openxmlformats.org/officeDocument/2006/relationships/image" Target="/ppt/media/image.png" Id="Rb516768c6e3e4057" /><Relationship Type="http://schemas.openxmlformats.org/officeDocument/2006/relationships/notesSlide" Target="/ppt/notesSlides/notesSlide19.xml" Id="Rfac2ace363414d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e628a7ee640a4" /><Relationship Type="http://schemas.openxmlformats.org/officeDocument/2006/relationships/notesSlide" Target="/ppt/notesSlides/notesSlide20.xml" Id="R0bcfbccde0654bf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90d3dd8b7427f" /><Relationship Type="http://schemas.openxmlformats.org/officeDocument/2006/relationships/image" Target="/ppt/media/image6.png" Id="R17fe9aae217e4401" /><Relationship Type="http://schemas.openxmlformats.org/officeDocument/2006/relationships/notesSlide" Target="/ppt/notesSlides/notesSlide21.xml" Id="R3e57e77492834f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87fdcc074245" /><Relationship Type="http://schemas.openxmlformats.org/officeDocument/2006/relationships/image" Target="/ppt/media/image8.png" Id="Rd9fe4c0715d145d3" /><Relationship Type="http://schemas.openxmlformats.org/officeDocument/2006/relationships/notesSlide" Target="/ppt/notesSlides/notesSlide22.xml" Id="R96998b0aa3c046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6805dae8a4550" /><Relationship Type="http://schemas.openxmlformats.org/officeDocument/2006/relationships/image" Target="/ppt/media/image9.png" Id="R08ef99cc28a14073" /><Relationship Type="http://schemas.openxmlformats.org/officeDocument/2006/relationships/notesSlide" Target="/ppt/notesSlides/notesSlide23.xml" Id="R96fa7a11a1cf44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0f3c489094a2f" /><Relationship Type="http://schemas.openxmlformats.org/officeDocument/2006/relationships/image" Target="/ppt/media/image10.png" Id="R9cbb28c050d249a8" /><Relationship Type="http://schemas.openxmlformats.org/officeDocument/2006/relationships/notesSlide" Target="/ppt/notesSlides/notesSlide24.xml" Id="Rc79a489636cd45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8f83fe8d741b0" /><Relationship Type="http://schemas.openxmlformats.org/officeDocument/2006/relationships/notesSlide" Target="/ppt/notesSlides/notesSlide25.xml" Id="R72f186da56fb428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129863e184dbd" /><Relationship Type="http://schemas.openxmlformats.org/officeDocument/2006/relationships/image" Target="/ppt/media/image5.png" Id="R98002fb777224db1" /><Relationship Type="http://schemas.openxmlformats.org/officeDocument/2006/relationships/notesSlide" Target="/ppt/notesSlides/notesSlide26.xml" Id="Rf65a4503176e4e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45244bd9e4559" /><Relationship Type="http://schemas.openxmlformats.org/officeDocument/2006/relationships/notesSlide" Target="/ppt/notesSlides/notesSlide27.xml" Id="R5589ca23cd8045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a109b161e43f6" /><Relationship Type="http://schemas.openxmlformats.org/officeDocument/2006/relationships/notesSlide" Target="/ppt/notesSlides/notesSlide28.xml" Id="Rac80fcb0ffdc49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2ca13ee6748d4" /><Relationship Type="http://schemas.openxmlformats.org/officeDocument/2006/relationships/notesSlide" Target="/ppt/notesSlides/notesSlide29.xml" Id="R682bedc610d449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40d19fbbd4521" /><Relationship Type="http://schemas.openxmlformats.org/officeDocument/2006/relationships/image" Target="/ppt/media/image6.png" Id="R507222354f3a441c" /><Relationship Type="http://schemas.openxmlformats.org/officeDocument/2006/relationships/notesSlide" Target="/ppt/notesSlides/notesSlide30.xml" Id="R7080b972935a404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6b9fb50344f44" /><Relationship Type="http://schemas.openxmlformats.org/officeDocument/2006/relationships/notesSlide" Target="/ppt/notesSlides/notesSlide31.xml" Id="R9b41baa76e524c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27e3ecf854e6b" /><Relationship Type="http://schemas.openxmlformats.org/officeDocument/2006/relationships/image" Target="/ppt/media/image11.png" Id="Rd8850ce7dde74cf1" /><Relationship Type="http://schemas.openxmlformats.org/officeDocument/2006/relationships/notesSlide" Target="/ppt/notesSlides/notesSlide32.xml" Id="R4ecbab7a13584e8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e9b5ec9394103" /><Relationship Type="http://schemas.openxmlformats.org/officeDocument/2006/relationships/image" Target="/ppt/media/image12.png" Id="R5dc39d9fa9e444b4" /><Relationship Type="http://schemas.openxmlformats.org/officeDocument/2006/relationships/notesSlide" Target="/ppt/notesSlides/notesSlide33.xml" Id="Rf00f7c2ed839459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8daead222472a" /><Relationship Type="http://schemas.openxmlformats.org/officeDocument/2006/relationships/notesSlide" Target="/ppt/notesSlides/notesSlide34.xml" Id="R11b8b384907e41d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de6731db0478a" /><Relationship Type="http://schemas.openxmlformats.org/officeDocument/2006/relationships/notesSlide" Target="/ppt/notesSlides/notesSlide35.xml" Id="R85e6e73f24fb4c6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0e176b08d460d" /><Relationship Type="http://schemas.openxmlformats.org/officeDocument/2006/relationships/image" Target="/ppt/media/image6.png" Id="R6ca8d4a402394445" /><Relationship Type="http://schemas.openxmlformats.org/officeDocument/2006/relationships/notesSlide" Target="/ppt/notesSlides/notesSlide36.xml" Id="Rabdeac3a1485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8105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62e58a97e4ba7"/>
          <a:stretch xmlns:a="http://schemas.openxmlformats.org/drawingml/2006/main"/>
        </p:blipFill>
        <p:spPr>
          <a:xfrm xmlns:a="http://schemas.openxmlformats.org/drawingml/2006/main">
            <a:off x="8029575" y="125730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2026 息壤杯｜惠民产品创新｜AI+教育赛道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让学生真正搭建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47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看得懂、改得动、跑得通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4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Scratch 式 Agent 语言 × 可解释运行内核 × 项目积木化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95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教育验证入口 · 个人与组织扩展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教育是首个可验证场景，同一底座扩展到个人创作、项目积木化与组织自动化。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1531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DE290-F233-4EA8-B16E-409742FC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WHY NOW · 教育断层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40E2D-BEFB-41DE-A2EC-A7BFC2D2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Scratch 证明可视化编程能教会系统思维，Agent 需要同级入口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4CACA-0CE4-40DB-B2E2-8BE7B71A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学生已经会提问，但还缺少看见结构、理解权限、解释运行并承担结果的创作工具。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599E7-286E-4CEB-8ADD-B581260D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743700" cy="19050"/>
          </a:xfrm>
          <a:prstGeom xmlns:a="http://schemas.openxmlformats.org/drawingml/2006/main" prst="roundRect">
            <a:avLst>
              <a:gd name="adj" fmla="val 774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A88ED-3F7F-4892-A17B-A48C5F03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52675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A4442-86C5-4DBE-B966-1E22F621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D5BBB-CF18-459F-89A2-0A0FDD0A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764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Scratch 启蒙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B09F4-5080-4128-A92D-ECF4FE19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46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/>
              <a:t>8–16 岁｜用可视积木学习创造、推理与协作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DA8EC-409C-4867-98FA-3B23775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6743700" cy="19050"/>
          </a:xfrm>
          <a:prstGeom xmlns:a="http://schemas.openxmlformats.org/drawingml/2006/main" prst="roundRect">
            <a:avLst>
              <a:gd name="adj" fmla="val 774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2932F-EF45-40EC-BFB1-02393B5A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05175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62B85-C3E2-4470-9235-AA031C74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71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断层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C706B-C168-4645-A2AA-6D71C55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289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只会对话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AE70C-34DE-4B49-BC59-72916708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46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/>
              <a:t>聊天界面只呈现输入与答案，不呈现结构、工具调用与责任边界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1AE33-BE20-47DD-8783-063FEE2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0600"/>
            <a:ext cx="6743700" cy="19050"/>
          </a:xfrm>
          <a:prstGeom xmlns:a="http://schemas.openxmlformats.org/drawingml/2006/main" prst="roundRect">
            <a:avLst>
              <a:gd name="adj" fmla="val 774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036CF-9EEB-4C8E-9ECE-8C718079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57675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F48A1-AB51-4748-9371-4864773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243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C989C-9445-4F80-958F-20ACA0A3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814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搭建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B500E-DE01-45BB-89B3-2630FCA9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346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/>
              <a:t>用 Scratch 式积木组合角色、知识、记忆、工具和权限，并以轨迹解释运行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DF664-42F9-4557-A074-F6D4E361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92B56-2143-41CF-A6C7-C76679FB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把“会问 AI”升级为“会设计、搭建并负责运行 Agent”。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73103-2070-44F1-BB78-268997BD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57BBC-E125-46E2-80A6-3C79EF39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9C1A0-F743-4893-90AB-031ABD8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f25483b5541cd"/>
          <a:stretch xmlns:a="http://schemas.openxmlformats.org/drawingml/2006/main"/>
        </p:blipFill>
        <p:spPr>
          <a:xfrm xmlns:a="http://schemas.openxmlformats.org/drawingml/2006/main">
            <a:off x="685800" y="2145506"/>
            <a:ext cx="3524250" cy="2643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32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PRODUCT · Agent 搭建形态 · 尖峰实证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把角色、知识、工具与权限变成 Scratch 式 Agent 积木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 Workspace、IR、运行内核与权限模型，让入门视图和专业工程共享一份项目事实。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572250" cy="3790950"/>
          </a:xfrm>
          <a:prstGeom xmlns:a="http://schemas.openxmlformats.org/drawingml/2006/main" prst="roundRect">
            <a:avLst>
              <a:gd name="adj" fmla="val 552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74103ad054e74"/>
          <a:srcRect xmlns:a="http://schemas.openxmlformats.org/drawingml/2006/main" l="0" t="2671" r="0" b="26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076450"/>
            <a:ext cx="6305550" cy="3276600"/>
          </a:xfrm>
          <a:prstGeom xmlns:a="http://schemas.openxmlformats.org/drawingml/2006/main" prst="roundRect">
            <a:avLst>
              <a:gd name="adj" fmla="val 5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292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9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Windows Core 技术尖峰实证 · 100 积木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入门七类 → 专业十二类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会思考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会查找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会记住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会行动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24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会回答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00650"/>
            <a:ext cx="3238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2922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IR、运行内核、轨迹与权限模型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8080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USE CASE · 4–6 课时项目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首门课程按 4–6 课时设计：完成可复现、可解释的 Agent 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课程设计门槛｜每课时只完成一个可检查里程碑：需求边界、角色知识、工具核验、展示复盘。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需求与边界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1 课时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定题 · 资料 · 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角色与知识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2–3 课时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· 知识 · 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工具与核验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4–5 课时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 · 权限 · 轨迹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展示与复盘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 6 课时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展示 · 拒答 · 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8001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项目成果：搭得出 · 说得清 · 引得准 · 复现得了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459628a7b4dd2"/>
          <a:stretch xmlns:a="http://schemas.openxmlformats.org/drawingml/2006/main"/>
        </p:blipFill>
        <p:spPr>
          <a:xfrm xmlns:a="http://schemas.openxmlformats.org/drawingml/2006/main">
            <a:off x="685800" y="2145506"/>
            <a:ext cx="3524250" cy="2643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EVIDENCE · 工程执行实证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Windows Core 与正式契约验证了最难的运行、安全和保存底座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可复核证据同时覆盖运行闭环、Host 边界、项目格式、诊断、权限与日志脱敏。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57800" cy="3886200"/>
          </a:xfrm>
          <a:prstGeom xmlns:a="http://schemas.openxmlformats.org/drawingml/2006/main" prst="roundRect">
            <a:avLst>
              <a:gd name="adj" fmla="val 53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已验证 · Windows Core 运行实证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648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8 项 Windows Core 门禁全部通过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本地 Blockly + 稳定 Agent IR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InteractionManifest + ToolContract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确定性 Runtime + 窄 Tauri Host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100 积木项目保存、关闭、重开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360 次循环 / 30 分 03 秒长稳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30 次真实 Rust Host 保存 / 重载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覆盖：编辑 · 编译 · 运行 · 保存 · 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5257800" cy="3886200"/>
          </a:xfrm>
          <a:prstGeom xmlns:a="http://schemas.openxmlformats.org/drawingml/2006/main" prst="roundRect">
            <a:avLst>
              <a:gd name="adj" fmla="val 53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已验收 · 正式产品契约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648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正式契约：独立验收通过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21 个必需 Schema 逐项复核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9 份契约 / 交接文档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10 个正反 JSON 夹具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63 条相对链接全部核对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高亮 / 日志 / 轨迹同源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补丁拒绝、终端隔离、日志脱敏负例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覆盖：项目 · 交互 · 运行 · 构建 · 安全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bbf5e3f194f1d"/>
          <a:srcRect xmlns:a="http://schemas.openxmlformats.org/drawingml/2006/main" l="0" t="11290" r="0" b="11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0" y="4095750"/>
            <a:ext cx="2952750" cy="14287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464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86375"/>
            <a:ext cx="445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 Schema + 10 夹具 + 63 链接：产品边界已通过独立核验。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Unified left evidence conclusion">
            <a:extLst xmlns:a="http://schemas.openxmlformats.org/drawingml/2006/main"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4648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360 次循环 + 30 次 Host 重载：核心链路已有可复现实证。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F39D0-3FC4-4C0E-A1D5-86D2F8E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BEACHHEAD · 融资后 18 个月计划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C0489-E690-4515-8532-7EB6EF1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 名教师共创，计划形成首批 920 个教育付费席位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75723-017E-439C-BAFF-4E7F1EC3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76600" cy="1390650"/>
          </a:xfrm>
          <a:prstGeom xmlns:a="http://schemas.openxmlformats.org/drawingml/2006/main" prst="roundRect">
            <a:avLst>
              <a:gd name="adj" fmla="val 1506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850C1-E5E4-4E20-BF13-55AADFF3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1,200 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ABFEC-285F-4A91-B85F-F75A4E3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课堂触达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B2A9D-4985-446A-87D6-92E232AB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3276600" cy="1390650"/>
          </a:xfrm>
          <a:prstGeom xmlns:a="http://schemas.openxmlformats.org/drawingml/2006/main" prst="roundRect">
            <a:avLst>
              <a:gd name="adj" fmla="val 1506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0E0B3-9F29-4BA5-9C8F-69446762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120 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D9912-FD7C-4501-9DB1-2D0BD12D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个人年费转化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5F1D3-4FE8-477D-AB48-A4F5E6B5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3276600" cy="1390650"/>
          </a:xfrm>
          <a:prstGeom xmlns:a="http://schemas.openxmlformats.org/drawingml/2006/main" prst="roundRect">
            <a:avLst>
              <a:gd name="adj" fmla="val 1506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D1C9-15C8-4C45-B24D-0F3F1C2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800 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9323C-011B-4B20-8558-5F51814F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机构年度席位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3A88D-0CF5-4432-A256-E2EEA4DF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18 个月漏斗｜30 个课堂 × 40 人 × 10% + 10 家机构 × 80 席 = 920 个教育付费席位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CB344-CD97-45D5-BC37-4EBCBB6D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5124450" cy="20383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A8040-09B1-491B-BCEB-B4DBF039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课堂转化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655CE-95D1-43DB-9C45-AC34A955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 名教师 → 30 个课堂样板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30 × 40 人 = 1,200 人触达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10% 个人转化 = 120 人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证据｜完成率 / 复用率 / 付费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DF826-4961-4CE8-9C98-C75C7FA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5353050" cy="20383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6A8CA-19C6-434E-AD6C-5F818DBE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机构转化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03AD2-7FC8-4B13-94FE-2B56DA41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计划｜5 家付费试点 → 10 家年度机构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 × 80 席 = 800 席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决策｜校方 / 教研 / 机构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证据｜预算 / 合同 / 采购时间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AA025-0E59-4FE6-AC7A-41E48C4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55FAC-5400-4765-91DC-A939B191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2907B-4B8C-490E-9ECF-1C0176FB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1483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F39D0-3FC4-4C0E-A1D5-86D2F8E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MARKET · 18 个月目标市场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C0489-E690-4515-8532-7EB6EF1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首个可获得市场，由课堂与机构漏斗直接推导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75723-017E-439C-BAFF-4E7F1EC3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76600" cy="1390650"/>
          </a:xfrm>
          <a:prstGeom xmlns:a="http://schemas.openxmlformats.org/drawingml/2006/main" prst="roundRect">
            <a:avLst>
              <a:gd name="adj" fmla="val 1506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850C1-E5E4-4E20-BF13-55AADFF3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ABFEC-285F-4A91-B85F-F75A4E3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教育付费 SOM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B2A9D-4985-446A-87D6-92E232AB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3276600" cy="1390650"/>
          </a:xfrm>
          <a:prstGeom xmlns:a="http://schemas.openxmlformats.org/drawingml/2006/main" prst="roundRect">
            <a:avLst>
              <a:gd name="adj" fmla="val 1506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0E0B3-9F29-4BA5-9C8F-69446762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D9912-FD7C-4501-9DB1-2D0BD12D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专业付费 SOM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5F1D3-4FE8-477D-AB48-A4F5E6B5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3276600" cy="1390650"/>
          </a:xfrm>
          <a:prstGeom xmlns:a="http://schemas.openxmlformats.org/drawingml/2006/main" prst="roundRect">
            <a:avLst>
              <a:gd name="adj" fmla="val 1506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D1C9-15C8-4C45-B24D-0F3F1C25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¥142 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9323C-011B-4B20-8558-5F51814F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年化订阅收入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3A88D-0CF5-4432-A256-E2EEA4DF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收入公式｜920 × ¥980 + 100 × ¥5,200 = ¥142.16 万 / 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CB344-CD97-45D5-BC37-4EBCBB6D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5124450" cy="20383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A8040-09B1-491B-BCEB-B4DBF039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触达渠道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655CE-95D1-43DB-9C45-AC34A955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教师共创 / 赛事与社群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高校与职教课程合作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课堂作品驱动口碑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项目积木化触达专业用户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DF826-4961-4CE8-9C98-C75C7FA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5353050" cy="20383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6A8CA-19C6-434E-AD6C-5F818DBE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扩大路径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03AD2-7FC8-4B13-94FE-2B56DA41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Y3｜5,000 教育 + 500 专业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订阅收入｜¥750 万 / 年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上行｜机构方案 / 企业服务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增量｜社区资产与多端使用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AA025-0E59-4FE6-AC7A-41E48C4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55FAC-5400-4765-91DC-A939B191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2907B-4B8C-490E-9ECF-1C0176FB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1483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COMPETITION · 用户替代方案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五类替代方案各有边界，Blocky 优化非程序员的 Agent 创作路径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并列比较目标用户、创作范式、第一次成功门槛、结构可见性与专业扩展深度。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Scratch</a:t>
            </a:r>
          </a:p>
          <a:p xmlns:a="http://schemas.openxmlformats.org/drawingml/2006/main">
            <a:r>
              <a:t>教育积木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34722"/>
          </a:bodyPr>
          <a:lstStyle xmlns:a="http://schemas.openxmlformats.org/drawingml/2006/main"/>
          <a:p xmlns:a="http://schemas.openxmlformats.org/drawingml/2006/main">
            <a:r>
              <a:t>用户｜学生 / 教师</a:t>
            </a:r>
          </a:p>
          <a:p xmlns:a="http://schemas.openxmlformats.org/drawingml/2006/main">
            <a:r>
              <a:t>范式｜教育积木</a:t>
            </a:r>
          </a:p>
          <a:p xmlns:a="http://schemas.openxmlformats.org/drawingml/2006/main">
            <a:r>
              <a:t>边界｜缺 Agent 语义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AI 对话</a:t>
            </a:r>
          </a:p>
          <a:p xmlns:a="http://schemas.openxmlformats.org/drawingml/2006/main">
            <a:r>
              <a:t>低门槛问答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34722"/>
          </a:bodyPr>
          <a:lstStyle xmlns:a="http://schemas.openxmlformats.org/drawingml/2006/main"/>
          <a:p xmlns:a="http://schemas.openxmlformats.org/drawingml/2006/main">
            <a:r>
              <a:t>用户｜大众</a:t>
            </a:r>
          </a:p>
          <a:p xmlns:a="http://schemas.openxmlformats.org/drawingml/2006/main">
            <a:r>
              <a:t>范式｜对话</a:t>
            </a:r>
          </a:p>
          <a:p xmlns:a="http://schemas.openxmlformats.org/drawingml/2006/main">
            <a:r>
              <a:t>边界｜结构不可见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Coze / Dify</a:t>
            </a:r>
          </a:p>
          <a:p xmlns:a="http://schemas.openxmlformats.org/drawingml/2006/main">
            <a:r>
              <a:t>n8n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34722"/>
          </a:bodyPr>
          <a:lstStyle xmlns:a="http://schemas.openxmlformats.org/drawingml/2006/main"/>
          <a:p xmlns:a="http://schemas.openxmlformats.org/drawingml/2006/main">
            <a:r>
              <a:t>用户｜运营 / 专业用户</a:t>
            </a:r>
          </a:p>
          <a:p xmlns:a="http://schemas.openxmlformats.org/drawingml/2006/main">
            <a:r>
              <a:t>范式｜流程编排</a:t>
            </a:r>
          </a:p>
          <a:p xmlns:a="http://schemas.openxmlformats.org/drawingml/2006/main">
            <a:r>
              <a:t>边界｜学习成本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Codex 等</a:t>
            </a:r>
          </a:p>
          <a:p xmlns:a="http://schemas.openxmlformats.org/drawingml/2006/main">
            <a:r>
              <a:t>编码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34722"/>
          </a:bodyPr>
          <a:lstStyle xmlns:a="http://schemas.openxmlformats.org/drawingml/2006/main"/>
          <a:p xmlns:a="http://schemas.openxmlformats.org/drawingml/2006/main">
            <a:r>
              <a:t>用户｜开发者</a:t>
            </a:r>
          </a:p>
          <a:p xmlns:a="http://schemas.openxmlformats.org/drawingml/2006/main">
            <a:r>
              <a:t>范式｜代码 / Shell</a:t>
            </a:r>
          </a:p>
          <a:p xmlns:a="http://schemas.openxmlformats.org/drawingml/2006/main">
            <a:r>
              <a:t>边界｜工程环境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098"/>
          </a:bodyPr>
          <a:lstStyle xmlns:a="http://schemas.openxmlformats.org/drawingml/2006/main"/>
          <a:p xmlns:a="http://schemas.openxmlformats.org/drawingml/2006/main">
            <a:r>
              <a:t>Blocky</a:t>
            </a:r>
          </a:p>
          <a:p xmlns:a="http://schemas.openxmlformats.org/drawingml/2006/main">
            <a:r>
              <a:t>Scratch 式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34722"/>
          </a:bodyPr>
          <a:lstStyle xmlns:a="http://schemas.openxmlformats.org/drawingml/2006/main"/>
          <a:p xmlns:a="http://schemas.openxmlformats.org/drawingml/2006/main">
            <a:r>
              <a:t>用户｜学生 → 专业</a:t>
            </a:r>
          </a:p>
          <a:p xmlns:a="http://schemas.openxmlformats.org/drawingml/2006/main">
            <a:r>
              <a:t>范式｜Scratch 式 Agent</a:t>
            </a:r>
          </a:p>
          <a:p xmlns:a="http://schemas.openxmlformats.org/drawingml/2006/main">
            <a:r>
              <a:t>深度｜IR / Trace / 代码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90678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 保留 Scratch 的学习曲线，补上 Agent 语义、可解释运行与专业展开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435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竞争焦点｜谁能把第一次成功变成可解释、可复用、可升级的 Agent 创作能力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MOAT · 可累积壁垒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壁垒是一条从可见语法到可逆证据的完整链路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每一层都验证上一层，并把课程、适配器与项目资产沉淀到同一语言内核。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可见积木 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课堂｜看见结构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工程｜类型约束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资产｜蓝图与积木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稳定 Agent 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语义｜跨界面共享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来源｜稳定映射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升级｜版本迁移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受控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权限｜工具契约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执行｜确定性边界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安全｜窄 Host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可回放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证据｜事件与引用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复盘｜错误可定位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转换｜项目可逆映射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三类复利资产｜语言与契约 / 适配器与证据图 / 课程与社区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2636d520a4ce0"/>
          <a:stretch xmlns:a="http://schemas.openxmlformats.org/drawingml/2006/main"/>
        </p:blipFill>
        <p:spPr>
          <a:xfrm xmlns:a="http://schemas.openxmlformats.org/drawingml/2006/main">
            <a:off x="9667875" y="228600"/>
            <a:ext cx="1504950" cy="150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PLATFORM · 从教育入口扩张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同一语言从课堂延伸到个人创作、办公自动化与组织服务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目标形态｜教育验证易学，工程内核承接复杂度，场景服务持续沉淀为可复用资产。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积木创作
内部代码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7→12 类投影
参数 / 代码 / 回退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多画布
AppSurface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稳定引用 / 前端源码
隔离预览 / Bridge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办公 Agent
+ RPA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浏览器 / 桌面 / 表格
审批 / 检查点 / 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兼容 / CLI
4 Skills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Codex / OpenClaw
DeepSeek Harness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场景服务</a:t>
            </a:r>
          </a:p>
          <a:p xmlns:a="http://schemas.openxmlformats.org/drawingml/2006/main">
            <a:r>
              <a:t>社区与多端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学习 / 机构 / 企业</a:t>
            </a:r>
          </a:p>
          <a:p xmlns:a="http://schemas.openxmlformats.org/drawingml/2006/main">
            <a:r>
              <a:t>社区 / 移动 / 服务端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90678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一个教育入口，四条增长路径：专业订阅 / 机构方案 / 企业服务 / 生态分发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435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同一语义贯通桌面 / CLI / 4 Skills / 6 模板 / 机构与企业方案</a:t>
            </a:r>
          </a:p>
          <a:p xmlns:a="http://schemas.openxmlformats.org/drawingml/2006/main"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每次场景共创都能沉淀为蓝图、积木、适配器或私有资产包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BUSINESS MODEL · 订阅 + 资产化服务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订阅规模化，场景服务提升客单价并沉淀资产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28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个人教育与学习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收入｜¥980 / 年</a:t>
            </a:r>
          </a:p>
          <a:p xmlns:a="http://schemas.openxmlformats.org/drawingml/2006/main">
            <a:r>
              <a:t>成本｜模型云18% + 支付2% + 支持5%</a:t>
            </a:r>
          </a:p>
          <a:p xmlns:a="http://schemas.openxmlformats.org/drawingml/2006/main">
            <a:r>
              <a:t>毛利目标｜≥75%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28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专业创作订阅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收入｜¥5,200 / 年</a:t>
            </a:r>
          </a:p>
          <a:p xmlns:a="http://schemas.openxmlformats.org/drawingml/2006/main">
            <a:r>
              <a:t>成本｜模型云22% + 支付2% + 支持6%</a:t>
            </a:r>
          </a:p>
          <a:p xmlns:a="http://schemas.openxmlformats.org/drawingml/2006/main">
            <a:r>
              <a:t>毛利目标｜≥70%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教育机构方案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收入｜席位 + 服务</a:t>
            </a:r>
          </a:p>
          <a:p xmlns:a="http://schemas.openxmlformats.org/drawingml/2006/main">
            <a:r>
              <a:t>成本｜平台20% + 培训15% + 支持5%</a:t>
            </a:r>
          </a:p>
          <a:p xmlns:a="http://schemas.openxmlformats.org/drawingml/2006/main">
            <a:r>
              <a:t>资产复用后毛利｜≥60%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企业与行业定制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收入｜范围与边界报价</a:t>
            </a:r>
          </a:p>
          <a:p xmlns:a="http://schemas.openxmlformats.org/drawingml/2006/main">
            <a:r>
              <a:t>成本｜交付人天35% + 云10%</a:t>
            </a:r>
          </a:p>
          <a:p xmlns:a="http://schemas.openxmlformats.org/drawingml/2006/main">
            <a:r>
              <a:t>私有资产复用后毛利｜≥55%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62600"/>
            <a:ext cx="94869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95950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定价为商业基线；机构与企业按席位、交付边界与资产复用率报价。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a6e4f020f423e"/>
          <a:stretch xmlns:a="http://schemas.openxmlformats.org/drawingml/2006/main"/>
        </p:blipFill>
        <p:spPr>
          <a:xfrm xmlns:a="http://schemas.openxmlformats.org/drawingml/2006/main">
            <a:off x="9581059" y="209550"/>
            <a:ext cx="1430931" cy="1562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GO-TO-MARKET · 教师共创驱动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教师共创与课堂证据是第一条获客路径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28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课程共创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使用者｜教师 / 学生</a:t>
            </a:r>
          </a:p>
          <a:p xmlns:a="http://schemas.openxmlformats.org/drawingml/2006/main">
            <a:r>
              <a:t>触达｜比赛 / 社群 / 高校</a:t>
            </a:r>
          </a:p>
          <a:p xmlns:a="http://schemas.openxmlformats.org/drawingml/2006/main">
            <a:r>
              <a:t>周期｜2–4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28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课堂样板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证据｜作品 / 轨迹 / 引用</a:t>
            </a:r>
          </a:p>
          <a:p xmlns:a="http://schemas.openxmlformats.org/drawingml/2006/main">
            <a:r>
              <a:t>门槛｜完成率 / 复用率</a:t>
            </a:r>
          </a:p>
          <a:p xmlns:a="http://schemas.openxmlformats.org/drawingml/2006/main">
            <a:r>
              <a:t>周期｜4–6 课时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机构合同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决策者｜校方 / 教研 / 机构</a:t>
            </a:r>
          </a:p>
          <a:p xmlns:a="http://schemas.openxmlformats.org/drawingml/2006/main">
            <a:r>
              <a:t>付费者｜学校 / 教培</a:t>
            </a:r>
          </a:p>
          <a:p xmlns:a="http://schemas.openxmlformats.org/drawingml/2006/main">
            <a:r>
              <a:t>周期｜1–2 学期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资产放大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复购｜课程 / 席位 / 支持</a:t>
            </a:r>
          </a:p>
          <a:p xmlns:a="http://schemas.openxmlformats.org/drawingml/2006/main">
            <a:r>
              <a:t>扩展｜专业 / 企业服务</a:t>
            </a:r>
          </a:p>
          <a:p xmlns:a="http://schemas.openxmlformats.org/drawingml/2006/main">
            <a:r>
              <a:t>沉淀｜蓝图 / 私有积木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62600"/>
            <a:ext cx="94869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95950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比赛 / 教师社群 → 课程共创 → 课堂样板 → 机构采购 → 订阅与服务复购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f70f4966443dd"/>
          <a:stretch xmlns:a="http://schemas.openxmlformats.org/drawingml/2006/main"/>
        </p:blipFill>
        <p:spPr>
          <a:xfrm xmlns:a="http://schemas.openxmlformats.org/drawingml/2006/main">
            <a:off x="9581059" y="209550"/>
            <a:ext cx="1430931" cy="1562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VALIDATION · 12 个月商业门槛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技术证据之后，四道门槛验证学习价值、采用与付费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每项均标注目标样本、证据与通过条件；现有工程证据见第 5 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共创意愿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样本｜20 名教师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证据｜访谈 / 共创记录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门槛｜≥50% 愿意试教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学生完成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样本｜30 个课堂样板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证据｜作品 / 轨迹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门槛｜≥70% 完成项目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样本｜参与试教教师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证据｜二次开课记录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门槛｜≥50% 再次使用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采购承诺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样本｜教育机构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证据｜预算流程 / 试点意向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门槛｜≥5 家付费试点或订金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学习价值看作品与证据；商业价值看复用、采购动作与付费转化。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aeded6da9427f"/>
          <a:stretch xmlns:a="http://schemas.openxmlformats.org/drawingml/2006/main"/>
        </p:blipFill>
        <p:spPr>
          <a:xfrm xmlns:a="http://schemas.openxmlformats.org/drawingml/2006/main">
            <a:off x="9667875" y="228600"/>
            <a:ext cx="1504950" cy="150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TEAM · 可复核执行力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创始人主导产品与 Agent 工程，18 个月按 3 人核心团队配置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当前角色｜Blocky Studio 项目发起人 / 产品与 Agent 工程负责人；以尖峰与契约作为 Proof of Work。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57800" cy="3886200"/>
          </a:xfrm>
          <a:prstGeom xmlns:a="http://schemas.openxmlformats.org/drawingml/2006/main" prst="roundRect">
            <a:avLst>
              <a:gd name="adj" fmla="val 53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创始人 / 产品与 Agent 工程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648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身份｜Blocky Studio 项目发起人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当前职责｜产品、Agent 语言、工程地基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Proof｜Windows Core 技术尖峰 / 正式契约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资产｜完整产品设计地图 / 6 ADR / 21 Schema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优势｜把复杂 Agent 语义变成可学习产品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考核｜正式产品、课堂样板、付费席位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5257800" cy="3886200"/>
          </a:xfrm>
          <a:prstGeom xmlns:a="http://schemas.openxmlformats.org/drawingml/2006/main" prst="roundRect">
            <a:avLst>
              <a:gd name="adj" fmla="val 53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18 个月核心配置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648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01 创始人｜产品与 Agent 工程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02 工程招聘｜桌面与运行基础设施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03 商业招聘｜教育产品与机构合作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顾问网络｜教师 / 教研 / 合规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6 月考核｜产品闭环 + 20 名共创教师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18 月考核｜920 教育席 + 100 专业订阅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a3b6747e84204"/>
          <a:srcRect xmlns:a="http://schemas.openxmlformats.org/drawingml/2006/main" l="0" t="11290" r="0" b="11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0" y="4095750"/>
            <a:ext cx="2952750" cy="14287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464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86375"/>
            <a:ext cx="445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本轮｜新增 2 个核心岗位 + 教育 / 教研 / 合规合作网络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1" name="Unified left evidence conclusion">
            <a:extLst xmlns:a="http://schemas.openxmlformats.org/drawingml/2006/main"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4648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现有｜创始人主导 + 尖峰运行内核 + 可复核工程资产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FINANCIALS · 三年基准情景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从课堂验证、机构复制走向经营现金转正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28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Y1 · 课堂验证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教育 / 专业｜120 / 20</a:t>
            </a:r>
          </a:p>
          <a:p xmlns:a="http://schemas.openxmlformats.org/drawingml/2006/main">
            <a:r>
              <a:t>订阅收入｜¥22 万</a:t>
            </a:r>
          </a:p>
          <a:p xmlns:a="http://schemas.openxmlformats.org/drawingml/2006/main">
            <a:r>
              <a:t>综合毛利｜60%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28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Y2 · 机构复制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教育 / 专业｜920 / 100</a:t>
            </a:r>
          </a:p>
          <a:p xmlns:a="http://schemas.openxmlformats.org/drawingml/2006/main">
            <a:r>
              <a:t>订阅收入｜¥142 万</a:t>
            </a:r>
          </a:p>
          <a:p xmlns:a="http://schemas.openxmlformats.org/drawingml/2006/main">
            <a:r>
              <a:t>综合毛利｜68%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Y3 · 规模增长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教育 / 专业｜5,000 / 500</a:t>
            </a:r>
          </a:p>
          <a:p xmlns:a="http://schemas.openxmlformats.org/drawingml/2006/main">
            <a:r>
              <a:t>订阅收入｜¥750 万</a:t>
            </a:r>
          </a:p>
          <a:p xmlns:a="http://schemas.openxmlformats.org/drawingml/2006/main">
            <a:r>
              <a:t>综合毛利｜72%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现金路径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团队与运营｜200 / 250 / 450 万</a:t>
            </a:r>
          </a:p>
          <a:p xmlns:a="http://schemas.openxmlformats.org/drawingml/2006/main">
            <a:r>
              <a:t>年度现金结果｜-187 / -153 / +90 万</a:t>
            </a:r>
          </a:p>
          <a:p xmlns:a="http://schemas.openxmlformats.org/drawingml/2006/main">
            <a:r>
              <a:t>造血触发｜Y3 经营现金转正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62600"/>
            <a:ext cx="94869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95950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计划口径｜以下为测算，不代表已实现收入；订阅收入不含机构与企业服务。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08f9ec845431c"/>
          <a:stretch xmlns:a="http://schemas.openxmlformats.org/drawingml/2006/main"/>
        </p:blipFill>
        <p:spPr>
          <a:xfrm xmlns:a="http://schemas.openxmlformats.org/drawingml/2006/main">
            <a:off x="9581059" y="209550"/>
            <a:ext cx="1430931" cy="1562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RESOURCE PLAN · 18 个月投入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18 个月用三段里程碑把 300 万转成付费席位与机构复制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核心团队、月度投入、6 个月门槛和下一融资 / 自我造血触发均可检查。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 + 团队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917"/>
          </a:bodyPr>
          <a:lstStyle xmlns:a="http://schemas.openxmlformats.org/drawingml/2006/main"/>
          <a:p xmlns:a="http://schemas.openxmlformats.org/drawingml/2006/main">
            <a:r>
              <a:t>1–6 月</a:t>
            </a:r>
          </a:p>
          <a:p xmlns:a="http://schemas.openxmlformats.org/drawingml/2006/main">
            <a:r>
              <a:t>3 人核心配置</a:t>
            </a:r>
          </a:p>
          <a:p xmlns:a="http://schemas.openxmlformats.org/drawingml/2006/main">
            <a:r>
              <a:t>正式产品闭环</a:t>
            </a:r>
          </a:p>
          <a:p xmlns:a="http://schemas.openxmlformats.org/drawingml/2006/main">
            <a:r>
              <a:t>20 名共创教师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 + 试点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917"/>
          </a:bodyPr>
          <a:lstStyle xmlns:a="http://schemas.openxmlformats.org/drawingml/2006/main"/>
          <a:p xmlns:a="http://schemas.openxmlformats.org/drawingml/2006/main">
            <a:r>
              <a:t>7–12 月</a:t>
            </a:r>
          </a:p>
          <a:p xmlns:a="http://schemas.openxmlformats.org/drawingml/2006/main">
            <a:r>
              <a:t>30 个课堂样板</a:t>
            </a:r>
          </a:p>
          <a:p xmlns:a="http://schemas.openxmlformats.org/drawingml/2006/main">
            <a:r>
              <a:t>≥70% 项目完成率</a:t>
            </a:r>
          </a:p>
          <a:p xmlns:a="http://schemas.openxmlformats.org/drawingml/2006/main">
            <a:r>
              <a:t>≥5 家付费试点 / 订金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机构复制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917"/>
          </a:bodyPr>
          <a:lstStyle xmlns:a="http://schemas.openxmlformats.org/drawingml/2006/main"/>
          <a:p xmlns:a="http://schemas.openxmlformats.org/drawingml/2006/main">
            <a:r>
              <a:t>13–18 月</a:t>
            </a:r>
          </a:p>
          <a:p xmlns:a="http://schemas.openxmlformats.org/drawingml/2006/main">
            <a:r>
              <a:t>10 家机构 × 80 席</a:t>
            </a:r>
          </a:p>
          <a:p xmlns:a="http://schemas.openxmlformats.org/drawingml/2006/main">
            <a:r>
              <a:t>120 个个人教育订阅</a:t>
            </a:r>
          </a:p>
          <a:p xmlns:a="http://schemas.openxmlformats.org/drawingml/2006/main">
            <a:r>
              <a:t>100 个专业订阅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现金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资金纪律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917"/>
          </a:bodyPr>
          <a:lstStyle xmlns:a="http://schemas.openxmlformats.org/drawingml/2006/main"/>
          <a:p xmlns:a="http://schemas.openxmlformats.org/drawingml/2006/main">
            <a:r>
              <a:t>¥300 万 / 18 个月</a:t>
            </a:r>
          </a:p>
          <a:p xmlns:a="http://schemas.openxmlformats.org/drawingml/2006/main">
            <a:r>
              <a:t>平均月度投入 ¥16.7 万</a:t>
            </a:r>
          </a:p>
          <a:p xmlns:a="http://schemas.openxmlformats.org/drawingml/2006/main">
            <a:r>
              <a:t>下一触发｜920 教育席 + 100 专业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下一轮 / 自我造血触发｜付费试点 → 920 教育席 + 100 专业订阅 → Y3 经营现金转正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a56613f0141c8"/>
          <a:stretch xmlns:a="http://schemas.openxmlformats.org/drawingml/2006/main"/>
        </p:blipFill>
        <p:spPr>
          <a:xfrm xmlns:a="http://schemas.openxmlformats.org/drawingml/2006/main">
            <a:off x="9667875" y="228600"/>
            <a:ext cx="1504950" cy="150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27B5C-FFF8-4BA6-8AA8-D1D9233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ASK · 息壤杯资源协同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EE994-63C8-4810-8512-496778E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息壤杯可以帮助 Blocky 跨过三道商业化门槛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C2394-E478-4A35-ACBE-A67CFD1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8FFC8-C87E-4425-842E-FF0B4410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22C28-74B8-480B-A5F0-7E848C12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49FBD-B9E2-4937-8B71-F37ADC28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28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课堂样板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2D701-95C6-4BED-A41F-8D6A6AF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目标｜20 名共创教师</a:t>
            </a:r>
          </a:p>
          <a:p xmlns:a="http://schemas.openxmlformats.org/drawingml/2006/main">
            <a:r>
              <a:t>产出｜30 个课堂样板</a:t>
            </a:r>
          </a:p>
          <a:p xmlns:a="http://schemas.openxmlformats.org/drawingml/2006/main">
            <a:r>
              <a:t>证据｜作品 / 轨迹 / 复用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B7810-3F26-43BB-93A0-F55D68BF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18EFF-3796-4785-9452-4696236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341AC-2841-4CC4-9481-27E5502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82CA7-1DDC-4F08-83E5-C455DB1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288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机构复制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B39A9-8513-47ED-A1BC-F37C3E47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伙伴｜学校 / 教培 / 高校</a:t>
            </a:r>
          </a:p>
          <a:p xmlns:a="http://schemas.openxmlformats.org/drawingml/2006/main">
            <a:r>
              <a:t>路径｜课程包 / 培训 / 席位</a:t>
            </a:r>
          </a:p>
          <a:p xmlns:a="http://schemas.openxmlformats.org/drawingml/2006/main">
            <a:r>
              <a:t>结果｜首批可复制方案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452A7-E5CE-4924-A445-B48DA60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7D452-E553-4345-AF90-902F7EB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4F0E1-6D97-4839-AE0B-76B2877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53769-E44A-4AD1-B4F6-DA8F048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模型与算力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EC42B-1C31-477E-9175-1ACFD0A9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需求｜教育 Provider / 算力</a:t>
            </a:r>
          </a:p>
          <a:p xmlns:a="http://schemas.openxmlformats.org/drawingml/2006/main">
            <a:r>
              <a:t>目标｜稳定、低成本、可审计</a:t>
            </a:r>
          </a:p>
          <a:p xmlns:a="http://schemas.openxmlformats.org/drawingml/2006/main">
            <a:r>
              <a:t>协同｜模型 / 云 / 生态渠道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FC9EB-61C0-4993-B35C-2BE0AF1D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51054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E6542-76CB-47D0-9041-4F49CD08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26C71-5036-45B0-8D5C-FA1AA0A1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9A4BE-6C95-405D-B13D-444A3D1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种子资金与团队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712BE-4630-4C3A-BB09-CE74B516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130"/>
          </a:bodyPr>
          <a:lstStyle xmlns:a="http://schemas.openxmlformats.org/drawingml/2006/main"/>
          <a:p xmlns:a="http://schemas.openxmlformats.org/drawingml/2006/main">
            <a:r>
              <a:t>额度｜¥300 万 / 18 个月</a:t>
            </a:r>
          </a:p>
          <a:p xmlns:a="http://schemas.openxmlformats.org/drawingml/2006/main">
            <a:r>
              <a:t>配置｜3 人核心团队</a:t>
            </a:r>
          </a:p>
          <a:p xmlns:a="http://schemas.openxmlformats.org/drawingml/2006/main">
            <a:r>
              <a:t>月度投入｜¥16.7 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E1531-D33C-4A90-9B37-2141B9C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62600"/>
            <a:ext cx="94869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7111A-BC8B-4568-93D9-021AC27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95950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一笔资源完成三次价值跃迁：技术可行 → 课堂可用 → 机构可复制。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533BF-D6C7-4A7C-A78F-589AA8E1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28915-1625-43AF-BAE1-77E7B4A0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搭建与场景化服务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49644-EB01-4511-9C5F-A6CFAC63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b881eb384357"/>
          <a:stretch xmlns:a="http://schemas.openxmlformats.org/drawingml/2006/main"/>
        </p:blipFill>
        <p:spPr>
          <a:xfrm xmlns:a="http://schemas.openxmlformats.org/drawingml/2006/main">
            <a:off x="9581059" y="209550"/>
            <a:ext cx="1430931" cy="1562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0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8105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313f4c75149c6"/>
          <a:stretch xmlns:a="http://schemas.openxmlformats.org/drawingml/2006/main"/>
        </p:blipFill>
        <p:spPr>
          <a:xfrm xmlns:a="http://schemas.openxmlformats.org/drawingml/2006/main">
            <a:off x="8029575" y="125730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 STUDIO · AGENT 创作基础设施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看懂、改动、负责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47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自己搭建的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从课堂样板开始，成长为 Agent 时代的创作基础设施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95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课堂可验证 · 商业可复制 · 生态可生长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教育验证易学，工程底座保证可用，项目积木化与服务资产打开长期平台价值。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1531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D9BE4-76F9-4A7D-9C8D-2F5EF256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CCF9B-8A6D-4873-B7C6-72B7F16F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AD890-3E02-4B32-A590-73AF68E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8105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6768c6e3e4057"/>
          <a:stretch xmlns:a="http://schemas.openxmlformats.org/drawingml/2006/main"/>
        </p:blipFill>
        <p:spPr>
          <a:xfrm xmlns:a="http://schemas.openxmlformats.org/drawingml/2006/main">
            <a:off x="8029575" y="125730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69273-24D0-4097-89BD-DB290BE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完整产品与生态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2D827-8A22-4FC0-8118-2EA4F9F6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20EF3-5C41-49AB-9DB0-278C191C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47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完整产品、服务与生态全景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CB7FC-A2C8-4032-B5FB-5BDAD9D7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5E5DB-B502-4C97-A633-16C100D0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Blocky Studio · 目标形态与技术证据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6E6E-DF21-46F4-84A1-E56863B7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95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56512-3F11-4BC5-BBFE-0365EA46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产品结构 · 工程边界 · 生态路线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4BB3B-9431-4961-B921-BE763B2F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以下页面保留完整产品设计，并统一标注实证、契约与目标形态。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0086F-B57E-43C0-B341-1F4B85AA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1531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</p:spTree>
    <p:extLst>
      <p:ext uri="{BB962C8B-B14F-4D97-AF65-F5344CB8AC3E}">
        <p14:creationId xmlns:p14="http://schemas.microsoft.com/office/powerpoint/2010/main" val="13258619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1BF2F6-7820-4F71-A5F3-44000ED8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验收演示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81ADE-80F5-42E9-8853-EF5280D4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 分钟验证 5 件事：选择、修改、运行、追踪、保存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A1F63-0E40-4377-9F6C-F7E155EA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基于课程蓝图呈现“选择—修改—运行—轨迹—保存”；这是目标验收脚本，不等于完整课程时长。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04AFC-6A82-41C7-ABEB-5D0B0808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09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70C2E-A825-44BD-BFC3-2F9092FD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9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E383A-D3C9-463D-90D3-B0C8254C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09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47339-424A-4575-BFED-D712680E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0990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49493-3133-4D57-B418-0FC64E0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16573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735B2-1D95-42CD-9390-53260701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89284-904D-4CA8-AF84-68B161FB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选择蓝图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9AD1A-0529-4DCF-B052-8C59974E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课堂知识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FD2D7-BE35-487B-8AF1-CFA6A5C4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16573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8D6E0-39E4-47B1-957D-861949DE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CF790-33C9-4CCB-A157-EF7C63A8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194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修改积木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79A17-5ACC-4FC3-9593-C038762D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956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· 知识 · 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931BE-909D-4CA1-A8AB-20443305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16573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4AEE4-C3AD-424F-BF93-521A3B46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4F98A-F223-47A2-9F28-C1B6DA0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A1067-0938-4671-9EFE-71111399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956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本地检索 + 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4FD71-DF17-4CA8-A89C-001B0D22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16573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6B1F2-F786-4907-9B38-6D5B309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38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67383-C63A-4BD0-9C8F-2977BF77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查看轨迹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A1E21-50FB-423D-A459-1A0C693B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56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步骤 · 状态 · 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396C4-30A2-4334-9ED5-17BFDFAE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16573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1A61D-3FAE-48E2-A03D-6F11EB65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38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3B23B-6531-4174-AD4B-5499123F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194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保存重开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7C8725-F881-4B20-8922-9BCB26A4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956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6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Agent 语义保持一致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5D525-758B-44D0-90F2-EE5FBAD2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276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FF6B1-7E33-4870-A17A-CF1D956F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0344CA-4B17-44A6-BE50-710321E1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84B3E6-57A9-45C0-A2E9-15BEA851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本地运行有证据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7570BE-5162-4D12-AE16-D2927C1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Provider / RuntimeEvent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本地运行可读回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8BFF40-00F6-42F3-A709-F0FF0B48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43400"/>
            <a:ext cx="3276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82C568-EB54-4F86-9719-69A443CD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3FE7DA-9E56-4BD7-9F7A-4A7695B0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38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44E849-D3A9-43C7-BF9A-8C9434B5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148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引用与拒答可见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1D2692-8CDD-4B60-95CF-492AB2A4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149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Citation / Guard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引用与拒答可复核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5B5C15-EEE9-4585-B27F-51E7E83D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43400"/>
            <a:ext cx="3276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77F557-EDEC-4BE2-B1CE-221DCA3E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5382B6-9835-4B93-B708-3D9BCA1D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38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AA06BF-AFB7-4CF2-8847-FC5A1A09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项目可保存复现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803178-7941-42C1-A1DB-7806CAA6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149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Workspace / Stable ID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保存重开语义一致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3F74DB-353E-4AC3-8319-F0E8F80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483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29199D-0A09-4447-ADBA-1032DD2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9150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闭环证据：五步连续呈现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8F5750-0E1E-40F3-9F23-28AE1F19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473D5A-F999-426D-96D7-1D006B67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BEA014-107A-40CA-8682-5991D33E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40985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四层创作深度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从“拿来即用”到“修改内部实现”，能力按需展开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四层共享同一 Project Manifest、Workspace、IR、权限与运行证据；切换深度不换项目。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产物｜可运行 Agent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证据｜Workspace + RuntimeEvent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指标｜完成率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蓝图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行为｜指认关键积木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证据｜高亮 + Trace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指标｜解释率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原子积木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行为｜回答含可定位来源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证据｜引用 / 拒答记录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指标｜引用可定位率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内部代码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行为｜保存重开语义一致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证据｜Project reload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指标｜保存复现率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同一底座｜兼容模板 → 蓝图 → 原子积木 → 内部代码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e9aae217e4401"/>
          <a:stretch xmlns:a="http://schemas.openxmlformats.org/drawingml/2006/main"/>
        </p:blipFill>
        <p:spPr>
          <a:xfrm xmlns:a="http://schemas.openxmlformats.org/drawingml/2006/main">
            <a:off x="9667875" y="228600"/>
            <a:ext cx="1504950" cy="150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积木内部修改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积木不是黑盒：从公开参数一直改到内部实现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官方基线、用户差异、诊断与回退同屏呈现；代码只封装局部逻辑，不隐藏 Agent 拓扑与权限。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参数与接口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/>
              <a:t>输入 / 输出
类型 / 默认值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展开与封装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/>
              <a:t>展开原子积木
保留公开插槽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内部代码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/>
              <a:t>局部代码实现
差异 / 诊断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校验与回退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/>
              <a:t>编译 / 测试
接受 / 回退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8001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同一块能力：可组合 · 可展开 · 可编辑 · 可验证 · 可回退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e4c0715d145d3"/>
          <a:stretch xmlns:a="http://schemas.openxmlformats.org/drawingml/2006/main"/>
        </p:blipFill>
        <p:spPr>
          <a:xfrm xmlns:a="http://schemas.openxmlformats.org/drawingml/2006/main" flipH="0" flipV="0">
            <a:off x="685800" y="2145506"/>
            <a:ext cx="3524250" cy="2643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多画布与应用界面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项目需要页面时，前端由同一项目显式创建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画布标签拆分 Agent / 自动化 / 规则｜浏览器标签预览可选 AppSurface｜关闭标签不删除产物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572250" cy="3790950"/>
          </a:xfrm>
          <a:prstGeom xmlns:a="http://schemas.openxmlformats.org/drawingml/2006/main" prst="roundRect">
            <a:avLst>
              <a:gd name="adj" fmla="val 552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292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AppSurface 由用户主动创建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项目内一套交付路径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多画布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稳定引用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应用界面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前端源码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浏览器预览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Bridge 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24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隔离存储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00650"/>
            <a:ext cx="3238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2922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IR、运行内核、轨迹与权限模型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f99cc28a14073"/>
          <a:srcRect xmlns:a="http://schemas.openxmlformats.org/drawingml/2006/main" l="0" t="2671" r="0" b="2671"/>
          <a:stretch xmlns:a="http://schemas.openxmlformats.org/drawingml/2006/main"/>
        </p:blipFill>
        <p:spPr>
          <a:xfrm xmlns:a="http://schemas.openxmlformats.org/drawingml/2006/main" flipH="0" flipV="0">
            <a:off x="819150" y="2076450"/>
            <a:ext cx="6305550" cy="30861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6BEB0-5134-4740-8BC5-70438A9E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Agent + 自动化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93C4D-248B-4BA9-B5FD-3076450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办公场景沿用同一积木语言，不另起一套产品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294B6-FC5C-481E-9BCB-E0BD442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把资料理解、浏览器操作、桌面应用与人工确认，组合成可追踪的有人值守流程。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EE404-A53E-47C8-BD14-1A6FF57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320BC-DCBD-459B-B601-6F0A4EF6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BF5B1-FF19-480C-A1F9-B3EBD55A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B8ED1-07E5-4EEC-85C0-40D8A0D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资料与表格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674A9-88C9-467B-8B72-EE50C9BD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/>
              <a:t>读取结构化
来源 /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DC4C0-F9C1-4B05-86E6-F1C7ABDF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5F763-49D5-4981-BAE1-812D10DB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C79FC-38CA-4920-BCFA-97252FF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浏览器与桌面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934EE-6AF6-484E-B295-F7557057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/>
              <a:t>语义操作
浏览器 / 桌面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0918C-A06B-4E1A-8C9D-0648588A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1C48E-5BD0-4783-9B5F-9CD7A9A7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7325C-B220-4DD8-937A-0AFCD38A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+ RPA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1AD58-3805-4CBB-B0C5-AD0CFD4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/>
              <a:t>有人值守
审批 / 检查点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AF4FD-BC3F-4584-9B71-B1636FE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A1FC6-3496-484C-95F5-14F46B1D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95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75CB5-1F52-4474-A185-5DCFD29B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337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人工与恢复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6F002-6517-421A-8333-2339096B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8145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/>
              <a:t>动作确认
暂停 / 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85272-C52C-40FA-B761-776CF43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80010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59AD1-71DC-48F0-89B6-BD531D8D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同一项目可容纳 Agent、自动化、规则、数据与应用界面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0A4D9-AB1E-4082-B642-C0C46F9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E1450-E4DF-4EFF-A864-D90D800E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E4714-55B0-428F-BB84-CF5DF9C5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b28c050d249a8"/>
          <a:stretch xmlns:a="http://schemas.openxmlformats.org/drawingml/2006/main"/>
        </p:blipFill>
        <p:spPr>
          <a:xfrm xmlns:a="http://schemas.openxmlformats.org/drawingml/2006/main" flipH="0" flipV="0">
            <a:off x="685800" y="2145506"/>
            <a:ext cx="3524250" cy="2643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891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办公蓝图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六类办公蓝图覆盖“理解—执行—核验—交付”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7905750" cy="3429000"/>
          </a:xfrm>
          <a:prstGeom xmlns:a="http://schemas.openxmlformats.org/drawingml/2006/main" prst="roundRect">
            <a:avLst>
              <a:gd name="adj" fmla="val 55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5C7A3-B066-45AE-9611-3A53A15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8400"/>
            <a:ext cx="285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F3443-2956-4DCD-9397-CE8B308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8958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B1834-49B3-4F51-9EB9-4552973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6480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254A-D248-480E-A64C-9F3D946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43840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先以有人值守流程进入真实办公；团队可按权限、数据与系统逐步扩展。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共同底座：项目模块 + 权限 + 检查点 + RuntimeEvent +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9C619-2BD1-4EF2-9FB4-E67118A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49E2C-638C-4C84-9984-35EE7E4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办公问答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E703F-ECE8-4177-B632-BC2BAF5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81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45E4-7D7B-4DD8-84A1-4F70157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3148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65A70-FD04-45E9-8824-2BD3726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62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EFD31-A748-48DC-9B67-88B96D4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333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桌面任务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ECAB1-E514-4F89-A764-A2DA3B8D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9564E-1B04-4A3B-9C90-58816AC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390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600200" cy="335280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3CED9-2289-46C4-878F-B09658EE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36220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Agent + 自动化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E07F1-2CE1-4A8A-BE82-360BF6C6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238500"/>
            <a:ext cx="1219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入门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蓝图 / 代码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办公价值：减少重复搬运，同时保留来源、授权、过程与责任边界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26" name="compat-card-fill-1-1">
            <a:extLst xmlns:a="http://schemas.openxmlformats.org/drawingml/2006/main"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t-card-fill-1-2">
            <a:extLst xmlns:a="http://schemas.openxmlformats.org/drawingml/2006/main"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t-card-fill-1-3">
            <a:extLst xmlns:a="http://schemas.openxmlformats.org/drawingml/2006/main"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t-card-1">
            <a:extLst xmlns:a="http://schemas.openxmlformats.org/drawingml/2006/main"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 xmlns:a="http://schemas.openxmlformats.org/drawingml/2006/main"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t-title-1">
            <a:extLst xmlns:a="http://schemas.openxmlformats.org/drawingml/2006/main"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资料问答与报告</a:t>
            </a:r>
          </a:p>
        </p:txBody>
      </p:sp>
      <p:sp>
        <p:nvSpPr>
          <p:cNvPr id="32" name="compat-name-1">
            <a:extLst xmlns:a="http://schemas.openxmlformats.org/drawingml/2006/main"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带引用回答</a:t>
            </a:r>
          </a:p>
        </p:txBody>
      </p:sp>
      <p:sp>
        <p:nvSpPr>
          <p:cNvPr id="33" name="compat-desc-1">
            <a:extLst xmlns:a="http://schemas.openxmlformats.org/drawingml/2006/main"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摘要 / 周报 / 研究整理</a:t>
            </a:r>
          </a:p>
        </p:txBody>
      </p:sp>
      <p:sp>
        <p:nvSpPr>
          <p:cNvPr id="34" name="compat-card-fill-2-1">
            <a:extLst xmlns:a="http://schemas.openxmlformats.org/drawingml/2006/main"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t-card-fill-2-2">
            <a:extLst xmlns:a="http://schemas.openxmlformats.org/drawingml/2006/main"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at-card-fill-2-3">
            <a:extLst xmlns:a="http://schemas.openxmlformats.org/drawingml/2006/main"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t-card-2">
            <a:extLst xmlns:a="http://schemas.openxmlformats.org/drawingml/2006/main"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 xmlns:a="http://schemas.openxmlformats.org/drawingml/2006/main"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t-title-2">
            <a:extLst xmlns:a="http://schemas.openxmlformats.org/drawingml/2006/main"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表格清洗与汇总</a:t>
            </a:r>
          </a:p>
        </p:txBody>
      </p:sp>
      <p:sp>
        <p:nvSpPr>
          <p:cNvPr id="40" name="compat-name-2">
            <a:extLst xmlns:a="http://schemas.openxmlformats.org/drawingml/2006/main"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Excel / CSV</a:t>
            </a:r>
          </a:p>
        </p:txBody>
      </p:sp>
      <p:sp>
        <p:nvSpPr>
          <p:cNvPr id="41" name="compat-desc-2">
            <a:extLst xmlns:a="http://schemas.openxmlformats.org/drawingml/2006/main"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去重 / 对账 / 指标回填</a:t>
            </a:r>
          </a:p>
        </p:txBody>
      </p:sp>
      <p:sp>
        <p:nvSpPr>
          <p:cNvPr id="42" name="compat-card-fill-3-1">
            <a:extLst xmlns:a="http://schemas.openxmlformats.org/drawingml/2006/main"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t-card-fill-3-2">
            <a:extLst xmlns:a="http://schemas.openxmlformats.org/drawingml/2006/main"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at-card-fill-3-3">
            <a:extLst xmlns:a="http://schemas.openxmlformats.org/drawingml/2006/main"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at-card-3">
            <a:extLst xmlns:a="http://schemas.openxmlformats.org/drawingml/2006/main"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 xmlns:a="http://schemas.openxmlformats.org/drawingml/2006/main"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at-title-3">
            <a:extLst xmlns:a="http://schemas.openxmlformats.org/drawingml/2006/main"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ERP / CRM 录入</a:t>
            </a:r>
          </a:p>
        </p:txBody>
      </p:sp>
      <p:sp>
        <p:nvSpPr>
          <p:cNvPr id="48" name="compat-name-3">
            <a:extLst xmlns:a="http://schemas.openxmlformats.org/drawingml/2006/main"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旧系统表单</a:t>
            </a:r>
          </a:p>
        </p:txBody>
      </p:sp>
      <p:sp>
        <p:nvSpPr>
          <p:cNvPr id="49" name="compat-desc-3">
            <a:extLst xmlns:a="http://schemas.openxmlformats.org/drawingml/2006/main"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字段映射 / 校验 / 失败定位</a:t>
            </a:r>
          </a:p>
        </p:txBody>
      </p:sp>
      <p:sp>
        <p:nvSpPr>
          <p:cNvPr id="50" name="compat-card-fill-4-1">
            <a:extLst xmlns:a="http://schemas.openxmlformats.org/drawingml/2006/main"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at-card-fill-4-2">
            <a:extLst xmlns:a="http://schemas.openxmlformats.org/drawingml/2006/main"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at-card-fill-4-3">
            <a:extLst xmlns:a="http://schemas.openxmlformats.org/drawingml/2006/main"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at-card-4">
            <a:extLst xmlns:a="http://schemas.openxmlformats.org/drawingml/2006/main"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 xmlns:a="http://schemas.openxmlformats.org/drawingml/2006/main"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at-title-4">
            <a:extLst xmlns:a="http://schemas.openxmlformats.org/drawingml/2006/main"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工单与客服协作</a:t>
            </a:r>
          </a:p>
        </p:txBody>
      </p:sp>
      <p:sp>
        <p:nvSpPr>
          <p:cNvPr id="56" name="compat-name-4">
            <a:extLst xmlns:a="http://schemas.openxmlformats.org/drawingml/2006/main"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 + 人工</a:t>
            </a:r>
          </a:p>
        </p:txBody>
      </p:sp>
      <p:sp>
        <p:nvSpPr>
          <p:cNvPr id="57" name="compat-desc-4">
            <a:extLst xmlns:a="http://schemas.openxmlformats.org/drawingml/2006/main"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归类 / 回复草稿 / 升级处理</a:t>
            </a:r>
          </a:p>
        </p:txBody>
      </p:sp>
      <p:sp>
        <p:nvSpPr>
          <p:cNvPr id="58" name="compat-card-fill-5-1">
            <a:extLst xmlns:a="http://schemas.openxmlformats.org/drawingml/2006/main"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mpat-card-fill-5-2">
            <a:extLst xmlns:a="http://schemas.openxmlformats.org/drawingml/2006/main"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at-card-fill-5-3">
            <a:extLst xmlns:a="http://schemas.openxmlformats.org/drawingml/2006/main"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mpat-card-5">
            <a:extLst xmlns:a="http://schemas.openxmlformats.org/drawingml/2006/main"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 xmlns:a="http://schemas.openxmlformats.org/drawingml/2006/main"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mpat-title-5">
            <a:extLst xmlns:a="http://schemas.openxmlformats.org/drawingml/2006/main"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跨系统数据搬运</a:t>
            </a:r>
          </a:p>
        </p:txBody>
      </p:sp>
      <p:sp>
        <p:nvSpPr>
          <p:cNvPr id="64" name="compat-name-5">
            <a:extLst xmlns:a="http://schemas.openxmlformats.org/drawingml/2006/main"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 ↔ 桌面</a:t>
            </a:r>
          </a:p>
        </p:txBody>
      </p:sp>
      <p:sp>
        <p:nvSpPr>
          <p:cNvPr id="65" name="compat-desc-5">
            <a:extLst xmlns:a="http://schemas.openxmlformats.org/drawingml/2006/main"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附件 / 表单 / 数据库</a:t>
            </a:r>
          </a:p>
        </p:txBody>
      </p:sp>
      <p:sp>
        <p:nvSpPr>
          <p:cNvPr id="66" name="compat-card-fill-6-1">
            <a:extLst xmlns:a="http://schemas.openxmlformats.org/drawingml/2006/main"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mpat-card-fill-6-2">
            <a:extLst xmlns:a="http://schemas.openxmlformats.org/drawingml/2006/main"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mpat-card-fill-6-3">
            <a:extLst xmlns:a="http://schemas.openxmlformats.org/drawingml/2006/main"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at-card-6">
            <a:extLst xmlns:a="http://schemas.openxmlformats.org/drawingml/2006/main"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 xmlns:a="http://schemas.openxmlformats.org/drawingml/2006/main"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mpat-title-6">
            <a:extLst xmlns:a="http://schemas.openxmlformats.org/drawingml/2006/main"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财务对账与回填</a:t>
            </a:r>
          </a:p>
        </p:txBody>
      </p:sp>
      <p:sp>
        <p:nvSpPr>
          <p:cNvPr id="72" name="compat-name-6">
            <a:extLst xmlns:a="http://schemas.openxmlformats.org/drawingml/2006/main"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规则 + Agent</a:t>
            </a:r>
          </a:p>
        </p:txBody>
      </p:sp>
      <p:sp>
        <p:nvSpPr>
          <p:cNvPr id="73" name="compat-desc-6">
            <a:extLst xmlns:a="http://schemas.openxmlformats.org/drawingml/2006/main"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差异解释 / 审批 / 复现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87266-2A32-4DAA-B660-5E5EABCE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创作与运行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F1EAF-E370-4FDB-93A0-A8A1C537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前端、积木、终端与运行轨迹，都回到一个可控工作台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8558F-8F1D-45F1-B8C2-D2DFAE8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编辑事实、运行事实、用户终端和 Agent 进程各有边界，却共享稳定来源与关联标识。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ACDB7-70DB-42B5-9BF7-1EC316D9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57800" cy="3886200"/>
          </a:xfrm>
          <a:prstGeom xmlns:a="http://schemas.openxmlformats.org/drawingml/2006/main" prst="roundRect">
            <a:avLst>
              <a:gd name="adj" fmla="val 53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0B61B-741F-4A50-9E91-8504EE4D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B3B13-0F03-4E53-89EB-30E7EAD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创作工作台 · 桌面端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8F19B-7745-4186-8A85-EDA802BF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648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18"/>
          </a:bodyPr>
          <a:lstStyle xmlns:a="http://schemas.openxmlformats.org/drawingml/2006/main"/>
          <a:p xmlns:a="http://schemas.openxmlformats.org/drawingml/2006/main">
            <a:r>
              <a:t>✓ 顶部：项目标签 / 命令中心 / 运行
✓ 左侧：7→12 类积木 / 搜索 / 蓝图
✓ 中间：多模块画布 / 浏览器预览
✓ 右侧：构建助手 / 检查器 / 资源
✓ 底部：问题 / 运行日志 / 终端 / 输出
✓ 设置：应用 / 项目 / 资源 / 积木
✓ 保存：Manifest + Workspace + AppSurface
✓ 补丁：幽灵积木 / 接受 / 拒绝 / 撤销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5E33F-B2AF-4819-8F01-A9FD68E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5257800" cy="3886200"/>
          </a:xfrm>
          <a:prstGeom xmlns:a="http://schemas.openxmlformats.org/drawingml/2006/main" prst="roundRect">
            <a:avLst>
              <a:gd name="adj" fmla="val 5392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65F07-950A-4D07-A025-90EE4873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22E42-B3B5-4113-8A95-7228B5B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运行治理 · 同源可追踪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811E7-D896-4913-B268-3DD1943B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648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18"/>
          </a:bodyPr>
          <a:lstStyle xmlns:a="http://schemas.openxmlformats.org/drawingml/2006/main"/>
          <a:p xmlns:a="http://schemas.openxmlformats.org/drawingml/2006/main">
            <a:r>
              <a:t>✓ 编译：Module IR / Project IR / SourceMap
✓ 入口：InteractionManifest / ToolContract
✓ 事件：RuntimeEvent / Diagnostic / LogEnvelope
✓ 轨迹：步骤 / 状态 / 引用 / 权限 / 高亮
✓ 隔离：用户终端 ≠ Agent 进程工具
✓ 脱敏：Normalizer → Redactor → Log Bus
✓ 回收：Host / PTY / Sidecar / 预览服务
✓ 审计：授权 / 拒绝 / 截断 / 恢复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02fb777224db1"/>
          <a:srcRect xmlns:a="http://schemas.openxmlformats.org/drawingml/2006/main" l="0" t="11290" r="0" b="112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0" y="4095750"/>
            <a:ext cx="2952750" cy="14287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6E84C-0488-46CA-AE0D-E70BA935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464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1F7CB-5C7D-4222-A237-0CBB7F6E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86375"/>
            <a:ext cx="445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运行：状态同源、日志脱敏、终端不越权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8B773-2B04-44AF-B2B3-BA8929F4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40E5D-88E5-46E2-AEF4-2A8359C6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AF61F-E60E-4BA3-B5A8-4BF88AFA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21" name="Unified left evidence conclusion">
            <a:extLst xmlns:a="http://schemas.openxmlformats.org/drawingml/2006/main">
              <a:ext uri="{FF2B5EF4-FFF2-40B4-BE49-F238E27FC236}">
                <a16:creationId xmlns:a16="http://schemas.microsoft.com/office/drawing/2014/main" id="{EFACA68A-A9A1-4F5A-99A6-DD469370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4648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创作：修改可见、权限可读、差异可撤销</a:t>
            </a:r>
          </a:p>
        </p:txBody>
      </p:sp>
    </p:spTree>
    <p:extLst>
      <p:ext uri="{BB962C8B-B14F-4D97-AF65-F5344CB8AC3E}">
        <p14:creationId xmlns:p14="http://schemas.microsoft.com/office/powerpoint/2010/main" val="8317505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六类兼容模板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六类 Agent 生态，沉淀为可教学、可改造的积木结构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7905750" cy="3429000"/>
          </a:xfrm>
          <a:prstGeom xmlns:a="http://schemas.openxmlformats.org/drawingml/2006/main" prst="roundRect">
            <a:avLst>
              <a:gd name="adj" fmla="val 55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5C7A3-B066-45AE-9611-3A53A15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8400"/>
            <a:ext cx="285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F3443-2956-4DCD-9397-CE8B308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8958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B1834-49B3-4F51-9EB9-4552973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6480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254A-D248-480E-A64C-9F3D946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43840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Pi、Codex、OpenClaw、Hermes、OpenCode、DeepSeek Harness 对应六类真实 Agent 架构。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统一 Agent 语义 + 进程外原生运行时 + 版本化适配器 + 可逆积木投影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9C619-2BD1-4EF2-9FB4-E67118A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49E2C-638C-4C84-9984-35EE7E4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问答型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E703F-ECE8-4177-B632-BC2BAF5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81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45E4-7D7B-4DD8-84A1-4F70157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3148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流程编排工具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65A70-FD04-45E9-8824-2BD3726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62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EFD31-A748-48DC-9B67-88B96D4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333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代码型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ECAB1-E514-4F89-A764-A2DA3B8D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9564E-1B04-4A3B-9C90-58816AC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390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600200" cy="335280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3CED9-2289-46C4-878F-B09658EE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36220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积木搭建 / 深度扩展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E07F1-2CE1-4A8A-BE82-360BF6C6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238500"/>
            <a:ext cx="1219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入门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蓝图 / 代码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教学价值：从六类真实架构学习角色、工具、权限、协作、会话与扩展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26" name="compat-card-fill-1-1">
            <a:extLst xmlns:a="http://schemas.openxmlformats.org/drawingml/2006/main"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t-card-fill-1-2">
            <a:extLst xmlns:a="http://schemas.openxmlformats.org/drawingml/2006/main"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t-card-fill-1-3">
            <a:extLst xmlns:a="http://schemas.openxmlformats.org/drawingml/2006/main"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t-card-1">
            <a:extLst xmlns:a="http://schemas.openxmlformats.org/drawingml/2006/main"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 xmlns:a="http://schemas.openxmlformats.org/drawingml/2006/main"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t-title-1">
            <a:extLst xmlns:a="http://schemas.openxmlformats.org/drawingml/2006/main"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轻量编码 Agent</a:t>
            </a:r>
          </a:p>
        </p:txBody>
      </p:sp>
      <p:sp>
        <p:nvSpPr>
          <p:cNvPr id="32" name="compat-name-1">
            <a:extLst xmlns:a="http://schemas.openxmlformats.org/drawingml/2006/main"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Pi</a:t>
            </a:r>
          </a:p>
        </p:txBody>
      </p:sp>
      <p:sp>
        <p:nvSpPr>
          <p:cNvPr id="33" name="compat-desc-1">
            <a:extLst xmlns:a="http://schemas.openxmlformats.org/drawingml/2006/main"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工具调用｜read / write / edit / bash</a:t>
            </a:r>
          </a:p>
        </p:txBody>
      </p:sp>
      <p:sp>
        <p:nvSpPr>
          <p:cNvPr id="34" name="compat-card-fill-2-1">
            <a:extLst xmlns:a="http://schemas.openxmlformats.org/drawingml/2006/main"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t-card-fill-2-2">
            <a:extLst xmlns:a="http://schemas.openxmlformats.org/drawingml/2006/main"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at-card-fill-2-3">
            <a:extLst xmlns:a="http://schemas.openxmlformats.org/drawingml/2006/main"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t-card-2">
            <a:extLst xmlns:a="http://schemas.openxmlformats.org/drawingml/2006/main"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 xmlns:a="http://schemas.openxmlformats.org/drawingml/2006/main"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t-title-2">
            <a:extLst xmlns:a="http://schemas.openxmlformats.org/drawingml/2006/main"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专业编程 Agent</a:t>
            </a:r>
          </a:p>
        </p:txBody>
      </p:sp>
      <p:sp>
        <p:nvSpPr>
          <p:cNvPr id="40" name="compat-name-2">
            <a:extLst xmlns:a="http://schemas.openxmlformats.org/drawingml/2006/main"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41" name="compat-desc-2">
            <a:extLst xmlns:a="http://schemas.openxmlformats.org/drawingml/2006/main"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工程规则｜AGENTS.md / Skills / MCP / 沙箱</a:t>
            </a:r>
          </a:p>
        </p:txBody>
      </p:sp>
      <p:sp>
        <p:nvSpPr>
          <p:cNvPr id="42" name="compat-card-fill-3-1">
            <a:extLst xmlns:a="http://schemas.openxmlformats.org/drawingml/2006/main"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t-card-fill-3-2">
            <a:extLst xmlns:a="http://schemas.openxmlformats.org/drawingml/2006/main"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at-card-fill-3-3">
            <a:extLst xmlns:a="http://schemas.openxmlformats.org/drawingml/2006/main"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at-card-3">
            <a:extLst xmlns:a="http://schemas.openxmlformats.org/drawingml/2006/main"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 xmlns:a="http://schemas.openxmlformats.org/drawingml/2006/main"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at-title-3">
            <a:extLst xmlns:a="http://schemas.openxmlformats.org/drawingml/2006/main"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个人助理 Agent</a:t>
            </a:r>
          </a:p>
        </p:txBody>
      </p:sp>
      <p:sp>
        <p:nvSpPr>
          <p:cNvPr id="48" name="compat-name-3">
            <a:extLst xmlns:a="http://schemas.openxmlformats.org/drawingml/2006/main"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OpenClaw</a:t>
            </a:r>
          </a:p>
        </p:txBody>
      </p:sp>
      <p:sp>
        <p:nvSpPr>
          <p:cNvPr id="49" name="compat-desc-3">
            <a:extLst xmlns:a="http://schemas.openxmlformats.org/drawingml/2006/main"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会话记忆｜Gateway / 会话 / 记忆 / 渠道</a:t>
            </a:r>
          </a:p>
        </p:txBody>
      </p:sp>
      <p:sp>
        <p:nvSpPr>
          <p:cNvPr id="50" name="compat-card-fill-4-1">
            <a:extLst xmlns:a="http://schemas.openxmlformats.org/drawingml/2006/main"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at-card-fill-4-2">
            <a:extLst xmlns:a="http://schemas.openxmlformats.org/drawingml/2006/main"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at-card-fill-4-3">
            <a:extLst xmlns:a="http://schemas.openxmlformats.org/drawingml/2006/main"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at-card-4">
            <a:extLst xmlns:a="http://schemas.openxmlformats.org/drawingml/2006/main"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 xmlns:a="http://schemas.openxmlformats.org/drawingml/2006/main"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at-title-4">
            <a:extLst xmlns:a="http://schemas.openxmlformats.org/drawingml/2006/main"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团队协作 Agent</a:t>
            </a:r>
          </a:p>
        </p:txBody>
      </p:sp>
      <p:sp>
        <p:nvSpPr>
          <p:cNvPr id="56" name="compat-name-4">
            <a:extLst xmlns:a="http://schemas.openxmlformats.org/drawingml/2006/main"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Hermes</a:t>
            </a:r>
          </a:p>
        </p:txBody>
      </p:sp>
      <p:sp>
        <p:nvSpPr>
          <p:cNvPr id="57" name="compat-desc-4">
            <a:extLst xmlns:a="http://schemas.openxmlformats.org/drawingml/2006/main"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团队协作｜消息 / 任务 / 扩展</a:t>
            </a:r>
          </a:p>
        </p:txBody>
      </p:sp>
      <p:sp>
        <p:nvSpPr>
          <p:cNvPr id="58" name="compat-card-fill-5-1">
            <a:extLst xmlns:a="http://schemas.openxmlformats.org/drawingml/2006/main"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mpat-card-fill-5-2">
            <a:extLst xmlns:a="http://schemas.openxmlformats.org/drawingml/2006/main"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at-card-fill-5-3">
            <a:extLst xmlns:a="http://schemas.openxmlformats.org/drawingml/2006/main"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mpat-card-5">
            <a:extLst xmlns:a="http://schemas.openxmlformats.org/drawingml/2006/main"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 xmlns:a="http://schemas.openxmlformats.org/drawingml/2006/main"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mpat-title-5">
            <a:extLst xmlns:a="http://schemas.openxmlformats.org/drawingml/2006/main"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工程开发 Agent</a:t>
            </a:r>
          </a:p>
        </p:txBody>
      </p:sp>
      <p:sp>
        <p:nvSpPr>
          <p:cNvPr id="64" name="compat-name-5">
            <a:extLst xmlns:a="http://schemas.openxmlformats.org/drawingml/2006/main"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65" name="compat-desc-5">
            <a:extLst xmlns:a="http://schemas.openxmlformats.org/drawingml/2006/main"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主子协作｜工具权限 / 插件</a:t>
            </a:r>
          </a:p>
        </p:txBody>
      </p:sp>
      <p:sp>
        <p:nvSpPr>
          <p:cNvPr id="66" name="compat-card-fill-6-1">
            <a:extLst xmlns:a="http://schemas.openxmlformats.org/drawingml/2006/main"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mpat-card-fill-6-2">
            <a:extLst xmlns:a="http://schemas.openxmlformats.org/drawingml/2006/main"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mpat-card-fill-6-3">
            <a:extLst xmlns:a="http://schemas.openxmlformats.org/drawingml/2006/main"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at-card-6">
            <a:extLst xmlns:a="http://schemas.openxmlformats.org/drawingml/2006/main"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 xmlns:a="http://schemas.openxmlformats.org/drawingml/2006/main"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mpat-title-6">
            <a:extLst xmlns:a="http://schemas.openxmlformats.org/drawingml/2006/main"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组合研究 Agent</a:t>
            </a:r>
          </a:p>
        </p:txBody>
      </p:sp>
      <p:sp>
        <p:nvSpPr>
          <p:cNvPr id="72" name="compat-name-6">
            <a:extLst xmlns:a="http://schemas.openxmlformats.org/drawingml/2006/main"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</a:p>
        </p:txBody>
      </p:sp>
      <p:sp>
        <p:nvSpPr>
          <p:cNvPr id="73" name="compat-desc-6">
            <a:extLst xmlns:a="http://schemas.openxmlformats.org/drawingml/2006/main"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组合研究｜Profile / Bundle / Cordis / 审批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项目积木化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Blocky 构建助手把现有项目拆解为可编辑的积木资产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基于源码证据识别边界、权限与行为，再生成可审查、可验证、可升级的 Blocky 产物。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锁定来源</a:t>
            </a:r>
          </a:p>
          <a:p xmlns:a="http://schemas.openxmlformats.org/drawingml/2006/main">
            <a:r>
              <a:t>建立证据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仓库 / commit / 许可</a:t>
            </a:r>
          </a:p>
          <a:p xmlns:a="http://schemas.openxmlformats.org/drawingml/2006/main">
            <a:r>
              <a:t>源码 / 配置 / 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只读理解</a:t>
            </a:r>
          </a:p>
          <a:p xmlns:a="http://schemas.openxmlformats.org/drawingml/2006/main">
            <a:r>
              <a:t>识别边界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入口 / 类型 / 状态</a:t>
            </a:r>
          </a:p>
          <a:p xmlns:a="http://schemas.openxmlformats.org/drawingml/2006/main">
            <a:r>
              <a:t>副作用 / 性能热点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语义映射</a:t>
            </a:r>
          </a:p>
          <a:p xmlns:a="http://schemas.openxmlformats.org/drawingml/2006/main">
            <a:r>
              <a:t>产物裁决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积木 / 蓝图 / 模板</a:t>
            </a:r>
          </a:p>
          <a:p xmlns:a="http://schemas.openxmlformats.org/drawingml/2006/main">
            <a:r>
              <a:t>原生保留报告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幽灵差异</a:t>
            </a:r>
          </a:p>
          <a:p xmlns:a="http://schemas.openxmlformats.org/drawingml/2006/main">
            <a:r>
              <a:t>接受或拒绝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Build Spec / Patch</a:t>
            </a:r>
          </a:p>
          <a:p xmlns:a="http://schemas.openxmlformats.org/drawingml/2006/main">
            <a:r>
              <a:t>权限 / 依赖 / 预算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验证往返</a:t>
            </a:r>
          </a:p>
          <a:p xmlns:a="http://schemas.openxmlformats.org/drawingml/2006/main">
            <a:r>
              <a:t>持续升级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编译 / 测试 / Trace</a:t>
            </a:r>
          </a:p>
          <a:p xmlns:a="http://schemas.openxmlformats.org/drawingml/2006/main">
            <a:r>
              <a:t>增量扫描 / 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90678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项目积木化，让外部能力持续进入 Blocky 语言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435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源码、Agent、RAG、MCP、CLI 与业务流程都能沉淀为可复用资产</a:t>
            </a:r>
          </a:p>
          <a:p xmlns:a="http://schemas.openxmlformats.org/drawingml/2006/main"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扩展空间不再受预装积木数量限制，用户可持续创造自己的能力目录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积木化输入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一个入口连接代码、Agent、知识与业务流程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7905750" cy="3429000"/>
          </a:xfrm>
          <a:prstGeom xmlns:a="http://schemas.openxmlformats.org/drawingml/2006/main" prst="roundRect">
            <a:avLst>
              <a:gd name="adj" fmla="val 55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5C7A3-B066-45AE-9611-3A53A15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8400"/>
            <a:ext cx="285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F3443-2956-4DCD-9397-CE8B308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8958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B1834-49B3-4F51-9EB9-4552973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6480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254A-D248-480E-A64C-9F3D946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43840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构建助手先判断输入类型，再选择最适合的可编辑结果；不同来源可以组合进入同一项目。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同一项目可以吸收多种来源，不把复杂能力压成一个黑盒代码块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9C619-2BD1-4EF2-9FB4-E67118A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49E2C-638C-4C84-9984-35EE7E4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办公问答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E703F-ECE8-4177-B632-BC2BAF5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81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45E4-7D7B-4DD8-84A1-4F70157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3148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65A70-FD04-45E9-8824-2BD3726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62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EFD31-A748-48DC-9B67-88B96D4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333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桌面任务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ECAB1-E514-4F89-A764-A2DA3B8D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9564E-1B04-4A3B-9C90-58816AC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390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600200" cy="335280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3CED9-2289-46C4-878F-B09658EE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36220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Agent + 自动化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E07F1-2CE1-4A8A-BE82-360BF6C6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238500"/>
            <a:ext cx="1219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入门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蓝图 / 代码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输入越丰富，转换证据越清晰，可复用资产越多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26" name="compat-card-fill-1-1">
            <a:extLst xmlns:a="http://schemas.openxmlformats.org/drawingml/2006/main"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t-card-fill-1-2">
            <a:extLst xmlns:a="http://schemas.openxmlformats.org/drawingml/2006/main"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t-card-fill-1-3">
            <a:extLst xmlns:a="http://schemas.openxmlformats.org/drawingml/2006/main"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t-card-1">
            <a:extLst xmlns:a="http://schemas.openxmlformats.org/drawingml/2006/main"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 xmlns:a="http://schemas.openxmlformats.org/drawingml/2006/main"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t-title-1">
            <a:extLst xmlns:a="http://schemas.openxmlformats.org/drawingml/2006/main"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GitHub / 本地仓库</a:t>
            </a:r>
          </a:p>
        </p:txBody>
      </p:sp>
      <p:sp>
        <p:nvSpPr>
          <p:cNvPr id="32" name="compat-name-1">
            <a:extLst xmlns:a="http://schemas.openxmlformats.org/drawingml/2006/main"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库 · SDK · 应用</a:t>
            </a:r>
          </a:p>
        </p:txBody>
      </p:sp>
      <p:sp>
        <p:nvSpPr>
          <p:cNvPr id="33" name="compat-desc-1">
            <a:extLst xmlns:a="http://schemas.openxmlformats.org/drawingml/2006/main"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API / 类型 / 依赖 / 测试</a:t>
            </a:r>
          </a:p>
        </p:txBody>
      </p:sp>
      <p:sp>
        <p:nvSpPr>
          <p:cNvPr id="34" name="compat-card-fill-2-1">
            <a:extLst xmlns:a="http://schemas.openxmlformats.org/drawingml/2006/main"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t-card-fill-2-2">
            <a:extLst xmlns:a="http://schemas.openxmlformats.org/drawingml/2006/main"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at-card-fill-2-3">
            <a:extLst xmlns:a="http://schemas.openxmlformats.org/drawingml/2006/main"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t-card-2">
            <a:extLst xmlns:a="http://schemas.openxmlformats.org/drawingml/2006/main"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 xmlns:a="http://schemas.openxmlformats.org/drawingml/2006/main"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t-title-2">
            <a:extLst xmlns:a="http://schemas.openxmlformats.org/drawingml/2006/main"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现有 Agent / Harness</a:t>
            </a:r>
          </a:p>
        </p:txBody>
      </p:sp>
      <p:sp>
        <p:nvSpPr>
          <p:cNvPr id="40" name="compat-name-2">
            <a:extLst xmlns:a="http://schemas.openxmlformats.org/drawingml/2006/main"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循环 · 工具 · 权限</a:t>
            </a:r>
          </a:p>
        </p:txBody>
      </p:sp>
      <p:sp>
        <p:nvSpPr>
          <p:cNvPr id="41" name="compat-desc-2">
            <a:extLst xmlns:a="http://schemas.openxmlformats.org/drawingml/2006/main"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 / 事件 / 插件 / 配置</a:t>
            </a:r>
          </a:p>
        </p:txBody>
      </p:sp>
      <p:sp>
        <p:nvSpPr>
          <p:cNvPr id="42" name="compat-card-fill-3-1">
            <a:extLst xmlns:a="http://schemas.openxmlformats.org/drawingml/2006/main"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t-card-fill-3-2">
            <a:extLst xmlns:a="http://schemas.openxmlformats.org/drawingml/2006/main"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at-card-fill-3-3">
            <a:extLst xmlns:a="http://schemas.openxmlformats.org/drawingml/2006/main"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at-card-3">
            <a:extLst xmlns:a="http://schemas.openxmlformats.org/drawingml/2006/main"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 xmlns:a="http://schemas.openxmlformats.org/drawingml/2006/main"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at-title-3">
            <a:extLst xmlns:a="http://schemas.openxmlformats.org/drawingml/2006/main"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知识库与 RAG</a:t>
            </a:r>
          </a:p>
        </p:txBody>
      </p:sp>
      <p:sp>
        <p:nvSpPr>
          <p:cNvPr id="48" name="compat-name-3">
            <a:extLst xmlns:a="http://schemas.openxmlformats.org/drawingml/2006/main"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摄取 · 检索 · 引用</a:t>
            </a:r>
          </a:p>
        </p:txBody>
      </p:sp>
      <p:sp>
        <p:nvSpPr>
          <p:cNvPr id="49" name="compat-desc-3">
            <a:extLst xmlns:a="http://schemas.openxmlformats.org/drawingml/2006/main"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 / 索引 / 重排 / ACL</a:t>
            </a:r>
          </a:p>
        </p:txBody>
      </p:sp>
      <p:sp>
        <p:nvSpPr>
          <p:cNvPr id="50" name="compat-card-fill-4-1">
            <a:extLst xmlns:a="http://schemas.openxmlformats.org/drawingml/2006/main"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at-card-fill-4-2">
            <a:extLst xmlns:a="http://schemas.openxmlformats.org/drawingml/2006/main"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at-card-fill-4-3">
            <a:extLst xmlns:a="http://schemas.openxmlformats.org/drawingml/2006/main"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at-card-4">
            <a:extLst xmlns:a="http://schemas.openxmlformats.org/drawingml/2006/main"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 xmlns:a="http://schemas.openxmlformats.org/drawingml/2006/main"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at-title-4">
            <a:extLst xmlns:a="http://schemas.openxmlformats.org/drawingml/2006/main"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MCP / CLI / API</a:t>
            </a:r>
          </a:p>
        </p:txBody>
      </p:sp>
      <p:sp>
        <p:nvSpPr>
          <p:cNvPr id="56" name="compat-name-4">
            <a:extLst xmlns:a="http://schemas.openxmlformats.org/drawingml/2006/main"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工具与连接器</a:t>
            </a:r>
          </a:p>
        </p:txBody>
      </p:sp>
      <p:sp>
        <p:nvSpPr>
          <p:cNvPr id="57" name="compat-desc-4">
            <a:extLst xmlns:a="http://schemas.openxmlformats.org/drawingml/2006/main"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契约 / 认证 / 错误 / 限流</a:t>
            </a:r>
          </a:p>
        </p:txBody>
      </p:sp>
      <p:sp>
        <p:nvSpPr>
          <p:cNvPr id="58" name="compat-card-fill-5-1">
            <a:extLst xmlns:a="http://schemas.openxmlformats.org/drawingml/2006/main"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mpat-card-fill-5-2">
            <a:extLst xmlns:a="http://schemas.openxmlformats.org/drawingml/2006/main"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at-card-fill-5-3">
            <a:extLst xmlns:a="http://schemas.openxmlformats.org/drawingml/2006/main"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mpat-card-5">
            <a:extLst xmlns:a="http://schemas.openxmlformats.org/drawingml/2006/main"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 xmlns:a="http://schemas.openxmlformats.org/drawingml/2006/main"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mpat-title-5">
            <a:extLst xmlns:a="http://schemas.openxmlformats.org/drawingml/2006/main"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业务流程与 RPA</a:t>
            </a:r>
          </a:p>
        </p:txBody>
      </p:sp>
      <p:sp>
        <p:nvSpPr>
          <p:cNvPr id="64" name="compat-name-5">
            <a:extLst xmlns:a="http://schemas.openxmlformats.org/drawingml/2006/main"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浏览器 ↔ 桌面</a:t>
            </a:r>
          </a:p>
        </p:txBody>
      </p:sp>
      <p:sp>
        <p:nvSpPr>
          <p:cNvPr id="65" name="compat-desc-5">
            <a:extLst xmlns:a="http://schemas.openxmlformats.org/drawingml/2006/main"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表单 / 文件 / 检查点 / 审批</a:t>
            </a:r>
          </a:p>
        </p:txBody>
      </p:sp>
      <p:sp>
        <p:nvSpPr>
          <p:cNvPr id="66" name="compat-card-fill-6-1">
            <a:extLst xmlns:a="http://schemas.openxmlformats.org/drawingml/2006/main"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mpat-card-fill-6-2">
            <a:extLst xmlns:a="http://schemas.openxmlformats.org/drawingml/2006/main"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mpat-card-fill-6-3">
            <a:extLst xmlns:a="http://schemas.openxmlformats.org/drawingml/2006/main"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at-card-6">
            <a:extLst xmlns:a="http://schemas.openxmlformats.org/drawingml/2006/main"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 xmlns:a="http://schemas.openxmlformats.org/drawingml/2006/main"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mpat-title-6">
            <a:extLst xmlns:a="http://schemas.openxmlformats.org/drawingml/2006/main"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教学与组织资产</a:t>
            </a:r>
          </a:p>
        </p:txBody>
      </p:sp>
      <p:sp>
        <p:nvSpPr>
          <p:cNvPr id="72" name="compat-name-6">
            <a:extLst xmlns:a="http://schemas.openxmlformats.org/drawingml/2006/main"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 · 文档 · 规则</a:t>
            </a:r>
          </a:p>
        </p:txBody>
      </p:sp>
      <p:sp>
        <p:nvSpPr>
          <p:cNvPr id="73" name="compat-desc-6">
            <a:extLst xmlns:a="http://schemas.openxmlformats.org/drawingml/2006/main"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教案 / SOP / 表格 / 旧系统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四类转换结果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项目积木化既释放能力，也保留真实边界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同一项目可以同时生成四类产物：能拆则拆、能复用则复用、必须原生则明确保留。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自定义积木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适合｜稳定组件 / SDK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结果｜类型化输入输出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价值｜跨项目复用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可展开蓝图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适合｜多步通用流程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结果｜可学习可改造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价值｜降低上手门槛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兼容模板草案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适合｜完整 Agent Harness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结果｜运行时 + 可逆投影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价值｜保留行为与升级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原生保留报告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适合｜许可 / 性能 / 动态边界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结果｜定位与兼容说明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价值｜不伪装转换成功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一份源码可拆出积木、蓝图与模板；修改后仍可追溯来源、差异与权限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222354f3a441c"/>
          <a:stretch xmlns:a="http://schemas.openxmlformats.org/drawingml/2006/main"/>
        </p:blipFill>
        <p:spPr>
          <a:xfrm xmlns:a="http://schemas.openxmlformats.org/drawingml/2006/main">
            <a:off x="9667875" y="228600"/>
            <a:ext cx="1504950" cy="150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B98D4-8A9E-4310-AC05-96F1315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CLI / 官方 Skills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70E22-46A8-4D3F-A933-FA5CB30D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图形页、构建助手、CLI 与四个 Skills 共用同一语义内核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B9416-8927-4FDD-917D-66714D81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无论人或 Agent 操作，都通过 Build Spec、语义补丁、编译器和权限契约改变同一份项目。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99917-4785-4FF2-9985-F6BA065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5AC8B-8B9F-4695-9A04-96E9C71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CCDC8-7024-494D-AA95-7BFAEFB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FE4A2-B622-4C5E-AFC6-49E01F5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E4D1E-C2BE-43FE-97BC-475FE4A6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FA4B3-0E29-4B42-9E8B-B19439EE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01B1A-FBF1-410D-A8FE-40496C9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956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27299-7A47-4BD8-8DDF-623868A8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479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09E88-4FD6-4362-9922-851886F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020EA-0F76-4C5F-99C3-F8E787B2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搭建 Agent</a:t>
            </a:r>
          </a:p>
          <a:p xmlns:a="http://schemas.openxmlformats.org/drawingml/2006/main">
            <a:r>
              <a:t>$build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09DFC-0DB0-4F03-997E-ED022F5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$build-blocky-agents</a:t>
            </a:r>
          </a:p>
          <a:p xmlns:a="http://schemas.openxmlformats.org/drawingml/2006/main">
            <a:r>
              <a:t>创建 / 修改 / 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863CB-E606-406C-8E49-63E0274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BB333-8FEB-4A68-A6D7-A07BB5A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创建积木</a:t>
            </a:r>
          </a:p>
          <a:p xmlns:a="http://schemas.openxmlformats.org/drawingml/2006/main">
            <a:r>
              <a:t>$create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A3A16-F7D2-4375-AD05-98B39C16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$create-blocky-blocks</a:t>
            </a:r>
          </a:p>
          <a:p xmlns:a="http://schemas.openxmlformats.org/drawingml/2006/main">
            <a:r>
              <a:t>可视 / 代码自定义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BCBCB-D598-47CF-A31D-DE2AFCFB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15EC2-77A0-44D3-961C-3C1B64DF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项目积木化</a:t>
            </a:r>
          </a:p>
          <a:p xmlns:a="http://schemas.openxmlformats.org/drawingml/2006/main">
            <a:r>
              <a:t>$convert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A4644-3DF6-4D5D-A39E-7633F3E1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GitHub / 本地项目</a:t>
            </a:r>
          </a:p>
          <a:p xmlns:a="http://schemas.openxmlformats.org/drawingml/2006/main">
            <a:r>
              <a:t>积木 / 蓝图 / 模板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DA042-F4B5-409E-A55D-9D81D4E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A51D8-9E31-4734-9C09-B3CF40E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逆向 Agent</a:t>
            </a:r>
          </a:p>
          <a:p xmlns:a="http://schemas.openxmlformats.org/drawingml/2006/main">
            <a:r>
              <a:t>$reverse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E9A07E-9C57-41E0-98BE-FB36F1B3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结构 / 配置 / 行为</a:t>
            </a:r>
          </a:p>
          <a:p xmlns:a="http://schemas.openxmlformats.org/drawingml/2006/main">
            <a:r>
              <a:t>证据 / 覆盖 / 保留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7090C-B895-46C1-8E74-265295F9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1676400" cy="1676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F2994-A241-41AC-A0A0-8832A0CF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r>
              <a:t>CLI 验证</a:t>
            </a:r>
          </a:p>
          <a:p xmlns:a="http://schemas.openxmlformats.org/drawingml/2006/main">
            <a:r>
              <a:t>同一契约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53ED7-2762-4673-B1D7-3AD8965A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2083"/>
          </a:bodyPr>
          <a:lstStyle xmlns:a="http://schemas.openxmlformats.org/drawingml/2006/main"/>
          <a:p xmlns:a="http://schemas.openxmlformats.org/drawingml/2006/main">
            <a:r>
              <a:t>validate / compile / test</a:t>
            </a:r>
          </a:p>
          <a:p xmlns:a="http://schemas.openxmlformats.org/drawingml/2006/main">
            <a:r>
              <a:t>inspect / pack / apply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28F7F-9AB1-4D9F-9291-E09FBFEF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906780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A31EE-5FD9-4E8B-B02A-C5D35D3E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同一 Project Manifest · Workspace · IR · RuntimeEvent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A8729-2378-4A20-A1EE-2FBF3D7D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435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四个 Skills 是专业入口，不是四套隐藏语言</a:t>
            </a:r>
          </a:p>
          <a:p xmlns:a="http://schemas.openxmlformats.org/drawingml/2006/main">
            <a:pPr algn="ctr">
              <a:buNone/>
              <a:defRPr sz="12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$build-blocky-agents · $create-blocky-blocks · $convert-github-project-to-blocky · $reverse-agent-to-blocky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5C844-E2E1-463A-B081-1247884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B031E-3513-477C-9387-EAA6713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6D7D8-64FA-4C92-BE0C-FC36C847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501018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开放生态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社区分发的是可审查能力，不是不可见的黑盒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纯模板、组合积木、代码扩展与原生兼容包分型；安装与更新都展示来源、许可、权限、依赖和差异。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572250" cy="3790950"/>
          </a:xfrm>
          <a:prstGeom xmlns:a="http://schemas.openxmlformats.org/drawingml/2006/main" prst="roundRect">
            <a:avLst>
              <a:gd name="adj" fmla="val 552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292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8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来源、权限、版本与签名分层可见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四类对象 + 三道治理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纯模板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组合积木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代码扩展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兼容包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版本锁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权限审查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24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签名撤回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00650"/>
            <a:ext cx="3238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2922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IR、运行内核、轨迹与权限模型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50ce7dde74cf1"/>
          <a:srcRect xmlns:a="http://schemas.openxmlformats.org/drawingml/2006/main" l="0" t="2671" r="0" b="2671"/>
          <a:stretch xmlns:a="http://schemas.openxmlformats.org/drawingml/2006/main"/>
        </p:blipFill>
        <p:spPr>
          <a:xfrm xmlns:a="http://schemas.openxmlformats.org/drawingml/2006/main" flipH="0" flipV="0">
            <a:off x="819150" y="2076450"/>
            <a:ext cx="6305550" cy="30861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900A0-923A-4E1C-846F-F3A51072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Agent 使用器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B7AA0-9727-4E4C-BBF2-EEFD311E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手机负责使用与操控 Agent，不把桌面画布硬塞进小屏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59B95-7AD1-45F7-BF1A-D167D66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Android、HarmonyOS、iOS 读取交互清单，显示消息、附件、审批、进度与轨迹摘要。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A51A-88FD-4410-B098-83E927B7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572250" cy="3790950"/>
          </a:xfrm>
          <a:prstGeom xmlns:a="http://schemas.openxmlformats.org/drawingml/2006/main" prst="roundRect">
            <a:avLst>
              <a:gd name="adj" fmla="val 552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1A894-4ED3-4098-A787-A216B85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48C9-2F90-43B2-9A6E-237B4222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2922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7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概念示意 · 本机 / 桌面 / 服务器运行目标协商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A2940-0D37-4B5C-88BF-0A81177F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62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移动端七项核心能力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0E0F9-1BA2-45FA-A5DC-B1170BEE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DA326-0AB4-44AA-B072-DC5B94B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列表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AD1FB-B3C4-4112-B08A-E37E655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38E6-C18D-4E35-B6A5-8AA91FDE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交互入口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209BE-AF05-4C3A-938C-A41B2F8E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BB91-EC5F-4ABB-B3A5-5DF4EABB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附件输入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DC32F-04E8-4D1B-A6E1-CB7BAC0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E0D15-2836-4F23-99A8-0A64734D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67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工具进度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66679-9916-4127-93CF-54C50F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1C3D2-2DDE-40D5-91FD-9B30DF0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审批取消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D0FF4-49F3-46E6-958D-DE773733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576F6-9BD2-41A0-8E5B-F4513EA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断线恢复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A1C88-A08D-4D68-8ED0-EF46CECC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14668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9A2F2-3DD2-4C06-A9F0-228B03F4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24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目标协商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3F627-823A-489F-94C4-FC9D9CE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00650"/>
            <a:ext cx="3238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272D5-C6B4-478C-9CFF-B9CFF8A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2922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 Agent 项目格式</a:t>
            </a:r>
          </a:p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共享 IR、运行内核、轨迹与权限模型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25289-91C1-4471-8AA3-88C75A9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B57DB-12D0-452A-88EA-454AE1E7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F2206-526C-4EC7-9D06-DFA927D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39d9fa9e444b4"/>
          <a:srcRect xmlns:a="http://schemas.openxmlformats.org/drawingml/2006/main" l="0" t="2671" r="0" b="2671"/>
          <a:stretch xmlns:a="http://schemas.openxmlformats.org/drawingml/2006/main"/>
        </p:blipFill>
        <p:spPr>
          <a:xfrm xmlns:a="http://schemas.openxmlformats.org/drawingml/2006/main" flipH="0" flipV="0">
            <a:off x="819150" y="2076450"/>
            <a:ext cx="6305550" cy="30861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030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场景化拓展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从个人学习到组织生产，服务围绕同一产品底座展开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7905750" cy="3429000"/>
          </a:xfrm>
          <a:prstGeom xmlns:a="http://schemas.openxmlformats.org/drawingml/2006/main" prst="roundRect">
            <a:avLst>
              <a:gd name="adj" fmla="val 55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5C7A3-B066-45AE-9611-3A53A15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8400"/>
            <a:ext cx="285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F3443-2956-4DCD-9397-CE8B308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8958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B1834-49B3-4F51-9EB9-4552973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6480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254A-D248-480E-A64C-9F3D946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43840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标准功能解决通用搭建，拓展服务把目标、课程、数据、系统和治理要求组合成可用方案。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一套内核支撑个人订阅、机构方案与企业交付，作品格式与运行证据保持一致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9C619-2BD1-4EF2-9FB4-E67118A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49E2C-638C-4C84-9984-35EE7E4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办公问答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E703F-ECE8-4177-B632-BC2BAF5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81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45E4-7D7B-4DD8-84A1-4F70157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3148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65A70-FD04-45E9-8824-2BD3726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62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EFD31-A748-48DC-9B67-88B96D4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333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桌面任务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ECAB1-E514-4F89-A764-A2DA3B8D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9564E-1B04-4A3B-9C90-58816AC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390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600200" cy="335280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3CED9-2289-46C4-878F-B09658EE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36220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Agent + 自动化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E07F1-2CE1-4A8A-BE82-360BF6C6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238500"/>
            <a:ext cx="1219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入门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蓝图 / 代码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服务价值：缩短场景落地周期，让定制能力继续沉淀为可复用资产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26" name="compat-card-fill-1-1">
            <a:extLst xmlns:a="http://schemas.openxmlformats.org/drawingml/2006/main"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t-card-fill-1-2">
            <a:extLst xmlns:a="http://schemas.openxmlformats.org/drawingml/2006/main"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t-card-fill-1-3">
            <a:extLst xmlns:a="http://schemas.openxmlformats.org/drawingml/2006/main"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t-card-1">
            <a:extLst xmlns:a="http://schemas.openxmlformats.org/drawingml/2006/main"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 xmlns:a="http://schemas.openxmlformats.org/drawingml/2006/main"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t-title-1">
            <a:extLst xmlns:a="http://schemas.openxmlformats.org/drawingml/2006/main"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个人学习进阶</a:t>
            </a:r>
          </a:p>
        </p:txBody>
      </p:sp>
      <p:sp>
        <p:nvSpPr>
          <p:cNvPr id="32" name="compat-name-1">
            <a:extLst xmlns:a="http://schemas.openxmlformats.org/drawingml/2006/main"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路径与项目包</a:t>
            </a:r>
          </a:p>
        </p:txBody>
      </p:sp>
      <p:sp>
        <p:nvSpPr>
          <p:cNvPr id="33" name="compat-desc-1">
            <a:extLst xmlns:a="http://schemas.openxmlformats.org/drawingml/2006/main"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课程 / 挑战 / 作品集 / 反馈</a:t>
            </a:r>
          </a:p>
        </p:txBody>
      </p:sp>
      <p:sp>
        <p:nvSpPr>
          <p:cNvPr id="34" name="compat-card-fill-2-1">
            <a:extLst xmlns:a="http://schemas.openxmlformats.org/drawingml/2006/main"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t-card-fill-2-2">
            <a:extLst xmlns:a="http://schemas.openxmlformats.org/drawingml/2006/main"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at-card-fill-2-3">
            <a:extLst xmlns:a="http://schemas.openxmlformats.org/drawingml/2006/main"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t-card-2">
            <a:extLst xmlns:a="http://schemas.openxmlformats.org/drawingml/2006/main"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 xmlns:a="http://schemas.openxmlformats.org/drawingml/2006/main"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t-title-2">
            <a:extLst xmlns:a="http://schemas.openxmlformats.org/drawingml/2006/main"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个人创作拓展</a:t>
            </a:r>
          </a:p>
        </p:txBody>
      </p:sp>
      <p:sp>
        <p:nvSpPr>
          <p:cNvPr id="40" name="compat-name-2">
            <a:extLst xmlns:a="http://schemas.openxmlformats.org/drawingml/2006/main"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场景蓝图与能力包</a:t>
            </a:r>
          </a:p>
        </p:txBody>
      </p:sp>
      <p:sp>
        <p:nvSpPr>
          <p:cNvPr id="41" name="compat-desc-2">
            <a:extLst xmlns:a="http://schemas.openxmlformats.org/drawingml/2006/main"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知识 / 工具 / 模型 / 发布指导</a:t>
            </a:r>
          </a:p>
        </p:txBody>
      </p:sp>
      <p:sp>
        <p:nvSpPr>
          <p:cNvPr id="42" name="compat-card-fill-3-1">
            <a:extLst xmlns:a="http://schemas.openxmlformats.org/drawingml/2006/main"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t-card-fill-3-2">
            <a:extLst xmlns:a="http://schemas.openxmlformats.org/drawingml/2006/main"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at-card-fill-3-3">
            <a:extLst xmlns:a="http://schemas.openxmlformats.org/drawingml/2006/main"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at-card-3">
            <a:extLst xmlns:a="http://schemas.openxmlformats.org/drawingml/2006/main"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 xmlns:a="http://schemas.openxmlformats.org/drawingml/2006/main"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at-title-3">
            <a:extLst xmlns:a="http://schemas.openxmlformats.org/drawingml/2006/main"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学校课程方案</a:t>
            </a:r>
          </a:p>
        </p:txBody>
      </p:sp>
      <p:sp>
        <p:nvSpPr>
          <p:cNvPr id="48" name="compat-name-3">
            <a:extLst xmlns:a="http://schemas.openxmlformats.org/drawingml/2006/main"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课程与蓝图共创</a:t>
            </a:r>
          </a:p>
        </p:txBody>
      </p:sp>
      <p:sp>
        <p:nvSpPr>
          <p:cNvPr id="49" name="compat-desc-3">
            <a:extLst xmlns:a="http://schemas.openxmlformats.org/drawingml/2006/main"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教案 / 任务 / 评价 / 版本锁定</a:t>
            </a:r>
          </a:p>
        </p:txBody>
      </p:sp>
      <p:sp>
        <p:nvSpPr>
          <p:cNvPr id="50" name="compat-card-fill-4-1">
            <a:extLst xmlns:a="http://schemas.openxmlformats.org/drawingml/2006/main"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at-card-fill-4-2">
            <a:extLst xmlns:a="http://schemas.openxmlformats.org/drawingml/2006/main"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at-card-fill-4-3">
            <a:extLst xmlns:a="http://schemas.openxmlformats.org/drawingml/2006/main"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at-card-4">
            <a:extLst xmlns:a="http://schemas.openxmlformats.org/drawingml/2006/main"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 xmlns:a="http://schemas.openxmlformats.org/drawingml/2006/main"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at-title-4">
            <a:extLst xmlns:a="http://schemas.openxmlformats.org/drawingml/2006/main"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教育机构运营</a:t>
            </a:r>
          </a:p>
        </p:txBody>
      </p:sp>
      <p:sp>
        <p:nvSpPr>
          <p:cNvPr id="56" name="compat-name-4">
            <a:extLst xmlns:a="http://schemas.openxmlformats.org/drawingml/2006/main"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班级与教师服务</a:t>
            </a:r>
          </a:p>
        </p:txBody>
      </p:sp>
      <p:sp>
        <p:nvSpPr>
          <p:cNvPr id="57" name="compat-desc-4">
            <a:extLst xmlns:a="http://schemas.openxmlformats.org/drawingml/2006/main"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培训 / 分发 / 提交 / 本地资源</a:t>
            </a:r>
          </a:p>
        </p:txBody>
      </p:sp>
      <p:sp>
        <p:nvSpPr>
          <p:cNvPr id="58" name="compat-card-fill-5-1">
            <a:extLst xmlns:a="http://schemas.openxmlformats.org/drawingml/2006/main"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mpat-card-fill-5-2">
            <a:extLst xmlns:a="http://schemas.openxmlformats.org/drawingml/2006/main"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at-card-fill-5-3">
            <a:extLst xmlns:a="http://schemas.openxmlformats.org/drawingml/2006/main"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mpat-card-5">
            <a:extLst xmlns:a="http://schemas.openxmlformats.org/drawingml/2006/main"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 xmlns:a="http://schemas.openxmlformats.org/drawingml/2006/main"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mpat-title-5">
            <a:extLst xmlns:a="http://schemas.openxmlformats.org/drawingml/2006/main"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企业场景共创</a:t>
            </a:r>
          </a:p>
        </p:txBody>
      </p:sp>
      <p:sp>
        <p:nvSpPr>
          <p:cNvPr id="64" name="compat-name-5">
            <a:extLst xmlns:a="http://schemas.openxmlformats.org/drawingml/2006/main"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流程诊断与方案</a:t>
            </a:r>
          </a:p>
        </p:txBody>
      </p:sp>
      <p:sp>
        <p:nvSpPr>
          <p:cNvPr id="65" name="compat-desc-5">
            <a:extLst xmlns:a="http://schemas.openxmlformats.org/drawingml/2006/main"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 / 数据 / 系统 / 风险边界</a:t>
            </a:r>
          </a:p>
        </p:txBody>
      </p:sp>
      <p:sp>
        <p:nvSpPr>
          <p:cNvPr id="66" name="compat-card-fill-6-1">
            <a:extLst xmlns:a="http://schemas.openxmlformats.org/drawingml/2006/main"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mpat-card-fill-6-2">
            <a:extLst xmlns:a="http://schemas.openxmlformats.org/drawingml/2006/main"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mpat-card-fill-6-3">
            <a:extLst xmlns:a="http://schemas.openxmlformats.org/drawingml/2006/main"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at-card-6">
            <a:extLst xmlns:a="http://schemas.openxmlformats.org/drawingml/2006/main"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 xmlns:a="http://schemas.openxmlformats.org/drawingml/2006/main"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mpat-title-6">
            <a:extLst xmlns:a="http://schemas.openxmlformats.org/drawingml/2006/main"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企业定制交付</a:t>
            </a:r>
          </a:p>
        </p:txBody>
      </p:sp>
      <p:sp>
        <p:nvSpPr>
          <p:cNvPr id="72" name="compat-name-6">
            <a:extLst xmlns:a="http://schemas.openxmlformats.org/drawingml/2006/main"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+ App + RPA</a:t>
            </a:r>
          </a:p>
        </p:txBody>
      </p:sp>
      <p:sp>
        <p:nvSpPr>
          <p:cNvPr id="73" name="compat-desc-6">
            <a:extLst xmlns:a="http://schemas.openxmlformats.org/drawingml/2006/main"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集成 / 私有化 / 审计 / 运维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339E4-F604-4D6A-86EF-DF2CD09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定制服务体系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0CF98-9ECF-4290-B608-8ACEB1A0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定制不是一次性交付，而是可复用的产品化链路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087C1-24E9-4883-BB39-FFC3752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7905750" cy="3429000"/>
          </a:xfrm>
          <a:prstGeom xmlns:a="http://schemas.openxmlformats.org/drawingml/2006/main" prst="roundRect">
            <a:avLst>
              <a:gd name="adj" fmla="val 55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5C7A3-B066-45AE-9611-3A53A158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438400"/>
            <a:ext cx="285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F3443-2956-4DCD-9397-CE8B308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895850"/>
            <a:ext cx="619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B1834-49B3-4F51-9EB9-4552973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6480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254A-D248-480E-A64C-9F3D9465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438400"/>
            <a:ext cx="95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39EF-8669-48E6-8355-B3E3CDD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每次场景共创都沿统一步骤落地，并把成果沉淀为组织蓝图、私有积木与版本化解决方案。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52EBC-6654-4A56-A43D-04234BEB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45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标准积木优先，自定义能力有契约，原生能力有保留区；交付可升级、可回滚、可复用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9C619-2BD1-4EF2-9FB4-E67118A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49E2C-638C-4C84-9984-35EE7E4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办公问答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E703F-ECE8-4177-B632-BC2BAF5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81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45E4-7D7B-4DD8-84A1-4F70157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3148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65A70-FD04-45E9-8824-2BD3726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62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EFD31-A748-48DC-9B67-88B96D4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333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桌面任务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ECAB1-E514-4F89-A764-A2DA3B8D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9564E-1B04-4A3B-9C90-58816AC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3909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Blocky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F48B-9833-4CEA-96EC-F710C0D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600200" cy="335280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3CED9-2289-46C4-878F-B09658EE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36220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Agent + 自动化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E07F1-2CE1-4A8A-BE82-360BF6C6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238500"/>
            <a:ext cx="1219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入门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专业 Agent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蓝图 / 代码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运行轨迹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F8F47-F459-4EE8-AFFB-431D234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交付闭环：诊断 → 设计 → 共创 → 验证 → 部署 → 运营 → 资产回流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2238B-6981-4EEF-9644-CAB79A1E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EB512-B61D-4234-BF5B-E7FCE68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BBFE9-8C7C-4891-A36F-ED778245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26" name="compat-card-fill-1-1">
            <a:extLst xmlns:a="http://schemas.openxmlformats.org/drawingml/2006/main">
              <a:ext uri="{FF2B5EF4-FFF2-40B4-BE49-F238E27FC236}">
                <a16:creationId xmlns:a16="http://schemas.microsoft.com/office/drawing/2014/main" id="{F69DB481-5385-40C6-8BEA-8619F0A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at-card-fill-1-2">
            <a:extLst xmlns:a="http://schemas.openxmlformats.org/drawingml/2006/main">
              <a:ext uri="{FF2B5EF4-FFF2-40B4-BE49-F238E27FC236}">
                <a16:creationId xmlns:a16="http://schemas.microsoft.com/office/drawing/2014/main" id="{E4EF5A44-61F6-43D8-A716-C98483ED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t-card-fill-1-3">
            <a:extLst xmlns:a="http://schemas.openxmlformats.org/drawingml/2006/main">
              <a:ext uri="{FF2B5EF4-FFF2-40B4-BE49-F238E27FC236}">
                <a16:creationId xmlns:a16="http://schemas.microsoft.com/office/drawing/2014/main" id="{2D5C7F0A-2376-4FCC-B006-D475EB46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t-card-1">
            <a:extLst xmlns:a="http://schemas.openxmlformats.org/drawingml/2006/main">
              <a:ext uri="{FF2B5EF4-FFF2-40B4-BE49-F238E27FC236}">
                <a16:creationId xmlns:a16="http://schemas.microsoft.com/office/drawing/2014/main" id="{6C151DE4-71A9-4FA2-9A44-BC594719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0" name="compat-accent-1">
            <a:extLst xmlns:a="http://schemas.openxmlformats.org/drawingml/2006/main">
              <a:ext uri="{FF2B5EF4-FFF2-40B4-BE49-F238E27FC236}">
                <a16:creationId xmlns:a16="http://schemas.microsoft.com/office/drawing/2014/main" id="{4A5AF1A7-B885-4B88-B017-97B6777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at-title-1">
            <a:extLst xmlns:a="http://schemas.openxmlformats.org/drawingml/2006/main">
              <a:ext uri="{FF2B5EF4-FFF2-40B4-BE49-F238E27FC236}">
                <a16:creationId xmlns:a16="http://schemas.microsoft.com/office/drawing/2014/main" id="{34755EBE-93F0-4137-A1C0-A92B874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场景诊断</a:t>
            </a:r>
          </a:p>
        </p:txBody>
      </p:sp>
      <p:sp>
        <p:nvSpPr>
          <p:cNvPr id="32" name="compat-name-1">
            <a:extLst xmlns:a="http://schemas.openxmlformats.org/drawingml/2006/main">
              <a:ext uri="{FF2B5EF4-FFF2-40B4-BE49-F238E27FC236}">
                <a16:creationId xmlns:a16="http://schemas.microsoft.com/office/drawing/2014/main" id="{7B4D9A5C-E768-4DC4-A8BF-A0C0D317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目标与流程建模</a:t>
            </a:r>
          </a:p>
        </p:txBody>
      </p:sp>
      <p:sp>
        <p:nvSpPr>
          <p:cNvPr id="33" name="compat-desc-1">
            <a:extLst xmlns:a="http://schemas.openxmlformats.org/drawingml/2006/main">
              <a:ext uri="{FF2B5EF4-FFF2-40B4-BE49-F238E27FC236}">
                <a16:creationId xmlns:a16="http://schemas.microsoft.com/office/drawing/2014/main" id="{6EEF4EE7-6902-4F7D-979E-88501EA4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用户 / 任务 / KPI / 责任边界</a:t>
            </a:r>
          </a:p>
        </p:txBody>
      </p:sp>
      <p:sp>
        <p:nvSpPr>
          <p:cNvPr id="34" name="compat-card-fill-2-1">
            <a:extLst xmlns:a="http://schemas.openxmlformats.org/drawingml/2006/main">
              <a:ext uri="{FF2B5EF4-FFF2-40B4-BE49-F238E27FC236}">
                <a16:creationId xmlns:a16="http://schemas.microsoft.com/office/drawing/2014/main" id="{6678D41D-B7A4-47ED-A705-BC8B0F76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at-card-fill-2-2">
            <a:extLst xmlns:a="http://schemas.openxmlformats.org/drawingml/2006/main">
              <a:ext uri="{FF2B5EF4-FFF2-40B4-BE49-F238E27FC236}">
                <a16:creationId xmlns:a16="http://schemas.microsoft.com/office/drawing/2014/main" id="{AF7B2C68-02AD-4AB9-9093-19F05DEF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at-card-fill-2-3">
            <a:extLst xmlns:a="http://schemas.openxmlformats.org/drawingml/2006/main">
              <a:ext uri="{FF2B5EF4-FFF2-40B4-BE49-F238E27FC236}">
                <a16:creationId xmlns:a16="http://schemas.microsoft.com/office/drawing/2014/main" id="{E3636D79-096C-47D6-B78F-E30DAF5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t-card-2">
            <a:extLst xmlns:a="http://schemas.openxmlformats.org/drawingml/2006/main">
              <a:ext uri="{FF2B5EF4-FFF2-40B4-BE49-F238E27FC236}">
                <a16:creationId xmlns:a16="http://schemas.microsoft.com/office/drawing/2014/main" id="{59DCAF35-0EEB-4DA4-B734-CCF9E9C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38" name="compat-accent-2">
            <a:extLst xmlns:a="http://schemas.openxmlformats.org/drawingml/2006/main">
              <a:ext uri="{FF2B5EF4-FFF2-40B4-BE49-F238E27FC236}">
                <a16:creationId xmlns:a16="http://schemas.microsoft.com/office/drawing/2014/main" id="{6D379EDB-817E-4F0B-91DB-DF83E84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t-title-2">
            <a:extLst xmlns:a="http://schemas.openxmlformats.org/drawingml/2006/main">
              <a:ext uri="{FF2B5EF4-FFF2-40B4-BE49-F238E27FC236}">
                <a16:creationId xmlns:a16="http://schemas.microsoft.com/office/drawing/2014/main" id="{E6BC2108-034B-409A-ABE7-48551937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40" name="compat-name-2">
            <a:extLst xmlns:a="http://schemas.openxmlformats.org/drawingml/2006/main">
              <a:ext uri="{FF2B5EF4-FFF2-40B4-BE49-F238E27FC236}">
                <a16:creationId xmlns:a16="http://schemas.microsoft.com/office/drawing/2014/main" id="{53F45C2E-A901-407B-AAAB-6E9BA20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与模块蓝图</a:t>
            </a:r>
          </a:p>
        </p:txBody>
      </p:sp>
      <p:sp>
        <p:nvSpPr>
          <p:cNvPr id="41" name="compat-desc-2">
            <a:extLst xmlns:a="http://schemas.openxmlformats.org/drawingml/2006/main">
              <a:ext uri="{FF2B5EF4-FFF2-40B4-BE49-F238E27FC236}">
                <a16:creationId xmlns:a16="http://schemas.microsoft.com/office/drawing/2014/main" id="{7857053F-D439-4C53-B6DB-03E22CF1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知识 / 工具 / 权限 / 人工节点</a:t>
            </a:r>
          </a:p>
        </p:txBody>
      </p:sp>
      <p:sp>
        <p:nvSpPr>
          <p:cNvPr id="42" name="compat-card-fill-3-1">
            <a:extLst xmlns:a="http://schemas.openxmlformats.org/drawingml/2006/main">
              <a:ext uri="{FF2B5EF4-FFF2-40B4-BE49-F238E27FC236}">
                <a16:creationId xmlns:a16="http://schemas.microsoft.com/office/drawing/2014/main" id="{D02C6BBE-B855-49E3-9FFF-F9AAB471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t-card-fill-3-2">
            <a:extLst xmlns:a="http://schemas.openxmlformats.org/drawingml/2006/main">
              <a:ext uri="{FF2B5EF4-FFF2-40B4-BE49-F238E27FC236}">
                <a16:creationId xmlns:a16="http://schemas.microsoft.com/office/drawing/2014/main" id="{777F7FB1-AD1C-4E78-AC1C-0C013DE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at-card-fill-3-3">
            <a:extLst xmlns:a="http://schemas.openxmlformats.org/drawingml/2006/main">
              <a:ext uri="{FF2B5EF4-FFF2-40B4-BE49-F238E27FC236}">
                <a16:creationId xmlns:a16="http://schemas.microsoft.com/office/drawing/2014/main" id="{45AFEE63-5A0B-450B-8AC2-1BF30F6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at-card-3">
            <a:extLst xmlns:a="http://schemas.openxmlformats.org/drawingml/2006/main">
              <a:ext uri="{FF2B5EF4-FFF2-40B4-BE49-F238E27FC236}">
                <a16:creationId xmlns:a16="http://schemas.microsoft.com/office/drawing/2014/main" id="{EFD30262-A6C0-4D53-A7BF-1B52ACFE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46" name="compat-accent-3">
            <a:extLst xmlns:a="http://schemas.openxmlformats.org/drawingml/2006/main">
              <a:ext uri="{FF2B5EF4-FFF2-40B4-BE49-F238E27FC236}">
                <a16:creationId xmlns:a16="http://schemas.microsoft.com/office/drawing/2014/main" id="{B425A560-FF61-42E2-8088-6874D276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at-title-3">
            <a:extLst xmlns:a="http://schemas.openxmlformats.org/drawingml/2006/main">
              <a:ext uri="{FF2B5EF4-FFF2-40B4-BE49-F238E27FC236}">
                <a16:creationId xmlns:a16="http://schemas.microsoft.com/office/drawing/2014/main" id="{DE4D6871-BF98-4AEC-B845-AFDCEC1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内容与数据</a:t>
            </a:r>
          </a:p>
        </p:txBody>
      </p:sp>
      <p:sp>
        <p:nvSpPr>
          <p:cNvPr id="48" name="compat-name-3">
            <a:extLst xmlns:a="http://schemas.openxmlformats.org/drawingml/2006/main">
              <a:ext uri="{FF2B5EF4-FFF2-40B4-BE49-F238E27FC236}">
                <a16:creationId xmlns:a16="http://schemas.microsoft.com/office/drawing/2014/main" id="{DED0F3A4-98EC-4B28-99FD-5C1D279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 / 知识 / 规则</a:t>
            </a:r>
          </a:p>
        </p:txBody>
      </p:sp>
      <p:sp>
        <p:nvSpPr>
          <p:cNvPr id="49" name="compat-desc-3">
            <a:extLst xmlns:a="http://schemas.openxmlformats.org/drawingml/2006/main">
              <a:ext uri="{FF2B5EF4-FFF2-40B4-BE49-F238E27FC236}">
                <a16:creationId xmlns:a16="http://schemas.microsoft.com/office/drawing/2014/main" id="{18FAF0F3-633A-440E-8341-7797379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 / ACL / 更新 / 引用</a:t>
            </a:r>
          </a:p>
        </p:txBody>
      </p:sp>
      <p:sp>
        <p:nvSpPr>
          <p:cNvPr id="50" name="compat-card-fill-4-1">
            <a:extLst xmlns:a="http://schemas.openxmlformats.org/drawingml/2006/main">
              <a:ext uri="{FF2B5EF4-FFF2-40B4-BE49-F238E27FC236}">
                <a16:creationId xmlns:a16="http://schemas.microsoft.com/office/drawing/2014/main" id="{E0562B3F-3B89-4B8F-A3C5-10385080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at-card-fill-4-2">
            <a:extLst xmlns:a="http://schemas.openxmlformats.org/drawingml/2006/main">
              <a:ext uri="{FF2B5EF4-FFF2-40B4-BE49-F238E27FC236}">
                <a16:creationId xmlns:a16="http://schemas.microsoft.com/office/drawing/2014/main" id="{48C12C69-CFB1-4C46-BBD9-D4625CCB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at-card-fill-4-3">
            <a:extLst xmlns:a="http://schemas.openxmlformats.org/drawingml/2006/main">
              <a:ext uri="{FF2B5EF4-FFF2-40B4-BE49-F238E27FC236}">
                <a16:creationId xmlns:a16="http://schemas.microsoft.com/office/drawing/2014/main" id="{B526D05E-C47D-49D2-A72B-7996334C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at-card-4">
            <a:extLst xmlns:a="http://schemas.openxmlformats.org/drawingml/2006/main">
              <a:ext uri="{FF2B5EF4-FFF2-40B4-BE49-F238E27FC236}">
                <a16:creationId xmlns:a16="http://schemas.microsoft.com/office/drawing/2014/main" id="{78665501-39CF-43AB-A709-09CE61C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54" name="compat-accent-4">
            <a:extLst xmlns:a="http://schemas.openxmlformats.org/drawingml/2006/main">
              <a:ext uri="{FF2B5EF4-FFF2-40B4-BE49-F238E27FC236}">
                <a16:creationId xmlns:a16="http://schemas.microsoft.com/office/drawing/2014/main" id="{49B9AA27-CD03-495D-9699-BB6DE58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at-title-4">
            <a:extLst xmlns:a="http://schemas.openxmlformats.org/drawingml/2006/main">
              <a:ext uri="{FF2B5EF4-FFF2-40B4-BE49-F238E27FC236}">
                <a16:creationId xmlns:a16="http://schemas.microsoft.com/office/drawing/2014/main" id="{D90E428E-D28E-44FA-B3D2-A6261DEF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连接与开发</a:t>
            </a:r>
          </a:p>
        </p:txBody>
      </p:sp>
      <p:sp>
        <p:nvSpPr>
          <p:cNvPr id="56" name="compat-name-4">
            <a:extLst xmlns:a="http://schemas.openxmlformats.org/drawingml/2006/main">
              <a:ext uri="{FF2B5EF4-FFF2-40B4-BE49-F238E27FC236}">
                <a16:creationId xmlns:a16="http://schemas.microsoft.com/office/drawing/2014/main" id="{D67341F5-F649-4091-824C-34F9479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积木 / MCP / API</a:t>
            </a:r>
          </a:p>
        </p:txBody>
      </p:sp>
      <p:sp>
        <p:nvSpPr>
          <p:cNvPr id="57" name="compat-desc-4">
            <a:extLst xmlns:a="http://schemas.openxmlformats.org/drawingml/2006/main">
              <a:ext uri="{FF2B5EF4-FFF2-40B4-BE49-F238E27FC236}">
                <a16:creationId xmlns:a16="http://schemas.microsoft.com/office/drawing/2014/main" id="{47CDDB18-5D86-4CBA-8410-B9E6664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AppSurface / RPA / 旧系统适配</a:t>
            </a:r>
          </a:p>
        </p:txBody>
      </p:sp>
      <p:sp>
        <p:nvSpPr>
          <p:cNvPr id="58" name="compat-card-fill-5-1">
            <a:extLst xmlns:a="http://schemas.openxmlformats.org/drawingml/2006/main">
              <a:ext uri="{FF2B5EF4-FFF2-40B4-BE49-F238E27FC236}">
                <a16:creationId xmlns:a16="http://schemas.microsoft.com/office/drawing/2014/main" id="{396A1AB6-3033-43F3-ACA5-9A38A7D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mpat-card-fill-5-2">
            <a:extLst xmlns:a="http://schemas.openxmlformats.org/drawingml/2006/main">
              <a:ext uri="{FF2B5EF4-FFF2-40B4-BE49-F238E27FC236}">
                <a16:creationId xmlns:a16="http://schemas.microsoft.com/office/drawing/2014/main" id="{341658E3-D68B-4E28-80D8-EE43D6B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at-card-fill-5-3">
            <a:extLst xmlns:a="http://schemas.openxmlformats.org/drawingml/2006/main">
              <a:ext uri="{FF2B5EF4-FFF2-40B4-BE49-F238E27FC236}">
                <a16:creationId xmlns:a16="http://schemas.microsoft.com/office/drawing/2014/main" id="{F78F7300-8212-4596-BBCE-56316A9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mpat-card-5">
            <a:extLst xmlns:a="http://schemas.openxmlformats.org/drawingml/2006/main">
              <a:ext uri="{FF2B5EF4-FFF2-40B4-BE49-F238E27FC236}">
                <a16:creationId xmlns:a16="http://schemas.microsoft.com/office/drawing/2014/main" id="{9ADA23D9-4B4A-410F-95B5-E660DED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62" name="compat-accent-5">
            <a:extLst xmlns:a="http://schemas.openxmlformats.org/drawingml/2006/main">
              <a:ext uri="{FF2B5EF4-FFF2-40B4-BE49-F238E27FC236}">
                <a16:creationId xmlns:a16="http://schemas.microsoft.com/office/drawing/2014/main" id="{211650E4-8E44-4E1D-B760-CDAD74E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mpat-title-5">
            <a:extLst xmlns:a="http://schemas.openxmlformats.org/drawingml/2006/main">
              <a:ext uri="{FF2B5EF4-FFF2-40B4-BE49-F238E27FC236}">
                <a16:creationId xmlns:a16="http://schemas.microsoft.com/office/drawing/2014/main" id="{8E1DBBC4-BF46-47E4-A7DB-7D88F6B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部署与治理</a:t>
            </a:r>
          </a:p>
        </p:txBody>
      </p:sp>
      <p:sp>
        <p:nvSpPr>
          <p:cNvPr id="64" name="compat-name-5">
            <a:extLst xmlns:a="http://schemas.openxmlformats.org/drawingml/2006/main">
              <a:ext uri="{FF2B5EF4-FFF2-40B4-BE49-F238E27FC236}">
                <a16:creationId xmlns:a16="http://schemas.microsoft.com/office/drawing/2014/main" id="{B47D0A35-7660-433A-889E-BA518CAD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环境 / Secrets / 审计</a:t>
            </a:r>
          </a:p>
        </p:txBody>
      </p:sp>
      <p:sp>
        <p:nvSpPr>
          <p:cNvPr id="65" name="compat-desc-5">
            <a:extLst xmlns:a="http://schemas.openxmlformats.org/drawingml/2006/main">
              <a:ext uri="{FF2B5EF4-FFF2-40B4-BE49-F238E27FC236}">
                <a16:creationId xmlns:a16="http://schemas.microsoft.com/office/drawing/2014/main" id="{31B375FF-D546-47FA-A589-63E7B6D5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权限 / 回滚 / 成本 / 可用性</a:t>
            </a:r>
          </a:p>
        </p:txBody>
      </p:sp>
      <p:sp>
        <p:nvSpPr>
          <p:cNvPr id="66" name="compat-card-fill-6-1">
            <a:extLst xmlns:a="http://schemas.openxmlformats.org/drawingml/2006/main">
              <a:ext uri="{FF2B5EF4-FFF2-40B4-BE49-F238E27FC236}">
                <a16:creationId xmlns:a16="http://schemas.microsoft.com/office/drawing/2014/main" id="{ECA9979D-C56C-4AA7-AA58-5B1AEACB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mpat-card-fill-6-2">
            <a:extLst xmlns:a="http://schemas.openxmlformats.org/drawingml/2006/main">
              <a:ext uri="{FF2B5EF4-FFF2-40B4-BE49-F238E27FC236}">
                <a16:creationId xmlns:a16="http://schemas.microsoft.com/office/drawing/2014/main" id="{64024621-3F06-4AC9-9FF2-CF3E3393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mpat-card-fill-6-3">
            <a:extLst xmlns:a="http://schemas.openxmlformats.org/drawingml/2006/main">
              <a:ext uri="{FF2B5EF4-FFF2-40B4-BE49-F238E27FC236}">
                <a16:creationId xmlns:a16="http://schemas.microsoft.com/office/drawing/2014/main" id="{DC1041DE-C570-4450-8E05-373C0B3D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3162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at-card-6">
            <a:extLst xmlns:a="http://schemas.openxmlformats.org/drawingml/2006/main">
              <a:ext uri="{FF2B5EF4-FFF2-40B4-BE49-F238E27FC236}">
                <a16:creationId xmlns:a16="http://schemas.microsoft.com/office/drawing/2014/main" id="{A0845199-7DAE-4F90-B433-E53849F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3276600" cy="1352550"/>
          </a:xfrm>
          <a:prstGeom xmlns:a="http://schemas.openxmlformats.org/drawingml/2006/main" prst="roundRect">
            <a:avLst>
              <a:gd name="adj" fmla="val 563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7F5"/>
            </a:solidFill>
            <a:prstDash val="solid"/>
          </a:ln>
        </p:spPr>
      </p:sp>
      <p:sp>
        <p:nvSpPr>
          <p:cNvPr id="70" name="compat-accent-6">
            <a:extLst xmlns:a="http://schemas.openxmlformats.org/drawingml/2006/main">
              <a:ext uri="{FF2B5EF4-FFF2-40B4-BE49-F238E27FC236}">
                <a16:creationId xmlns:a16="http://schemas.microsoft.com/office/drawing/2014/main" id="{1EAA9EC5-B647-4985-93CD-2920FC7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mpat-title-6">
            <a:extLst xmlns:a="http://schemas.openxmlformats.org/drawingml/2006/main">
              <a:ext uri="{FF2B5EF4-FFF2-40B4-BE49-F238E27FC236}">
                <a16:creationId xmlns:a16="http://schemas.microsoft.com/office/drawing/2014/main" id="{80C194AA-D60E-4C5B-BEA3-071A33E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培训与运营</a:t>
            </a:r>
          </a:p>
        </p:txBody>
      </p:sp>
      <p:sp>
        <p:nvSpPr>
          <p:cNvPr id="72" name="compat-name-6">
            <a:extLst xmlns:a="http://schemas.openxmlformats.org/drawingml/2006/main">
              <a:ext uri="{FF2B5EF4-FFF2-40B4-BE49-F238E27FC236}">
                <a16:creationId xmlns:a16="http://schemas.microsoft.com/office/drawing/2014/main" id="{3405F951-01AF-4756-B8E9-74CA638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教师 / 员工 / 管理员</a:t>
            </a:r>
          </a:p>
        </p:txBody>
      </p:sp>
      <p:sp>
        <p:nvSpPr>
          <p:cNvPr id="73" name="compat-desc-6">
            <a:extLst xmlns:a="http://schemas.openxmlformats.org/drawingml/2006/main">
              <a:ext uri="{FF2B5EF4-FFF2-40B4-BE49-F238E27FC236}">
                <a16:creationId xmlns:a16="http://schemas.microsoft.com/office/drawing/2014/main" id="{2ECFBFFD-E59A-4A3A-8724-DE35492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上线 / 支持 / 评测 / 版本升级</a:t>
            </a:r>
          </a:p>
        </p:txBody>
      </p:sp>
    </p:spTree>
    <p:extLst>
      <p:ext uri="{BB962C8B-B14F-4D97-AF65-F5344CB8AC3E}">
        <p14:creationId xmlns:p14="http://schemas.microsoft.com/office/powerpoint/2010/main" val="115209315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8F04E4-5685-46EC-B7BF-FF503FC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APPENDIX · 完整产品路线 · 目标形态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CFBD-EC4D-495B-9570-BB048A2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产品、解决方案与生态按四个阶段共同扩张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493F2-5172-4084-94AC-6144F45F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底层能力稳定后，再扩大服务目录、组织交付与多端运行；所有场景共享同一项目格式。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84ED5-104D-4B3B-BA7D-6F35FC15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7AD9-2F88-4BEC-9E9A-6C8E2BE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1301F-E876-4E53-B5B1-F226FE8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正式地基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0170A-1964-4746-B530-F4E1E4E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9760"/>
          </a:bodyPr>
          <a:lstStyle xmlns:a="http://schemas.openxmlformats.org/drawingml/2006/main"/>
          <a:p xmlns:a="http://schemas.openxmlformats.org/drawingml/2006/main">
            <a:r>
              <a:t>阶段 0–2｜正式契约 / 多模块</a:t>
            </a:r>
          </a:p>
          <a:p xmlns:a="http://schemas.openxmlformats.org/drawingml/2006/main">
            <a:r>
              <a:t>桌面｜面板 / 终端 / 日志</a:t>
            </a:r>
          </a:p>
          <a:p xmlns:a="http://schemas.openxmlformats.org/drawingml/2006/main">
            <a:r>
              <a:t>地基｜设置 / 资源 / 权限</a:t>
            </a:r>
          </a:p>
          <a:p xmlns:a="http://schemas.openxmlformats.org/drawingml/2006/main">
            <a:r>
              <a:t>闭环｜保存 / 窗口 / 回收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643C-E4A7-4144-849B-26D585C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41C02-BC0E-44C6-8C20-F2749EB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12ABA-CC1D-4413-A11C-66EFF83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产品闭环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7920F-5001-4FBE-B984-FF8CDE8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031"/>
          </a:bodyPr>
          <a:lstStyle xmlns:a="http://schemas.openxmlformats.org/drawingml/2006/main"/>
          <a:p xmlns:a="http://schemas.openxmlformats.org/drawingml/2006/main">
            <a:r>
              <a:t>阶段 3–7｜RAG / 项目积木化</a:t>
            </a:r>
          </a:p>
          <a:p xmlns:a="http://schemas.openxmlformats.org/drawingml/2006/main">
            <a:r>
              <a:t>产品｜蓝图 / Agent / 构建助手</a:t>
            </a:r>
          </a:p>
          <a:p xmlns:a="http://schemas.openxmlformats.org/drawingml/2006/main">
            <a:r>
              <a:t>交付｜Trace / AppSurface</a:t>
            </a:r>
          </a:p>
          <a:p xmlns:a="http://schemas.openxmlformats.org/drawingml/2006/main">
            <a:r>
              <a:t>办公｜有人值守 RPA / 多架构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D476-BFC0-467D-953B-DAD47B6E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BFFE6-3806-4E0B-B8B2-4849CEE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4E758-33B1-4B19-AC92-39FB3CD8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D6523-38D3-4000-876A-1730A78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0348"/>
          </a:bodyPr>
          <a:lstStyle xmlns:a="http://schemas.openxmlformats.org/drawingml/2006/main"/>
          <a:p xmlns:a="http://schemas.openxmlformats.org/drawingml/2006/main">
            <a:r>
              <a:t>阶段 8–11｜6 模板 / CLI / 4 Skills</a:t>
            </a:r>
          </a:p>
          <a:p xmlns:a="http://schemas.openxmlformats.org/drawingml/2006/main">
            <a:r>
              <a:t>教育｜工作区 / 机构方案</a:t>
            </a:r>
          </a:p>
          <a:p xmlns:a="http://schemas.openxmlformats.org/drawingml/2006/main">
            <a:r>
              <a:t>企业｜团队 / 部署 / 无人值守 RPA</a:t>
            </a:r>
          </a:p>
          <a:p xmlns:a="http://schemas.openxmlformats.org/drawingml/2006/main">
            <a:r>
              <a:t>服务｜定制方案 / 私有资产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84C53-44C1-42A2-B33A-A95ACBE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19350" cy="2781300"/>
          </a:xfrm>
          <a:prstGeom xmlns:a="http://schemas.openxmlformats.org/drawingml/2006/main" prst="roundRect">
            <a:avLst>
              <a:gd name="adj" fmla="val 866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D2EAD-8316-4D07-B9D2-EF0FD52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529C-D364-4829-A0AC-71E3C7B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生态与多端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B2C4D-2107-42C6-974F-818DE79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9115"/>
          </a:bodyPr>
          <a:lstStyle xmlns:a="http://schemas.openxmlformats.org/drawingml/2006/main"/>
          <a:p xmlns:a="http://schemas.openxmlformats.org/drawingml/2006/main">
            <a:r>
              <a:t>阶段 12–14｜社区供应链</a:t>
            </a:r>
          </a:p>
          <a:p xmlns:a="http://schemas.openxmlformats.org/drawingml/2006/main">
            <a:r>
              <a:t>桌面｜macOS + 移动使用器</a:t>
            </a:r>
          </a:p>
          <a:p xmlns:a="http://schemas.openxmlformats.org/drawingml/2006/main">
            <a:r>
              <a:t>商业｜权益 / 订阅 / 服务目录</a:t>
            </a:r>
          </a:p>
          <a:p xmlns:a="http://schemas.openxmlformats.org/drawingml/2006/main">
            <a:r>
              <a:t>生态｜多端分发 / 国际化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B4DB1-39DE-46AA-9842-ACA8ED2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85AED-F686-45CE-BACD-85EAF9B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6BFF"/>
                </a:solidFill>
                <a:latin typeface="Microsoft YaHei"/>
                <a:ea typeface="Microsoft YaHei"/>
                <a:cs typeface="Microsoft YaHei"/>
              </a:rPr>
              <a:t>每个服务方案都回流为蓝图、积木、适配器或私有资产包，形成复用飞轮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81F25-CA1D-42EA-95BF-4FA2DCB1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AEA12-AB50-4D32-8FDF-96E4B5B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Blocky Studio · Agent 搭建教育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CDD87-5796-4A69-900F-7A9A607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8d4a402394445"/>
          <a:stretch xmlns:a="http://schemas.openxmlformats.org/drawingml/2006/main"/>
        </p:blipFill>
        <p:spPr>
          <a:xfrm xmlns:a="http://schemas.openxmlformats.org/drawingml/2006/main">
            <a:off x="9667875" y="228600"/>
            <a:ext cx="1504950" cy="150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8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2026-08-26T15:34:23.9640000Z</dcterms:created>
  <dcterms:modified xsi:type="dcterms:W3CDTF">2026-08-26T15:34:23.9640000Z</dcterms:modified>
</coreProperties>
</file>
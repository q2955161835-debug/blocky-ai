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d666133f192450d" /><Relationship Type="http://schemas.openxmlformats.org/officeDocument/2006/relationships/extended-properties" Target="/docProps/app.xml" Id="R8c2f714fd7184d83" /><Relationship Type="http://schemas.openxmlformats.org/officeDocument/2006/relationships/officeDocument" Target="/ppt/presentation.xml" Id="Re6ca18991c9e4d9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74df04dc28c4102"/>
  </p:sldMasterIdLst>
  <p:notesMasterIdLst>
    <p:notesMasterId xmlns:r="http://schemas.openxmlformats.org/officeDocument/2006/relationships" r:id="Rb10de2ff06c04323"/>
  </p:notesMasterIdLst>
  <p:sldIdLst>
    <p:sldId xmlns:r="http://schemas.openxmlformats.org/officeDocument/2006/relationships" id="256" r:id="R84b71a7f571d4224"/>
    <p:sldId xmlns:r="http://schemas.openxmlformats.org/officeDocument/2006/relationships" id="257" r:id="R86d8354cf7e84f30"/>
    <p:sldId xmlns:r="http://schemas.openxmlformats.org/officeDocument/2006/relationships" id="258" r:id="R625601c0370d47f1"/>
    <p:sldId xmlns:r="http://schemas.openxmlformats.org/officeDocument/2006/relationships" id="259" r:id="R3001f7ad7c4a4363"/>
    <p:sldId xmlns:r="http://schemas.openxmlformats.org/officeDocument/2006/relationships" id="260" r:id="R261d1f3ccc134556"/>
    <p:sldId xmlns:r="http://schemas.openxmlformats.org/officeDocument/2006/relationships" id="261" r:id="Ra175d5202c214649"/>
    <p:sldId xmlns:r="http://schemas.openxmlformats.org/officeDocument/2006/relationships" id="262" r:id="Rc4554f1041544d16"/>
    <p:sldId xmlns:r="http://schemas.openxmlformats.org/officeDocument/2006/relationships" id="263" r:id="R5d9c4794408449b7"/>
    <p:sldId xmlns:r="http://schemas.openxmlformats.org/officeDocument/2006/relationships" id="264" r:id="Rabc87819b72e493d"/>
    <p:sldId xmlns:r="http://schemas.openxmlformats.org/officeDocument/2006/relationships" id="265" r:id="R7bd1c724f7274e68"/>
    <p:sldId xmlns:r="http://schemas.openxmlformats.org/officeDocument/2006/relationships" id="266" r:id="R22451f44ddbc4a58"/>
    <p:sldId xmlns:r="http://schemas.openxmlformats.org/officeDocument/2006/relationships" id="267" r:id="R4120077eecaa409e"/>
    <p:sldId xmlns:r="http://schemas.openxmlformats.org/officeDocument/2006/relationships" id="268" r:id="R225bbaa4f06b4c49"/>
    <p:sldId xmlns:r="http://schemas.openxmlformats.org/officeDocument/2006/relationships" id="269" r:id="R6941e58e47be40c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0c623d0210c4ea3" /><Relationship Type="http://schemas.openxmlformats.org/officeDocument/2006/relationships/slideMaster" Target="/ppt/slideMasters/slideMaster1.xml" Id="R374df04dc28c4102" /><Relationship Type="http://schemas.openxmlformats.org/officeDocument/2006/relationships/notesMaster" Target="/ppt/notesMasters/notesMaster1.xml" Id="Rb10de2ff06c04323" /><Relationship Type="http://schemas.openxmlformats.org/officeDocument/2006/relationships/presProps" Target="/ppt/presProps.xml" Id="R125b7adfefef4d8d" /><Relationship Type="http://schemas.openxmlformats.org/officeDocument/2006/relationships/tableStyles" Target="/ppt/tableStyles.xml" Id="Rf31a71deebfc4f4d" /><Relationship Type="http://schemas.openxmlformats.org/officeDocument/2006/relationships/slide" Target="/ppt/slides/slide1.xml" Id="R84b71a7f571d4224" /><Relationship Type="http://schemas.openxmlformats.org/officeDocument/2006/relationships/slide" Target="/ppt/slides/slide2.xml" Id="R86d8354cf7e84f30" /><Relationship Type="http://schemas.openxmlformats.org/officeDocument/2006/relationships/slide" Target="/ppt/slides/slide3.xml" Id="R625601c0370d47f1" /><Relationship Type="http://schemas.openxmlformats.org/officeDocument/2006/relationships/slide" Target="/ppt/slides/slide4.xml" Id="R3001f7ad7c4a4363" /><Relationship Type="http://schemas.openxmlformats.org/officeDocument/2006/relationships/slide" Target="/ppt/slides/slide5.xml" Id="R261d1f3ccc134556" /><Relationship Type="http://schemas.openxmlformats.org/officeDocument/2006/relationships/slide" Target="/ppt/slides/slide6.xml" Id="Ra175d5202c214649" /><Relationship Type="http://schemas.openxmlformats.org/officeDocument/2006/relationships/slide" Target="/ppt/slides/slide7.xml" Id="Rc4554f1041544d16" /><Relationship Type="http://schemas.openxmlformats.org/officeDocument/2006/relationships/slide" Target="/ppt/slides/slide8.xml" Id="R5d9c4794408449b7" /><Relationship Type="http://schemas.openxmlformats.org/officeDocument/2006/relationships/slide" Target="/ppt/slides/slide9.xml" Id="Rabc87819b72e493d" /><Relationship Type="http://schemas.openxmlformats.org/officeDocument/2006/relationships/slide" Target="/ppt/slides/slide10.xml" Id="R7bd1c724f7274e68" /><Relationship Type="http://schemas.openxmlformats.org/officeDocument/2006/relationships/slide" Target="/ppt/slides/slide11.xml" Id="R22451f44ddbc4a58" /><Relationship Type="http://schemas.openxmlformats.org/officeDocument/2006/relationships/slide" Target="/ppt/slides/slide12.xml" Id="R4120077eecaa409e" /><Relationship Type="http://schemas.openxmlformats.org/officeDocument/2006/relationships/slide" Target="/ppt/slides/slide13.xml" Id="R225bbaa4f06b4c49" /><Relationship Type="http://schemas.openxmlformats.org/officeDocument/2006/relationships/slide" Target="/ppt/slides/slide14.xml" Id="R6941e58e47be40c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a59552063574f9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39db0582deb40fd" /><Relationship Type="http://schemas.openxmlformats.org/officeDocument/2006/relationships/notesMaster" Target="/ppt/notesMasters/notesMaster1.xml" Id="Rb6dab73322084bc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830172f288645a8" /><Relationship Type="http://schemas.openxmlformats.org/officeDocument/2006/relationships/notesMaster" Target="/ppt/notesMasters/notesMaster1.xml" Id="R4e3f50952f41469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3028318e7e147d3" /><Relationship Type="http://schemas.openxmlformats.org/officeDocument/2006/relationships/notesMaster" Target="/ppt/notesMasters/notesMaster1.xml" Id="Rb65a362918794d8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fa41050997c4805" /><Relationship Type="http://schemas.openxmlformats.org/officeDocument/2006/relationships/notesMaster" Target="/ppt/notesMasters/notesMaster1.xml" Id="R743cd2cb11dc4b6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7254daf688441d1" /><Relationship Type="http://schemas.openxmlformats.org/officeDocument/2006/relationships/notesMaster" Target="/ppt/notesMasters/notesMaster1.xml" Id="Re93f79d724a0465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2b7a9f1406f41cc" /><Relationship Type="http://schemas.openxmlformats.org/officeDocument/2006/relationships/notesMaster" Target="/ppt/notesMasters/notesMaster1.xml" Id="R9238618e399c469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4ec291dff524180" /><Relationship Type="http://schemas.openxmlformats.org/officeDocument/2006/relationships/notesMaster" Target="/ppt/notesMasters/notesMaster1.xml" Id="R8235ad2cd38145a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9cb1750d49c41ab" /><Relationship Type="http://schemas.openxmlformats.org/officeDocument/2006/relationships/notesMaster" Target="/ppt/notesMasters/notesMaster1.xml" Id="R7f805b0f0b4c4aa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0e5a6f3cdd64b4c" /><Relationship Type="http://schemas.openxmlformats.org/officeDocument/2006/relationships/notesMaster" Target="/ppt/notesMasters/notesMaster1.xml" Id="R5a70884abe8248a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bd9c303eead4c77" /><Relationship Type="http://schemas.openxmlformats.org/officeDocument/2006/relationships/notesMaster" Target="/ppt/notesMasters/notesMaster1.xml" Id="R69f321da4561420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194728629d7463c" /><Relationship Type="http://schemas.openxmlformats.org/officeDocument/2006/relationships/notesMaster" Target="/ppt/notesMasters/notesMaster1.xml" Id="R9c56247eb1d0416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6f6daea37b54120" /><Relationship Type="http://schemas.openxmlformats.org/officeDocument/2006/relationships/notesMaster" Target="/ppt/notesMasters/notesMaster1.xml" Id="R5c74b0b9f968430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85d41b28762446d" /><Relationship Type="http://schemas.openxmlformats.org/officeDocument/2006/relationships/notesMaster" Target="/ppt/notesMasters/notesMaster1.xml" Id="R48a9dfda280d4df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c59626a0473415d" /><Relationship Type="http://schemas.openxmlformats.org/officeDocument/2006/relationships/notesMaster" Target="/ppt/notesMasters/notesMaster1.xml" Id="Rd4a065b06deb42a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开场聚焦 Agent：Blocky 不是帮助学生多问一个答案，而是把角色、知识、工具、记忆、权限和运行过程交给学生亲手搭建。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https://js.news.cn/20260717/59d330ba6357464babb402e9c1907680/c.html (2026 息壤杯主题、主办方与赛道)</a:t>
            </a:r>
          </a:p>
          <a:p xmlns:a="http://schemas.openxmlformats.org/drawingml/2006/main">
            <a:r>
              <a:t>- D:\1Folder\Blocky-AI\doc\产品设计\Blocky-完整积木与Agent兼容设计.md (Scratch 式积木搭建 Agent 的产品定位)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三个入口分别停留在问答案、拼流程和写代码；Blocky 的教育价值是让学生直接搭建 Agent，理解角色、知识、工具、记忆、权限与运行轨迹怎样共同形成行为。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D:\1Folder\Blocky-AI\doc\产品设计\Blocky-完整积木与Agent兼容设计.md (Agent 语义、Scratch 式搭建与目标用户)</a:t>
            </a:r>
          </a:p>
          <a:p xmlns:a="http://schemas.openxmlformats.org/drawingml/2006/main">
            <a:r>
              <a:t>- https://hudong.moe.gov.cn/jyb_xwfb/gzdt_gzdt/s5987/202412/t20241202_1165500.html (以人为本、激发兴趣、探究实践、学用结合)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
- OpenAI image generation, original student Agent-building illustration created for this deck, 2026-08-25.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政策背景指向人工智能素养、实践创造与安全责任；Blocky 把这些抽象目标落到 Agent 搭建任务，让学生能够设计结构、运行系统并解释结果。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https://hudong.moe.gov.cn/jyb_sjzl/sjzl_fztjgb/202506/t20250611_1193760.html (2024 年全国教育事业发展统计公报)</a:t>
            </a:r>
          </a:p>
          <a:p xmlns:a="http://schemas.openxmlformats.org/drawingml/2006/main">
            <a:r>
              <a:t>- https://www.moe.gov.cn/jyb_xxgk/moe_1777/moe_1778/202501/t20250119_1176193.html (教育强国建设规划纲要与教育数字化方向)</a:t>
            </a:r>
          </a:p>
          <a:p xmlns:a="http://schemas.openxmlformats.org/drawingml/2006/main">
            <a:r>
              <a:t>- D:\1Folder\Blocky-AI\doc\产品设计\Blocky-初版产品方案.md (教育用户与 Agent 搭建场景)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这页展示 Agent 搭建工作台：左侧选择 Agent 能力积木，中间组合模块，右侧由构建助手协助搭建并在运行 Agent 中测试，底部用诊断、日志、终端和输出解释执行。入门七类与专业十二类共享同一 Agent 项目。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D:\1Folder\Blocky-AI\doc\产品设计\Blocky-初版产品方案.md (桌面 Agent 搭建与运行布局)</a:t>
            </a:r>
          </a:p>
          <a:p xmlns:a="http://schemas.openxmlformats.org/drawingml/2006/main">
            <a:r>
              <a:t>- D:\1Folder\Blocky-AI\doc\产品设计\Blocky-完整积木与Agent兼容设计.md (入门七类、专业十二类与共享 Agent 项目)</a:t>
            </a:r>
          </a:p>
          <a:p xmlns:a="http://schemas.openxmlformats.org/drawingml/2006/main">
            <a:r>
              <a:t>- D:\1Folder\Blocky-AI\doc\技术设计\Windows-Core视觉验收\13-professional-conversation-trace.png (本地技术尖峰截图)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课堂任务不是制作一个问答页面，而是搭建课堂知识 Agent：学生明确角色、资料、检索、回答规则和权限，再通过引用、轨迹和保存重开证明 Agent 行为。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(资料问答 Agent 课堂闭环)</a:t>
            </a:r>
          </a:p>
          <a:p xmlns:a="http://schemas.openxmlformats.org/drawingml/2006/main">
            <a:r>
              <a:t>- https://hudong.moe.gov.cn/jyb_xwfb/gzdt_gzdt/s5987/202412/t20241202_1165500.html (探究实践与学用结合)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
- OpenAI image generation, original classroom Agent collaboration illustration created for this deck, 2026-08-25.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演示视频用五步证明 Agent 搭建闭环：选择课堂知识 Agent 蓝图、配置角色知识工具、运行 Agent、检查轨迹、保存重开；同步展示引用、拒答与行为复现。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(Agent 搭建演示旅程)</a:t>
            </a:r>
          </a:p>
          <a:p xmlns:a="http://schemas.openxmlformats.org/drawingml/2006/main">
            <a:r>
              <a:t>- D:\1Folder\Blocky-AI\doc\技术设计\正式契约\07-阶段1-Demo接口交接.md (固定夹具与 Agent 运行事件契约)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Agent 不是一个黑箱标签，而是一条可检查的语义链：学生编辑积木，编译器生成稳定 Agent IR，受控运行时执行工具，Trace 回放每一步，适配器再与原生 Agent 配置双向映射。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(Agent 产品墙与四层创作)</a:t>
            </a:r>
          </a:p>
          <a:p xmlns:a="http://schemas.openxmlformats.org/drawingml/2006/main">
            <a:r>
              <a:t>- D:\1Folder\Blocky-AI\doc\产品设计\CLI与官方Agent-Skill.md (四个官方 Skills 与共享 Agent 语义)</a:t>
            </a:r>
          </a:p>
          <a:p xmlns:a="http://schemas.openxmlformats.org/drawingml/2006/main">
            <a:r>
              <a:t>- D:\1Folder\Blocky-AI\doc\技术设计\ADR-002-原生Agent兼容运行时.md (版本化适配器与可逆投影)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六个方向不是六套互不相通的产品，而是六类 Agent 生态进入 Blocky 的兼容版图。公共 Agent 语义投影为可编辑积木，框架特有能力保留定位，配置与行为通过独立兼容矩阵核验。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D:\1Folder\Blocky-AI\doc\产品设计\Blocky-内置兼容模板.md (六个 Agent 模板方向与兼容矩阵)</a:t>
            </a:r>
          </a:p>
          <a:p xmlns:a="http://schemas.openxmlformats.org/drawingml/2006/main">
            <a:r>
              <a:t>- D:\1Folder\Blocky-AI\doc\技术设计\ADR-002-原生Agent兼容运行时.md (进程外运行时、版本化适配器与可逆投影)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左侧是 Agent Core 的可复现实测：积木编辑、Agent IR、交互清单、工具契约、确定性运行与保存重开；右侧是通过验收的正式 Agent 项目契约。证据支持的是 Agent 产品地基。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D:\1Folder\Blocky-AI\doc\技术设计\Windows-Core技术尖峰报告.md (Agent Core 尖峰验证范围与长稳证据)</a:t>
            </a:r>
          </a:p>
          <a:p xmlns:a="http://schemas.openxmlformats.org/drawingml/2006/main">
            <a:r>
              <a:t>- D:\1Folder\Blocky-AI\doc\技术设计\正式契约\README.md (Agent 项目正式契约注册表)</a:t>
            </a:r>
          </a:p>
          <a:p xmlns:a="http://schemas.openxmlformats.org/drawingml/2006/main">
            <a:r>
              <a:t>- D:\1Folder\Blocky-AI\doc\验收\归档\2026-08-23\验收-Blocky阶段0契约冻结.md (正式契约验收)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四项成果都围绕 Agent 搭建：学生能搭出可运行 Agent，能指出结构与轨迹，能核对引用和拒答，能保存重开并复现行为。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(Agent 课堂闭环验收旅程)</a:t>
            </a:r>
          </a:p>
          <a:p xmlns:a="http://schemas.openxmlformats.org/drawingml/2006/main">
            <a:r>
              <a:t>- D:\1Folder\Blocky-AI\doc\技术设计\正式契约\07-阶段1-Demo接口交接.md (固定 Agent 夹具与运行事件契约)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商业入口是免费 Agent 搭建底座；个人扩展为高频搭建者提供模型、工具、Skills 与资源，学校和机构购买教师管理、Agent 课程、支持与私有化服务。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D:\1Folder\Blocky-AI\doc\产品设计\Blocky-初版产品方案.md (教育基础版、个人扩展与机构服务设计)</a:t>
            </a:r>
          </a:p>
          <a:p xmlns:a="http://schemas.openxmlformats.org/drawingml/2006/main">
            <a:r>
              <a:t>- D:\1Folder\Blocky-AI\doc\执行计划\2026-08-23-Blocky-竞品驱动完整开发计划.md (Agent 教育工作区与机构服务路线)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Agent 教育把安全变成可学习的系统能力：资料边界、工具权限、密钥隔离、运行轨迹和日志脱敏都在搭建与运行过程中直接呈现。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https://www.moe.gov.cn/jyb_xxgk/moe_1777/moe_1778/202501/t20250119_1176193.html (数字素养、安全与伦理方向)</a:t>
            </a:r>
          </a:p>
          <a:p xmlns:a="http://schemas.openxmlformats.org/drawingml/2006/main">
            <a:r>
              <a:t>- D:\1Folder\Blocky-AI\AGENTS.md (Agent 秘密、权限与 Host 安全边界)</a:t>
            </a:r>
          </a:p>
          <a:p xmlns:a="http://schemas.openxmlformats.org/drawingml/2006/main">
            <a:r>
              <a:t>- D:\1Folder\Blocky-AI\doc\产品设计\Blocky-底部面板终端与日志系统设计.md (Agent 日志脱敏、终端隔离与审计边界)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赛事路线围绕 Agent 搭建逐步放大：初赛证明 Agent 闭环，复赛验证教师与课堂数据，总决赛验证 Agent 兼容边界、教育扩展和机构合作。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https://js.news.cn/20260717/59d330ba6357464babb402e9c1907680/c.html (2026 息壤杯赛程与项目迭代方式)</a:t>
            </a:r>
          </a:p>
          <a:p xmlns:a="http://schemas.openxmlformats.org/drawingml/2006/main">
            <a:r>
              <a:t>- D:\1Folder\Blocky-AI\doc\执行计划\2026-08-23-Blocky-竞品驱动完整开发计划.md (Agent 教育、兼容与商业路线)</a:t>
            </a:r>
          </a:p>
          <a:p xmlns:a="http://schemas.openxmlformats.org/drawingml/2006/main">
            <a:r>
              <a:t>- D:\1Folder\Blocky-AI\doc\产品设计\Blocky-内置兼容模板.md (六模板 Agent 兼容矩阵)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收束到一个核心：Blocky 让学生成为 Agent 搭建者。创新来自透明 Agent 语义链；商业来自 Agent 教育底座与持续服务；社会价值来自可解释、负责任的 Agent 设计；应用成效用搭建、解释、引用、复现核验；孵化空间连接六模板、CLI、Skills、社区与多端。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https://js.news.cn/20260717/59d330ba6357464babb402e9c1907680/c.html (赛事评估维度与孵化资源)</a:t>
            </a:r>
          </a:p>
          <a:p xmlns:a="http://schemas.openxmlformats.org/drawingml/2006/main">
            <a:r>
              <a:t>- D:\1Folder\Blocky-AI\doc\产品设计\Blocky-完整积木与Agent兼容设计.md (Agent 搭建产品定位)</a:t>
            </a:r>
          </a:p>
          <a:p xmlns:a="http://schemas.openxmlformats.org/drawingml/2006/main">
            <a:r>
              <a:t>- D:\1Folder\Blocky-AI\doc\执行计划\2026-08-23-Blocky-竞品驱动完整开发计划.md (Agent CLI、Skills、兼容与多端路线)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
- OpenAI image generation, original student Agent-builder vision illustration created for this deck, 2026-08-25.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f1aaf557dc4bd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998db0e8e444a5e" /><Relationship Type="http://schemas.openxmlformats.org/officeDocument/2006/relationships/slideLayout" Target="/ppt/slideLayouts/slideLayout1.xml" Id="R82d8d21d2b2c43e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2d8d21d2b2c43e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e9502986b94a73" /><Relationship Type="http://schemas.openxmlformats.org/officeDocument/2006/relationships/image" Target="/ppt/media/image.png" Id="R97499475964b4732" /><Relationship Type="http://schemas.openxmlformats.org/officeDocument/2006/relationships/notesSlide" Target="/ppt/notesSlides/notesSlide1.xml" Id="Rc84d3afdfc8b49e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4d45ec603046f7" /><Relationship Type="http://schemas.openxmlformats.org/officeDocument/2006/relationships/image" Target="/ppt/media/image2.png" Id="Rcbee9693ee3e4453" /><Relationship Type="http://schemas.openxmlformats.org/officeDocument/2006/relationships/notesSlide" Target="/ppt/notesSlides/notesSlide2.xml" Id="R1eeb422dd86448a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f64a4bef504355" /><Relationship Type="http://schemas.openxmlformats.org/officeDocument/2006/relationships/notesSlide" Target="/ppt/notesSlides/notesSlide3.xml" Id="Ra439185a0d0d4e8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2ae56702a740c0" /><Relationship Type="http://schemas.openxmlformats.org/officeDocument/2006/relationships/image" Target="/ppt/media/image3.png" Id="Rb8addb08c35f46a1" /><Relationship Type="http://schemas.openxmlformats.org/officeDocument/2006/relationships/notesSlide" Target="/ppt/notesSlides/notesSlide4.xml" Id="R73c868841ef547d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58958848064232" /><Relationship Type="http://schemas.openxmlformats.org/officeDocument/2006/relationships/image" Target="/ppt/media/image4.png" Id="R3a8880c6ea604a5d" /><Relationship Type="http://schemas.openxmlformats.org/officeDocument/2006/relationships/notesSlide" Target="/ppt/notesSlides/notesSlide5.xml" Id="R48fe3a25a5ce409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841ff8aa3547e3" /><Relationship Type="http://schemas.openxmlformats.org/officeDocument/2006/relationships/notesSlide" Target="/ppt/notesSlides/notesSlide6.xml" Id="R6b67b714f625481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b59af557694e36" /><Relationship Type="http://schemas.openxmlformats.org/officeDocument/2006/relationships/notesSlide" Target="/ppt/notesSlides/notesSlide7.xml" Id="R9e960223b5c8434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8d946da3234846" /><Relationship Type="http://schemas.openxmlformats.org/officeDocument/2006/relationships/notesSlide" Target="/ppt/notesSlides/notesSlide8.xml" Id="R4f5e718f67ac4a0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baf71e190a4778" /><Relationship Type="http://schemas.openxmlformats.org/officeDocument/2006/relationships/image" Target="/ppt/media/image5.png" Id="Rc479e938d7a243f0" /><Relationship Type="http://schemas.openxmlformats.org/officeDocument/2006/relationships/notesSlide" Target="/ppt/notesSlides/notesSlide9.xml" Id="R890656a892e94ee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a2e2741d0d437d" /><Relationship Type="http://schemas.openxmlformats.org/officeDocument/2006/relationships/notesSlide" Target="/ppt/notesSlides/notesSlide10.xml" Id="R3a0ebb602ed84a5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251c0a0871435a" /><Relationship Type="http://schemas.openxmlformats.org/officeDocument/2006/relationships/notesSlide" Target="/ppt/notesSlides/notesSlide11.xml" Id="R403409095be04d3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e7e9057f164104" /><Relationship Type="http://schemas.openxmlformats.org/officeDocument/2006/relationships/notesSlide" Target="/ppt/notesSlides/notesSlide12.xml" Id="Rd770d83a2a094a4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db284165824eae" /><Relationship Type="http://schemas.openxmlformats.org/officeDocument/2006/relationships/notesSlide" Target="/ppt/notesSlides/notesSlide13.xml" Id="R49dac35d21bf479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49220e1a054abb" /><Relationship Type="http://schemas.openxmlformats.org/officeDocument/2006/relationships/image" Target="/ppt/media/image6.png" Id="R808f6d54832447e6" /><Relationship Type="http://schemas.openxmlformats.org/officeDocument/2006/relationships/notesSlide" Target="/ppt/notesSlides/notesSlide14.xml" Id="R0d63400017ef4c7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0D9BE4-76F9-4A7D-9C8D-2F5EF2565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4953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4CCF9B-8A6D-4873-B7C6-72B7F16F4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0"/>
            <a:ext cx="2095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4AD890-3E02-4B32-A590-73AF68E44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781050"/>
            <a:ext cx="1695450" cy="1695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447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499475964b4732"/>
          <a:stretch xmlns:a="http://schemas.openxmlformats.org/drawingml/2006/main"/>
        </p:blipFill>
        <p:spPr>
          <a:xfrm xmlns:a="http://schemas.openxmlformats.org/drawingml/2006/main">
            <a:off x="8029575" y="1257300"/>
            <a:ext cx="2952750" cy="2952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369273-24D0-4097-89BD-DB290BEAF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2026 息壤杯｜惠民产品创新｜AI+教育赛道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12D827-8A22-4FC0-8118-2EA4F9F6C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6191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让学生真正搭建 Agent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820EF3-5C41-49AB-9DB0-278C191C1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28850"/>
            <a:ext cx="6477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看得懂、改得动、跑得通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3CB7FC-A2C8-4032-B5FB-5BDAD9D7A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Blocky Studio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E5E5DB-B502-4C97-A633-16C100D08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Scratch 式积木 Agent 搭建软件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806E6E-DF21-46F4-84A1-E56863B71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72050"/>
            <a:ext cx="1809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856512-3F11-4BC5-BBFE-0365EA462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38725"/>
            <a:ext cx="161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Agent 搭建 · 教育场景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94BB3B-9431-4961-B921-BE763B2F2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590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把黑箱式模型调用，变成可观察、可解释、可复现的 Agent 搭建过程。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D0086F-B57E-43C0-B341-1F4B85AAF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6153150"/>
            <a:ext cx="1571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Blocky Studio</a:t>
            </a:r>
          </a:p>
        </p:txBody>
      </p:sp>
    </p:spTree>
    <p:extLst>
      <p:ext uri="{BB962C8B-B14F-4D97-AF65-F5344CB8AC3E}">
        <p14:creationId xmlns:p14="http://schemas.microsoft.com/office/powerpoint/2010/main" val="132586192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86DE290-F233-4EA8-B16E-409742FCC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WHY NOW · Agent 教育痛点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540E2D-BEFB-41DE-A2EC-A7BFC2D2A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课堂需要的不是更多答案，而是学生能搭建 Agent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44CACA-0CE4-40DB-B2E2-8BE7B71AF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角色、知识、记忆、工具、权限与运行轨迹，决定 Agent 如何工作。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0599E7-286E-4CEB-8ADD-B581260DA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895600"/>
            <a:ext cx="6743700" cy="19050"/>
          </a:xfrm>
          <a:prstGeom xmlns:a="http://schemas.openxmlformats.org/drawingml/2006/main" prst="roundRect">
            <a:avLst>
              <a:gd name="adj" fmla="val 7746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AA88ED-3F7F-4892-A17B-A48C5F030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352675"/>
            <a:ext cx="723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5A4442-86C5-4DBE-B966-1E22F6210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4193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提问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5D5BBB-CF18-459F-89A2-0A0FDD0AA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276475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聊天式问答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BB09F4-5080-4128-A92D-ECF4FE194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209800"/>
            <a:ext cx="3467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得到结果，却看不见 Agent 的结构与运行过程。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5DA8EC-409C-4867-98FA-3B237753F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848100"/>
            <a:ext cx="6743700" cy="19050"/>
          </a:xfrm>
          <a:prstGeom xmlns:a="http://schemas.openxmlformats.org/drawingml/2006/main" prst="roundRect">
            <a:avLst>
              <a:gd name="adj" fmla="val 7746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F2932F-EF45-40EC-BFB1-02393B5A0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305175"/>
            <a:ext cx="723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E62B85-C3E2-4470-9235-AA031C745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3718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编排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6C706B-C168-4645-A2AA-6D71C55B9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228975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连线流程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CAE70C-34DE-4B49-BC59-72916708A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62300"/>
            <a:ext cx="3467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节点能串起步骤</a:t>
            </a:r>
          </a:p>
          <a:p xmlns:a="http://schemas.openxmlformats.org/drawingml/2006/main">
            <a:pPr algn="ctr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参数与拓扑偏工程化</a:t>
            </a:r>
          </a:p>
          <a:p xmlns:a="http://schemas.openxmlformats.org/drawingml/2006/main">
            <a:pPr algn="ctr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初学者难读、难改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71AE33-BE20-47DD-8783-063FEE2E2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800600"/>
            <a:ext cx="6743700" cy="19050"/>
          </a:xfrm>
          <a:prstGeom xmlns:a="http://schemas.openxmlformats.org/drawingml/2006/main" prst="roundRect">
            <a:avLst>
              <a:gd name="adj" fmla="val 7746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C036CF-9EEB-4C8E-9ECE-8C7180797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257675"/>
            <a:ext cx="723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BF48A1-AB51-4748-9371-48647738A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43243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编码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EC989C-9445-4F80-958F-20ACA0A30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181475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代码框架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8B500E-DE01-45BB-89B3-2630FCA98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14800"/>
            <a:ext cx="3467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表达力强，但环境、依赖与语法抬高课堂搭建门槛。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DDF664-42F9-4557-A074-F6D4E3617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10820400" cy="876300"/>
          </a:xfrm>
          <a:prstGeom xmlns:a="http://schemas.openxmlformats.org/drawingml/2006/main" prst="roundRect">
            <a:avLst>
              <a:gd name="adj" fmla="val 2173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992B56-2143-41CF-A6C7-C76679FB6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410200"/>
            <a:ext cx="10172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Blocky 把 Agent 的结构、运行和解释，变成学生可以亲手编辑的积木。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773103-2070-44F1-BB78-268997BD5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C57BBC-E125-46E2-80A6-3C79EF39C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49C1A0-F743-4893-90AB-031ABD891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ee9693ee3e4453"/>
          <a:stretch xmlns:a="http://schemas.openxmlformats.org/drawingml/2006/main"/>
        </p:blipFill>
        <p:spPr>
          <a:xfrm xmlns:a="http://schemas.openxmlformats.org/drawingml/2006/main">
            <a:off x="685800" y="2145506"/>
            <a:ext cx="3524250" cy="264318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503250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1F39D0-3FC4-4C0E-A1D5-86D2F8ECF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OPPORTUNITY · Agent 教育机会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5C0489-E690-4515-8532-7EB6EF145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搭建正在成为人工智能教育的下一步实践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775723-017E-439C-BAFF-4E7F1EC39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3276600" cy="1390650"/>
          </a:xfrm>
          <a:prstGeom xmlns:a="http://schemas.openxmlformats.org/drawingml/2006/main" prst="roundRect">
            <a:avLst>
              <a:gd name="adj" fmla="val 15068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F850C1-E5E4-4E20-BF13-55AADFF31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383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47 万所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9ABFEC-285F-4A91-B85F-F75A4E32D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4795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各级各类学校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1B2A9D-4985-446A-87D6-92E232AB5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790700"/>
            <a:ext cx="3276600" cy="1390650"/>
          </a:xfrm>
          <a:prstGeom xmlns:a="http://schemas.openxmlformats.org/drawingml/2006/main" prst="roundRect">
            <a:avLst>
              <a:gd name="adj" fmla="val 15068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B0E0B3-9F29-4BA5-9C8F-694467624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0383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2.86465 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CD9912-FD7C-4501-9DB1-2D0BD12DF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64795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在校生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85F1D3-4FE8-477D-AB48-A4F5E6B57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790700"/>
            <a:ext cx="3276600" cy="1390650"/>
          </a:xfrm>
          <a:prstGeom xmlns:a="http://schemas.openxmlformats.org/drawingml/2006/main" prst="roundRect">
            <a:avLst>
              <a:gd name="adj" fmla="val 15068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2DD1C9-15C8-4C45-B24D-0F3F1C253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0383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1885.10 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99323C-011B-4B20-8558-5F51814F5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64795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专任教师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73A88D-0CF5-4432-A256-E2EEA4DF3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76600"/>
            <a:ext cx="1082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全国教育体系规模，为 Agent 搭建课程提供广泛的课堂入口。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2CB344-CD97-45D5-BC37-4EBCBB6D4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52850"/>
            <a:ext cx="5124450" cy="2038350"/>
          </a:xfrm>
          <a:prstGeom xmlns:a="http://schemas.openxmlformats.org/drawingml/2006/main" prst="roundRect">
            <a:avLst>
              <a:gd name="adj" fmla="val 9346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2A8040-09B1-491B-BCEB-B4DBF0391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0050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政策方向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F655CE-95D1-43DB-9C45-AC34A9554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95800"/>
            <a:ext cx="4476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教育数字化持续推进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人工智能助力教学变革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强调实践、创造与问题解决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同步重视安全、伦理与规范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8DF826-4961-4CE8-9C98-C75C7FA22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752850"/>
            <a:ext cx="5353050" cy="2038350"/>
          </a:xfrm>
          <a:prstGeom xmlns:a="http://schemas.openxmlformats.org/drawingml/2006/main" prst="roundRect">
            <a:avLst>
              <a:gd name="adj" fmla="val 9346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66A8CA-19C6-434E-AD6C-5F818DBEA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0005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Agent 教育入口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203AD2-7FC8-4B13-94FE-2B56DA410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514850"/>
            <a:ext cx="4762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12 岁以上学生</a:t>
            </a:r>
          </a:p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职教与高校 Agent 入门课程</a:t>
            </a:r>
          </a:p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设计 Agent 项目的教师创作者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4AA025-0E59-4FE6-AC7A-41E48C410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355FAC-5400-4765-91DC-A939B1913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612907B-4B8C-490E-9ECF-1C0176FBB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40148360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F5900A0-923A-4E1C-846F-F3A51072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PRODUCT · Agent 搭建形态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AB7AA0-9727-4E4C-BBF2-EEFD311E9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一套 Scratch 式 Agent 语言，贯通入门搭建与专业工程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B59B95-7AD1-45F7-BF1A-D167D669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左：Agent 积木库｜中：模块画布 / 浏览器｜右：构建助手 / 运行 Agent｜下：诊断 / 日志 / 终端 / 输出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CFA51A-88FD-4410-B098-83E927B78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6572250" cy="3790950"/>
          </a:xfrm>
          <a:prstGeom xmlns:a="http://schemas.openxmlformats.org/drawingml/2006/main" prst="roundRect">
            <a:avLst>
              <a:gd name="adj" fmla="val 552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addb08c35f46a1"/>
          <a:srcRect xmlns:a="http://schemas.openxmlformats.org/drawingml/2006/main" l="0" t="2671" r="0" b="267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9150" y="2076450"/>
            <a:ext cx="6305550" cy="3276600"/>
          </a:xfrm>
          <a:prstGeom xmlns:a="http://schemas.openxmlformats.org/drawingml/2006/main" prst="roundRect">
            <a:avLst>
              <a:gd name="adj" fmla="val 5814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61A894-4ED3-4098-A787-A216B85C6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162550"/>
            <a:ext cx="24193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E048C9-2F90-43B2-9A6E-237B42226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29225"/>
            <a:ext cx="2228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Windows Core · Agent 搭建实证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5A2940-0D37-4B5C-88BF-0A81177F0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9621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入门七类 → 专业十二类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20E0F9-1BA2-45FA-A5DC-B1170BEE7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5146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6DA326-0AB4-44AA-B072-DC5B94BDB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6384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开始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4AD1FB-B3C4-4112-B08A-E37E65537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5146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8B38E6-C18D-4E35-B6A5-8AA91FDE5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6384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角色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7209BE-AF05-4C3A-938C-A41B2F8E1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1432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F6BB91-EC5F-4ABB-B3A5-5DF4EABB1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267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会思考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4DC32F-04E8-4D1B-A6E1-CB7BAC03A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1432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2E0D15-2836-4F23-99A8-0A64734DD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267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会查找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666679-9916-4127-93CF-54C50FC49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7719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51C3D2-2DDE-40D5-91FD-9B30DF022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957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会记住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DD0FF4-49F3-46E6-958D-DE7737338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7719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D576F6-9BD2-41A0-8E5B-F4513EA72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8957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会行动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5A1C88-A08D-4D68-8ED0-EF46CECCF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4005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89A2F2-3DD2-4C06-A9F0-228B03F4E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524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会回答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33F627-823A-489F-94C4-FC9D9CE71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5200650"/>
            <a:ext cx="323850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6272D5-C6B4-478C-9CFF-B9CFF8A83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229225"/>
            <a:ext cx="2971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统一 Agent 项目格式</a:t>
            </a:r>
          </a:p>
          <a:p xmlns:a="http://schemas.openxmlformats.org/drawingml/2006/main">
            <a:pPr algn="ctr">
              <a:buNone/>
              <a:def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共享 IR、运行内核与权限模型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A25289-91C1-4471-8AA3-88C75A966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7B57DB-12D0-452A-88EA-454AE1E72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99F2206-526C-4EC7-9D06-DFA927D68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88808030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E6BEB0-5134-4740-8BC5-70438A9E5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USE CASE · Agent 课堂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593C4D-248B-4BA9-B5FD-3076450D4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一节 45 分钟课，搭出“课堂知识 Agent”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A294B6-FC5C-481E-9BCB-E0BD442C0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学生组合角色、资料检索、回答规则与权限，再用运行证据讲清系统。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0EE404-A53E-47C8-BD14-1A6FF57EC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876550"/>
            <a:ext cx="5143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A320BC-DCBD-459B-B601-6F0A4EF60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5336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8BF5B1-FF19-480C-A1F9-B3EBD55A3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695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EB8ED1-07E5-4EEC-85C0-40D8A0D6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333375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老师设定任务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B674A9-88C9-467B-8B72-EE50C9BD6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3981450"/>
            <a:ext cx="1695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锁定课程资料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定义 Agent 边界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2DC4C0-F9C1-4B05-86E6-F1C7ABDF1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5336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25F763-49D5-4981-BAE1-812D10DBB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695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3C79FC-38CA-4920-BCFA-97252FFA7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33375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学生搭 Agent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6934EE-6AF6-484E-B295-F75570571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981450"/>
            <a:ext cx="1695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选择蓝图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修改角色与检索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00918C-A06B-4E1A-8C9D-0648588A8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5336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F1C48E-5BD0-4783-9B5F-9CD7A9A77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695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E7325C-B220-4DD8-937A-0AFCD38AC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333375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运行 Agent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E1AD58-3805-4CBB-B0C5-AD0CFD42C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3981450"/>
            <a:ext cx="1695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回答带引用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状态与轨迹可见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DAF4FD-BC3F-4584-9B71-B1636FEDB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5336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EA1FC6-3496-484C-95F5-14F46B1D3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695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475CB5-1F52-4474-A185-5DCFD29BB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333375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解释系统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F6F002-6517-421A-8333-2339096B4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3981450"/>
            <a:ext cx="1695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指出关键积木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解释回答与拒答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D85272-C52C-40FA-B761-776CF4360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10820400" cy="80010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759AD1-71DC-48F0-89B6-BD531D8DC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39115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学习成果：Agent 搭得出 · 结构说得清 · 引用找得到 · 重开仍一致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40A4D9-AB1E-4082-B642-C0C46F98D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5E1450-E4DF-4EFF-A864-D90D800E3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08E4714-55B0-428F-BB84-CF5DF9C58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8880c6ea604a5d"/>
          <a:stretch xmlns:a="http://schemas.openxmlformats.org/drawingml/2006/main"/>
        </p:blipFill>
        <p:spPr>
          <a:xfrm xmlns:a="http://schemas.openxmlformats.org/drawingml/2006/main">
            <a:off x="685800" y="2145506"/>
            <a:ext cx="3524250" cy="264318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408912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61BF2F6-7820-4F71-A5F3-44000ED8B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DEMO · Agent 闭环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381ADE-80F5-42E9-8853-EF5280D4C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3 分钟完成 Agent 搭建与运行闭环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EA1F63-0E40-4377-9F6C-F7E155EA5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确定性本地实证呈现“选蓝图—改积木—跑 Agent—看轨迹—存项目”。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E04AFC-6A82-41C7-ABEB-5D0B08086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B70C2E-A825-44BD-BFC3-2F9092FD5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8E383A-D3C9-463D-90D3-B0C8254CF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F47339-424A-4575-BFED-D712680E3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149493-3133-4D57-B418-0FC64E040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C735B2-1D95-42CD-9390-53260701C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789284-904D-4CA8-AF84-68B161FB5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选择蓝图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F9AD1A-0529-4DCF-B052-8C59974E9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课堂知识 Agent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FFD2D7-BE35-487B-8AF1-CFA6A5C49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48D6E0-39E4-47B1-957D-861949DEB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2CF790-33C9-4CCB-A157-EF7C63A8E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配置积木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779A17-5ACC-4FC3-9593-C038762DE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角色 / 知识 / 工具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3931BE-909D-4CA1-A8AB-20443305C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14AEE4-C3AD-424F-BF93-521A3B465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14F98A-F223-47A2-9F28-C1B6DA0F0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运行 Agent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4A1067-0938-4671-9EFE-711113993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本地检索 + 引用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14FD71-DF17-4CA8-A89C-001B0D22D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E6B1F2-F786-4907-9B38-6D5B309AE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967383-C63A-4BD0-9C8F-2977BF77F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检查轨迹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BA1E21-50FB-423D-A459-1A0C693B3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步骤 / 状态 / 输出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B396C4-30A2-4334-9ED5-17BFDFAEA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B51A61D-3FAE-48E2-A03D-6F11EB652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1E3B23B-6531-4174-AD4B-5499123F3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保存重开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97C8725-F881-4B20-8922-9BCB26A46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Agent 行为一致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565D525-758B-44D0-90F2-EE5FBAD25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3276600" cy="12001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3E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92FF6B1-7E33-4870-A17A-CF1D956F9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70344CA-4B17-44A6-BE50-710321E1F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6386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084B3E6-57A9-45C0-A2E9-15BEA8519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14850"/>
            <a:ext cx="2324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本地 Agent 实证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E7570BE-5162-4D12-AE16-D2927C1A0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91490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确定性 Provider / 本地检索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08BFF40-00F6-42F3-A709-F0FF0B483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343400"/>
            <a:ext cx="3276600" cy="12001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3E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A82C568-EB54-4F86-9719-69A443CDC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572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33FE7DA-9E56-4BD7-9F7A-4A7695B09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6386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444E849-D3A9-43C7-BF9A-8C9434B51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514850"/>
            <a:ext cx="2324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拒答与引用可见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01D2692-8CDD-4B60-95CF-492AB2A4B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91490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回答与来源保持一致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15B5C15-EEE9-4585-B27F-51E7E83D4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343400"/>
            <a:ext cx="3276600" cy="12001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3EC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D77F557-EDEC-4BE2-B1CE-221DCA3E9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572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25382B6-9835-4B93-B708-3D9BCA1D0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6386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FAA06BF-AFB7-4CF2-8847-FC5A1A092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514850"/>
            <a:ext cx="2324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项目可复现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E803178-7941-42C1-A1DB-7806CAA6E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91490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语义与会话状态分离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F3F74DB-353E-4AC3-8319-F0E8F80D0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848350"/>
            <a:ext cx="2476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229199D-0A09-4447-ADBA-1032DD292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5915025"/>
            <a:ext cx="228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E548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Agent 闭环：五步可复现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08F5750-0E1E-40F3-9F23-28AE1F197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5473D5A-F999-426D-96D7-1D006B671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DBEA014-107A-40CA-8682-5991D33EB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7409856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DFB98D4-8A9E-4310-AC05-96F1315D6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INNOVATION · Agent 语义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B70E22-46A8-4D3F-A933-FA5CB30D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壁垒是一条可验证、可回放、可逆的 Agent 语义链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7B9416-8927-4FDD-917D-66714D817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同一套 Agent 结构同时服务学生搭建、运行执行、教师复核与原生兼容。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B99917-4785-4FF2-9985-F6BA06501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B5AC8B-8B9F-4695-9A04-96E9C71C9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3CCDC8-7024-494D-AA95-7BFAEFB34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8FE4A2-B622-4C5E-AFC6-49E01F515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5E4D1E-C2BE-43FE-97BC-475FE4A6E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9FA4B3-0E29-4B42-9E8B-B19439EE3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E01B1A-FBF1-410D-A8FE-40496C9C2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327299-7A47-4BD8-8DDF-623868A85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809E88-4FD6-4362-9922-851886FF0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A020EA-0F76-4C5F-99C3-F8E787B2D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可见 Agent</a:t>
            </a:r>
          </a:p>
          <a:p xmlns:a="http://schemas.openxmlformats.org/drawingml/2006/main">
            <a:pPr algn="ctr">
              <a:buNone/>
              <a:defRPr sz="17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积木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209DFC-0DB0-4F03-997E-ED022F538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学生能读懂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E863CB-E606-406C-8E49-63E027468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EBB333-8FEB-4A68-A6D7-A07BB5A5E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稳定 Agent IR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CA3A16-F7D2-4375-AD05-98B39C160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系统能校验 Agent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BBCBCB-D598-47CF-A31D-DE2AFCFB5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B15EC2-77A0-44D3-961C-3C1B64DF7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受控 Runtime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BA4644-3DF6-4D5D-A39E-7633F3E10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权限有边界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9DA042-F4B5-409E-A55D-9D81D4EE3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EA51D8-9E31-4734-9C09-B3CF40E05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Trace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E9A07E-9C57-41E0-98BE-FB36F1B34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每步可回放解释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D7090C-B895-46C1-8E74-265295F9D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1F2994-A241-41AC-A0A0-8832A0CF7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适配器可逆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C53ED7-2762-4673-B1D7-3AD8965A0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模板 / 原生写回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FD28F7F-9AB1-4D9F-9291-E09FBFEFE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533900"/>
            <a:ext cx="9067800" cy="10668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FBA31EE-5FD9-4E8B-B02A-C5D35D3ED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762500"/>
            <a:ext cx="8534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FF8A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同一 Agent 语义链贯通桌面、CLI、四个官方 Skills 与六模板兼容版图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28A8729-2378-4A20-A1EE-2FBF3D7D7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143500"/>
            <a:ext cx="8534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$build-blocky-agents · $create-blocky-blocks</a:t>
            </a:r>
          </a:p>
          <a:p xmlns:a="http://schemas.openxmlformats.org/drawingml/2006/main">
            <a:pPr algn="ctr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$convert-github-project-to-blocky · $reverse-agent-to-blocky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6E5C844-E2E1-463A-B081-124788438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98B031E-3513-477C-9387-EAA671369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396D7D8-64FA-4C92-BE0C-FC36C8479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85010189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5339E4-F604-4D6A-86EF-DF2CD0929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ECOSYSTEM · Agent 兼容版图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70CF98-9ECF-4290-B608-8ACEB1A04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六类 Agent 生态，共用一套可改造的积木语言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9087C1-24E9-4883-BB39-FFC3752B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019300"/>
            <a:ext cx="7905750" cy="3429000"/>
          </a:xfrm>
          <a:prstGeom xmlns:a="http://schemas.openxmlformats.org/drawingml/2006/main" prst="roundRect">
            <a:avLst>
              <a:gd name="adj" fmla="val 5556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15C7A3-B066-45AE-9611-3A53A1582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2438400"/>
            <a:ext cx="285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CF3443-2956-4DCD-9397-CE8B308C9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73100" y="4895850"/>
            <a:ext cx="6191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AB1834-49B3-4F51-9EB9-455297343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3648075"/>
            <a:ext cx="619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17254A-D248-480E-A64C-9F3D94656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49300" y="2438400"/>
            <a:ext cx="952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F039EF-8669-48E6-8355-B3E3CDD61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Pi、Codex、OpenClaw、Hermes、OpenCode、DeepSeek Harness 映射到统一 Agent 项目。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252EBC-6654-4A56-A43D-04234BEB2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05400"/>
            <a:ext cx="10439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1456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456C7"/>
                </a:solidFill>
                <a:latin typeface="Microsoft YaHei"/>
                <a:ea typeface="Microsoft YaHei"/>
                <a:cs typeface="Microsoft YaHei"/>
              </a:rPr>
              <a:t>统一 Agent 语义 + 进程外原生运行时 + 版本化适配器 + 可逆积木投影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09C619-2BD1-4EF2-9FB4-E67118A23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40386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8A2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049E2C-638C-4C84-9984-35EE7E45E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45148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问答型 Agent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BE703F-ECE8-4177-B632-BC2BAF535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37814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90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B245E4-7D7B-4DD8-84A1-4F701573F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01700" y="4314825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流程编排工具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165A70-FD04-45E9-8824-2BD372614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39800" y="27622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FEFD31-A748-48DC-9B67-88B96D45E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7900" y="333375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代码型 Agent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2ECAB1-E514-4F89-A764-A2DA3B8D7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0" y="27051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A9564E-1B04-4A3B-9C90-58816AC91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54100" y="339090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Blocky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10F48B-9833-4CEA-96EC-F710C0DB0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076450"/>
            <a:ext cx="1600200" cy="3352800"/>
          </a:xfrm>
          <a:prstGeom xmlns:a="http://schemas.openxmlformats.org/drawingml/2006/main" prst="roundRect">
            <a:avLst>
              <a:gd name="adj" fmla="val 11905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B3CED9-2289-46C4-878F-B09658EEE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92200" y="2362200"/>
            <a:ext cx="1219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积木搭建 / 深度扩展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DE07F1-2CE1-4A8A-BE82-360BF6C6E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30300" y="3238500"/>
            <a:ext cx="12192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入门 Agent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专业 Agent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蓝图 / 代码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运行轨迹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CF8F47-F459-4EE8-AFFB-431D2346A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00700"/>
            <a:ext cx="1082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兼容结果：公共语义可编辑，原生能力可定位，项目配置可逆写回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A2238B-6981-4EEF-9644-CAB79A1ED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EEB512-B61D-4234-BF5B-E7FCE68FD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6BBFE9-8C7C-4891-A36F-ED778245C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26" name="compat-card-fill-1-1">
            <a:extLst xmlns:a="http://schemas.openxmlformats.org/drawingml/2006/main">
              <a:ext uri="{FF2B5EF4-FFF2-40B4-BE49-F238E27FC236}">
                <a16:creationId xmlns:a16="http://schemas.microsoft.com/office/drawing/2014/main" id="{F69DB481-5385-40C6-8BEA-8619F0A3E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compat-card-fill-1-2">
            <a:extLst xmlns:a="http://schemas.openxmlformats.org/drawingml/2006/main">
              <a:ext uri="{FF2B5EF4-FFF2-40B4-BE49-F238E27FC236}">
                <a16:creationId xmlns:a16="http://schemas.microsoft.com/office/drawing/2014/main" id="{E4EF5A44-61F6-43D8-A716-C98483ED0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compat-card-fill-1-3">
            <a:extLst xmlns:a="http://schemas.openxmlformats.org/drawingml/2006/main">
              <a:ext uri="{FF2B5EF4-FFF2-40B4-BE49-F238E27FC236}">
                <a16:creationId xmlns:a16="http://schemas.microsoft.com/office/drawing/2014/main" id="{2D5C7F0A-2376-4FCC-B006-D475EB461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compat-card-1">
            <a:extLst xmlns:a="http://schemas.openxmlformats.org/drawingml/2006/main">
              <a:ext uri="{FF2B5EF4-FFF2-40B4-BE49-F238E27FC236}">
                <a16:creationId xmlns:a16="http://schemas.microsoft.com/office/drawing/2014/main" id="{6C151DE4-71A9-4FA2-9A44-BC5947196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30" name="compat-accent-1">
            <a:extLst xmlns:a="http://schemas.openxmlformats.org/drawingml/2006/main">
              <a:ext uri="{FF2B5EF4-FFF2-40B4-BE49-F238E27FC236}">
                <a16:creationId xmlns:a16="http://schemas.microsoft.com/office/drawing/2014/main" id="{4A5AF1A7-B885-4B88-B017-97B67775F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compat-title-1">
            <a:extLst xmlns:a="http://schemas.openxmlformats.org/drawingml/2006/main">
              <a:ext uri="{FF2B5EF4-FFF2-40B4-BE49-F238E27FC236}">
                <a16:creationId xmlns:a16="http://schemas.microsoft.com/office/drawing/2014/main" id="{34755EBE-93F0-4137-A1C0-A92B874AF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轻量编码 Agent</a:t>
            </a:r>
          </a:p>
        </p:txBody>
      </p:sp>
      <p:sp>
        <p:nvSpPr>
          <p:cNvPr id="32" name="compat-name-1">
            <a:extLst xmlns:a="http://schemas.openxmlformats.org/drawingml/2006/main">
              <a:ext uri="{FF2B5EF4-FFF2-40B4-BE49-F238E27FC236}">
                <a16:creationId xmlns:a16="http://schemas.microsoft.com/office/drawing/2014/main" id="{7B4D9A5C-E768-4DC4-A8BF-A0C0D3177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Pi</a:t>
            </a:r>
          </a:p>
        </p:txBody>
      </p:sp>
      <p:sp>
        <p:nvSpPr>
          <p:cNvPr id="33" name="compat-desc-1">
            <a:extLst xmlns:a="http://schemas.openxmlformats.org/drawingml/2006/main">
              <a:ext uri="{FF2B5EF4-FFF2-40B4-BE49-F238E27FC236}">
                <a16:creationId xmlns:a16="http://schemas.microsoft.com/office/drawing/2014/main" id="{6EEF4EE7-6902-4F7D-979E-88501EA44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工具调用 · 文件读写 · Shell</a:t>
            </a:r>
          </a:p>
        </p:txBody>
      </p:sp>
      <p:sp>
        <p:nvSpPr>
          <p:cNvPr id="34" name="compat-card-fill-2-1">
            <a:extLst xmlns:a="http://schemas.openxmlformats.org/drawingml/2006/main">
              <a:ext uri="{FF2B5EF4-FFF2-40B4-BE49-F238E27FC236}">
                <a16:creationId xmlns:a16="http://schemas.microsoft.com/office/drawing/2014/main" id="{6678D41D-B7A4-47ED-A705-BC8B0F76C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compat-card-fill-2-2">
            <a:extLst xmlns:a="http://schemas.openxmlformats.org/drawingml/2006/main">
              <a:ext uri="{FF2B5EF4-FFF2-40B4-BE49-F238E27FC236}">
                <a16:creationId xmlns:a16="http://schemas.microsoft.com/office/drawing/2014/main" id="{AF7B2C68-02AD-4AB9-9093-19F05DEF1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compat-card-fill-2-3">
            <a:extLst xmlns:a="http://schemas.openxmlformats.org/drawingml/2006/main">
              <a:ext uri="{FF2B5EF4-FFF2-40B4-BE49-F238E27FC236}">
                <a16:creationId xmlns:a16="http://schemas.microsoft.com/office/drawing/2014/main" id="{E3636D79-096C-47D6-B78F-E30DAF504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compat-card-2">
            <a:extLst xmlns:a="http://schemas.openxmlformats.org/drawingml/2006/main">
              <a:ext uri="{FF2B5EF4-FFF2-40B4-BE49-F238E27FC236}">
                <a16:creationId xmlns:a16="http://schemas.microsoft.com/office/drawing/2014/main" id="{59DCAF35-0EEB-4DA4-B734-CCF9E9C4C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38" name="compat-accent-2">
            <a:extLst xmlns:a="http://schemas.openxmlformats.org/drawingml/2006/main">
              <a:ext uri="{FF2B5EF4-FFF2-40B4-BE49-F238E27FC236}">
                <a16:creationId xmlns:a16="http://schemas.microsoft.com/office/drawing/2014/main" id="{6D379EDB-817E-4F0B-91DB-DF83E8488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compat-title-2">
            <a:extLst xmlns:a="http://schemas.openxmlformats.org/drawingml/2006/main">
              <a:ext uri="{FF2B5EF4-FFF2-40B4-BE49-F238E27FC236}">
                <a16:creationId xmlns:a16="http://schemas.microsoft.com/office/drawing/2014/main" id="{E6BC2108-034B-409A-ABE7-485519372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专业编程 Agent</a:t>
            </a:r>
          </a:p>
        </p:txBody>
      </p:sp>
      <p:sp>
        <p:nvSpPr>
          <p:cNvPr id="40" name="compat-name-2">
            <a:extLst xmlns:a="http://schemas.openxmlformats.org/drawingml/2006/main">
              <a:ext uri="{FF2B5EF4-FFF2-40B4-BE49-F238E27FC236}">
                <a16:creationId xmlns:a16="http://schemas.microsoft.com/office/drawing/2014/main" id="{53F45C2E-A901-407B-AAAB-6E9BA20F4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Codex</a:t>
            </a:r>
          </a:p>
        </p:txBody>
      </p:sp>
      <p:sp>
        <p:nvSpPr>
          <p:cNvPr id="41" name="compat-desc-2">
            <a:extLst xmlns:a="http://schemas.openxmlformats.org/drawingml/2006/main">
              <a:ext uri="{FF2B5EF4-FFF2-40B4-BE49-F238E27FC236}">
                <a16:creationId xmlns:a16="http://schemas.microsoft.com/office/drawing/2014/main" id="{7857053F-D439-4C53-B6DB-03E22CF16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AGENTS.md · Skills · MCP · 沙箱</a:t>
            </a:r>
          </a:p>
        </p:txBody>
      </p:sp>
      <p:sp>
        <p:nvSpPr>
          <p:cNvPr id="42" name="compat-card-fill-3-1">
            <a:extLst xmlns:a="http://schemas.openxmlformats.org/drawingml/2006/main">
              <a:ext uri="{FF2B5EF4-FFF2-40B4-BE49-F238E27FC236}">
                <a16:creationId xmlns:a16="http://schemas.microsoft.com/office/drawing/2014/main" id="{D02C6BBE-B855-49E3-9FFF-F9AAB4710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compat-card-fill-3-2">
            <a:extLst xmlns:a="http://schemas.openxmlformats.org/drawingml/2006/main">
              <a:ext uri="{FF2B5EF4-FFF2-40B4-BE49-F238E27FC236}">
                <a16:creationId xmlns:a16="http://schemas.microsoft.com/office/drawing/2014/main" id="{777F7FB1-AD1C-4E78-AC1C-0C013DEA0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compat-card-fill-3-3">
            <a:extLst xmlns:a="http://schemas.openxmlformats.org/drawingml/2006/main">
              <a:ext uri="{FF2B5EF4-FFF2-40B4-BE49-F238E27FC236}">
                <a16:creationId xmlns:a16="http://schemas.microsoft.com/office/drawing/2014/main" id="{45AFEE63-5A0B-450B-8AC2-1BF30F6BF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compat-card-3">
            <a:extLst xmlns:a="http://schemas.openxmlformats.org/drawingml/2006/main">
              <a:ext uri="{FF2B5EF4-FFF2-40B4-BE49-F238E27FC236}">
                <a16:creationId xmlns:a16="http://schemas.microsoft.com/office/drawing/2014/main" id="{EFD30262-A6C0-4D53-A7BF-1B52ACFE3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46" name="compat-accent-3">
            <a:extLst xmlns:a="http://schemas.openxmlformats.org/drawingml/2006/main">
              <a:ext uri="{FF2B5EF4-FFF2-40B4-BE49-F238E27FC236}">
                <a16:creationId xmlns:a16="http://schemas.microsoft.com/office/drawing/2014/main" id="{B425A560-FF61-42E2-8088-6874D276A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compat-title-3">
            <a:extLst xmlns:a="http://schemas.openxmlformats.org/drawingml/2006/main">
              <a:ext uri="{FF2B5EF4-FFF2-40B4-BE49-F238E27FC236}">
                <a16:creationId xmlns:a16="http://schemas.microsoft.com/office/drawing/2014/main" id="{DE4D6871-BF98-4AEC-B845-AFDCEC1FC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个人助理 Agent</a:t>
            </a:r>
          </a:p>
        </p:txBody>
      </p:sp>
      <p:sp>
        <p:nvSpPr>
          <p:cNvPr id="48" name="compat-name-3">
            <a:extLst xmlns:a="http://schemas.openxmlformats.org/drawingml/2006/main">
              <a:ext uri="{FF2B5EF4-FFF2-40B4-BE49-F238E27FC236}">
                <a16:creationId xmlns:a16="http://schemas.microsoft.com/office/drawing/2014/main" id="{DED0F3A4-98EC-4B28-99FD-5C1D27931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OpenClaw</a:t>
            </a:r>
          </a:p>
        </p:txBody>
      </p:sp>
      <p:sp>
        <p:nvSpPr>
          <p:cNvPr id="49" name="compat-desc-3">
            <a:extLst xmlns:a="http://schemas.openxmlformats.org/drawingml/2006/main">
              <a:ext uri="{FF2B5EF4-FFF2-40B4-BE49-F238E27FC236}">
                <a16:creationId xmlns:a16="http://schemas.microsoft.com/office/drawing/2014/main" id="{18FAF0F3-633A-440E-8341-779737970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Gateway · 会话 · 记忆 · 渠道</a:t>
            </a:r>
          </a:p>
        </p:txBody>
      </p:sp>
      <p:sp>
        <p:nvSpPr>
          <p:cNvPr id="50" name="compat-card-fill-4-1">
            <a:extLst xmlns:a="http://schemas.openxmlformats.org/drawingml/2006/main">
              <a:ext uri="{FF2B5EF4-FFF2-40B4-BE49-F238E27FC236}">
                <a16:creationId xmlns:a16="http://schemas.microsoft.com/office/drawing/2014/main" id="{E0562B3F-3B89-4B8F-A3C5-10385080D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compat-card-fill-4-2">
            <a:extLst xmlns:a="http://schemas.openxmlformats.org/drawingml/2006/main">
              <a:ext uri="{FF2B5EF4-FFF2-40B4-BE49-F238E27FC236}">
                <a16:creationId xmlns:a16="http://schemas.microsoft.com/office/drawing/2014/main" id="{48C12C69-CFB1-4C46-BBD9-D4625CCBA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compat-card-fill-4-3">
            <a:extLst xmlns:a="http://schemas.openxmlformats.org/drawingml/2006/main">
              <a:ext uri="{FF2B5EF4-FFF2-40B4-BE49-F238E27FC236}">
                <a16:creationId xmlns:a16="http://schemas.microsoft.com/office/drawing/2014/main" id="{B526D05E-C47D-49D2-A72B-7996334C2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compat-card-4">
            <a:extLst xmlns:a="http://schemas.openxmlformats.org/drawingml/2006/main">
              <a:ext uri="{FF2B5EF4-FFF2-40B4-BE49-F238E27FC236}">
                <a16:creationId xmlns:a16="http://schemas.microsoft.com/office/drawing/2014/main" id="{78665501-39CF-43AB-A709-09CE61C4A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54" name="compat-accent-4">
            <a:extLst xmlns:a="http://schemas.openxmlformats.org/drawingml/2006/main">
              <a:ext uri="{FF2B5EF4-FFF2-40B4-BE49-F238E27FC236}">
                <a16:creationId xmlns:a16="http://schemas.microsoft.com/office/drawing/2014/main" id="{49B9AA27-CD03-495D-9699-BB6DE584A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compat-title-4">
            <a:extLst xmlns:a="http://schemas.openxmlformats.org/drawingml/2006/main">
              <a:ext uri="{FF2B5EF4-FFF2-40B4-BE49-F238E27FC236}">
                <a16:creationId xmlns:a16="http://schemas.microsoft.com/office/drawing/2014/main" id="{D90E428E-D28E-44FA-B3D2-A6261DEF9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团队协作 Agent</a:t>
            </a:r>
          </a:p>
        </p:txBody>
      </p:sp>
      <p:sp>
        <p:nvSpPr>
          <p:cNvPr id="56" name="compat-name-4">
            <a:extLst xmlns:a="http://schemas.openxmlformats.org/drawingml/2006/main">
              <a:ext uri="{FF2B5EF4-FFF2-40B4-BE49-F238E27FC236}">
                <a16:creationId xmlns:a16="http://schemas.microsoft.com/office/drawing/2014/main" id="{D67341F5-F649-4091-824C-34F94796A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Hermes</a:t>
            </a:r>
          </a:p>
        </p:txBody>
      </p:sp>
      <p:sp>
        <p:nvSpPr>
          <p:cNvPr id="57" name="compat-desc-4">
            <a:extLst xmlns:a="http://schemas.openxmlformats.org/drawingml/2006/main">
              <a:ext uri="{FF2B5EF4-FFF2-40B4-BE49-F238E27FC236}">
                <a16:creationId xmlns:a16="http://schemas.microsoft.com/office/drawing/2014/main" id="{47CDDB18-5D86-4CBA-8410-B9E666436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协作 · 消息 · 任务 · 扩展</a:t>
            </a:r>
          </a:p>
        </p:txBody>
      </p:sp>
      <p:sp>
        <p:nvSpPr>
          <p:cNvPr id="58" name="compat-card-fill-5-1">
            <a:extLst xmlns:a="http://schemas.openxmlformats.org/drawingml/2006/main">
              <a:ext uri="{FF2B5EF4-FFF2-40B4-BE49-F238E27FC236}">
                <a16:creationId xmlns:a16="http://schemas.microsoft.com/office/drawing/2014/main" id="{396A1AB6-3033-43F3-ACA5-9A38A7DB0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compat-card-fill-5-2">
            <a:extLst xmlns:a="http://schemas.openxmlformats.org/drawingml/2006/main">
              <a:ext uri="{FF2B5EF4-FFF2-40B4-BE49-F238E27FC236}">
                <a16:creationId xmlns:a16="http://schemas.microsoft.com/office/drawing/2014/main" id="{341658E3-D68B-4E28-80D8-EE43D6BFC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compat-card-fill-5-3">
            <a:extLst xmlns:a="http://schemas.openxmlformats.org/drawingml/2006/main">
              <a:ext uri="{FF2B5EF4-FFF2-40B4-BE49-F238E27FC236}">
                <a16:creationId xmlns:a16="http://schemas.microsoft.com/office/drawing/2014/main" id="{F78F7300-8212-4596-BBCE-56316A9D7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compat-card-5">
            <a:extLst xmlns:a="http://schemas.openxmlformats.org/drawingml/2006/main">
              <a:ext uri="{FF2B5EF4-FFF2-40B4-BE49-F238E27FC236}">
                <a16:creationId xmlns:a16="http://schemas.microsoft.com/office/drawing/2014/main" id="{9ADA23D9-4B4A-410F-95B5-E660DEDA7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62" name="compat-accent-5">
            <a:extLst xmlns:a="http://schemas.openxmlformats.org/drawingml/2006/main">
              <a:ext uri="{FF2B5EF4-FFF2-40B4-BE49-F238E27FC236}">
                <a16:creationId xmlns:a16="http://schemas.microsoft.com/office/drawing/2014/main" id="{211650E4-8E44-4E1D-B760-CDAD74E7C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compat-title-5">
            <a:extLst xmlns:a="http://schemas.openxmlformats.org/drawingml/2006/main">
              <a:ext uri="{FF2B5EF4-FFF2-40B4-BE49-F238E27FC236}">
                <a16:creationId xmlns:a16="http://schemas.microsoft.com/office/drawing/2014/main" id="{8E1DBBC4-BF46-47E4-A7DB-7D88F6BF0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工程开发 Agent</a:t>
            </a:r>
          </a:p>
        </p:txBody>
      </p:sp>
      <p:sp>
        <p:nvSpPr>
          <p:cNvPr id="64" name="compat-name-5">
            <a:extLst xmlns:a="http://schemas.openxmlformats.org/drawingml/2006/main">
              <a:ext uri="{FF2B5EF4-FFF2-40B4-BE49-F238E27FC236}">
                <a16:creationId xmlns:a16="http://schemas.microsoft.com/office/drawing/2014/main" id="{B47D0A35-7660-433A-889E-BA518CAD7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OpenCode</a:t>
            </a:r>
          </a:p>
        </p:txBody>
      </p:sp>
      <p:sp>
        <p:nvSpPr>
          <p:cNvPr id="65" name="compat-desc-5">
            <a:extLst xmlns:a="http://schemas.openxmlformats.org/drawingml/2006/main">
              <a:ext uri="{FF2B5EF4-FFF2-40B4-BE49-F238E27FC236}">
                <a16:creationId xmlns:a16="http://schemas.microsoft.com/office/drawing/2014/main" id="{31B375FF-D546-47FA-A589-63E7B6D57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主 / 子 Agent · 工具权限 · 插件</a:t>
            </a:r>
          </a:p>
        </p:txBody>
      </p:sp>
      <p:sp>
        <p:nvSpPr>
          <p:cNvPr id="66" name="compat-card-fill-6-1">
            <a:extLst xmlns:a="http://schemas.openxmlformats.org/drawingml/2006/main">
              <a:ext uri="{FF2B5EF4-FFF2-40B4-BE49-F238E27FC236}">
                <a16:creationId xmlns:a16="http://schemas.microsoft.com/office/drawing/2014/main" id="{ECA9979D-C56C-4AA7-AA58-5B1AEACB7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compat-card-fill-6-2">
            <a:extLst xmlns:a="http://schemas.openxmlformats.org/drawingml/2006/main">
              <a:ext uri="{FF2B5EF4-FFF2-40B4-BE49-F238E27FC236}">
                <a16:creationId xmlns:a16="http://schemas.microsoft.com/office/drawing/2014/main" id="{64024621-3F06-4AC9-9FF2-CF3E3393C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compat-card-fill-6-3">
            <a:extLst xmlns:a="http://schemas.openxmlformats.org/drawingml/2006/main">
              <a:ext uri="{FF2B5EF4-FFF2-40B4-BE49-F238E27FC236}">
                <a16:creationId xmlns:a16="http://schemas.microsoft.com/office/drawing/2014/main" id="{DC1041DE-C570-4450-8E05-373C0B3D6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compat-card-6">
            <a:extLst xmlns:a="http://schemas.openxmlformats.org/drawingml/2006/main">
              <a:ext uri="{FF2B5EF4-FFF2-40B4-BE49-F238E27FC236}">
                <a16:creationId xmlns:a16="http://schemas.microsoft.com/office/drawing/2014/main" id="{A0845199-7DAE-4F90-B433-E53849F2B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70" name="compat-accent-6">
            <a:extLst xmlns:a="http://schemas.openxmlformats.org/drawingml/2006/main">
              <a:ext uri="{FF2B5EF4-FFF2-40B4-BE49-F238E27FC236}">
                <a16:creationId xmlns:a16="http://schemas.microsoft.com/office/drawing/2014/main" id="{1EAA9EC5-B647-4985-93CD-2920FC7D0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compat-title-6">
            <a:extLst xmlns:a="http://schemas.openxmlformats.org/drawingml/2006/main">
              <a:ext uri="{FF2B5EF4-FFF2-40B4-BE49-F238E27FC236}">
                <a16:creationId xmlns:a16="http://schemas.microsoft.com/office/drawing/2014/main" id="{80C194AA-D60E-4C5B-BEA3-071A33EC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组合研究 Agent</a:t>
            </a:r>
          </a:p>
        </p:txBody>
      </p:sp>
      <p:sp>
        <p:nvSpPr>
          <p:cNvPr id="72" name="compat-name-6">
            <a:extLst xmlns:a="http://schemas.openxmlformats.org/drawingml/2006/main">
              <a:ext uri="{FF2B5EF4-FFF2-40B4-BE49-F238E27FC236}">
                <a16:creationId xmlns:a16="http://schemas.microsoft.com/office/drawing/2014/main" id="{3405F951-01AF-4756-B8E9-74CA63847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DeepSeek Harness</a:t>
            </a:r>
          </a:p>
        </p:txBody>
      </p:sp>
      <p:sp>
        <p:nvSpPr>
          <p:cNvPr id="73" name="compat-desc-6">
            <a:extLst xmlns:a="http://schemas.openxmlformats.org/drawingml/2006/main">
              <a:ext uri="{FF2B5EF4-FFF2-40B4-BE49-F238E27FC236}">
                <a16:creationId xmlns:a16="http://schemas.microsoft.com/office/drawing/2014/main" id="{2ECFBFFD-E59A-4A3A-8724-DE3549232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Profile · Bundle · Cordis · 审批</a:t>
            </a:r>
          </a:p>
        </p:txBody>
      </p:sp>
    </p:spTree>
    <p:extLst>
      <p:ext uri="{BB962C8B-B14F-4D97-AF65-F5344CB8AC3E}">
        <p14:creationId xmlns:p14="http://schemas.microsoft.com/office/powerpoint/2010/main" val="115209315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387266-2A32-4DAA-B660-5E5EABCE3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EVIDENCE · Agent 内核实证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8F1EAF-E370-4FDB-93A0-A8A1C5371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技术尖峰已验证 Agent 核心链路，正式契约已通过验收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08558F-8F1D-45F1-B8C2-D2DFAE8A7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积木编辑、稳定 IR、确定性运行、保存重开与项目协议均有可复查证据。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1ACDB7-70DB-42B5-9BF7-1EC316D90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4953000" cy="3886200"/>
          </a:xfrm>
          <a:prstGeom xmlns:a="http://schemas.openxmlformats.org/drawingml/2006/main" prst="roundRect">
            <a:avLst>
              <a:gd name="adj" fmla="val 5392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10B61B-741F-4A50-9E91-8504EE4D5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52650"/>
            <a:ext cx="27813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1B3B13-0F03-4E53-89EB-30E7EAD81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19325"/>
            <a:ext cx="2590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rPr>
              <a:t>已验证 · Agent Core 技术尖峰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C8F19B-7745-4186-8A85-EDA802BFD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62250"/>
            <a:ext cx="432435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本地 Blockly 与稳定 Agent IR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InteractionManifest / ToolContract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确定性 Agent Runtime 与窄 Tauri Host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100 积木 Agent 项目保存—重开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360 次循环 / 30 分钟长稳（历史精确提交）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E5E0A2-E73F-44C7-BAD5-6A0D82C28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219700"/>
            <a:ext cx="432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rPr>
              <a:t>结论：Agent 项目核心风险已有可复现实证。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65E33F-B2AF-4819-8F01-A9FD68E3A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924050"/>
            <a:ext cx="5600700" cy="3886200"/>
          </a:xfrm>
          <a:prstGeom xmlns:a="http://schemas.openxmlformats.org/drawingml/2006/main" prst="roundRect">
            <a:avLst>
              <a:gd name="adj" fmla="val 5392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365F07-950A-4D07-A025-90EE48738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152650"/>
            <a:ext cx="30480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222E42-B3B5-4113-8A95-7228B5B7F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19325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EF444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正式契约 · Agent 产品地基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7811E7-D896-4913-B268-3DD1943B2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647950"/>
            <a:ext cx="4857750" cy="2457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Agent Project Manifest / Module Workspace / IR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InteractionManifest / ToolContract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RuntimeEvent / Diagnostic / Agent Trace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Build Spec / Semantic Patch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AppSurface / RPA / Window lifecycle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Terminal / LogEnvelope / AuditRecord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79e938d7a243f0"/>
          <a:srcRect xmlns:a="http://schemas.openxmlformats.org/drawingml/2006/main" l="0" t="11290" r="0" b="112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3335000" y="4095750"/>
            <a:ext cx="2952750" cy="1428750"/>
          </a:xfrm>
          <a:prstGeom xmlns:a="http://schemas.openxmlformats.org/drawingml/2006/main" prst="roundRect">
            <a:avLst>
              <a:gd name="adj" fmla="val 13333"/>
            </a:avLst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36E84C-0488-46CA-AE0D-E70BA935F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219700"/>
            <a:ext cx="4857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51F7CB-5C7D-4222-A237-0CBB7F6ED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286375"/>
            <a:ext cx="466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同一 Agent 语义贯通画布、CLI、官方 Skills、兼容模板与教育工作区。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28B773-2B04-44AF-B2B3-BA8929F4D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B40E5D-88E5-46E2-AEF4-2A8359C6C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7AF61F-E60E-4BA3-B5A8-4BF88AFAF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83175054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F8F04E4-5685-46EC-B7BF-FF503FC09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LEARNING OUTCOME · Agent 学习成效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CCFBD-EC4D-495B-9570-BB048A245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3 分钟核验 4 项 Agent 搭建成果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F493F2-5172-4084-94AC-6144F45F7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从 Agent 项目、结构讲解、来源引用到保存复现，课堂证据一次看清。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084ED5-104D-4B3B-BA7D-6F35FC152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BE7AD9-2F88-4BEC-9E9A-6C8E2BE2C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41301F-E876-4E53-B5B1-F226FE859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搭得出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20170A-1964-4746-B530-F4E1E4EF4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蓝图变成可运行 Agent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62643C-E4A7-4144-849B-26D585C55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841C02-BC0E-44C6-8C20-F2749EB78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212ABA-CC1D-4413-A11C-66EFF8303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说得清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17920F-5001-4FBE-B984-FF8CDE84C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指出关键积木与运行轨迹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39D476-BFC0-467D-953B-DAD47B6E1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DBFFE6-3806-4E0B-B8B2-4849CEE10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A4E758-33B1-4B19-AC92-39FB3CD8E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引得准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3D6523-38D3-4000-876A-1730A7882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回答有来源，证据不足会拒答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784C53-44C1-42A2-B33A-A95ACBEBF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ED2EAD-8316-4D07-B9D2-EF0FD529E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E2529C-D364-4829-A0AC-71E3C7BE2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复现得了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EB2C4D-2107-42C6-974F-818DE79A7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保存重开，Agent 行为一致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CB4DB1-39DE-46AA-9842-ACA8ED2F9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219700"/>
            <a:ext cx="8839200" cy="685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885AED-F686-45CE-BACD-85EAF9B1C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410200"/>
            <a:ext cx="838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课堂验收：Agent 搭建、解释、引用、复现四项证据同屏呈现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F81F25-CA1D-42EA-95BF-4FA2DCB1B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1AEA12-AB50-4D32-8FDF-96E4B5B4C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5CDD87-5796-4A69-900F-7A9A60775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53789858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D9F801-11D2-4770-9D73-CC453882A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BUSINESS MODEL · Agent 教育商业模式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6EEE3C-F2DB-419D-8E4A-C0492B7CB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免费 Agent 搭建底座进入课堂，持续服务形成收入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485F63-6E1A-4874-B484-F14079A9F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3276600" cy="3162300"/>
          </a:xfrm>
          <a:prstGeom xmlns:a="http://schemas.openxmlformats.org/drawingml/2006/main" prst="roundRect">
            <a:avLst>
              <a:gd name="adj" fmla="val 662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1055DC-BEB6-4BE8-9F0C-89EEC418A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717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42DAFB-92E8-4CB8-A483-FAEE19A83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795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免费 Agent 搭建底座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B875B8-3BFF-4492-8F51-45AD8698F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81350"/>
            <a:ext cx="281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获客与学习入口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A8D270-B003-44BF-BFD5-A5C035F24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14750"/>
            <a:ext cx="2819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离线可用 / 无需登录</a:t>
            </a:r>
          </a:p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Agent 搭建、运行与保存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BC6560-7379-4A0D-9771-514028A7A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962150"/>
            <a:ext cx="3276600" cy="3162300"/>
          </a:xfrm>
          <a:prstGeom xmlns:a="http://schemas.openxmlformats.org/drawingml/2006/main" prst="roundRect">
            <a:avLst>
              <a:gd name="adj" fmla="val 662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79BD13-F0A6-4588-A04F-EFD3FB3E5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1717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E2392B-87FB-4350-BDE4-FDF392408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64795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个人 Agent 扩展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F2061D-88A6-46E7-90EB-F6D30A259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181350"/>
            <a:ext cx="281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高频搭建者付费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ACC134-48BA-48A7-8F54-C4127DC42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714750"/>
            <a:ext cx="2819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高级模型、工具、Skills 与资源</a:t>
            </a:r>
          </a:p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¥980/年为设计基线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C67FA5-AD1C-45CC-9AA3-7D6ED066A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962150"/>
            <a:ext cx="3276600" cy="3162300"/>
          </a:xfrm>
          <a:prstGeom xmlns:a="http://schemas.openxmlformats.org/drawingml/2006/main" prst="roundRect">
            <a:avLst>
              <a:gd name="adj" fmla="val 662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E970C2-1B42-4711-A3FD-1EAF4B668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1717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5DA7E4-9817-4475-9421-F8AB56E32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64795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学校 / 机构授权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CFD50C-AF56-4D8F-9D4D-8DD157870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181350"/>
            <a:ext cx="281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规模化课程服务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E82D53-5E47-4036-9F9E-1A9818A58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714750"/>
            <a:ext cx="2819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教师管理、班级与作业</a:t>
            </a:r>
          </a:p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Agent 课程、支持与私有化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EBF9D9-166F-487F-AF75-7142C9743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91150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先验证 Agent 课程价值、教师复用与学生搭建成效，再拓展个人与机构服务。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A82CBC-DA42-4D42-A9D8-24F2DCAFE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651773-040F-4A56-B7E6-CA9911EA4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371BBA-887D-4B81-B454-F5A217BE2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68944141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6A27B5C-FFF8-4BA6-8AA8-D1D9233B5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SAFETY · Agent 教育边界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8EE994-63C8-4810-8512-496778EA1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学生搭 Agent，也学会权限、证据与责任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8C2394-E478-4A35-ACBE-A67CFD170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A8FFC8-C87E-4425-842E-FF0B44101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669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A22C28-74B8-480B-A5F0-7E848C120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812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149FBD-B9E2-4937-8B71-F37ADC28A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22885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本地 Agent / 无密钥优先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62D701-95C6-4BED-A41F-8D6A6AF6A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64795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降低首次搭建门槛，减少学生接触真实密钥与外部账户。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5B7810-3F26-43BB-93A0-F55D68BF7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0025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718EFF-3796-4785-9452-469623611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669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6341AC-2841-4CC4-9481-27E550260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812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382CA7-1DDC-4F08-83E5-C455DB14B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2885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教师锁定 Agent 资料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0B39A9-8513-47ED-A1BC-F37C3E47D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64795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学生自主设计角色与流程，课程知识和回答边界保持清晰。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4452A7-E5CE-4924-A445-B48DA60A6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9570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D7D452-E553-4345-AF90-902F7EB5B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624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24F0E1-6D97-4839-AE0B-76B2877E1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767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753769-E44A-4AD1-B4F6-DA8F0484A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2430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权限显式可见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0EC42B-1C31-477E-9175-1ACFD0A9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4340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文件、网络、工具与高风险操作在运行前可见、可解释。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0FC9EB-61C0-4993-B35C-2BE0AF1D5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9E6542-76CB-47D0-9041-4F49CD089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9624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926C71-5036-45B0-8D5C-FA1AA0A16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767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69A4BE-6C95-405D-B13D-444A3D137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92430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轨迹可回放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A712BE-4630-4C3A-BB09-CE74B5161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34340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教师复核每步运行；日志先脱敏，项目文件不混入秘密。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BE1531-D33C-4A90-9B37-2141B9C02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562600"/>
            <a:ext cx="9486900" cy="49530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D47111A-BC8B-4568-93D9-021AC2753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695950"/>
            <a:ext cx="883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让学生在有边界的系统里，负责任地搭建和运行 Agent。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D1533BF-D6C7-4A7C-A78F-589AA8E1A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F028915-1625-43AF-BAE1-77E7B4A0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3B49644-EB01-4511-9C5F-A6CFAC638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64810908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DCC6F84-8BFD-4DC2-AE43-C07A642B0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ROADMAP · Agent 教育增长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26672A-6BAD-4BD0-9897-1F4565053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从 Agent 课堂实证走向规模化教育产品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74BDB8-14F8-4C09-98A8-8831E865E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初赛展示 Agent 闭环，复赛沉淀教师数据，总决赛验证兼容与商业价值。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B3A09C-E327-4DD7-9622-61EE7B47D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857500"/>
            <a:ext cx="8763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53C3AD-B7D8-4F86-A8E8-F4F73F682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3276600" cy="3371850"/>
          </a:xfrm>
          <a:prstGeom xmlns:a="http://schemas.openxmlformats.org/drawingml/2006/main" prst="roundRect">
            <a:avLst>
              <a:gd name="adj" fmla="val 63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FAA13D-BC4C-4E24-90E4-C82C2AAF5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7900"/>
            <a:ext cx="13525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A21C63-41D7-4B89-9ECD-10A8AAA9B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14575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初赛 · 8 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960893-812F-4515-BB0D-E599F2A2E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1940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闭环实证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63E199-42F3-42FC-A624-654CED799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86150"/>
            <a:ext cx="2819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完成 3 分钟 Agent 搭建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补齐演示视频与材料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8FA2BC-D976-4B4E-B812-9B8C67396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14850"/>
            <a:ext cx="28194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A5C778-6581-4982-A19C-B62ECA696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57725"/>
            <a:ext cx="2552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门槛：Agent 可运行、可解释、可重开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E3CF2E-91AD-4331-8107-0E3D29EC3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038350"/>
            <a:ext cx="3276600" cy="3371850"/>
          </a:xfrm>
          <a:prstGeom xmlns:a="http://schemas.openxmlformats.org/drawingml/2006/main" prst="roundRect">
            <a:avLst>
              <a:gd name="adj" fmla="val 63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BFA11B-38D4-4760-9FCB-3F3666BEB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247900"/>
            <a:ext cx="13525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1FEE58-EFE6-4853-BBD5-9568C92BF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314575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复赛 · 9 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DDC933-92A5-4FED-BA8A-E56C00BE6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81940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课堂试点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CD2712-61AC-442C-9AB7-6DF2BB972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486150"/>
            <a:ext cx="2819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接入真实 RAG / 模型</a:t>
            </a:r>
          </a:p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邀请 3–5 位教师共创</a:t>
            </a:r>
          </a:p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记录搭建率与解释率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7CF10E-DA5A-4AAE-AB25-14CB6D43D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514850"/>
            <a:ext cx="28194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D2FDBE-4F77-4C2D-878F-022725521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657725"/>
            <a:ext cx="2552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门槛：搭建率、解释率、引用与拒答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2D5919-A3E1-4D75-832F-367C9E459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038350"/>
            <a:ext cx="3276600" cy="3371850"/>
          </a:xfrm>
          <a:prstGeom xmlns:a="http://schemas.openxmlformats.org/drawingml/2006/main" prst="roundRect">
            <a:avLst>
              <a:gd name="adj" fmla="val 63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30024B-6E1D-4848-BB01-69045347E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247900"/>
            <a:ext cx="13525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31B707-C157-4B57-A5C8-18EAEFCD5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14575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总决赛 · 11 月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28F3A8-4035-4816-9988-13064A53F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81940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产品验证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FBF23B-D68D-4F20-BE5E-AAF52D68A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486150"/>
            <a:ext cx="2819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汇报试点数据</a:t>
            </a:r>
          </a:p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Pi / Codex 兼容报告</a:t>
            </a:r>
          </a:p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验证教育扩展与机构意向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7E05B61-C16B-45CB-AFAD-BB6C34DA6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514850"/>
            <a:ext cx="28194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3DD4C9-0FA5-4AFF-B6B9-BCBE6CFB0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657725"/>
            <a:ext cx="2552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门槛：教师复用、兼容边界、付费试点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7FBF995-549B-4E58-8D25-0A2AA8E6E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 i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六模板兼容版图与四个官方 Skills 构成 Agent 生态增长路线。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18EE038-19C7-497F-94F8-E75E33313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B382FD1-A237-43FF-AF48-F064C6ABA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BCD0CB-5032-4335-BCEC-D46071166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12945649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3054FE-F36E-4971-9A0D-216F547E0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WHY BLOCKY · Agent 教育价值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BFB70B-7462-4B6D-B07B-B54173CD1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让每个学生都成为 Agent 搭建者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B80290-103B-4701-8E1A-B5DD72B43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723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把系统设计、运行解释与责任边界变成可学习的能力。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42C0F7-5B3C-4F73-A11B-6BF48C1BE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32766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6529D7-FB5C-4968-B515-E1844BC14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956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创新性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024F23-B942-4474-9608-EABE10DA4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037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可见 Agent 积木 → 稳定 IR → Trace → 可逆映射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BF5B33-D30B-424A-8633-05F485026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724150"/>
            <a:ext cx="32766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90F99A-71C3-4776-86BD-BCA02E084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8956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商业模式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978230-F9D1-4817-BFBE-A98516C73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2385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免费 Agent 底座 → 个人扩展 → 机构授权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54E941-6066-4EBC-A98A-A960A6A37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724150"/>
            <a:ext cx="32766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41A91A-464F-4219-9F32-475C04DD8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8956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社会价值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BED0A8-C659-4859-921C-03C67B238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2385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把人工智能素养落到 Agent 设计、搭建与负责运行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8CCF3B-7F61-4F8E-8114-B179283C2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24300"/>
            <a:ext cx="51054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9A626C-9C04-4FAE-BC65-E8A521273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957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应用成效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C57EE7-7F81-4464-8979-197EB2005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38650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3 分钟验证 Agent 搭建、解释、引用、复现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33A06B-7BFF-4E7E-8DAA-60EA648D0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924300"/>
            <a:ext cx="51054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D38A3C-288C-4A00-97FF-634528A0B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957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孵化潜力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D18F7C-02D0-4648-A0C5-EB888F4EF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38650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六模板 → Agent CLI / 四 Skills → 社区与多端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C48DC8-FD0E-4409-AF0D-36EA44C81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67350"/>
            <a:ext cx="10820400" cy="5715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25158D-A40F-4F26-A504-ACC88C82E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638800"/>
            <a:ext cx="10210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期待赛事连接 Agent 教育试点学校与教师，并提供模型、算力、渠道与孵化支持。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6ABEAE-0810-4707-A36D-B3CBE2D35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2026 息壤杯 · Agent 搭建教育</a:t>
            </a:r>
          </a:p>
        </p:txBody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8f6d54832447e6"/>
          <a:stretch xmlns:a="http://schemas.openxmlformats.org/drawingml/2006/main"/>
        </p:blipFill>
        <p:spPr>
          <a:xfrm xmlns:a="http://schemas.openxmlformats.org/drawingml/2006/main">
            <a:off x="9219887" y="428625"/>
            <a:ext cx="1753225" cy="2190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5013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2026-08-24T16:24:44.4870000Z</dcterms:created>
  <dcterms:modified xsi:type="dcterms:W3CDTF">2026-08-24T16:24:44.4870000Z</dcterms:modified>
</coreProperties>
</file>
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开场给出完整投资命题：教育是可验证入口，长期价值来自同一 Agent 语言、运行内核与项目积木化。</a:t>
            </a:r>
          </a:p>
          <a:p>
            <a:endParaRPr/>
          </a:p>
          <a:p>
            <a:r>
              <a:t>[Sources]</a:t>
            </a:r>
          </a:p>
          <a:p>
            <a:r>
              <a:t>- https://js.news.cn/20260814/e55cedf9698f4f56a99a8a96d8473a54/c.html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Scratch 已验证可视化编程的教育价值；Blocky 把同样的可见性带到 Agent 的角色、知识、工具、记忆与权限。</a:t>
            </a:r>
          </a:p>
          <a:p>
            <a:endParaRPr/>
          </a:p>
          <a:p>
            <a:r>
              <a:t>[Sources]</a:t>
            </a:r>
          </a:p>
          <a:p>
            <a:r>
              <a:t>- https://scratch.mit.edu/educators/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产品答案是一套 Scratch 式 Agent 语言。截图只代表 Windows Core 技术尖峰实证，正式产品状态在后页分层说明。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课堂采用多课时项目制，每课时完成一个可检查里程碑，避免把复杂 Agent 误写成一节课完成。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工程证据包括 Windows Core 长稳、Host 保存重载与正式契约验收。技术证据不等同于课堂或收入证据。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18 个月漏斗假设：20 名共创教师形成 30 个课堂样板；每课堂 40 人、10% 转个人年费，共 120 人；5 家付费试点扩至 10 家年度机构、每家 80 席，共 800 席。合计 920 个教育付费席位，均为目标而非当前牵引。</a:t>
            </a:r>
          </a:p>
          <a:p>
            <a:endParaRPr/>
          </a:p>
          <a:p>
            <a:r>
              <a:t>[Sources]</a:t>
            </a:r>
          </a:p>
          <a:p>
            <a:r>
              <a:t>- Assumption: 18-month funnel targets; 30 classrooms × 40 students × 10% conversion + 10 institutions × 80 seats = 920 education paid seats.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18 个月 SOM 直接承接上一页漏斗：920 个教育席位与 100 个专业年费用户，年化订阅收入 142.16 万元。Y3 扩大路径为 5,000 教育与 500 专业用户。</a:t>
            </a:r>
          </a:p>
          <a:p>
            <a:endParaRPr/>
          </a:p>
          <a:p>
            <a:r>
              <a:t>[Sources]</a:t>
            </a:r>
          </a:p>
          <a:p>
            <a:r>
              <a:t>- Calculation: 920×980 + 100×5,200 = RMB 1,421,600; 5,000×980 + 500×5,200 = RMB 7,500,000.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竞争页比较用户替代方案的学习门槛、结构可见性和工程要求，不把 Blocky 描述为传统连线工具。</a:t>
            </a:r>
          </a:p>
          <a:p>
            <a:endParaRPr/>
          </a:p>
          <a:p>
            <a:r>
              <a:t>[Sources]</a:t>
            </a:r>
          </a:p>
          <a:p>
            <a:r>
              <a:t>- https://scratch.mit.edu/educators/</a:t>
            </a:r>
          </a:p>
          <a:p>
            <a:r>
              <a:t>- https://docs.dify.ai/</a:t>
            </a:r>
          </a:p>
          <a:p>
            <a:r>
              <a:t>- https://docs.n8n.io/</a:t>
            </a:r>
          </a:p>
          <a:p>
            <a:r>
              <a:t>- https://developers.openai.com/codex/</a:t>
            </a:r>
          </a:p>
          <a:p>
            <a:r>
              <a:t>- https://github.com/dkorobtsov/pitch-deck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壁垒链由可见 AST、稳定 IR、受控 Runtime 和可回放 Trace 组成；课程、适配器和社区资产在同一语言上累积。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教育是首个入口，同一项目格式继续承载个人创作、办公自动化、服务交付、社区和多端使用。页面描述的是目标形态。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订阅价格来自当前商业基线；毛利目标用透明成本比例约束。教育成本目标为模型云 18%、支付 2%、支持 5%；专业为 22%、2%、6%；机构与企业毛利依赖课程、交付人天和私有资产复用。</a:t>
            </a:r>
          </a:p>
          <a:p>
            <a:endParaRPr/>
          </a:p>
          <a:p>
            <a:r>
              <a:t>[Sources]</a:t>
            </a:r>
          </a:p>
          <a:p>
            <a:r>
              <a:t>- Assumption: cost shares and gross-margin targets are management targets for scenario planning, not historical performance.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GTM 从教师共创开始，以作品、轨迹、引用和复用证据推动机构决策，再通过订阅与服务形成复购。</a:t>
            </a:r>
          </a:p>
          <a:p>
            <a:endParaRPr/>
          </a:p>
          <a:p>
            <a:r>
              <a:t>[Sources]</a:t>
            </a:r>
          </a:p>
          <a:p>
            <a:r>
              <a:t>- Assumption: cycle lengths and conversion stages are operating hypotheses.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四道门槛分别验证共创意愿、学生完成、教师复用和机构采购承诺；机构门槛要求进入正式预算流程并形成至少 5 家付费试点或订金。数值均是目标。</a:t>
            </a:r>
          </a:p>
          <a:p>
            <a:endParaRPr/>
          </a:p>
          <a:p>
            <a:r>
              <a:t>[Sources]</a:t>
            </a:r>
          </a:p>
          <a:p>
            <a:r>
              <a:t>- Assumption: 20 teachers, 30 classroom samples, 70% completion, 50% reuse and 5 paid pilots or deposits.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团队页如实呈现创始人主导状态，不虚构姓名或履历；本轮资金支持 3 人核心配置：创始人负责产品与 Agent 工程，新增桌面运行工程和教育商业两个岗位，并建立教师、教研与合规合作网络。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三年基准情景只计算教育与专业订阅，不计机构和企业服务。现金结果按订阅收入×综合毛利率减团队与运营投入：Y1 约负 187 万、Y2 约负 153 万、Y3 正 90 万。</a:t>
            </a:r>
          </a:p>
          <a:p>
            <a:endParaRPr/>
          </a:p>
          <a:p>
            <a:r>
              <a:t>[Sources]</a:t>
            </a:r>
          </a:p>
          <a:p>
            <a:r>
              <a:t>- Calculation: Y1 220,000×60%-2,000,000≈-1,868,000; Y2 1,421,600×68%-2,500,000≈-1,533,000; Y3 7,500,000×72%-4,500,000=900,000.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300 万元覆盖 18 个月，平均月度投入约 16.7 万元。0–6 月完成 3 人配置、正式产品闭环和 20 名共创教师；7–12 月形成 30 个课堂样板与至少 5 家付费试点；13–18 月目标 920 教育席和 100 专业订阅。</a:t>
            </a:r>
          </a:p>
          <a:p>
            <a:endParaRPr/>
          </a:p>
          <a:p>
            <a:r>
              <a:t>[Sources]</a:t>
            </a:r>
          </a:p>
          <a:p>
            <a:r>
              <a:t>- Assumption: proposed RMB 3 million / 18-month milestone and staffing plan for investor review.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资源诉求以 300 万元、18 个月、3 人核心团队和平均月度投入 16.7 万元为口径，目标是完成正式产品闭环、课堂样板、付费试点与首批机构复制。</a:t>
            </a:r>
          </a:p>
          <a:p>
            <a:endParaRPr/>
          </a:p>
          <a:p>
            <a:r>
              <a:t>[Sources]</a:t>
            </a:r>
          </a:p>
          <a:p>
            <a:r>
              <a:t>- Assumption: proposed seed resource envelope of RMB 3 million over 18 months.</a:t>
            </a:r>
          </a:p>
          <a:p>
            <a:r>
              <a:t>- https://js.news.cn/20260814/e55cedf9698f4f56a99a8a96d8473a54/c.html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收束投资命题：教育验证易学，工程底座保证可用，项目积木化和资产复用打开长期平台价值。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附录保留完整产品、服务、兼容模板、CLI、社区、移动使用器和长期路线。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这里的 3 分钟是基于现成蓝图的产品演示时长，不是完整课程时长。五步连续呈现选择蓝图、修改角色/知识/工具、运行、查看轨迹与保存重开，并让引用、拒答和项目复现证据同屏。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creation depths share one project format: compatibility templates, expandable Blocky blueprints, atomic blocks, and controlled internal code.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Internal code is a controlled local implementation layer, not a place to hide Agent topology, tool contracts, or permissions.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AppSurface is optional and explicit. Creating a page does not implicitly create authentication, a database, a domain, or deployment.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Office expansion uses the same module language. The first route is attended automation with explicit approvals, checkpoints, and semantic/UIA targeting.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office blueprint families are product scenarios derived from the office/RPA design, not current implementation claims.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desktop workbench separates editing facts, runtime events, user terminals, Agent process requests, logs, and audit while preserving stable source mapping.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六个方向分别承载轻量编码、专业编程、个人助理、团队协作、工程开发和组合研究等 Agent 架构。这里表达的是兼容版图与教学入口，不把设计方向写成已经完成的“原生完整兼容”。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Blocky 构建助手不仅搭建 Agent，还承担项目积木化入口：锁定来源，理解源码与行为，映射 Blocky 语义，生成幽灵差异，再通过编译、测试和运行轨迹验证。它让新的仓库、Agent 与业务能力持续进入 Blocky，而核心积木目录仍保持稳定。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项目积木化的输入不只是一类 GitHub 仓库。Blocky 可以面向本地代码、现有 Agent、知识/RAG、MCP/CLI/API、业务自动化与教学或组织资产进行分型，再把它们组合进同一模块项目。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项目积木化不是强迫所有内容变成同一种形态。稳定组件进入自定义积木，多步通用能力进入可展开蓝图，完整 Harness 进入兼容模板草案，许可证、性能或动态边界进入原生保留报告；同一项目可同时产生四类结果。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四个官方 Skills 分别负责搭建 Agent、创建积木、项目积木化和逆向现有 Agent。图形页、构建助手、CLI、Skills 与 Codex 插件共同读取相同的积木目录、编译器、IR、权限和运行事件。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Community objects are classified by execution risk. Signatures identify publishers and content integrity but do not replace scanning, permissions, sandboxing, or revocation.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mobile product is an Agent runner, not a reduced desktop editor. It reads InteractionManifest and negotiates local, desktop, or user-selected server targets.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Blocky 的拓展服务分为三类客户：个人学习与创作、学校或教育机构、企业与行业团队。标准产品提供统一语言与运行底座，服务层围绕课程、蓝图、知识、系统集成、治理和运营形成场景解决方案。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定制服务沿统一交付链推进：先做场景诊断，再形成 Agent 与模块蓝图，连接内容、数据和业务系统，完成部署治理，最后通过培训、运营和版本升级持续服务。交付成果回流为组织蓝图、私有积木、适配器和版本化资产包。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路线图把产品能力、场景服务和生态放在同一节奏中：R0 建立正式地基，R1 完成自助产品与项目积木化，R2 扩展教育机构、团队、部署和企业服务，R3 建立社区、多端与商业服务目录。</a:t>
            </a:r>
          </a:p>
          <a:p>
            <a:endParaRPr/>
          </a:p>
          <a:p>
            <a:r>
              <a:t>[Sources]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A0D9BE4-76F9-4A7D-9C8D-2F5EF256500F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FF6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4CCF9B-8A6D-4873-B7C6-72B7F16F49D6}"/>
              </a:ext>
            </a:extLst>
          </p:cNvPr>
          <p:cNvSpPr>
            <a:spLocks noGrp="1"/>
          </p:cNvSpPr>
          <p:nvPr/>
        </p:nvSpPr>
        <p:spPr>
          <a:xfrm>
            <a:off x="10096500" y="0"/>
            <a:ext cx="2095500" cy="68580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D4AD890-3E02-4B32-A590-73AF68E445E3}"/>
              </a:ext>
            </a:extLst>
          </p:cNvPr>
          <p:cNvSpPr>
            <a:spLocks noGrp="1"/>
          </p:cNvSpPr>
          <p:nvPr/>
        </p:nvSpPr>
        <p:spPr>
          <a:xfrm>
            <a:off x="8782050" y="781050"/>
            <a:ext cx="1695450" cy="1695450"/>
          </a:xfrm>
          <a:prstGeom prst="ellipse">
            <a:avLst/>
          </a:prstGeom>
          <a:solidFill>
            <a:srgbClr val="FFD44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9575" y="1257300"/>
            <a:ext cx="2952750" cy="2952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369273-24D0-4097-89BD-DB290BEAF91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2026 息壤杯｜惠民产品创新｜AI+教育赛道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12D827-8A22-4FC0-8118-2EA4F9F6C46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让学生真正搭建 Agent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820EF3-5C41-49AB-9DB0-278C191C10C9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6477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看得懂、改得动、跑得通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3CB7FC-A2C8-4032-B5FB-5BDAD9D7A4ED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E5E5DB-B502-4C97-A633-16C100D0891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37"/>
          </a:bodyPr>
          <a:lstStyle/>
          <a:p>
            <a:pPr algn="l">
              <a:buNone/>
              <a:def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Scratch 式 Agent 语言 × Runtime Core × 项目积木化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806E6E-DF21-46F4-84A1-E56863B718DB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952750" cy="3238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856512-3F11-4BC5-BBFE-0365EA4629F0}"/>
              </a:ext>
            </a:extLst>
          </p:cNvPr>
          <p:cNvSpPr>
            <a:spLocks noGrp="1"/>
          </p:cNvSpPr>
          <p:nvPr/>
        </p:nvSpPr>
        <p:spPr>
          <a:xfrm>
            <a:off x="800100" y="5038725"/>
            <a:ext cx="272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教育验证入口 · 个人与组织扩展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94BB3B-9431-4961-B921-BE763B2F22DE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教育是首个可验证场景，同一底座扩展到个人创作、项目积木化与组织自动化。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D0086F-B57E-43C0-B341-1F4B85AAFDD3}"/>
              </a:ext>
            </a:extLst>
          </p:cNvPr>
          <p:cNvSpPr>
            <a:spLocks noGrp="1"/>
          </p:cNvSpPr>
          <p:nvPr/>
        </p:nvSpPr>
        <p:spPr>
          <a:xfrm>
            <a:off x="10029825" y="6153150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</p:spTree>
    <p:extLst>
      <p:ext uri="{BB962C8B-B14F-4D97-AF65-F5344CB8AC3E}">
        <p14:creationId xmlns:p14="http://schemas.microsoft.com/office/powerpoint/2010/main" val="1325861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86DE290-F233-4EA8-B16E-409742FCCB5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WHY NOW · 教育断层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540E2D-BEFB-41DE-A2EC-A7BFC2D2A66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Scratch 证明可视化编程能教会系统思维，Agent 需要同级入口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44CACA-0CE4-40DB-B2E2-8BE7B71AF697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学生已经会提问，但还缺少看见结构、理解权限、解释运行并承担结果的创作工具。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40599E7-286E-4CEB-8ADD-B581260DAE77}"/>
              </a:ext>
            </a:extLst>
          </p:cNvPr>
          <p:cNvSpPr>
            <a:spLocks noGrp="1"/>
          </p:cNvSpPr>
          <p:nvPr/>
        </p:nvSpPr>
        <p:spPr>
          <a:xfrm>
            <a:off x="4762500" y="2895600"/>
            <a:ext cx="6743700" cy="19050"/>
          </a:xfrm>
          <a:prstGeom prst="roundRect">
            <a:avLst>
              <a:gd name="adj" fmla="val 7746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AA88ED-3F7F-4892-A17B-A48C5F03034C}"/>
              </a:ext>
            </a:extLst>
          </p:cNvPr>
          <p:cNvSpPr>
            <a:spLocks noGrp="1"/>
          </p:cNvSpPr>
          <p:nvPr/>
        </p:nvSpPr>
        <p:spPr>
          <a:xfrm>
            <a:off x="4991100" y="2352675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5A4442-86C5-4DBE-B966-1E22F62101A9}"/>
              </a:ext>
            </a:extLst>
          </p:cNvPr>
          <p:cNvSpPr>
            <a:spLocks noGrp="1"/>
          </p:cNvSpPr>
          <p:nvPr/>
        </p:nvSpPr>
        <p:spPr>
          <a:xfrm>
            <a:off x="5086350" y="24193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5D5BBB-CF18-459F-89A2-0A0FDD0AAD2F}"/>
              </a:ext>
            </a:extLst>
          </p:cNvPr>
          <p:cNvSpPr>
            <a:spLocks noGrp="1"/>
          </p:cNvSpPr>
          <p:nvPr/>
        </p:nvSpPr>
        <p:spPr>
          <a:xfrm>
            <a:off x="5905500" y="22764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Scratch 启蒙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BB09F4-5080-4128-A92D-ECF4FE194626}"/>
              </a:ext>
            </a:extLst>
          </p:cNvPr>
          <p:cNvSpPr>
            <a:spLocks noGrp="1"/>
          </p:cNvSpPr>
          <p:nvPr/>
        </p:nvSpPr>
        <p:spPr>
          <a:xfrm>
            <a:off x="7810500" y="2209800"/>
            <a:ext cx="346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350"/>
              <a:t>8–16 岁｜用可视积木学习创造、推理与协作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B5DA8EC-409C-4867-98FA-3B237753F063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6743700" cy="19050"/>
          </a:xfrm>
          <a:prstGeom prst="roundRect">
            <a:avLst>
              <a:gd name="adj" fmla="val 7746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FF2932F-EF45-40EC-BFB1-02393B5A0AC2}"/>
              </a:ext>
            </a:extLst>
          </p:cNvPr>
          <p:cNvSpPr>
            <a:spLocks noGrp="1"/>
          </p:cNvSpPr>
          <p:nvPr/>
        </p:nvSpPr>
        <p:spPr>
          <a:xfrm>
            <a:off x="4991100" y="3305175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E62B85-C3E2-4470-9235-AA031C745FD1}"/>
              </a:ext>
            </a:extLst>
          </p:cNvPr>
          <p:cNvSpPr>
            <a:spLocks noGrp="1"/>
          </p:cNvSpPr>
          <p:nvPr/>
        </p:nvSpPr>
        <p:spPr>
          <a:xfrm>
            <a:off x="5086350" y="3371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断层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6C706B-C168-4645-A2AA-6D71C55B9F71}"/>
              </a:ext>
            </a:extLst>
          </p:cNvPr>
          <p:cNvSpPr>
            <a:spLocks noGrp="1"/>
          </p:cNvSpPr>
          <p:nvPr/>
        </p:nvSpPr>
        <p:spPr>
          <a:xfrm>
            <a:off x="5905500" y="32289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只会对话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CAE70C-34DE-4B49-BC59-72916708ACBA}"/>
              </a:ext>
            </a:extLst>
          </p:cNvPr>
          <p:cNvSpPr>
            <a:spLocks noGrp="1"/>
          </p:cNvSpPr>
          <p:nvPr/>
        </p:nvSpPr>
        <p:spPr>
          <a:xfrm>
            <a:off x="7810500" y="3162300"/>
            <a:ext cx="346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350"/>
              <a:t>聊天界面只呈现输入与答案，不呈现结构、工具调用与责任边界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171AE33-BE20-47DD-8783-063FEE2E2E7A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6743700" cy="19050"/>
          </a:xfrm>
          <a:prstGeom prst="roundRect">
            <a:avLst>
              <a:gd name="adj" fmla="val 7746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AC036CF-9EEB-4C8E-9ECE-8C71807979A1}"/>
              </a:ext>
            </a:extLst>
          </p:cNvPr>
          <p:cNvSpPr>
            <a:spLocks noGrp="1"/>
          </p:cNvSpPr>
          <p:nvPr/>
        </p:nvSpPr>
        <p:spPr>
          <a:xfrm>
            <a:off x="4991100" y="4257675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BF48A1-AB51-4748-9371-48647738AE45}"/>
              </a:ext>
            </a:extLst>
          </p:cNvPr>
          <p:cNvSpPr>
            <a:spLocks noGrp="1"/>
          </p:cNvSpPr>
          <p:nvPr/>
        </p:nvSpPr>
        <p:spPr>
          <a:xfrm>
            <a:off x="5086350" y="43243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EC989C-9445-4F80-958F-20ACA0A308BA}"/>
              </a:ext>
            </a:extLst>
          </p:cNvPr>
          <p:cNvSpPr>
            <a:spLocks noGrp="1"/>
          </p:cNvSpPr>
          <p:nvPr/>
        </p:nvSpPr>
        <p:spPr>
          <a:xfrm>
            <a:off x="5905500" y="41814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搭建 Agent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8B500E-DE01-45BB-89B3-2630FCA98848}"/>
              </a:ext>
            </a:extLst>
          </p:cNvPr>
          <p:cNvSpPr>
            <a:spLocks noGrp="1"/>
          </p:cNvSpPr>
          <p:nvPr/>
        </p:nvSpPr>
        <p:spPr>
          <a:xfrm>
            <a:off x="7810500" y="4114800"/>
            <a:ext cx="346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65"/>
          </a:bodyPr>
          <a:lstStyle/>
          <a:p>
            <a:pPr algn="l">
              <a:buNone/>
            </a:pPr>
            <a:r>
              <a:rPr sz="1350"/>
              <a:t>用 Scratch 式积木组合角色、知识、记忆、工具和权限，并以轨迹解释运行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ADDF664-42F9-4557-A074-F6D4E3617388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876300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992B56-2143-41CF-A6C7-C76679FB6041}"/>
              </a:ext>
            </a:extLst>
          </p:cNvPr>
          <p:cNvSpPr>
            <a:spLocks noGrp="1"/>
          </p:cNvSpPr>
          <p:nvPr/>
        </p:nvSpPr>
        <p:spPr>
          <a:xfrm>
            <a:off x="1009650" y="5410200"/>
            <a:ext cx="1017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把“会问 AI”升级为“会设计、搭建并负责运行 Agent”。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773103-2070-44F1-BB78-268997BD5B8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C57BBC-E125-46E2-80A6-3C79EF39C58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49C1A0-F743-4893-90AB-031ABD89165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45506"/>
            <a:ext cx="3524250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32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PRODUCT · Agent 搭建形态 · Technical Spike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把角色、知识、工具与权限变成 Scratch 式 Agent 积木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 Workspace、IR、Runtime Core 与权限模型，让入门视图和专业工程共享一份项目事实。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6572250" cy="3790950"/>
          </a:xfrm>
          <a:prstGeom prst="roundRect">
            <a:avLst>
              <a:gd name="adj" fmla="val 5528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t="2671" b="2671"/>
          <a:stretch>
            <a:fillRect/>
          </a:stretch>
        </p:blipFill>
        <p:spPr>
          <a:xfrm>
            <a:off x="819150" y="2076450"/>
            <a:ext cx="6305550" cy="3276600"/>
          </a:xfrm>
          <a:prstGeom prst="roundRect">
            <a:avLst>
              <a:gd name="adj" fmla="val 5814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241935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noGrp="1"/>
          </p:cNvSpPr>
          <p:nvPr/>
        </p:nvSpPr>
        <p:spPr>
          <a:xfrm>
            <a:off x="1066800" y="5229225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396" lnSpcReduction="20000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Windows Core Technical Spike · 100 积木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入门七类 → 专业十二类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noGrp="1"/>
          </p:cNvSpPr>
          <p:nvPr/>
        </p:nvSpPr>
        <p:spPr>
          <a:xfrm>
            <a:off x="77343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noGrp="1"/>
          </p:cNvSpPr>
          <p:nvPr/>
        </p:nvSpPr>
        <p:spPr>
          <a:xfrm>
            <a:off x="78486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开始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noGrp="1"/>
          </p:cNvSpPr>
          <p:nvPr/>
        </p:nvSpPr>
        <p:spPr>
          <a:xfrm>
            <a:off x="94107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noGrp="1"/>
          </p:cNvSpPr>
          <p:nvPr/>
        </p:nvSpPr>
        <p:spPr>
          <a:xfrm>
            <a:off x="95250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noGrp="1"/>
          </p:cNvSpPr>
          <p:nvPr/>
        </p:nvSpPr>
        <p:spPr>
          <a:xfrm>
            <a:off x="78486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会思考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noGrp="1"/>
          </p:cNvSpPr>
          <p:nvPr/>
        </p:nvSpPr>
        <p:spPr>
          <a:xfrm>
            <a:off x="95250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会查找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noGrp="1"/>
          </p:cNvSpPr>
          <p:nvPr/>
        </p:nvSpPr>
        <p:spPr>
          <a:xfrm>
            <a:off x="78486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会记住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noGrp="1"/>
          </p:cNvSpPr>
          <p:nvPr/>
        </p:nvSpPr>
        <p:spPr>
          <a:xfrm>
            <a:off x="95250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会行动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noGrp="1"/>
          </p:cNvSpPr>
          <p:nvPr/>
        </p:nvSpPr>
        <p:spPr>
          <a:xfrm>
            <a:off x="7848600" y="45243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会回答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noGrp="1"/>
          </p:cNvSpPr>
          <p:nvPr/>
        </p:nvSpPr>
        <p:spPr>
          <a:xfrm>
            <a:off x="7734300" y="5200650"/>
            <a:ext cx="3238500" cy="514350"/>
          </a:xfrm>
          <a:prstGeom prst="roundRect">
            <a:avLst>
              <a:gd name="adj" fmla="val 25926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noGrp="1"/>
          </p:cNvSpPr>
          <p:nvPr/>
        </p:nvSpPr>
        <p:spPr>
          <a:xfrm>
            <a:off x="7867650" y="5229225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IR、Runtime Core、轨迹与权限模型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808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CE6BEB0-5134-4740-8BC5-70438A9E547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USE CASE · 4–6 课时项目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593C4D-248B-4BA9-B5FD-3076450D432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首门课程按 4–6 课时设计：完成可复现、可解释的 Agent 项目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294B6-FC5C-481E-9BCB-E0BD442C051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课程设计门槛｜每课时只完成一个可检查里程碑：需求边界、角色知识、工具核验、展示复盘。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0EE404-A53E-47C8-BD14-1A6FF57ECB76}"/>
              </a:ext>
            </a:extLst>
          </p:cNvPr>
          <p:cNvSpPr>
            <a:spLocks noGrp="1"/>
          </p:cNvSpPr>
          <p:nvPr/>
        </p:nvSpPr>
        <p:spPr>
          <a:xfrm>
            <a:off x="5429250" y="2876550"/>
            <a:ext cx="5143500" cy="476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A320BC-DCBD-459B-B601-6F0A4EF60DC0}"/>
              </a:ext>
            </a:extLst>
          </p:cNvPr>
          <p:cNvSpPr>
            <a:spLocks noGrp="1"/>
          </p:cNvSpPr>
          <p:nvPr/>
        </p:nvSpPr>
        <p:spPr>
          <a:xfrm>
            <a:off x="5086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8BF5B1-FF19-480C-A1F9-B3EBD55A3217}"/>
              </a:ext>
            </a:extLst>
          </p:cNvPr>
          <p:cNvSpPr>
            <a:spLocks noGrp="1"/>
          </p:cNvSpPr>
          <p:nvPr/>
        </p:nvSpPr>
        <p:spPr>
          <a:xfrm>
            <a:off x="5086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EB8ED1-07E5-4EEC-85C0-40D8A0D67C14}"/>
              </a:ext>
            </a:extLst>
          </p:cNvPr>
          <p:cNvSpPr>
            <a:spLocks noGrp="1"/>
          </p:cNvSpPr>
          <p:nvPr/>
        </p:nvSpPr>
        <p:spPr>
          <a:xfrm>
            <a:off x="4581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需求与边界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B674A9-88C9-467B-8B72-EE50C9BD6D2F}"/>
              </a:ext>
            </a:extLst>
          </p:cNvPr>
          <p:cNvSpPr>
            <a:spLocks noGrp="1"/>
          </p:cNvSpPr>
          <p:nvPr/>
        </p:nvSpPr>
        <p:spPr>
          <a:xfrm>
            <a:off x="4581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1 课时</a:t>
            </a:r>
          </a:p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定题 · 资料 · 边界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B2DC4C0-F9C1-4B05-86E6-F1C7ABDF1CA9}"/>
              </a:ext>
            </a:extLst>
          </p:cNvPr>
          <p:cNvSpPr>
            <a:spLocks noGrp="1"/>
          </p:cNvSpPr>
          <p:nvPr/>
        </p:nvSpPr>
        <p:spPr>
          <a:xfrm>
            <a:off x="6800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5F763-49D5-4981-BAE1-812D10DBBCDD}"/>
              </a:ext>
            </a:extLst>
          </p:cNvPr>
          <p:cNvSpPr>
            <a:spLocks noGrp="1"/>
          </p:cNvSpPr>
          <p:nvPr/>
        </p:nvSpPr>
        <p:spPr>
          <a:xfrm>
            <a:off x="6800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3C79FC-38CA-4920-BCFA-97252FFA762D}"/>
              </a:ext>
            </a:extLst>
          </p:cNvPr>
          <p:cNvSpPr>
            <a:spLocks noGrp="1"/>
          </p:cNvSpPr>
          <p:nvPr/>
        </p:nvSpPr>
        <p:spPr>
          <a:xfrm>
            <a:off x="6296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角色与知识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934EE-6AF6-484E-B295-F75570571BE2}"/>
              </a:ext>
            </a:extLst>
          </p:cNvPr>
          <p:cNvSpPr>
            <a:spLocks noGrp="1"/>
          </p:cNvSpPr>
          <p:nvPr/>
        </p:nvSpPr>
        <p:spPr>
          <a:xfrm>
            <a:off x="6296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2–3 课时</a:t>
            </a:r>
          </a:p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· 知识 · 检索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700918C-A06B-4E1A-8C9D-0648588A8481}"/>
              </a:ext>
            </a:extLst>
          </p:cNvPr>
          <p:cNvSpPr>
            <a:spLocks noGrp="1"/>
          </p:cNvSpPr>
          <p:nvPr/>
        </p:nvSpPr>
        <p:spPr>
          <a:xfrm>
            <a:off x="8515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F1C48E-5BD0-4783-9B5F-9CD7A9A77DD4}"/>
              </a:ext>
            </a:extLst>
          </p:cNvPr>
          <p:cNvSpPr>
            <a:spLocks noGrp="1"/>
          </p:cNvSpPr>
          <p:nvPr/>
        </p:nvSpPr>
        <p:spPr>
          <a:xfrm>
            <a:off x="8515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E7325C-B220-4DD8-937A-0AFCD38AC2AC}"/>
              </a:ext>
            </a:extLst>
          </p:cNvPr>
          <p:cNvSpPr>
            <a:spLocks noGrp="1"/>
          </p:cNvSpPr>
          <p:nvPr/>
        </p:nvSpPr>
        <p:spPr>
          <a:xfrm>
            <a:off x="8010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工具与核验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E1AD58-3805-4CBB-B0C5-AD0CFD42C229}"/>
              </a:ext>
            </a:extLst>
          </p:cNvPr>
          <p:cNvSpPr>
            <a:spLocks noGrp="1"/>
          </p:cNvSpPr>
          <p:nvPr/>
        </p:nvSpPr>
        <p:spPr>
          <a:xfrm>
            <a:off x="8010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4–5 课时</a:t>
            </a:r>
          </a:p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 · 权限 · 轨迹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9DAF4FD-BC3F-4584-9B71-B1636FEDB026}"/>
              </a:ext>
            </a:extLst>
          </p:cNvPr>
          <p:cNvSpPr>
            <a:spLocks noGrp="1"/>
          </p:cNvSpPr>
          <p:nvPr/>
        </p:nvSpPr>
        <p:spPr>
          <a:xfrm>
            <a:off x="10229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EA1FC6-3496-484C-95F5-14F46B1D35DC}"/>
              </a:ext>
            </a:extLst>
          </p:cNvPr>
          <p:cNvSpPr>
            <a:spLocks noGrp="1"/>
          </p:cNvSpPr>
          <p:nvPr/>
        </p:nvSpPr>
        <p:spPr>
          <a:xfrm>
            <a:off x="10229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475CB5-1F52-4474-A185-5DCFD29BB854}"/>
              </a:ext>
            </a:extLst>
          </p:cNvPr>
          <p:cNvSpPr>
            <a:spLocks noGrp="1"/>
          </p:cNvSpPr>
          <p:nvPr/>
        </p:nvSpPr>
        <p:spPr>
          <a:xfrm>
            <a:off x="9725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展示与复盘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F6F002-6517-421A-8333-2339096B420A}"/>
              </a:ext>
            </a:extLst>
          </p:cNvPr>
          <p:cNvSpPr>
            <a:spLocks noGrp="1"/>
          </p:cNvSpPr>
          <p:nvPr/>
        </p:nvSpPr>
        <p:spPr>
          <a:xfrm>
            <a:off x="9725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6 课时</a:t>
            </a:r>
          </a:p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展示 · 拒答 · 保存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D85272-C52C-40FA-B761-776CF436006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800100"/>
          </a:xfrm>
          <a:prstGeom prst="roundRect">
            <a:avLst>
              <a:gd name="adj" fmla="val 2381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759AD1-71DC-48F0-89B6-BD531D8DC641}"/>
              </a:ext>
            </a:extLst>
          </p:cNvPr>
          <p:cNvSpPr>
            <a:spLocks noGrp="1"/>
          </p:cNvSpPr>
          <p:nvPr/>
        </p:nvSpPr>
        <p:spPr>
          <a:xfrm>
            <a:off x="952500" y="53911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项目成果：搭得出 · 说得清 · 引得准 · 复现得了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40A4D9-AB1E-4082-B642-C0C46F98DF6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5E1450-E4DF-4EFF-A864-D90D800E3F8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8E4714-55B0-428F-BB84-CF5DF9C58744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45506"/>
            <a:ext cx="3524250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8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2387266-2A32-4DAA-B660-5E5EABCE39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EVIDENCE · 工程执行实证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F1EAF-E370-4FDB-93A0-A8A1C5371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35"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Technical Spike + Contract Baseline 验证核心运行、安全与保存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8558F-8F1D-45F1-B8C2-D2DFAE8A730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可复核证据同时覆盖运行闭环、Host 边界、项目格式、诊断、权限与 Log Redaction。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41ACDB7-70DB-42B5-9BF7-1EC316D9087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10B61B-741F-4A50-9E91-8504EE4D57AF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1B3B13-0F03-4E53-89EB-30E7EAD81129}"/>
              </a:ext>
            </a:extLst>
          </p:cNvPr>
          <p:cNvSpPr>
            <a:spLocks noGrp="1"/>
          </p:cNvSpPr>
          <p:nvPr/>
        </p:nvSpPr>
        <p:spPr>
          <a:xfrm>
            <a:off x="10287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已验证 · Windows Core 运行实证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C8F19B-7745-4186-8A85-EDA802BFDFA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8 项 Windows Core Quality Gates 全部通过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本地 Blockly + 稳定 Agent IR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InteractionManifest + ToolContract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确定性 Runtime + 窄 Tauri Host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100 积木项目保存、关闭、重开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360 次循环 / 30 分 03 秒长稳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30 次真实 Rust Host 保存 / 重载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覆盖：编辑 · 编译 · 运行 · 保存 · Host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65E33F-B2AF-4819-8F01-A9FD68E3AE32}"/>
              </a:ext>
            </a:extLst>
          </p:cNvPr>
          <p:cNvSpPr>
            <a:spLocks noGrp="1"/>
          </p:cNvSpPr>
          <p:nvPr/>
        </p:nvSpPr>
        <p:spPr>
          <a:xfrm>
            <a:off x="62484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E365F07-950A-4D07-A025-90EE487382F4}"/>
              </a:ext>
            </a:extLst>
          </p:cNvPr>
          <p:cNvSpPr>
            <a:spLocks noGrp="1"/>
          </p:cNvSpPr>
          <p:nvPr/>
        </p:nvSpPr>
        <p:spPr>
          <a:xfrm>
            <a:off x="64960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222E42-B3B5-4113-8A95-7228B5B7F097}"/>
              </a:ext>
            </a:extLst>
          </p:cNvPr>
          <p:cNvSpPr>
            <a:spLocks noGrp="1"/>
          </p:cNvSpPr>
          <p:nvPr/>
        </p:nvSpPr>
        <p:spPr>
          <a:xfrm>
            <a:off x="65913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已验收 · Contract Baseline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7811E7-D896-4913-B268-3DD1943B29F5}"/>
              </a:ext>
            </a:extLst>
          </p:cNvPr>
          <p:cNvSpPr>
            <a:spLocks noGrp="1"/>
          </p:cNvSpPr>
          <p:nvPr/>
        </p:nvSpPr>
        <p:spPr>
          <a:xfrm>
            <a:off x="65532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Contract Baseline：独立验收通过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21 个必需 Schema 逐项复核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9 份 Contract / Handoff 文档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10 个正反 JSON Fixtures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63 条相对链接全部核对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高亮 / 日志 / 轨迹同源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Patch Reject、Terminal Isolation、Log Redaction 负例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覆盖：项目 · 交互 · 运行 · 构建 · 安全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t="11290" b="11290"/>
          <a:stretch>
            <a:fillRect/>
          </a:stretch>
        </p:blipFill>
        <p:spPr>
          <a:xfrm>
            <a:off x="13335000" y="4095750"/>
            <a:ext cx="2952750" cy="1428750"/>
          </a:xfrm>
          <a:prstGeom prst="roundRect">
            <a:avLst>
              <a:gd name="adj" fmla="val 13333"/>
            </a:avLst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236E84C-0488-46CA-AE0D-E70BA935F96B}"/>
              </a:ext>
            </a:extLst>
          </p:cNvPr>
          <p:cNvSpPr>
            <a:spLocks noGrp="1"/>
          </p:cNvSpPr>
          <p:nvPr/>
        </p:nvSpPr>
        <p:spPr>
          <a:xfrm>
            <a:off x="6553200" y="5219700"/>
            <a:ext cx="464820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51F7CB-5C7D-4222-A237-0CBB7F6ED549}"/>
              </a:ext>
            </a:extLst>
          </p:cNvPr>
          <p:cNvSpPr>
            <a:spLocks noGrp="1"/>
          </p:cNvSpPr>
          <p:nvPr/>
        </p:nvSpPr>
        <p:spPr>
          <a:xfrm>
            <a:off x="6648450" y="5286375"/>
            <a:ext cx="445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 Schemas + 10 Fixtures + 63 链接：产品边界已通过独立核验。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28B773-2B04-44AF-B2B3-BA8929F4D0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40E5D-88E5-46E2-AEF4-2A8359C6C00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AF61F-E60E-4BA3-B5A8-4BF88AFAFDC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Unified left evidence conclusion">
            <a:extLst>
              <a:ext uri="{FF2B5EF4-FFF2-40B4-BE49-F238E27FC236}">
                <a16:creationId xmlns:a16="http://schemas.microsoft.com/office/drawing/2014/main" id="{EFACA68A-A9A1-4F5A-99A6-DD4693702EF1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4648200" cy="323850"/>
          </a:xfrm>
          <a:prstGeom prst="roundRect">
            <a:avLst>
              <a:gd name="adj" fmla="val 3529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360 次循环 + 30 次 Host 重载：核心链路已有可复现实证。</a:t>
            </a:r>
          </a:p>
        </p:txBody>
      </p:sp>
    </p:spTree>
    <p:extLst>
      <p:ext uri="{BB962C8B-B14F-4D97-AF65-F5344CB8AC3E}">
        <p14:creationId xmlns:p14="http://schemas.microsoft.com/office/powerpoint/2010/main" val="83175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01F39D0-3FC4-4C0E-A1D5-86D2F8ECFD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BEACHHEAD · 融资后 18 个月计划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5C0489-E690-4515-8532-7EB6EF14551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 名教师共创，计划形成首批 920 个教育付费席位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F775723-017E-439C-BAFF-4E7F1EC398D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850C1-E5E4-4E20-BF13-55AADFF3120E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1,200 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9ABFEC-285F-4A91-B85F-F75A4E32DEF4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课堂触达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1B2A9D-4985-446A-87D6-92E232AB5800}"/>
              </a:ext>
            </a:extLst>
          </p:cNvPr>
          <p:cNvSpPr>
            <a:spLocks noGrp="1"/>
          </p:cNvSpPr>
          <p:nvPr/>
        </p:nvSpPr>
        <p:spPr>
          <a:xfrm>
            <a:off x="42672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B0E0B3-9F29-4BA5-9C8F-694467624096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120 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CD9912-FD7C-4501-9DB1-2D0BD12DF0CB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个人年费转化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185F1D3-4FE8-477D-AB48-A4F5E6B57DAA}"/>
              </a:ext>
            </a:extLst>
          </p:cNvPr>
          <p:cNvSpPr>
            <a:spLocks noGrp="1"/>
          </p:cNvSpPr>
          <p:nvPr/>
        </p:nvSpPr>
        <p:spPr>
          <a:xfrm>
            <a:off x="78486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2DD1C9-15C8-4C45-B24D-0F3F1C253048}"/>
              </a:ext>
            </a:extLst>
          </p:cNvPr>
          <p:cNvSpPr>
            <a:spLocks noGrp="1"/>
          </p:cNvSpPr>
          <p:nvPr/>
        </p:nvSpPr>
        <p:spPr>
          <a:xfrm>
            <a:off x="80391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800 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99323C-011B-4B20-8558-5F51814F58E7}"/>
              </a:ext>
            </a:extLst>
          </p:cNvPr>
          <p:cNvSpPr>
            <a:spLocks noGrp="1"/>
          </p:cNvSpPr>
          <p:nvPr/>
        </p:nvSpPr>
        <p:spPr>
          <a:xfrm>
            <a:off x="80391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机构年度席位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73A88D-0CF5-4432-A256-E2EEA4DF356F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18 个月漏斗｜30 个课堂 × 40 人 × 10% + 10 家机构 × 80 席 = 920 个教育付费席位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2CB344-CD97-45D5-BC37-4EBCBB6D4F6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5124450" cy="2038350"/>
          </a:xfrm>
          <a:prstGeom prst="roundRect">
            <a:avLst>
              <a:gd name="adj" fmla="val 9346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2A8040-09B1-491B-BCEB-B4DBF039171B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课堂转化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F655CE-95D1-43DB-9C45-AC34A9554442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4476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 名教师 → 30 个课堂样板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30 × 40 人 = 1,200 人触达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10% 个人转化 = 120 人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证据｜完成率 / 复用率 / 付费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28DF826-4961-4CE8-9C98-C75C7FA22E38}"/>
              </a:ext>
            </a:extLst>
          </p:cNvPr>
          <p:cNvSpPr>
            <a:spLocks noGrp="1"/>
          </p:cNvSpPr>
          <p:nvPr/>
        </p:nvSpPr>
        <p:spPr>
          <a:xfrm>
            <a:off x="6153150" y="3752850"/>
            <a:ext cx="5353050" cy="2038350"/>
          </a:xfrm>
          <a:prstGeom prst="roundRect">
            <a:avLst>
              <a:gd name="adj" fmla="val 9346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66A8CA-19C6-434E-AD6C-5F818DBEAED1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机构转化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203AD2-7FC8-4B13-94FE-2B56DA410645}"/>
              </a:ext>
            </a:extLst>
          </p:cNvPr>
          <p:cNvSpPr>
            <a:spLocks noGrp="1"/>
          </p:cNvSpPr>
          <p:nvPr/>
        </p:nvSpPr>
        <p:spPr>
          <a:xfrm>
            <a:off x="6419850" y="451485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计划｜5 家付费试点 → 10 家年度机构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 × 80 席 = 800 席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决策｜校方 / 教研 / 机构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证据｜预算 / 合同 / 采购时间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4AA025-0E59-4FE6-AC7A-41E48C410E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355FAC-5400-4765-91DC-A939B19139D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12907B-4B8C-490E-9ECF-1C0176FBB74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148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01F39D0-3FC4-4C0E-A1D5-86D2F8ECFD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MARKET · 18 个月目标市场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5C0489-E690-4515-8532-7EB6EF14551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首个可获得市场，由课堂与机构漏斗直接推导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F775723-017E-439C-BAFF-4E7F1EC398D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850C1-E5E4-4E20-BF13-55AADFF3120E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9ABFEC-285F-4A91-B85F-F75A4E32DEF4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教育付费 SOM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1B2A9D-4985-446A-87D6-92E232AB5800}"/>
              </a:ext>
            </a:extLst>
          </p:cNvPr>
          <p:cNvSpPr>
            <a:spLocks noGrp="1"/>
          </p:cNvSpPr>
          <p:nvPr/>
        </p:nvSpPr>
        <p:spPr>
          <a:xfrm>
            <a:off x="42672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B0E0B3-9F29-4BA5-9C8F-694467624096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CD9912-FD7C-4501-9DB1-2D0BD12DF0CB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专业付费 SOM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185F1D3-4FE8-477D-AB48-A4F5E6B57DAA}"/>
              </a:ext>
            </a:extLst>
          </p:cNvPr>
          <p:cNvSpPr>
            <a:spLocks noGrp="1"/>
          </p:cNvSpPr>
          <p:nvPr/>
        </p:nvSpPr>
        <p:spPr>
          <a:xfrm>
            <a:off x="78486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2DD1C9-15C8-4C45-B24D-0F3F1C253048}"/>
              </a:ext>
            </a:extLst>
          </p:cNvPr>
          <p:cNvSpPr>
            <a:spLocks noGrp="1"/>
          </p:cNvSpPr>
          <p:nvPr/>
        </p:nvSpPr>
        <p:spPr>
          <a:xfrm>
            <a:off x="80391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¥142 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99323C-011B-4B20-8558-5F51814F58E7}"/>
              </a:ext>
            </a:extLst>
          </p:cNvPr>
          <p:cNvSpPr>
            <a:spLocks noGrp="1"/>
          </p:cNvSpPr>
          <p:nvPr/>
        </p:nvSpPr>
        <p:spPr>
          <a:xfrm>
            <a:off x="80391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年化订阅收入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73A88D-0CF5-4432-A256-E2EEA4DF356F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收入公式｜920 × ¥980 + 100 × ¥5,200 = ¥142.16 万 / 年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2CB344-CD97-45D5-BC37-4EBCBB6D4F6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5124450" cy="2038350"/>
          </a:xfrm>
          <a:prstGeom prst="roundRect">
            <a:avLst>
              <a:gd name="adj" fmla="val 9346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2A8040-09B1-491B-BCEB-B4DBF039171B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触达渠道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F655CE-95D1-43DB-9C45-AC34A9554442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4476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教师共创 / 赛事与社群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高校与职教课程合作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课堂作品驱动口碑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项目积木化触达专业用户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28DF826-4961-4CE8-9C98-C75C7FA22E38}"/>
              </a:ext>
            </a:extLst>
          </p:cNvPr>
          <p:cNvSpPr>
            <a:spLocks noGrp="1"/>
          </p:cNvSpPr>
          <p:nvPr/>
        </p:nvSpPr>
        <p:spPr>
          <a:xfrm>
            <a:off x="6153150" y="3752850"/>
            <a:ext cx="5353050" cy="2038350"/>
          </a:xfrm>
          <a:prstGeom prst="roundRect">
            <a:avLst>
              <a:gd name="adj" fmla="val 9346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66A8CA-19C6-434E-AD6C-5F818DBEAED1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扩大路径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203AD2-7FC8-4B13-94FE-2B56DA410645}"/>
              </a:ext>
            </a:extLst>
          </p:cNvPr>
          <p:cNvSpPr>
            <a:spLocks noGrp="1"/>
          </p:cNvSpPr>
          <p:nvPr/>
        </p:nvSpPr>
        <p:spPr>
          <a:xfrm>
            <a:off x="6419850" y="451485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Y3｜5,000 教育 + 500 专业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订阅收入｜¥750 万 / 年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上行｜机构方案 / 企业服务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增量｜社区资产与多端使用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4AA025-0E59-4FE6-AC7A-41E48C410E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355FAC-5400-4765-91DC-A939B19139D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12907B-4B8C-490E-9ECF-1C0176FBB74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148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COMPETITION · 用户替代方案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五类替代方案各有边界，Blocky 优化非程序员的 Agent 创作路径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并列比较目标用户、创作范式、第一次成功门槛、结构可见性与专业扩展深度。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noGrp="1"/>
          </p:cNvSpPr>
          <p:nvPr/>
        </p:nvSpPr>
        <p:spPr>
          <a:xfrm>
            <a:off x="25431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noGrp="1"/>
          </p:cNvSpPr>
          <p:nvPr/>
        </p:nvSpPr>
        <p:spPr>
          <a:xfrm>
            <a:off x="46958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noGrp="1"/>
          </p:cNvSpPr>
          <p:nvPr/>
        </p:nvSpPr>
        <p:spPr>
          <a:xfrm>
            <a:off x="68484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noGrp="1"/>
          </p:cNvSpPr>
          <p:nvPr/>
        </p:nvSpPr>
        <p:spPr>
          <a:xfrm>
            <a:off x="90011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Scratch</a:t>
            </a:r>
          </a:p>
          <a:p>
            <a:r>
              <a:t>教育积木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用户｜学生 / 教师</a:t>
            </a:r>
          </a:p>
          <a:p>
            <a:r>
              <a:t>范式｜教育积木</a:t>
            </a:r>
          </a:p>
          <a:p>
            <a:r>
              <a:t>边界｜缺 Agent 语义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noGrp="1"/>
          </p:cNvSpPr>
          <p:nvPr/>
        </p:nvSpPr>
        <p:spPr>
          <a:xfrm>
            <a:off x="28384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noGrp="1"/>
          </p:cNvSpPr>
          <p:nvPr/>
        </p:nvSpPr>
        <p:spPr>
          <a:xfrm>
            <a:off x="29908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AI 对话</a:t>
            </a:r>
          </a:p>
          <a:p>
            <a:r>
              <a:t>低门槛问答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noGrp="1"/>
          </p:cNvSpPr>
          <p:nvPr/>
        </p:nvSpPr>
        <p:spPr>
          <a:xfrm>
            <a:off x="29718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用户｜大众</a:t>
            </a:r>
          </a:p>
          <a:p>
            <a:r>
              <a:t>范式｜对话</a:t>
            </a:r>
          </a:p>
          <a:p>
            <a:r>
              <a:t>边界｜结构不可见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noGrp="1"/>
          </p:cNvSpPr>
          <p:nvPr/>
        </p:nvSpPr>
        <p:spPr>
          <a:xfrm>
            <a:off x="49911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noGrp="1"/>
          </p:cNvSpPr>
          <p:nvPr/>
        </p:nvSpPr>
        <p:spPr>
          <a:xfrm>
            <a:off x="51435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Coze / Dify</a:t>
            </a:r>
          </a:p>
          <a:p>
            <a:r>
              <a:t>n8n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noGrp="1"/>
          </p:cNvSpPr>
          <p:nvPr/>
        </p:nvSpPr>
        <p:spPr>
          <a:xfrm>
            <a:off x="51244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用户｜运营 / 专业用户</a:t>
            </a:r>
          </a:p>
          <a:p>
            <a:r>
              <a:t>范式｜流程编排</a:t>
            </a:r>
          </a:p>
          <a:p>
            <a:r>
              <a:t>边界｜学习成本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noGrp="1"/>
          </p:cNvSpPr>
          <p:nvPr/>
        </p:nvSpPr>
        <p:spPr>
          <a:xfrm>
            <a:off x="72961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Codex 等</a:t>
            </a:r>
          </a:p>
          <a:p>
            <a:r>
              <a:t>编码 Agent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noGrp="1"/>
          </p:cNvSpPr>
          <p:nvPr/>
        </p:nvSpPr>
        <p:spPr>
          <a:xfrm>
            <a:off x="72771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用户｜开发者</a:t>
            </a:r>
          </a:p>
          <a:p>
            <a:r>
              <a:t>范式｜代码 / Shell</a:t>
            </a:r>
          </a:p>
          <a:p>
            <a:r>
              <a:t>边界｜工程环境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598" lnSpcReduction="10000"/>
          </a:bodyPr>
          <a:lstStyle/>
          <a:p>
            <a:r>
              <a:t>Blocky</a:t>
            </a:r>
          </a:p>
          <a:p>
            <a:r>
              <a:t>Scratch 式 Agent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noGrp="1"/>
          </p:cNvSpPr>
          <p:nvPr/>
        </p:nvSpPr>
        <p:spPr>
          <a:xfrm>
            <a:off x="94297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用户｜学生 → 专业</a:t>
            </a:r>
          </a:p>
          <a:p>
            <a:r>
              <a:t>范式｜Scratch 式 Agent</a:t>
            </a:r>
          </a:p>
          <a:p>
            <a:r>
              <a:t>深度｜IR / Trace / 代码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9067800" cy="1066800"/>
          </a:xfrm>
          <a:prstGeom prst="roundRect">
            <a:avLst>
              <a:gd name="adj" fmla="val 17857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53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 保留 Scratch 的学习曲线，补上 Agent 语义、可解释运行与专业展开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noGrp="1"/>
          </p:cNvSpPr>
          <p:nvPr/>
        </p:nvSpPr>
        <p:spPr>
          <a:xfrm>
            <a:off x="1828800" y="5143500"/>
            <a:ext cx="853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竞争焦点｜谁能把第一次成功变成可解释、可复用、可升级的 Agent 创作能力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MOAT · 可累积壁垒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壁垒是一条从可见语法到可逆证据的完整链路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每一层都验证上一层，并把课程、适配器与项目资产沉淀到同一语言内核。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可见积木 AST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课堂｜看见结构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工程｜类型约束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资产｜蓝图与积木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稳定 Agent IR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语义｜跨界面共享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来源｜稳定映射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升级｜版本迁移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受控 Runtime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权限｜Tool Contract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执行｜确定性边界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安全｜窄 Host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可回放 Trace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证据｜事件与引用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复盘｜错误可定位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转换｜项目可逆映射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三类复利资产｜Agent Language &amp; Contracts / 适配器与证据图 / 课程与社区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PLATFORM · 从教育入口扩张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同一语言从课堂延伸到个人创作、办公自动化与组织服务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目标形态｜教育验证易学，工程内核承接复杂度，场景服务持续沉淀为可复用资产。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B99917-4785-4FF2-9985-F6BA06501A99}"/>
              </a:ext>
            </a:extLst>
          </p:cNvPr>
          <p:cNvSpPr>
            <a:spLocks noGrp="1"/>
          </p:cNvSpPr>
          <p:nvPr/>
        </p:nvSpPr>
        <p:spPr>
          <a:xfrm>
            <a:off x="23431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noGrp="1"/>
          </p:cNvSpPr>
          <p:nvPr/>
        </p:nvSpPr>
        <p:spPr>
          <a:xfrm>
            <a:off x="25431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CCDC8-7024-494D-AA95-7BFAEFB3498F}"/>
              </a:ext>
            </a:extLst>
          </p:cNvPr>
          <p:cNvSpPr>
            <a:spLocks noGrp="1"/>
          </p:cNvSpPr>
          <p:nvPr/>
        </p:nvSpPr>
        <p:spPr>
          <a:xfrm>
            <a:off x="44958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noGrp="1"/>
          </p:cNvSpPr>
          <p:nvPr/>
        </p:nvSpPr>
        <p:spPr>
          <a:xfrm>
            <a:off x="46958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5E4D1E-C2BE-43FE-97BC-475FE4A6E679}"/>
              </a:ext>
            </a:extLst>
          </p:cNvPr>
          <p:cNvSpPr>
            <a:spLocks noGrp="1"/>
          </p:cNvSpPr>
          <p:nvPr/>
        </p:nvSpPr>
        <p:spPr>
          <a:xfrm>
            <a:off x="66484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noGrp="1"/>
          </p:cNvSpPr>
          <p:nvPr/>
        </p:nvSpPr>
        <p:spPr>
          <a:xfrm>
            <a:off x="68484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E01B1A-FBF1-410D-A8FE-40496C9C23D5}"/>
              </a:ext>
            </a:extLst>
          </p:cNvPr>
          <p:cNvSpPr>
            <a:spLocks noGrp="1"/>
          </p:cNvSpPr>
          <p:nvPr/>
        </p:nvSpPr>
        <p:spPr>
          <a:xfrm>
            <a:off x="88011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noGrp="1"/>
          </p:cNvSpPr>
          <p:nvPr/>
        </p:nvSpPr>
        <p:spPr>
          <a:xfrm>
            <a:off x="90011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积木创作
内部代码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7→12 类投影
参数 / 代码 / 回退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noGrp="1"/>
          </p:cNvSpPr>
          <p:nvPr/>
        </p:nvSpPr>
        <p:spPr>
          <a:xfrm>
            <a:off x="28384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noGrp="1"/>
          </p:cNvSpPr>
          <p:nvPr/>
        </p:nvSpPr>
        <p:spPr>
          <a:xfrm>
            <a:off x="29908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多画布
AppSurface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noGrp="1"/>
          </p:cNvSpPr>
          <p:nvPr/>
        </p:nvSpPr>
        <p:spPr>
          <a:xfrm>
            <a:off x="29718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稳定引用 / 前端源码
隔离预览 / Bridge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noGrp="1"/>
          </p:cNvSpPr>
          <p:nvPr/>
        </p:nvSpPr>
        <p:spPr>
          <a:xfrm>
            <a:off x="49911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noGrp="1"/>
          </p:cNvSpPr>
          <p:nvPr/>
        </p:nvSpPr>
        <p:spPr>
          <a:xfrm>
            <a:off x="51435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办公 Agent
+ RPA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noGrp="1"/>
          </p:cNvSpPr>
          <p:nvPr/>
        </p:nvSpPr>
        <p:spPr>
          <a:xfrm>
            <a:off x="51244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浏览器 / 桌面 / 表格
审批 / 检查点 / 恢复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noGrp="1"/>
          </p:cNvSpPr>
          <p:nvPr/>
        </p:nvSpPr>
        <p:spPr>
          <a:xfrm>
            <a:off x="72961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兼容 / CLI
4 Skills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noGrp="1"/>
          </p:cNvSpPr>
          <p:nvPr/>
        </p:nvSpPr>
        <p:spPr>
          <a:xfrm>
            <a:off x="72771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Codex / OpenClaw
DeepSeek Harness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场景服务</a:t>
            </a:r>
          </a:p>
          <a:p>
            <a:r>
              <a:t>社区与多端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noGrp="1"/>
          </p:cNvSpPr>
          <p:nvPr/>
        </p:nvSpPr>
        <p:spPr>
          <a:xfrm>
            <a:off x="94297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学习 / 机构 / 企业</a:t>
            </a:r>
          </a:p>
          <a:p>
            <a:r>
              <a:t>社区 / 移动 / 服务端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9067800" cy="1066800"/>
          </a:xfrm>
          <a:prstGeom prst="roundRect">
            <a:avLst>
              <a:gd name="adj" fmla="val 17857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53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一个教育入口，四条增长路径：专业订阅 / 机构方案 / 企业服务 / 生态分发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noGrp="1"/>
          </p:cNvSpPr>
          <p:nvPr/>
        </p:nvSpPr>
        <p:spPr>
          <a:xfrm>
            <a:off x="1828800" y="5143500"/>
            <a:ext cx="853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同一语义贯通桌面 / CLI / 4 Skills / 6 模板 / 机构与企业方案</a:t>
            </a: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每次场景共创都能沉淀为蓝图、积木、适配器或私有资产包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BUSINESS MODEL · 订阅 + 资产化服务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订阅规模化，场景服务提升客单价并沉淀资产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个人教育与学习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收入｜¥980 / 年</a:t>
            </a:r>
          </a:p>
          <a:p>
            <a:r>
              <a:t>成本｜模型云18% + 支付2% + 支持5%</a:t>
            </a:r>
          </a:p>
          <a:p>
            <a:r>
              <a:t>毛利目标｜≥75%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noGrp="1"/>
          </p:cNvSpPr>
          <p:nvPr/>
        </p:nvSpPr>
        <p:spPr>
          <a:xfrm>
            <a:off x="69342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专业创作订阅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收入｜¥5,200 / 年</a:t>
            </a:r>
          </a:p>
          <a:p>
            <a:r>
              <a:t>成本｜模型云22% + 支付2% + 支持6%</a:t>
            </a:r>
          </a:p>
          <a:p>
            <a:r>
              <a:t>毛利目标｜≥70%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noGrp="1"/>
          </p:cNvSpPr>
          <p:nvPr/>
        </p:nvSpPr>
        <p:spPr>
          <a:xfrm>
            <a:off x="15240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教育机构方案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noGrp="1"/>
          </p:cNvSpPr>
          <p:nvPr/>
        </p:nvSpPr>
        <p:spPr>
          <a:xfrm>
            <a:off x="15240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收入｜席位 + 服务</a:t>
            </a:r>
          </a:p>
          <a:p>
            <a:r>
              <a:t>成本｜平台20% + 培训15% + 支持5%</a:t>
            </a:r>
          </a:p>
          <a:p>
            <a:r>
              <a:t>资产复用后毛利｜≥60%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企业与行业定制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noGrp="1"/>
          </p:cNvSpPr>
          <p:nvPr/>
        </p:nvSpPr>
        <p:spPr>
          <a:xfrm>
            <a:off x="69342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收入｜范围与边界报价</a:t>
            </a:r>
          </a:p>
          <a:p>
            <a:r>
              <a:t>成本｜交付人天35% + 云10%</a:t>
            </a:r>
          </a:p>
          <a:p>
            <a:r>
              <a:t>私有资产复用后毛利｜≥55%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9486900" cy="495300"/>
          </a:xfrm>
          <a:prstGeom prst="roundRect">
            <a:avLst>
              <a:gd name="adj" fmla="val 3076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noGrp="1"/>
          </p:cNvSpPr>
          <p:nvPr/>
        </p:nvSpPr>
        <p:spPr>
          <a:xfrm>
            <a:off x="1676400" y="5695950"/>
            <a:ext cx="883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定价为商业基线；机构与企业按席位、交付边界与资产复用率报价。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81059" y="209550"/>
            <a:ext cx="1430931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GO-TO-MARKET · 教师共创驱动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教师共创与课堂证据是第一条获客路径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课程共创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使用者｜教师 / 学生</a:t>
            </a:r>
          </a:p>
          <a:p>
            <a:r>
              <a:t>触达｜比赛 / 社群 / 高校</a:t>
            </a:r>
          </a:p>
          <a:p>
            <a:r>
              <a:t>周期｜2–4 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noGrp="1"/>
          </p:cNvSpPr>
          <p:nvPr/>
        </p:nvSpPr>
        <p:spPr>
          <a:xfrm>
            <a:off x="69342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课堂样板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证据｜作品 / 轨迹 / 引用</a:t>
            </a:r>
          </a:p>
          <a:p>
            <a:r>
              <a:t>门槛｜完成率 / 复用率</a:t>
            </a:r>
          </a:p>
          <a:p>
            <a:r>
              <a:t>周期｜4–6 课时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noGrp="1"/>
          </p:cNvSpPr>
          <p:nvPr/>
        </p:nvSpPr>
        <p:spPr>
          <a:xfrm>
            <a:off x="15240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机构合同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noGrp="1"/>
          </p:cNvSpPr>
          <p:nvPr/>
        </p:nvSpPr>
        <p:spPr>
          <a:xfrm>
            <a:off x="15240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决策者｜校方 / 教研 / 机构</a:t>
            </a:r>
          </a:p>
          <a:p>
            <a:r>
              <a:t>付费者｜学校 / 教培</a:t>
            </a:r>
          </a:p>
          <a:p>
            <a:r>
              <a:t>周期｜1–2 学期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资产放大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noGrp="1"/>
          </p:cNvSpPr>
          <p:nvPr/>
        </p:nvSpPr>
        <p:spPr>
          <a:xfrm>
            <a:off x="69342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复购｜课程 / 席位 / 支持</a:t>
            </a:r>
          </a:p>
          <a:p>
            <a:r>
              <a:t>扩展｜专业 / 企业服务</a:t>
            </a:r>
          </a:p>
          <a:p>
            <a:r>
              <a:t>沉淀｜蓝图 / 私有积木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9486900" cy="495300"/>
          </a:xfrm>
          <a:prstGeom prst="roundRect">
            <a:avLst>
              <a:gd name="adj" fmla="val 3076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noGrp="1"/>
          </p:cNvSpPr>
          <p:nvPr/>
        </p:nvSpPr>
        <p:spPr>
          <a:xfrm>
            <a:off x="1676400" y="5695950"/>
            <a:ext cx="883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比赛 / 教师社群 → 课程共创 → 课堂样板 → 机构采购 → 订阅与服务复购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81059" y="209550"/>
            <a:ext cx="1430931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VALIDATION · 12 个月商业门槛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技术证据之后，四道门槛验证学习价值、采用与付费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每项均标注目标样本、证据与通过条件；现有工程证据见第 5 页。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共创意愿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样本｜20 名教师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证据｜访谈 / 共创记录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门槛｜≥50% 愿意试教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学生完成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样本｜30 个课堂样板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证据｜作品 / 轨迹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门槛｜≥70% 完成项目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教师复用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样本｜参与试教教师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证据｜二次开课记录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门槛｜≥50% 再次使用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采购承诺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样本｜教育机构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证据｜预算流程 / 试点意向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门槛｜≥5 家付费试点或订金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学习价值看作品与证据；商业价值看复用、采购动作与付费转化。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2387266-2A32-4DAA-B660-5E5EABCE39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TEAM · 可复核执行力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F1EAF-E370-4FDB-93A0-A8A1C5371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创始人主导产品与 Agent 工程，18 个月按 3 人核心团队配置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8558F-8F1D-45F1-B8C2-D2DFAE8A730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当前角色｜项目发起人、产品与 Agent 工程负责人；Technical Spike / Contract Baseline 可复核。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41ACDB7-70DB-42B5-9BF7-1EC316D9087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10B61B-741F-4A50-9E91-8504EE4D57AF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1B3B13-0F03-4E53-89EB-30E7EAD81129}"/>
              </a:ext>
            </a:extLst>
          </p:cNvPr>
          <p:cNvSpPr>
            <a:spLocks noGrp="1"/>
          </p:cNvSpPr>
          <p:nvPr/>
        </p:nvSpPr>
        <p:spPr>
          <a:xfrm>
            <a:off x="10287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创始人 / 产品与 Agent 工程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C8F19B-7745-4186-8A85-EDA802BFDFA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身份｜Blocky Studio 项目发起人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当前职责｜产品、Agent 语言、工程地基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Proof｜Windows Core Technical Spike / Contract Baseline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资产｜完整产品设计地图 / 6 ADR / 21 Schema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优势｜把复杂 Agent 语义变成可学习产品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考核｜正式产品、课堂样板、付费席位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65E33F-B2AF-4819-8F01-A9FD68E3AE32}"/>
              </a:ext>
            </a:extLst>
          </p:cNvPr>
          <p:cNvSpPr>
            <a:spLocks noGrp="1"/>
          </p:cNvSpPr>
          <p:nvPr/>
        </p:nvSpPr>
        <p:spPr>
          <a:xfrm>
            <a:off x="62484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E365F07-950A-4D07-A025-90EE487382F4}"/>
              </a:ext>
            </a:extLst>
          </p:cNvPr>
          <p:cNvSpPr>
            <a:spLocks noGrp="1"/>
          </p:cNvSpPr>
          <p:nvPr/>
        </p:nvSpPr>
        <p:spPr>
          <a:xfrm>
            <a:off x="64960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222E42-B3B5-4113-8A95-7228B5B7F097}"/>
              </a:ext>
            </a:extLst>
          </p:cNvPr>
          <p:cNvSpPr>
            <a:spLocks noGrp="1"/>
          </p:cNvSpPr>
          <p:nvPr/>
        </p:nvSpPr>
        <p:spPr>
          <a:xfrm>
            <a:off x="65913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18 个月核心配置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7811E7-D896-4913-B268-3DD1943B29F5}"/>
              </a:ext>
            </a:extLst>
          </p:cNvPr>
          <p:cNvSpPr>
            <a:spLocks noGrp="1"/>
          </p:cNvSpPr>
          <p:nvPr/>
        </p:nvSpPr>
        <p:spPr>
          <a:xfrm>
            <a:off x="65532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创始人｜产品与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Agent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工程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工程招聘｜桌面与运行基础设施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商业招聘｜教育产品与机构合作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顾问网络｜教师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教研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合规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月考核｜产品闭环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+ 20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名共创教师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18 月考核｜920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教育席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+ 100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专业订阅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236E84C-0488-46CA-AE0D-E70BA935F96B}"/>
              </a:ext>
            </a:extLst>
          </p:cNvPr>
          <p:cNvSpPr>
            <a:spLocks noGrp="1"/>
          </p:cNvSpPr>
          <p:nvPr/>
        </p:nvSpPr>
        <p:spPr>
          <a:xfrm>
            <a:off x="6553200" y="5219700"/>
            <a:ext cx="464820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51F7CB-5C7D-4222-A237-0CBB7F6ED549}"/>
              </a:ext>
            </a:extLst>
          </p:cNvPr>
          <p:cNvSpPr>
            <a:spLocks noGrp="1"/>
          </p:cNvSpPr>
          <p:nvPr/>
        </p:nvSpPr>
        <p:spPr>
          <a:xfrm>
            <a:off x="6648450" y="5286375"/>
            <a:ext cx="445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本轮｜新增 2 个核心岗位 + 教育 / 教研 / 合规合作网络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28B773-2B04-44AF-B2B3-BA8929F4D0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40E5D-88E5-46E2-AEF4-2A8359C6C00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AF61F-E60E-4BA3-B5A8-4BF88AFAFDC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1" name="Unified left evidence conclusion">
            <a:extLst>
              <a:ext uri="{FF2B5EF4-FFF2-40B4-BE49-F238E27FC236}">
                <a16:creationId xmlns:a16="http://schemas.microsoft.com/office/drawing/2014/main" id="{EFACA68A-A9A1-4F5A-99A6-DD4693702EF1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4648200" cy="323850"/>
          </a:xfrm>
          <a:prstGeom prst="roundRect">
            <a:avLst>
              <a:gd name="adj" fmla="val 3529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现有｜创始人主导 + Runtime Core Spike + 可复核工程资产</a:t>
            </a:r>
          </a:p>
        </p:txBody>
      </p:sp>
    </p:spTree>
    <p:extLst>
      <p:ext uri="{BB962C8B-B14F-4D97-AF65-F5344CB8AC3E}">
        <p14:creationId xmlns:p14="http://schemas.microsoft.com/office/powerpoint/2010/main" val="831750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FINANCIALS · 三年基准情景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从课堂验证、机构复制走向经营现金转正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Y1 · 课堂验证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教育 / 专业｜120 / 20</a:t>
            </a:r>
          </a:p>
          <a:p>
            <a:r>
              <a:t>订阅收入｜¥22 万</a:t>
            </a:r>
          </a:p>
          <a:p>
            <a:r>
              <a:t>综合毛利｜60%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noGrp="1"/>
          </p:cNvSpPr>
          <p:nvPr/>
        </p:nvSpPr>
        <p:spPr>
          <a:xfrm>
            <a:off x="69342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Y2 · 机构复制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教育 / 专业｜920 / 100</a:t>
            </a:r>
          </a:p>
          <a:p>
            <a:r>
              <a:t>订阅收入｜¥142 万</a:t>
            </a:r>
          </a:p>
          <a:p>
            <a:r>
              <a:t>综合毛利｜68%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noGrp="1"/>
          </p:cNvSpPr>
          <p:nvPr/>
        </p:nvSpPr>
        <p:spPr>
          <a:xfrm>
            <a:off x="15240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Y3 · 规模增长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noGrp="1"/>
          </p:cNvSpPr>
          <p:nvPr/>
        </p:nvSpPr>
        <p:spPr>
          <a:xfrm>
            <a:off x="15240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教育 / 专业｜5,000 / 500</a:t>
            </a:r>
          </a:p>
          <a:p>
            <a:r>
              <a:t>订阅收入｜¥750 万</a:t>
            </a:r>
          </a:p>
          <a:p>
            <a:r>
              <a:t>综合毛利｜72%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现金路径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noGrp="1"/>
          </p:cNvSpPr>
          <p:nvPr/>
        </p:nvSpPr>
        <p:spPr>
          <a:xfrm>
            <a:off x="69342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团队与运营｜200 / 250 / 450 万</a:t>
            </a:r>
          </a:p>
          <a:p>
            <a:r>
              <a:t>年度现金结果｜-187 / -153 / +90 万</a:t>
            </a:r>
          </a:p>
          <a:p>
            <a:r>
              <a:t>造血触发｜Y3 经营现金转正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9486900" cy="495300"/>
          </a:xfrm>
          <a:prstGeom prst="roundRect">
            <a:avLst>
              <a:gd name="adj" fmla="val 3076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noGrp="1"/>
          </p:cNvSpPr>
          <p:nvPr/>
        </p:nvSpPr>
        <p:spPr>
          <a:xfrm>
            <a:off x="1676400" y="5695950"/>
            <a:ext cx="883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计划口径｜以下为测算，不代表已实现收入；订阅收入不含机构与企业服务。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81059" y="209550"/>
            <a:ext cx="1430931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RESOURCE PLAN · 18 个月投入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18 个月用三段里程碑把 300 万转成付费席位与机构复制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核心团队、月度投入、6 个月门槛和下一融资 / 自我造血触发均可检查。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 + 团队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417" lnSpcReduction="10000"/>
          </a:bodyPr>
          <a:lstStyle/>
          <a:p>
            <a:r>
              <a:t>1–6 月</a:t>
            </a:r>
          </a:p>
          <a:p>
            <a:r>
              <a:t>3 人核心配置</a:t>
            </a:r>
          </a:p>
          <a:p>
            <a:r>
              <a:t>正式产品闭环</a:t>
            </a:r>
          </a:p>
          <a:p>
            <a:r>
              <a:t>20 名共创教师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课堂 + 试点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417" lnSpcReduction="10000"/>
          </a:bodyPr>
          <a:lstStyle/>
          <a:p>
            <a:r>
              <a:t>7–12 月</a:t>
            </a:r>
          </a:p>
          <a:p>
            <a:r>
              <a:t>30 个课堂样板</a:t>
            </a:r>
          </a:p>
          <a:p>
            <a:r>
              <a:t>≥70% 项目完成率</a:t>
            </a:r>
          </a:p>
          <a:p>
            <a:r>
              <a:t>≥5 家付费试点 / 订金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机构复制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417" lnSpcReduction="10000"/>
          </a:bodyPr>
          <a:lstStyle/>
          <a:p>
            <a:r>
              <a:t>13–18 月</a:t>
            </a:r>
          </a:p>
          <a:p>
            <a:r>
              <a:t>10 家机构 × 80 席</a:t>
            </a:r>
          </a:p>
          <a:p>
            <a:r>
              <a:t>120 个个人教育订阅</a:t>
            </a:r>
          </a:p>
          <a:p>
            <a:r>
              <a:t>100 个专业订阅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现金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资金纪律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417" lnSpcReduction="10000"/>
          </a:bodyPr>
          <a:lstStyle/>
          <a:p>
            <a:r>
              <a:t>¥300 万 / 18 个月</a:t>
            </a:r>
          </a:p>
          <a:p>
            <a:r>
              <a:t>平均月度投入 ¥16.7 万</a:t>
            </a:r>
          </a:p>
          <a:p>
            <a:r>
              <a:t>下一触发｜920 教育席 + 100 专业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下一轮 / 自我造血触发｜付费试点 → 920 教育席 + 100 专业订阅 → Y3 经营现金转正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ASK · 息壤杯资源协同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息壤杯可以帮助 Blocky 跨过三道商业化门槛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课堂样板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目标｜20 名共创教师</a:t>
            </a:r>
          </a:p>
          <a:p>
            <a:r>
              <a:t>产出｜30 个课堂样板</a:t>
            </a:r>
          </a:p>
          <a:p>
            <a:r>
              <a:t>证据｜作品 / 轨迹 / 复用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noGrp="1"/>
          </p:cNvSpPr>
          <p:nvPr/>
        </p:nvSpPr>
        <p:spPr>
          <a:xfrm>
            <a:off x="69342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机构复制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伙伴｜学校 / 教培 / 高校</a:t>
            </a:r>
          </a:p>
          <a:p>
            <a:r>
              <a:t>路径｜课程包 / 培训 / 席位</a:t>
            </a:r>
          </a:p>
          <a:p>
            <a:r>
              <a:t>结果｜首批可复制方案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noGrp="1"/>
          </p:cNvSpPr>
          <p:nvPr/>
        </p:nvSpPr>
        <p:spPr>
          <a:xfrm>
            <a:off x="15240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模型与算力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noGrp="1"/>
          </p:cNvSpPr>
          <p:nvPr/>
        </p:nvSpPr>
        <p:spPr>
          <a:xfrm>
            <a:off x="15240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需求｜教育 Provider / 算力</a:t>
            </a:r>
          </a:p>
          <a:p>
            <a:r>
              <a:t>目标｜稳定、低成本、可审计</a:t>
            </a:r>
          </a:p>
          <a:p>
            <a:r>
              <a:t>协同｜模型 / 云 / 生态渠道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种子资金与团队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noGrp="1"/>
          </p:cNvSpPr>
          <p:nvPr/>
        </p:nvSpPr>
        <p:spPr>
          <a:xfrm>
            <a:off x="69342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额度｜¥300 万 / 18 个月</a:t>
            </a:r>
          </a:p>
          <a:p>
            <a:r>
              <a:t>配置｜3 人核心团队</a:t>
            </a:r>
          </a:p>
          <a:p>
            <a:r>
              <a:t>月度投入｜¥16.7 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9486900" cy="495300"/>
          </a:xfrm>
          <a:prstGeom prst="roundRect">
            <a:avLst>
              <a:gd name="adj" fmla="val 3076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noGrp="1"/>
          </p:cNvSpPr>
          <p:nvPr/>
        </p:nvSpPr>
        <p:spPr>
          <a:xfrm>
            <a:off x="1676400" y="5695950"/>
            <a:ext cx="883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一笔资源完成三次价值跃迁：技术可行 → 课堂可用 → 机构可复制。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搭建与场景化服务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81059" y="209550"/>
            <a:ext cx="1430931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A0D9BE4-76F9-4A7D-9C8D-2F5EF256500F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FF6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4CCF9B-8A6D-4873-B7C6-72B7F16F49D6}"/>
              </a:ext>
            </a:extLst>
          </p:cNvPr>
          <p:cNvSpPr>
            <a:spLocks noGrp="1"/>
          </p:cNvSpPr>
          <p:nvPr/>
        </p:nvSpPr>
        <p:spPr>
          <a:xfrm>
            <a:off x="10096500" y="0"/>
            <a:ext cx="2095500" cy="68580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D4AD890-3E02-4B32-A590-73AF68E445E3}"/>
              </a:ext>
            </a:extLst>
          </p:cNvPr>
          <p:cNvSpPr>
            <a:spLocks noGrp="1"/>
          </p:cNvSpPr>
          <p:nvPr/>
        </p:nvSpPr>
        <p:spPr>
          <a:xfrm>
            <a:off x="8782050" y="781050"/>
            <a:ext cx="1695450" cy="1695450"/>
          </a:xfrm>
          <a:prstGeom prst="ellipse">
            <a:avLst/>
          </a:prstGeom>
          <a:solidFill>
            <a:srgbClr val="FFD44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9575" y="1257300"/>
            <a:ext cx="2952750" cy="2952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369273-24D0-4097-89BD-DB290BEAF91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 STUDIO · AGENT 创作基础设施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12D827-8A22-4FC0-8118-2EA4F9F6C46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看懂、改动、负责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820EF3-5C41-49AB-9DB0-278C191C10C9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6477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自己搭建的 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3CB7FC-A2C8-4032-B5FB-5BDAD9D7A4ED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E5E5DB-B502-4C97-A633-16C100D0891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从课堂样板开始，成长为 Agent 时代的创作基础设施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806E6E-DF21-46F4-84A1-E56863B718DB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952750" cy="3238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856512-3F11-4BC5-BBFE-0365EA4629F0}"/>
              </a:ext>
            </a:extLst>
          </p:cNvPr>
          <p:cNvSpPr>
            <a:spLocks noGrp="1"/>
          </p:cNvSpPr>
          <p:nvPr/>
        </p:nvSpPr>
        <p:spPr>
          <a:xfrm>
            <a:off x="800100" y="5038725"/>
            <a:ext cx="272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课堂可验证 · 商业可复制 · 生态可生长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94BB3B-9431-4961-B921-BE763B2F22DE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教育验证易学，工程底座保证可用，项目积木化与服务资产打开长期平台价值。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D0086F-B57E-43C0-B341-1F4B85AAFDD3}"/>
              </a:ext>
            </a:extLst>
          </p:cNvPr>
          <p:cNvSpPr>
            <a:spLocks noGrp="1"/>
          </p:cNvSpPr>
          <p:nvPr/>
        </p:nvSpPr>
        <p:spPr>
          <a:xfrm>
            <a:off x="10029825" y="6153150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</p:spTree>
    <p:extLst>
      <p:ext uri="{BB962C8B-B14F-4D97-AF65-F5344CB8AC3E}">
        <p14:creationId xmlns:p14="http://schemas.microsoft.com/office/powerpoint/2010/main" val="1325861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A0D9BE4-76F9-4A7D-9C8D-2F5EF256500F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FF6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4CCF9B-8A6D-4873-B7C6-72B7F16F49D6}"/>
              </a:ext>
            </a:extLst>
          </p:cNvPr>
          <p:cNvSpPr>
            <a:spLocks noGrp="1"/>
          </p:cNvSpPr>
          <p:nvPr/>
        </p:nvSpPr>
        <p:spPr>
          <a:xfrm>
            <a:off x="10096500" y="0"/>
            <a:ext cx="2095500" cy="68580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D4AD890-3E02-4B32-A590-73AF68E445E3}"/>
              </a:ext>
            </a:extLst>
          </p:cNvPr>
          <p:cNvSpPr>
            <a:spLocks noGrp="1"/>
          </p:cNvSpPr>
          <p:nvPr/>
        </p:nvSpPr>
        <p:spPr>
          <a:xfrm>
            <a:off x="8782050" y="781050"/>
            <a:ext cx="1695450" cy="1695450"/>
          </a:xfrm>
          <a:prstGeom prst="ellipse">
            <a:avLst/>
          </a:prstGeom>
          <a:solidFill>
            <a:srgbClr val="FFD44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9575" y="1257300"/>
            <a:ext cx="2952750" cy="2952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369273-24D0-4097-89BD-DB290BEAF91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完整产品与生态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12D827-8A22-4FC0-8118-2EA4F9F6C46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820EF3-5C41-49AB-9DB0-278C191C10C9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6477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完整产品、服务与生态全景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3CB7FC-A2C8-4032-B5FB-5BDAD9D7A4ED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E5E5DB-B502-4C97-A633-16C100D0891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Blocky Studio · 目标形态与技术证据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806E6E-DF21-46F4-84A1-E56863B718DB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952750" cy="3238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856512-3F11-4BC5-BBFE-0365EA4629F0}"/>
              </a:ext>
            </a:extLst>
          </p:cNvPr>
          <p:cNvSpPr>
            <a:spLocks noGrp="1"/>
          </p:cNvSpPr>
          <p:nvPr/>
        </p:nvSpPr>
        <p:spPr>
          <a:xfrm>
            <a:off x="800100" y="5038725"/>
            <a:ext cx="272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产品结构 · 工程边界 · 生态路线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94BB3B-9431-4961-B921-BE763B2F22DE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以下页面保留完整产品设计，并统一标注实证、Contract Baseline 与目标形态。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D0086F-B57E-43C0-B341-1F4B85AAFDD3}"/>
              </a:ext>
            </a:extLst>
          </p:cNvPr>
          <p:cNvSpPr>
            <a:spLocks noGrp="1"/>
          </p:cNvSpPr>
          <p:nvPr/>
        </p:nvSpPr>
        <p:spPr>
          <a:xfrm>
            <a:off x="10029825" y="6153150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</p:spTree>
    <p:extLst>
      <p:ext uri="{BB962C8B-B14F-4D97-AF65-F5344CB8AC3E}">
        <p14:creationId xmlns:p14="http://schemas.microsoft.com/office/powerpoint/2010/main" val="1325861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861BF2F6-7820-4F71-A5F3-44000ED8B76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验收演示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381ADE-80F5-42E9-8853-EF5280D4C30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 分钟验证 5 件事：选择、修改、运行、追踪、保存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EA1F63-0E40-4377-9F6C-F7E155EA5CE0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基于课程蓝图呈现“选择—修改—运行—轨迹—保存”；这是目标验收脚本，不等于完整课程时长。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E04AFC-6A82-41C7-ABEB-5D0B08086546}"/>
              </a:ext>
            </a:extLst>
          </p:cNvPr>
          <p:cNvSpPr>
            <a:spLocks noGrp="1"/>
          </p:cNvSpPr>
          <p:nvPr/>
        </p:nvSpPr>
        <p:spPr>
          <a:xfrm>
            <a:off x="2352675" y="3009900"/>
            <a:ext cx="704850" cy="381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B70C2E-A825-44BD-BFC3-2F9092FD59D8}"/>
              </a:ext>
            </a:extLst>
          </p:cNvPr>
          <p:cNvSpPr>
            <a:spLocks noGrp="1"/>
          </p:cNvSpPr>
          <p:nvPr/>
        </p:nvSpPr>
        <p:spPr>
          <a:xfrm>
            <a:off x="4429125" y="3009900"/>
            <a:ext cx="704850" cy="381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8E383A-D3C9-463D-90D3-B0C8254CF798}"/>
              </a:ext>
            </a:extLst>
          </p:cNvPr>
          <p:cNvSpPr>
            <a:spLocks noGrp="1"/>
          </p:cNvSpPr>
          <p:nvPr/>
        </p:nvSpPr>
        <p:spPr>
          <a:xfrm>
            <a:off x="6505575" y="3009900"/>
            <a:ext cx="704850" cy="381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F47339-424A-4575-BFED-D712680E3245}"/>
              </a:ext>
            </a:extLst>
          </p:cNvPr>
          <p:cNvSpPr>
            <a:spLocks noGrp="1"/>
          </p:cNvSpPr>
          <p:nvPr/>
        </p:nvSpPr>
        <p:spPr>
          <a:xfrm>
            <a:off x="8582025" y="3009900"/>
            <a:ext cx="704850" cy="381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0149493-3133-4D57-B418-0FC64E040A5A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C735B2-1D95-42CD-9390-53260701C8FE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789284-904D-4CA8-AF84-68B161FB51F1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选择蓝图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F9AD1A-0529-4DCF-B052-8C59974E91BA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课堂知识 Agent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0FFD2D7-BE35-487B-8AF1-CFA6A5C49527}"/>
              </a:ext>
            </a:extLst>
          </p:cNvPr>
          <p:cNvSpPr>
            <a:spLocks noGrp="1"/>
          </p:cNvSpPr>
          <p:nvPr/>
        </p:nvSpPr>
        <p:spPr>
          <a:xfrm>
            <a:off x="278130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48D6E0-39E4-47B1-957D-861949DEB4B6}"/>
              </a:ext>
            </a:extLst>
          </p:cNvPr>
          <p:cNvSpPr>
            <a:spLocks noGrp="1"/>
          </p:cNvSpPr>
          <p:nvPr/>
        </p:nvSpPr>
        <p:spPr>
          <a:xfrm>
            <a:off x="295275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2CF790-33C9-4CCB-A157-EF7C63A8E4DE}"/>
              </a:ext>
            </a:extLst>
          </p:cNvPr>
          <p:cNvSpPr>
            <a:spLocks noGrp="1"/>
          </p:cNvSpPr>
          <p:nvPr/>
        </p:nvSpPr>
        <p:spPr>
          <a:xfrm>
            <a:off x="295275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修改积木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779A17-5ACC-4FC3-9593-C038762DE570}"/>
              </a:ext>
            </a:extLst>
          </p:cNvPr>
          <p:cNvSpPr>
            <a:spLocks noGrp="1"/>
          </p:cNvSpPr>
          <p:nvPr/>
        </p:nvSpPr>
        <p:spPr>
          <a:xfrm>
            <a:off x="293370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· 知识 · 工具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D3931BE-909D-4CA1-A8AB-20443305CF5C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14AEE4-C3AD-424F-BF93-521A3B465AFB}"/>
              </a:ext>
            </a:extLst>
          </p:cNvPr>
          <p:cNvSpPr>
            <a:spLocks noGrp="1"/>
          </p:cNvSpPr>
          <p:nvPr/>
        </p:nvSpPr>
        <p:spPr>
          <a:xfrm>
            <a:off x="502920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14F98A-F223-47A2-9F28-C1B6DA0F00BD}"/>
              </a:ext>
            </a:extLst>
          </p:cNvPr>
          <p:cNvSpPr>
            <a:spLocks noGrp="1"/>
          </p:cNvSpPr>
          <p:nvPr/>
        </p:nvSpPr>
        <p:spPr>
          <a:xfrm>
            <a:off x="502920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 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4A1067-0938-4671-9EFE-7111139931C8}"/>
              </a:ext>
            </a:extLst>
          </p:cNvPr>
          <p:cNvSpPr>
            <a:spLocks noGrp="1"/>
          </p:cNvSpPr>
          <p:nvPr/>
        </p:nvSpPr>
        <p:spPr>
          <a:xfrm>
            <a:off x="501015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本地检索 + 引用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A14FD71-DF17-4CA8-A89C-001B0D22DE38}"/>
              </a:ext>
            </a:extLst>
          </p:cNvPr>
          <p:cNvSpPr>
            <a:spLocks noGrp="1"/>
          </p:cNvSpPr>
          <p:nvPr/>
        </p:nvSpPr>
        <p:spPr>
          <a:xfrm>
            <a:off x="693420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E6B1F2-F786-4907-9B38-6D5B309AEF33}"/>
              </a:ext>
            </a:extLst>
          </p:cNvPr>
          <p:cNvSpPr>
            <a:spLocks noGrp="1"/>
          </p:cNvSpPr>
          <p:nvPr/>
        </p:nvSpPr>
        <p:spPr>
          <a:xfrm>
            <a:off x="710565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967383-C63A-4BD0-9C8F-2977BF77FC59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查看轨迹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BA1E21-50FB-423D-A459-1A0C693B3CED}"/>
              </a:ext>
            </a:extLst>
          </p:cNvPr>
          <p:cNvSpPr>
            <a:spLocks noGrp="1"/>
          </p:cNvSpPr>
          <p:nvPr/>
        </p:nvSpPr>
        <p:spPr>
          <a:xfrm>
            <a:off x="708660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步骤 · 状态 · 输出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4B396C4-30A2-4334-9ED5-17BFDFAEAF08}"/>
              </a:ext>
            </a:extLst>
          </p:cNvPr>
          <p:cNvSpPr>
            <a:spLocks noGrp="1"/>
          </p:cNvSpPr>
          <p:nvPr/>
        </p:nvSpPr>
        <p:spPr>
          <a:xfrm>
            <a:off x="901065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B51A61D-3FAE-48E2-A03D-6F11EB65211E}"/>
              </a:ext>
            </a:extLst>
          </p:cNvPr>
          <p:cNvSpPr>
            <a:spLocks noGrp="1"/>
          </p:cNvSpPr>
          <p:nvPr/>
        </p:nvSpPr>
        <p:spPr>
          <a:xfrm>
            <a:off x="918210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E3B23B-6531-4174-AD4B-5499123F3FBA}"/>
              </a:ext>
            </a:extLst>
          </p:cNvPr>
          <p:cNvSpPr>
            <a:spLocks noGrp="1"/>
          </p:cNvSpPr>
          <p:nvPr/>
        </p:nvSpPr>
        <p:spPr>
          <a:xfrm>
            <a:off x="918210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保存重开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7C8725-F881-4B20-8922-9BCB26A46CD7}"/>
              </a:ext>
            </a:extLst>
          </p:cNvPr>
          <p:cNvSpPr>
            <a:spLocks noGrp="1"/>
          </p:cNvSpPr>
          <p:nvPr/>
        </p:nvSpPr>
        <p:spPr>
          <a:xfrm>
            <a:off x="916305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691" lnSpcReduction="20000"/>
          </a:bodyPr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 语义保持一致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565D525-758B-44D0-90F2-EE5FBAD25A81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32766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92FF6B1-7E33-4870-A17A-CF1D956F94F7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323850" cy="323850"/>
          </a:xfrm>
          <a:prstGeom prst="ellipse">
            <a:avLst/>
          </a:prstGeom>
          <a:solidFill>
            <a:srgbClr val="17A67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70344CA-4B17-44A6-BE50-710321E1F903}"/>
              </a:ext>
            </a:extLst>
          </p:cNvPr>
          <p:cNvSpPr>
            <a:spLocks noGrp="1"/>
          </p:cNvSpPr>
          <p:nvPr/>
        </p:nvSpPr>
        <p:spPr>
          <a:xfrm>
            <a:off x="895350" y="46386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84B3E6-57A9-45C0-A2E9-15BEA85199E4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本地运行有证据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E7570BE-5162-4D12-AE16-D2927C1A0A7F}"/>
              </a:ext>
            </a:extLst>
          </p:cNvPr>
          <p:cNvSpPr>
            <a:spLocks noGrp="1"/>
          </p:cNvSpPr>
          <p:nvPr/>
        </p:nvSpPr>
        <p:spPr>
          <a:xfrm>
            <a:off x="1352550" y="491490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Provider / RuntimeEvent</a:t>
            </a:r>
          </a:p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本地运行可读回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08BFF40-00F6-42F3-A709-F0FF0B48333B}"/>
              </a:ext>
            </a:extLst>
          </p:cNvPr>
          <p:cNvSpPr>
            <a:spLocks noGrp="1"/>
          </p:cNvSpPr>
          <p:nvPr/>
        </p:nvSpPr>
        <p:spPr>
          <a:xfrm>
            <a:off x="4267200" y="4343400"/>
            <a:ext cx="32766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A82C568-EB54-4F86-9719-69A443CDC221}"/>
              </a:ext>
            </a:extLst>
          </p:cNvPr>
          <p:cNvSpPr>
            <a:spLocks noGrp="1"/>
          </p:cNvSpPr>
          <p:nvPr/>
        </p:nvSpPr>
        <p:spPr>
          <a:xfrm>
            <a:off x="4476750" y="4572000"/>
            <a:ext cx="323850" cy="323850"/>
          </a:xfrm>
          <a:prstGeom prst="ellipse">
            <a:avLst/>
          </a:prstGeom>
          <a:solidFill>
            <a:srgbClr val="17A67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3FE7DA-9E56-4BD7-9F7A-4A7695B09350}"/>
              </a:ext>
            </a:extLst>
          </p:cNvPr>
          <p:cNvSpPr>
            <a:spLocks noGrp="1"/>
          </p:cNvSpPr>
          <p:nvPr/>
        </p:nvSpPr>
        <p:spPr>
          <a:xfrm>
            <a:off x="4476750" y="46386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444E849-D3A9-43C7-BF9A-8C9434B51348}"/>
              </a:ext>
            </a:extLst>
          </p:cNvPr>
          <p:cNvSpPr>
            <a:spLocks noGrp="1"/>
          </p:cNvSpPr>
          <p:nvPr/>
        </p:nvSpPr>
        <p:spPr>
          <a:xfrm>
            <a:off x="4933950" y="45148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引用与拒答可见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01D2692-8CDD-4B60-95CF-492AB2A4B3C2}"/>
              </a:ext>
            </a:extLst>
          </p:cNvPr>
          <p:cNvSpPr>
            <a:spLocks noGrp="1"/>
          </p:cNvSpPr>
          <p:nvPr/>
        </p:nvSpPr>
        <p:spPr>
          <a:xfrm>
            <a:off x="4933950" y="491490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Citation / Guard</a:t>
            </a:r>
          </a:p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引用与拒答可复核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15B5C15-EEE9-4585-B27F-51E7E83D4636}"/>
              </a:ext>
            </a:extLst>
          </p:cNvPr>
          <p:cNvSpPr>
            <a:spLocks noGrp="1"/>
          </p:cNvSpPr>
          <p:nvPr/>
        </p:nvSpPr>
        <p:spPr>
          <a:xfrm>
            <a:off x="7848600" y="4343400"/>
            <a:ext cx="32766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6D77F557-EDEC-4BE2-B1CE-221DCA3E956D}"/>
              </a:ext>
            </a:extLst>
          </p:cNvPr>
          <p:cNvSpPr>
            <a:spLocks noGrp="1"/>
          </p:cNvSpPr>
          <p:nvPr/>
        </p:nvSpPr>
        <p:spPr>
          <a:xfrm>
            <a:off x="8058150" y="4572000"/>
            <a:ext cx="323850" cy="323850"/>
          </a:xfrm>
          <a:prstGeom prst="ellipse">
            <a:avLst/>
          </a:prstGeom>
          <a:solidFill>
            <a:srgbClr val="17A67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25382B6-9835-4B93-B708-3D9BCA1D0AA5}"/>
              </a:ext>
            </a:extLst>
          </p:cNvPr>
          <p:cNvSpPr>
            <a:spLocks noGrp="1"/>
          </p:cNvSpPr>
          <p:nvPr/>
        </p:nvSpPr>
        <p:spPr>
          <a:xfrm>
            <a:off x="8058150" y="46386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FAA06BF-AFB7-4CF2-8847-FC5A1A0927DD}"/>
              </a:ext>
            </a:extLst>
          </p:cNvPr>
          <p:cNvSpPr>
            <a:spLocks noGrp="1"/>
          </p:cNvSpPr>
          <p:nvPr/>
        </p:nvSpPr>
        <p:spPr>
          <a:xfrm>
            <a:off x="8515350" y="45148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项目可保存复现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E803178-7941-42C1-A1DB-7806CAA6EFB5}"/>
              </a:ext>
            </a:extLst>
          </p:cNvPr>
          <p:cNvSpPr>
            <a:spLocks noGrp="1"/>
          </p:cNvSpPr>
          <p:nvPr/>
        </p:nvSpPr>
        <p:spPr>
          <a:xfrm>
            <a:off x="8515350" y="491490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Workspace / Stable ID</a:t>
            </a:r>
          </a:p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保存重开语义一致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F3F74DB-353E-4AC3-8319-F0E8F80D0AF6}"/>
              </a:ext>
            </a:extLst>
          </p:cNvPr>
          <p:cNvSpPr>
            <a:spLocks noGrp="1"/>
          </p:cNvSpPr>
          <p:nvPr/>
        </p:nvSpPr>
        <p:spPr>
          <a:xfrm>
            <a:off x="8705850" y="5848350"/>
            <a:ext cx="2476500" cy="3238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229199D-0A09-4447-ADBA-1032DD292371}"/>
              </a:ext>
            </a:extLst>
          </p:cNvPr>
          <p:cNvSpPr>
            <a:spLocks noGrp="1"/>
          </p:cNvSpPr>
          <p:nvPr/>
        </p:nvSpPr>
        <p:spPr>
          <a:xfrm>
            <a:off x="8801100" y="59150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闭环证据：五步连续呈现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08F5750-0E1E-40F3-9F23-28AE1F1975A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5473D5A-F999-426D-96D7-1D006B6715D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DBEA014-107A-40CA-8682-5991D33EB86C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4098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四层创作深度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从“拿来即用”到“修改内部实现”，能力按需展开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四层共享同一 Project Manifest、Workspace、IR、权限与运行证据；切换深度不换项目。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兼容模板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产物｜可运行 Agent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证据｜Workspace + RuntimeEvent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指标｜完成率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蓝图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行为｜指认关键积木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证据｜高亮 + Trace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指标｜解释率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原子积木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行为｜回答含可定位来源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证据｜引用 / 拒答记录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指标｜引用可定位率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内部代码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行为｜保存重开语义一致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证据｜Project reload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指标｜保存复现率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同一底座｜兼容模板 → 蓝图 → 原子积木 → 内部代码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CE6BEB0-5134-4740-8BC5-70438A9E547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积木内部修改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593C4D-248B-4BA9-B5FD-3076450D432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积木不是黑盒：从公开参数一直改到内部实现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294B6-FC5C-481E-9BCB-E0BD442C051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官方基线、用户差异、诊断与回退同屏呈现；代码只封装局部逻辑，不隐藏 Agent 拓扑与权限。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0EE404-A53E-47C8-BD14-1A6FF57ECB76}"/>
              </a:ext>
            </a:extLst>
          </p:cNvPr>
          <p:cNvSpPr>
            <a:spLocks noGrp="1"/>
          </p:cNvSpPr>
          <p:nvPr/>
        </p:nvSpPr>
        <p:spPr>
          <a:xfrm>
            <a:off x="5429250" y="2876550"/>
            <a:ext cx="5143500" cy="476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A320BC-DCBD-459B-B601-6F0A4EF60DC0}"/>
              </a:ext>
            </a:extLst>
          </p:cNvPr>
          <p:cNvSpPr>
            <a:spLocks noGrp="1"/>
          </p:cNvSpPr>
          <p:nvPr/>
        </p:nvSpPr>
        <p:spPr>
          <a:xfrm>
            <a:off x="5086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8BF5B1-FF19-480C-A1F9-B3EBD55A3217}"/>
              </a:ext>
            </a:extLst>
          </p:cNvPr>
          <p:cNvSpPr>
            <a:spLocks noGrp="1"/>
          </p:cNvSpPr>
          <p:nvPr/>
        </p:nvSpPr>
        <p:spPr>
          <a:xfrm>
            <a:off x="5086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EB8ED1-07E5-4EEC-85C0-40D8A0D67C14}"/>
              </a:ext>
            </a:extLst>
          </p:cNvPr>
          <p:cNvSpPr>
            <a:spLocks noGrp="1"/>
          </p:cNvSpPr>
          <p:nvPr/>
        </p:nvSpPr>
        <p:spPr>
          <a:xfrm>
            <a:off x="4581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参数与接口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B674A9-88C9-467B-8B72-EE50C9BD6D2F}"/>
              </a:ext>
            </a:extLst>
          </p:cNvPr>
          <p:cNvSpPr>
            <a:spLocks noGrp="1"/>
          </p:cNvSpPr>
          <p:nvPr/>
        </p:nvSpPr>
        <p:spPr>
          <a:xfrm>
            <a:off x="4581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输入 / 输出
类型 / 默认值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B2DC4C0-F9C1-4B05-86E6-F1C7ABDF1CA9}"/>
              </a:ext>
            </a:extLst>
          </p:cNvPr>
          <p:cNvSpPr>
            <a:spLocks noGrp="1"/>
          </p:cNvSpPr>
          <p:nvPr/>
        </p:nvSpPr>
        <p:spPr>
          <a:xfrm>
            <a:off x="6800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5F763-49D5-4981-BAE1-812D10DBBCDD}"/>
              </a:ext>
            </a:extLst>
          </p:cNvPr>
          <p:cNvSpPr>
            <a:spLocks noGrp="1"/>
          </p:cNvSpPr>
          <p:nvPr/>
        </p:nvSpPr>
        <p:spPr>
          <a:xfrm>
            <a:off x="6800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3C79FC-38CA-4920-BCFA-97252FFA762D}"/>
              </a:ext>
            </a:extLst>
          </p:cNvPr>
          <p:cNvSpPr>
            <a:spLocks noGrp="1"/>
          </p:cNvSpPr>
          <p:nvPr/>
        </p:nvSpPr>
        <p:spPr>
          <a:xfrm>
            <a:off x="6296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展开与封装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934EE-6AF6-484E-B295-F75570571BE2}"/>
              </a:ext>
            </a:extLst>
          </p:cNvPr>
          <p:cNvSpPr>
            <a:spLocks noGrp="1"/>
          </p:cNvSpPr>
          <p:nvPr/>
        </p:nvSpPr>
        <p:spPr>
          <a:xfrm>
            <a:off x="6296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展开原子积木
保留公开插槽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700918C-A06B-4E1A-8C9D-0648588A8481}"/>
              </a:ext>
            </a:extLst>
          </p:cNvPr>
          <p:cNvSpPr>
            <a:spLocks noGrp="1"/>
          </p:cNvSpPr>
          <p:nvPr/>
        </p:nvSpPr>
        <p:spPr>
          <a:xfrm>
            <a:off x="8515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F1C48E-5BD0-4783-9B5F-9CD7A9A77DD4}"/>
              </a:ext>
            </a:extLst>
          </p:cNvPr>
          <p:cNvSpPr>
            <a:spLocks noGrp="1"/>
          </p:cNvSpPr>
          <p:nvPr/>
        </p:nvSpPr>
        <p:spPr>
          <a:xfrm>
            <a:off x="8515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E7325C-B220-4DD8-937A-0AFCD38AC2AC}"/>
              </a:ext>
            </a:extLst>
          </p:cNvPr>
          <p:cNvSpPr>
            <a:spLocks noGrp="1"/>
          </p:cNvSpPr>
          <p:nvPr/>
        </p:nvSpPr>
        <p:spPr>
          <a:xfrm>
            <a:off x="8010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内部代码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E1AD58-3805-4CBB-B0C5-AD0CFD42C229}"/>
              </a:ext>
            </a:extLst>
          </p:cNvPr>
          <p:cNvSpPr>
            <a:spLocks noGrp="1"/>
          </p:cNvSpPr>
          <p:nvPr/>
        </p:nvSpPr>
        <p:spPr>
          <a:xfrm>
            <a:off x="8010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局部代码实现
差异 / 诊断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9DAF4FD-BC3F-4584-9B71-B1636FEDB026}"/>
              </a:ext>
            </a:extLst>
          </p:cNvPr>
          <p:cNvSpPr>
            <a:spLocks noGrp="1"/>
          </p:cNvSpPr>
          <p:nvPr/>
        </p:nvSpPr>
        <p:spPr>
          <a:xfrm>
            <a:off x="10229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EA1FC6-3496-484C-95F5-14F46B1D35DC}"/>
              </a:ext>
            </a:extLst>
          </p:cNvPr>
          <p:cNvSpPr>
            <a:spLocks noGrp="1"/>
          </p:cNvSpPr>
          <p:nvPr/>
        </p:nvSpPr>
        <p:spPr>
          <a:xfrm>
            <a:off x="10229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475CB5-1F52-4474-A185-5DCFD29BB854}"/>
              </a:ext>
            </a:extLst>
          </p:cNvPr>
          <p:cNvSpPr>
            <a:spLocks noGrp="1"/>
          </p:cNvSpPr>
          <p:nvPr/>
        </p:nvSpPr>
        <p:spPr>
          <a:xfrm>
            <a:off x="9725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校验与回退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F6F002-6517-421A-8333-2339096B420A}"/>
              </a:ext>
            </a:extLst>
          </p:cNvPr>
          <p:cNvSpPr>
            <a:spLocks noGrp="1"/>
          </p:cNvSpPr>
          <p:nvPr/>
        </p:nvSpPr>
        <p:spPr>
          <a:xfrm>
            <a:off x="9725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编译 / 测试
接受 / 回退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D85272-C52C-40FA-B761-776CF436006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800100"/>
          </a:xfrm>
          <a:prstGeom prst="roundRect">
            <a:avLst>
              <a:gd name="adj" fmla="val 2381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759AD1-71DC-48F0-89B6-BD531D8DC641}"/>
              </a:ext>
            </a:extLst>
          </p:cNvPr>
          <p:cNvSpPr>
            <a:spLocks noGrp="1"/>
          </p:cNvSpPr>
          <p:nvPr/>
        </p:nvSpPr>
        <p:spPr>
          <a:xfrm>
            <a:off x="952500" y="53911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同一块能力：可组合 · 可展开 · 可编辑 · 可验证 · 可回退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40A4D9-AB1E-4082-B642-C0C46F98DF6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5E1450-E4DF-4EFF-A864-D90D800E3F8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8E4714-55B0-428F-BB84-CF5DF9C58744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45506"/>
            <a:ext cx="3524250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89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多画布与应用界面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项目需要页面时，前端由同一项目显式创建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画布标签拆分 Agent / 自动化 / 规则｜浏览器标签预览可选 AppSurface｜关闭标签不删除产物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6572250" cy="3790950"/>
          </a:xfrm>
          <a:prstGeom prst="roundRect">
            <a:avLst>
              <a:gd name="adj" fmla="val 5528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241935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noGrp="1"/>
          </p:cNvSpPr>
          <p:nvPr/>
        </p:nvSpPr>
        <p:spPr>
          <a:xfrm>
            <a:off x="1066800" y="5229225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603" lnSpcReduction="10000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概念示意 · AppSurface 由用户主动创建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项目内一套交付路径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noGrp="1"/>
          </p:cNvSpPr>
          <p:nvPr/>
        </p:nvSpPr>
        <p:spPr>
          <a:xfrm>
            <a:off x="77343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noGrp="1"/>
          </p:cNvSpPr>
          <p:nvPr/>
        </p:nvSpPr>
        <p:spPr>
          <a:xfrm>
            <a:off x="78486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多画布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noGrp="1"/>
          </p:cNvSpPr>
          <p:nvPr/>
        </p:nvSpPr>
        <p:spPr>
          <a:xfrm>
            <a:off x="94107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noGrp="1"/>
          </p:cNvSpPr>
          <p:nvPr/>
        </p:nvSpPr>
        <p:spPr>
          <a:xfrm>
            <a:off x="95250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稳定引用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noGrp="1"/>
          </p:cNvSpPr>
          <p:nvPr/>
        </p:nvSpPr>
        <p:spPr>
          <a:xfrm>
            <a:off x="78486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应用界面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noGrp="1"/>
          </p:cNvSpPr>
          <p:nvPr/>
        </p:nvSpPr>
        <p:spPr>
          <a:xfrm>
            <a:off x="95250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前端源码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noGrp="1"/>
          </p:cNvSpPr>
          <p:nvPr/>
        </p:nvSpPr>
        <p:spPr>
          <a:xfrm>
            <a:off x="78486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浏览器预览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noGrp="1"/>
          </p:cNvSpPr>
          <p:nvPr/>
        </p:nvSpPr>
        <p:spPr>
          <a:xfrm>
            <a:off x="95250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Bridge 清单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noGrp="1"/>
          </p:cNvSpPr>
          <p:nvPr/>
        </p:nvSpPr>
        <p:spPr>
          <a:xfrm>
            <a:off x="7848600" y="45243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隔离存储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noGrp="1"/>
          </p:cNvSpPr>
          <p:nvPr/>
        </p:nvSpPr>
        <p:spPr>
          <a:xfrm>
            <a:off x="7734300" y="5200650"/>
            <a:ext cx="3238500" cy="514350"/>
          </a:xfrm>
          <a:prstGeom prst="roundRect">
            <a:avLst>
              <a:gd name="adj" fmla="val 25926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noGrp="1"/>
          </p:cNvSpPr>
          <p:nvPr/>
        </p:nvSpPr>
        <p:spPr>
          <a:xfrm>
            <a:off x="7867650" y="5229225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IR、Runtime Core、轨迹与权限模型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rcRect t="2671" b="2671"/>
          <a:stretch/>
        </p:blipFill>
        <p:spPr>
          <a:xfrm>
            <a:off x="819150" y="2076450"/>
            <a:ext cx="6305550" cy="30861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0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CE6BEB0-5134-4740-8BC5-70438A9E547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Agent + 自动化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593C4D-248B-4BA9-B5FD-3076450D432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办公场景沿用同一积木语言，不另起一套产品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294B6-FC5C-481E-9BCB-E0BD442C051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把资料理解、浏览器操作、桌面应用与人工确认，组合成可追踪的有人值守流程。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0EE404-A53E-47C8-BD14-1A6FF57ECB76}"/>
              </a:ext>
            </a:extLst>
          </p:cNvPr>
          <p:cNvSpPr>
            <a:spLocks noGrp="1"/>
          </p:cNvSpPr>
          <p:nvPr/>
        </p:nvSpPr>
        <p:spPr>
          <a:xfrm>
            <a:off x="5429250" y="2876550"/>
            <a:ext cx="5143500" cy="476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A320BC-DCBD-459B-B601-6F0A4EF60DC0}"/>
              </a:ext>
            </a:extLst>
          </p:cNvPr>
          <p:cNvSpPr>
            <a:spLocks noGrp="1"/>
          </p:cNvSpPr>
          <p:nvPr/>
        </p:nvSpPr>
        <p:spPr>
          <a:xfrm>
            <a:off x="5086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8BF5B1-FF19-480C-A1F9-B3EBD55A3217}"/>
              </a:ext>
            </a:extLst>
          </p:cNvPr>
          <p:cNvSpPr>
            <a:spLocks noGrp="1"/>
          </p:cNvSpPr>
          <p:nvPr/>
        </p:nvSpPr>
        <p:spPr>
          <a:xfrm>
            <a:off x="5086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EB8ED1-07E5-4EEC-85C0-40D8A0D67C14}"/>
              </a:ext>
            </a:extLst>
          </p:cNvPr>
          <p:cNvSpPr>
            <a:spLocks noGrp="1"/>
          </p:cNvSpPr>
          <p:nvPr/>
        </p:nvSpPr>
        <p:spPr>
          <a:xfrm>
            <a:off x="4581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资料与表格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B674A9-88C9-467B-8B72-EE50C9BD6D2F}"/>
              </a:ext>
            </a:extLst>
          </p:cNvPr>
          <p:cNvSpPr>
            <a:spLocks noGrp="1"/>
          </p:cNvSpPr>
          <p:nvPr/>
        </p:nvSpPr>
        <p:spPr>
          <a:xfrm>
            <a:off x="4581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读取结构化
来源 / Schema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B2DC4C0-F9C1-4B05-86E6-F1C7ABDF1CA9}"/>
              </a:ext>
            </a:extLst>
          </p:cNvPr>
          <p:cNvSpPr>
            <a:spLocks noGrp="1"/>
          </p:cNvSpPr>
          <p:nvPr/>
        </p:nvSpPr>
        <p:spPr>
          <a:xfrm>
            <a:off x="6800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5F763-49D5-4981-BAE1-812D10DBBCDD}"/>
              </a:ext>
            </a:extLst>
          </p:cNvPr>
          <p:cNvSpPr>
            <a:spLocks noGrp="1"/>
          </p:cNvSpPr>
          <p:nvPr/>
        </p:nvSpPr>
        <p:spPr>
          <a:xfrm>
            <a:off x="6800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3C79FC-38CA-4920-BCFA-97252FFA762D}"/>
              </a:ext>
            </a:extLst>
          </p:cNvPr>
          <p:cNvSpPr>
            <a:spLocks noGrp="1"/>
          </p:cNvSpPr>
          <p:nvPr/>
        </p:nvSpPr>
        <p:spPr>
          <a:xfrm>
            <a:off x="6296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浏览器与桌面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934EE-6AF6-484E-B295-F75570571BE2}"/>
              </a:ext>
            </a:extLst>
          </p:cNvPr>
          <p:cNvSpPr>
            <a:spLocks noGrp="1"/>
          </p:cNvSpPr>
          <p:nvPr/>
        </p:nvSpPr>
        <p:spPr>
          <a:xfrm>
            <a:off x="6296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语义操作
浏览器 / 桌面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700918C-A06B-4E1A-8C9D-0648588A8481}"/>
              </a:ext>
            </a:extLst>
          </p:cNvPr>
          <p:cNvSpPr>
            <a:spLocks noGrp="1"/>
          </p:cNvSpPr>
          <p:nvPr/>
        </p:nvSpPr>
        <p:spPr>
          <a:xfrm>
            <a:off x="8515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F1C48E-5BD0-4783-9B5F-9CD7A9A77DD4}"/>
              </a:ext>
            </a:extLst>
          </p:cNvPr>
          <p:cNvSpPr>
            <a:spLocks noGrp="1"/>
          </p:cNvSpPr>
          <p:nvPr/>
        </p:nvSpPr>
        <p:spPr>
          <a:xfrm>
            <a:off x="8515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E7325C-B220-4DD8-937A-0AFCD38AC2AC}"/>
              </a:ext>
            </a:extLst>
          </p:cNvPr>
          <p:cNvSpPr>
            <a:spLocks noGrp="1"/>
          </p:cNvSpPr>
          <p:nvPr/>
        </p:nvSpPr>
        <p:spPr>
          <a:xfrm>
            <a:off x="8010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+ RPA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E1AD58-3805-4CBB-B0C5-AD0CFD42C229}"/>
              </a:ext>
            </a:extLst>
          </p:cNvPr>
          <p:cNvSpPr>
            <a:spLocks noGrp="1"/>
          </p:cNvSpPr>
          <p:nvPr/>
        </p:nvSpPr>
        <p:spPr>
          <a:xfrm>
            <a:off x="8010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有人值守
审批 / 检查点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9DAF4FD-BC3F-4584-9B71-B1636FEDB026}"/>
              </a:ext>
            </a:extLst>
          </p:cNvPr>
          <p:cNvSpPr>
            <a:spLocks noGrp="1"/>
          </p:cNvSpPr>
          <p:nvPr/>
        </p:nvSpPr>
        <p:spPr>
          <a:xfrm>
            <a:off x="10229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EA1FC6-3496-484C-95F5-14F46B1D35DC}"/>
              </a:ext>
            </a:extLst>
          </p:cNvPr>
          <p:cNvSpPr>
            <a:spLocks noGrp="1"/>
          </p:cNvSpPr>
          <p:nvPr/>
        </p:nvSpPr>
        <p:spPr>
          <a:xfrm>
            <a:off x="10229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475CB5-1F52-4474-A185-5DCFD29BB854}"/>
              </a:ext>
            </a:extLst>
          </p:cNvPr>
          <p:cNvSpPr>
            <a:spLocks noGrp="1"/>
          </p:cNvSpPr>
          <p:nvPr/>
        </p:nvSpPr>
        <p:spPr>
          <a:xfrm>
            <a:off x="9725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人工与恢复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F6F002-6517-421A-8333-2339096B420A}"/>
              </a:ext>
            </a:extLst>
          </p:cNvPr>
          <p:cNvSpPr>
            <a:spLocks noGrp="1"/>
          </p:cNvSpPr>
          <p:nvPr/>
        </p:nvSpPr>
        <p:spPr>
          <a:xfrm>
            <a:off x="9725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动作确认
暂停 / 恢复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D85272-C52C-40FA-B761-776CF436006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800100"/>
          </a:xfrm>
          <a:prstGeom prst="roundRect">
            <a:avLst>
              <a:gd name="adj" fmla="val 2381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759AD1-71DC-48F0-89B6-BD531D8DC641}"/>
              </a:ext>
            </a:extLst>
          </p:cNvPr>
          <p:cNvSpPr>
            <a:spLocks noGrp="1"/>
          </p:cNvSpPr>
          <p:nvPr/>
        </p:nvSpPr>
        <p:spPr>
          <a:xfrm>
            <a:off x="952500" y="53911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同一项目可容纳 Agent、自动化、规则、数据与应用界面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40A4D9-AB1E-4082-B642-C0C46F98DF6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5E1450-E4DF-4EFF-A864-D90D800E3F8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8E4714-55B0-428F-BB84-CF5DF9C58744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45506"/>
            <a:ext cx="3524250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89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办公蓝图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六类办公蓝图覆盖“理解—执行—核验—交付”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先以有人值守流程进入真实办公；团队可按权限、数据与系统逐步扩展。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共同底座：项目模块 + 权限 + 检查点 + RuntimeEvent + Trace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办公价值：减少重复搬运，同时保留来源、授权、过程与责任边界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资料问答与报告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带引用回答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摘要 / 周报 / 研究整理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表格清洗与汇总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Excel / CSV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去重 / 对账 / 指标回填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ERP / CRM 录入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旧系统表单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字段映射 / 校验 / 失败定位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工单与客服协作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 + 人工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归类 / 回复草稿 / 升级处理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跨系统数据搬运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 ↔ 桌面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附件 / 表单 / 数据库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财务对账与回填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 + Agent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差异解释 / 审批 / 复现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2387266-2A32-4DAA-B660-5E5EABCE39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创作与运行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F1EAF-E370-4FDB-93A0-A8A1C5371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前端、积木、终端与运行轨迹，都回到一个可控工作台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8558F-8F1D-45F1-B8C2-D2DFAE8A730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编辑事实、运行事实、用户终端和 Agent 进程各有边界，却共享稳定来源与关联标识。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41ACDB7-70DB-42B5-9BF7-1EC316D9087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10B61B-741F-4A50-9E91-8504EE4D57AF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1B3B13-0F03-4E53-89EB-30E7EAD81129}"/>
              </a:ext>
            </a:extLst>
          </p:cNvPr>
          <p:cNvSpPr>
            <a:spLocks noGrp="1"/>
          </p:cNvSpPr>
          <p:nvPr/>
        </p:nvSpPr>
        <p:spPr>
          <a:xfrm>
            <a:off x="10287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创作工作台 · 桌面端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C8F19B-7745-4186-8A85-EDA802BFDFA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18"/>
          </a:bodyPr>
          <a:lstStyle/>
          <a:p>
            <a:r>
              <a:rPr dirty="0"/>
              <a:t>✓ </a:t>
            </a:r>
            <a:r>
              <a:rPr dirty="0" err="1"/>
              <a:t>顶部：项目标签</a:t>
            </a:r>
            <a:r>
              <a:rPr dirty="0"/>
              <a:t> / </a:t>
            </a:r>
            <a:r>
              <a:rPr dirty="0" err="1"/>
              <a:t>命令中心</a:t>
            </a:r>
            <a:r>
              <a:rPr dirty="0"/>
              <a:t> / </a:t>
            </a:r>
            <a:r>
              <a:rPr dirty="0" err="1"/>
              <a:t>运行</a:t>
            </a:r>
            <a:endParaRPr dirty="0"/>
          </a:p>
          <a:p>
            <a:r>
              <a:rPr dirty="0"/>
              <a:t>✓ 左侧：7→12 </a:t>
            </a:r>
            <a:r>
              <a:rPr dirty="0" err="1"/>
              <a:t>类积木</a:t>
            </a:r>
            <a:r>
              <a:rPr dirty="0"/>
              <a:t> / </a:t>
            </a:r>
            <a:r>
              <a:rPr dirty="0" err="1"/>
              <a:t>搜索</a:t>
            </a:r>
            <a:r>
              <a:rPr dirty="0"/>
              <a:t> / </a:t>
            </a:r>
            <a:r>
              <a:rPr dirty="0" err="1"/>
              <a:t>蓝图</a:t>
            </a:r>
            <a:endParaRPr dirty="0"/>
          </a:p>
          <a:p>
            <a:r>
              <a:rPr dirty="0"/>
              <a:t>✓ </a:t>
            </a:r>
            <a:r>
              <a:rPr dirty="0" err="1"/>
              <a:t>中间：多模块画布</a:t>
            </a:r>
            <a:r>
              <a:rPr dirty="0"/>
              <a:t> / </a:t>
            </a:r>
            <a:r>
              <a:rPr dirty="0" err="1"/>
              <a:t>浏览器预览</a:t>
            </a:r>
            <a:endParaRPr dirty="0"/>
          </a:p>
          <a:p>
            <a:r>
              <a:rPr dirty="0"/>
              <a:t>✓ </a:t>
            </a:r>
            <a:r>
              <a:rPr dirty="0" err="1"/>
              <a:t>右侧：构建助手</a:t>
            </a:r>
            <a:r>
              <a:rPr dirty="0"/>
              <a:t> / </a:t>
            </a:r>
            <a:r>
              <a:rPr dirty="0" err="1"/>
              <a:t>检查器</a:t>
            </a:r>
            <a:r>
              <a:rPr dirty="0"/>
              <a:t> / </a:t>
            </a:r>
            <a:r>
              <a:rPr dirty="0" err="1"/>
              <a:t>资源</a:t>
            </a:r>
            <a:endParaRPr dirty="0"/>
          </a:p>
          <a:p>
            <a:r>
              <a:rPr dirty="0"/>
              <a:t>✓ </a:t>
            </a:r>
            <a:r>
              <a:rPr dirty="0" err="1"/>
              <a:t>底部：问题</a:t>
            </a:r>
            <a:r>
              <a:rPr dirty="0"/>
              <a:t> / </a:t>
            </a:r>
            <a:r>
              <a:rPr dirty="0" err="1"/>
              <a:t>运行日志</a:t>
            </a:r>
            <a:r>
              <a:rPr dirty="0"/>
              <a:t> / </a:t>
            </a:r>
            <a:r>
              <a:rPr dirty="0" err="1"/>
              <a:t>终端</a:t>
            </a:r>
            <a:r>
              <a:rPr dirty="0"/>
              <a:t> / </a:t>
            </a:r>
            <a:r>
              <a:rPr dirty="0" err="1"/>
              <a:t>输出</a:t>
            </a:r>
            <a:endParaRPr dirty="0"/>
          </a:p>
          <a:p>
            <a:r>
              <a:rPr dirty="0"/>
              <a:t>✓ </a:t>
            </a:r>
            <a:r>
              <a:rPr dirty="0" err="1"/>
              <a:t>设置：应用</a:t>
            </a:r>
            <a:r>
              <a:rPr dirty="0"/>
              <a:t> / </a:t>
            </a:r>
            <a:r>
              <a:rPr dirty="0" err="1"/>
              <a:t>项目</a:t>
            </a:r>
            <a:r>
              <a:rPr dirty="0"/>
              <a:t> / </a:t>
            </a:r>
            <a:r>
              <a:rPr dirty="0" err="1"/>
              <a:t>资源</a:t>
            </a:r>
            <a:r>
              <a:rPr dirty="0"/>
              <a:t> / </a:t>
            </a:r>
            <a:r>
              <a:rPr dirty="0" err="1"/>
              <a:t>积木</a:t>
            </a:r>
            <a:endParaRPr dirty="0"/>
          </a:p>
          <a:p>
            <a:r>
              <a:rPr dirty="0"/>
              <a:t>✓ </a:t>
            </a:r>
            <a:r>
              <a:rPr dirty="0" err="1"/>
              <a:t>保存：Manifest</a:t>
            </a:r>
            <a:r>
              <a:rPr dirty="0"/>
              <a:t> + Workspace + </a:t>
            </a:r>
            <a:r>
              <a:rPr dirty="0" err="1"/>
              <a:t>AppSurface</a:t>
            </a:r>
            <a:endParaRPr dirty="0"/>
          </a:p>
          <a:p>
            <a:r>
              <a:rPr dirty="0"/>
              <a:t>✓ Semantic </a:t>
            </a:r>
            <a:r>
              <a:rPr dirty="0" err="1"/>
              <a:t>Patch：幽灵积木</a:t>
            </a:r>
            <a:r>
              <a:rPr dirty="0"/>
              <a:t> / </a:t>
            </a:r>
            <a:r>
              <a:rPr dirty="0" err="1"/>
              <a:t>接受</a:t>
            </a:r>
            <a:r>
              <a:rPr dirty="0"/>
              <a:t> / </a:t>
            </a:r>
            <a:r>
              <a:rPr dirty="0" err="1"/>
              <a:t>拒绝</a:t>
            </a:r>
            <a:r>
              <a:rPr dirty="0"/>
              <a:t> / </a:t>
            </a:r>
            <a:r>
              <a:rPr dirty="0" err="1"/>
              <a:t>撤销</a:t>
            </a:r>
            <a:endParaRPr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65E33F-B2AF-4819-8F01-A9FD68E3AE32}"/>
              </a:ext>
            </a:extLst>
          </p:cNvPr>
          <p:cNvSpPr>
            <a:spLocks noGrp="1"/>
          </p:cNvSpPr>
          <p:nvPr/>
        </p:nvSpPr>
        <p:spPr>
          <a:xfrm>
            <a:off x="62484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E365F07-950A-4D07-A025-90EE487382F4}"/>
              </a:ext>
            </a:extLst>
          </p:cNvPr>
          <p:cNvSpPr>
            <a:spLocks noGrp="1"/>
          </p:cNvSpPr>
          <p:nvPr/>
        </p:nvSpPr>
        <p:spPr>
          <a:xfrm>
            <a:off x="64960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222E42-B3B5-4113-8A95-7228B5B7F097}"/>
              </a:ext>
            </a:extLst>
          </p:cNvPr>
          <p:cNvSpPr>
            <a:spLocks noGrp="1"/>
          </p:cNvSpPr>
          <p:nvPr/>
        </p:nvSpPr>
        <p:spPr>
          <a:xfrm>
            <a:off x="65913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运行治理 · 同源可追踪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7811E7-D896-4913-B268-3DD1943B29F5}"/>
              </a:ext>
            </a:extLst>
          </p:cNvPr>
          <p:cNvSpPr>
            <a:spLocks noGrp="1"/>
          </p:cNvSpPr>
          <p:nvPr/>
        </p:nvSpPr>
        <p:spPr>
          <a:xfrm>
            <a:off x="65532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327"/>
          </a:bodyPr>
          <a:lstStyle/>
          <a:p>
            <a:r>
              <a:t>✓ 编译：Module IR / Project IR / SourceMap</a:t>
            </a:r>
          </a:p>
          <a:p>
            <a:r>
              <a:t>✓ 入口：InteractionManifest / ToolContract</a:t>
            </a:r>
          </a:p>
          <a:p>
            <a:r>
              <a:t>✓ 事件：RuntimeEvent / Diagnostic / LogEnvelope</a:t>
            </a:r>
          </a:p>
          <a:p>
            <a:r>
              <a:t>✓ 轨迹：步骤 / 状态 / 引用 / 权限 / 高亮</a:t>
            </a:r>
          </a:p>
          <a:p>
            <a:r>
              <a:t>✓ 隔离：用户终端 ≠ Agent 进程工具</a:t>
            </a:r>
          </a:p>
          <a:p>
            <a:r>
              <a:t>✓ Log Redaction：Normalizer → Redactor → Log Bus</a:t>
            </a:r>
          </a:p>
          <a:p>
            <a:r>
              <a:t>✓ 回收：Host / PTY / Sidecar / 预览服务</a:t>
            </a:r>
          </a:p>
          <a:p>
            <a:r>
              <a:t>✓ 审计：授权 / 拒绝 / 截断 / 恢复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236E84C-0488-46CA-AE0D-E70BA935F96B}"/>
              </a:ext>
            </a:extLst>
          </p:cNvPr>
          <p:cNvSpPr>
            <a:spLocks noGrp="1"/>
          </p:cNvSpPr>
          <p:nvPr/>
        </p:nvSpPr>
        <p:spPr>
          <a:xfrm>
            <a:off x="6553200" y="5219700"/>
            <a:ext cx="464820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51F7CB-5C7D-4222-A237-0CBB7F6ED549}"/>
              </a:ext>
            </a:extLst>
          </p:cNvPr>
          <p:cNvSpPr>
            <a:spLocks noGrp="1"/>
          </p:cNvSpPr>
          <p:nvPr/>
        </p:nvSpPr>
        <p:spPr>
          <a:xfrm>
            <a:off x="6648450" y="5286375"/>
            <a:ext cx="445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运行：状态同源、Log Redaction、终端不越权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28B773-2B04-44AF-B2B3-BA8929F4D0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40E5D-88E5-46E2-AEF4-2A8359C6C00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AF61F-E60E-4BA3-B5A8-4BF88AFAFDC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21" name="Unified left evidence conclusion">
            <a:extLst>
              <a:ext uri="{FF2B5EF4-FFF2-40B4-BE49-F238E27FC236}">
                <a16:creationId xmlns:a16="http://schemas.microsoft.com/office/drawing/2014/main" id="{EFACA68A-A9A1-4F5A-99A6-DD4693702EF1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4648200" cy="323850"/>
          </a:xfrm>
          <a:prstGeom prst="roundRect">
            <a:avLst>
              <a:gd name="adj" fmla="val 3529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创作：修改可见、权限可读、差异可撤销</a:t>
            </a:r>
          </a:p>
        </p:txBody>
      </p:sp>
    </p:spTree>
    <p:extLst>
      <p:ext uri="{BB962C8B-B14F-4D97-AF65-F5344CB8AC3E}">
        <p14:creationId xmlns:p14="http://schemas.microsoft.com/office/powerpoint/2010/main" val="831750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六类兼容模板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六类 Agent 生态，沉淀为可教学、可改造的积木结构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Pi、Codex、OpenClaw、Hermes、OpenCode、DeepSeek Harness 对应六类真实 Agent 架构。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统一 Agent 语义 + 进程外原生运行时 + 版本化适配器 + 可逆积木投影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教学价值：从六类真实架构学习角色、工具、权限、协作、会话与扩展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轻量编码 Agent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Pi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工具调用｜read / write / edit / bash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专业编程 Agent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17" lnSpcReduction="10000"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工程规则｜AGENTS.md / Skills / MCP / 沙箱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个人助理 Agent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OpenClaw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会话记忆｜Gateway / 会话 / 记忆 / 渠道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团队协作 Agent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Hermes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团队协作｜消息 / 任务 / 扩展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工程开发 Agent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主子协作｜工具权限 / 插件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组合研究 Agent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DeepSeek Harness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组合研究｜Profile / Bundle / Cordis / 审批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项目积木化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构建助手把现有项目拆解为可编辑的积木资产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基于源码证据识别边界、权限与行为，再生成可审查、可验证、可升级的 Blocky 产物。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B99917-4785-4FF2-9985-F6BA06501A99}"/>
              </a:ext>
            </a:extLst>
          </p:cNvPr>
          <p:cNvSpPr>
            <a:spLocks noGrp="1"/>
          </p:cNvSpPr>
          <p:nvPr/>
        </p:nvSpPr>
        <p:spPr>
          <a:xfrm>
            <a:off x="23431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noGrp="1"/>
          </p:cNvSpPr>
          <p:nvPr/>
        </p:nvSpPr>
        <p:spPr>
          <a:xfrm>
            <a:off x="25431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CCDC8-7024-494D-AA95-7BFAEFB3498F}"/>
              </a:ext>
            </a:extLst>
          </p:cNvPr>
          <p:cNvSpPr>
            <a:spLocks noGrp="1"/>
          </p:cNvSpPr>
          <p:nvPr/>
        </p:nvSpPr>
        <p:spPr>
          <a:xfrm>
            <a:off x="44958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noGrp="1"/>
          </p:cNvSpPr>
          <p:nvPr/>
        </p:nvSpPr>
        <p:spPr>
          <a:xfrm>
            <a:off x="46958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5E4D1E-C2BE-43FE-97BC-475FE4A6E679}"/>
              </a:ext>
            </a:extLst>
          </p:cNvPr>
          <p:cNvSpPr>
            <a:spLocks noGrp="1"/>
          </p:cNvSpPr>
          <p:nvPr/>
        </p:nvSpPr>
        <p:spPr>
          <a:xfrm>
            <a:off x="66484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noGrp="1"/>
          </p:cNvSpPr>
          <p:nvPr/>
        </p:nvSpPr>
        <p:spPr>
          <a:xfrm>
            <a:off x="68484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E01B1A-FBF1-410D-A8FE-40496C9C23D5}"/>
              </a:ext>
            </a:extLst>
          </p:cNvPr>
          <p:cNvSpPr>
            <a:spLocks noGrp="1"/>
          </p:cNvSpPr>
          <p:nvPr/>
        </p:nvSpPr>
        <p:spPr>
          <a:xfrm>
            <a:off x="88011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noGrp="1"/>
          </p:cNvSpPr>
          <p:nvPr/>
        </p:nvSpPr>
        <p:spPr>
          <a:xfrm>
            <a:off x="90011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锁定来源</a:t>
            </a:r>
          </a:p>
          <a:p>
            <a:r>
              <a:t>建立证据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仓库 / commit / 许可</a:t>
            </a:r>
          </a:p>
          <a:p>
            <a:r>
              <a:t>源码 / 配置 / 测试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noGrp="1"/>
          </p:cNvSpPr>
          <p:nvPr/>
        </p:nvSpPr>
        <p:spPr>
          <a:xfrm>
            <a:off x="28384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noGrp="1"/>
          </p:cNvSpPr>
          <p:nvPr/>
        </p:nvSpPr>
        <p:spPr>
          <a:xfrm>
            <a:off x="29908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只读理解</a:t>
            </a:r>
          </a:p>
          <a:p>
            <a:r>
              <a:t>识别边界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noGrp="1"/>
          </p:cNvSpPr>
          <p:nvPr/>
        </p:nvSpPr>
        <p:spPr>
          <a:xfrm>
            <a:off x="29718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入口 / 类型 / 状态</a:t>
            </a:r>
          </a:p>
          <a:p>
            <a:r>
              <a:t>副作用 / 性能热点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noGrp="1"/>
          </p:cNvSpPr>
          <p:nvPr/>
        </p:nvSpPr>
        <p:spPr>
          <a:xfrm>
            <a:off x="49911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noGrp="1"/>
          </p:cNvSpPr>
          <p:nvPr/>
        </p:nvSpPr>
        <p:spPr>
          <a:xfrm>
            <a:off x="51435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语义映射</a:t>
            </a:r>
          </a:p>
          <a:p>
            <a:r>
              <a:t>产物裁决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noGrp="1"/>
          </p:cNvSpPr>
          <p:nvPr/>
        </p:nvSpPr>
        <p:spPr>
          <a:xfrm>
            <a:off x="51244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积木 / 蓝图 / 模板</a:t>
            </a:r>
          </a:p>
          <a:p>
            <a:r>
              <a:t>原生保留报告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noGrp="1"/>
          </p:cNvSpPr>
          <p:nvPr/>
        </p:nvSpPr>
        <p:spPr>
          <a:xfrm>
            <a:off x="72961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幽灵差异</a:t>
            </a:r>
          </a:p>
          <a:p>
            <a:r>
              <a:t>接受或拒绝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noGrp="1"/>
          </p:cNvSpPr>
          <p:nvPr/>
        </p:nvSpPr>
        <p:spPr>
          <a:xfrm>
            <a:off x="72771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Build Spec / Patch</a:t>
            </a:r>
          </a:p>
          <a:p>
            <a:r>
              <a:t>权限 / 依赖 / 预算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验证往返</a:t>
            </a:r>
          </a:p>
          <a:p>
            <a:r>
              <a:t>持续升级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noGrp="1"/>
          </p:cNvSpPr>
          <p:nvPr/>
        </p:nvSpPr>
        <p:spPr>
          <a:xfrm>
            <a:off x="94297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编译 / 测试 / Trace</a:t>
            </a:r>
          </a:p>
          <a:p>
            <a:r>
              <a:t>增量扫描 / rollback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9067800" cy="1066800"/>
          </a:xfrm>
          <a:prstGeom prst="roundRect">
            <a:avLst>
              <a:gd name="adj" fmla="val 17857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53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项目积木化，让外部能力持续进入 Blocky 语言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noGrp="1"/>
          </p:cNvSpPr>
          <p:nvPr/>
        </p:nvSpPr>
        <p:spPr>
          <a:xfrm>
            <a:off x="1828800" y="5143500"/>
            <a:ext cx="853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源码、Agent、RAG、MCP、CLI 与业务流程都能沉淀为可复用资产</a:t>
            </a: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扩展空间不再受预装积木数量限制，用户可持续创造自己的能力目录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积木化输入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一个入口连接代码、Agent、知识与业务流程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构建助手先判断输入类型，再选择最适合的可编辑结果；不同来源可以组合进入同一项目。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同一项目可以吸收多种来源，不把复杂能力压成一个黑盒代码块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输入越丰富，转换证据越清晰，可复用资产越多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GitHub / 本地仓库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库 · SDK · 应用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API / 类型 / 依赖 / 测试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现有 Agent / Harness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循环 · 工具 · 权限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 / 事件 / 插件 / 配置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知识库与 RAG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摄取 · 检索 · 引用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 / 索引 / 重排 / ACL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MCP / CLI / API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工具与连接器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Contracts / Auth / Errors / Rate Limits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业务流程与 RPA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 ↔ 桌面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表单 / 文件 / 检查点 / 审批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教学与组织资产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 · 文档 · 规则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教案 / SOP / 表格 / 旧系统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四类转换结果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项目积木化既释放能力，也保留真实边界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同一项目可以同时生成四类产物：能拆则拆、能复用则复用、必须原生则明确保留。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自定义积木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适合｜稳定组件 / SDK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结果｜类型化输入输出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价值｜跨项目复用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可展开蓝图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适合｜多步通用流程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结果｜可学习可改造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价值｜降低上手门槛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兼容模板草案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适合｜完整 Agent Harness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结果｜运行时 + 可逆投影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价值｜保留行为与升级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原生保留报告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适合｜许可 / 性能 / 动态边界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结果｜定位与兼容说明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价值｜不伪装转换成功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一份源码可拆出积木、蓝图与模板；修改后仍可追溯来源、差异与权限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CLI / SKILLS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图形页、构建助手、CLI 与四个 Skills 共用同一语义内核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无论人或 Agent 操作，都通过 Build Spec、Semantic Patch、Compiler 和 Permission Contract 改变同一份项目。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B99917-4785-4FF2-9985-F6BA06501A99}"/>
              </a:ext>
            </a:extLst>
          </p:cNvPr>
          <p:cNvSpPr>
            <a:spLocks noGrp="1"/>
          </p:cNvSpPr>
          <p:nvPr/>
        </p:nvSpPr>
        <p:spPr>
          <a:xfrm>
            <a:off x="23431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noGrp="1"/>
          </p:cNvSpPr>
          <p:nvPr/>
        </p:nvSpPr>
        <p:spPr>
          <a:xfrm>
            <a:off x="25431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CCDC8-7024-494D-AA95-7BFAEFB3498F}"/>
              </a:ext>
            </a:extLst>
          </p:cNvPr>
          <p:cNvSpPr>
            <a:spLocks noGrp="1"/>
          </p:cNvSpPr>
          <p:nvPr/>
        </p:nvSpPr>
        <p:spPr>
          <a:xfrm>
            <a:off x="44958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noGrp="1"/>
          </p:cNvSpPr>
          <p:nvPr/>
        </p:nvSpPr>
        <p:spPr>
          <a:xfrm>
            <a:off x="46958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5E4D1E-C2BE-43FE-97BC-475FE4A6E679}"/>
              </a:ext>
            </a:extLst>
          </p:cNvPr>
          <p:cNvSpPr>
            <a:spLocks noGrp="1"/>
          </p:cNvSpPr>
          <p:nvPr/>
        </p:nvSpPr>
        <p:spPr>
          <a:xfrm>
            <a:off x="66484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noGrp="1"/>
          </p:cNvSpPr>
          <p:nvPr/>
        </p:nvSpPr>
        <p:spPr>
          <a:xfrm>
            <a:off x="68484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E01B1A-FBF1-410D-A8FE-40496C9C23D5}"/>
              </a:ext>
            </a:extLst>
          </p:cNvPr>
          <p:cNvSpPr>
            <a:spLocks noGrp="1"/>
          </p:cNvSpPr>
          <p:nvPr/>
        </p:nvSpPr>
        <p:spPr>
          <a:xfrm>
            <a:off x="88011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noGrp="1"/>
          </p:cNvSpPr>
          <p:nvPr/>
        </p:nvSpPr>
        <p:spPr>
          <a:xfrm>
            <a:off x="90011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搭建 Agent</a:t>
            </a:r>
          </a:p>
          <a:p>
            <a:r>
              <a:t>$build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$build-blocky-agents</a:t>
            </a:r>
          </a:p>
          <a:p>
            <a:r>
              <a:t>创建 / 修改 / 解释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noGrp="1"/>
          </p:cNvSpPr>
          <p:nvPr/>
        </p:nvSpPr>
        <p:spPr>
          <a:xfrm>
            <a:off x="28384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noGrp="1"/>
          </p:cNvSpPr>
          <p:nvPr/>
        </p:nvSpPr>
        <p:spPr>
          <a:xfrm>
            <a:off x="29908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创建积木</a:t>
            </a:r>
          </a:p>
          <a:p>
            <a:r>
              <a:t>$create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noGrp="1"/>
          </p:cNvSpPr>
          <p:nvPr/>
        </p:nvSpPr>
        <p:spPr>
          <a:xfrm>
            <a:off x="29718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$create-blocky-blocks</a:t>
            </a:r>
          </a:p>
          <a:p>
            <a:r>
              <a:t>可视 / 代码自定义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noGrp="1"/>
          </p:cNvSpPr>
          <p:nvPr/>
        </p:nvSpPr>
        <p:spPr>
          <a:xfrm>
            <a:off x="49911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noGrp="1"/>
          </p:cNvSpPr>
          <p:nvPr/>
        </p:nvSpPr>
        <p:spPr>
          <a:xfrm>
            <a:off x="51435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项目积木化</a:t>
            </a:r>
          </a:p>
          <a:p>
            <a:r>
              <a:t>$convert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noGrp="1"/>
          </p:cNvSpPr>
          <p:nvPr/>
        </p:nvSpPr>
        <p:spPr>
          <a:xfrm>
            <a:off x="51244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GitHub / 本地项目</a:t>
            </a:r>
          </a:p>
          <a:p>
            <a:r>
              <a:t>积木 / 蓝图 / 模板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noGrp="1"/>
          </p:cNvSpPr>
          <p:nvPr/>
        </p:nvSpPr>
        <p:spPr>
          <a:xfrm>
            <a:off x="72961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逆向 Agent</a:t>
            </a:r>
          </a:p>
          <a:p>
            <a:r>
              <a:t>$reverse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noGrp="1"/>
          </p:cNvSpPr>
          <p:nvPr/>
        </p:nvSpPr>
        <p:spPr>
          <a:xfrm>
            <a:off x="72771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结构 / 配置 / 行为</a:t>
            </a:r>
          </a:p>
          <a:p>
            <a:r>
              <a:t>证据 / 覆盖 / 保留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556" lnSpcReduction="10000"/>
          </a:bodyPr>
          <a:lstStyle/>
          <a:p>
            <a:r>
              <a:t>CLI 验证</a:t>
            </a:r>
          </a:p>
          <a:p>
            <a:r>
              <a:t>Shared Contract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noGrp="1"/>
          </p:cNvSpPr>
          <p:nvPr/>
        </p:nvSpPr>
        <p:spPr>
          <a:xfrm>
            <a:off x="94297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validate / compile / test</a:t>
            </a:r>
          </a:p>
          <a:p>
            <a:r>
              <a:t>inspect / pack / apply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9067800" cy="1066800"/>
          </a:xfrm>
          <a:prstGeom prst="roundRect">
            <a:avLst>
              <a:gd name="adj" fmla="val 17857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53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同一 Project Manifest · Workspace · IR · RuntimeEvent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noGrp="1"/>
          </p:cNvSpPr>
          <p:nvPr/>
        </p:nvSpPr>
        <p:spPr>
          <a:xfrm>
            <a:off x="1828800" y="5143500"/>
            <a:ext cx="853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四个 Skills 是专业入口，不是四套隐藏语言</a:t>
            </a: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$build-blocky-agents · $create-blocky-blocks · $convert-github-project-to-blocky · $reverse-agent-to-blocky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开放生态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社区分发的是可审查能力，不是不可见的黑盒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纯模板、组合积木、代码扩展与原生兼容包分型；安装与更新都展示来源、许可、权限、依赖和差异。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6572250" cy="3790950"/>
          </a:xfrm>
          <a:prstGeom prst="roundRect">
            <a:avLst>
              <a:gd name="adj" fmla="val 5528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241935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noGrp="1"/>
          </p:cNvSpPr>
          <p:nvPr/>
        </p:nvSpPr>
        <p:spPr>
          <a:xfrm>
            <a:off x="1066800" y="5229225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6375" lnSpcReduction="20000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概念示意 · 来源、权限、版本与签名分层可见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四类对象 + 三道治理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noGrp="1"/>
          </p:cNvSpPr>
          <p:nvPr/>
        </p:nvSpPr>
        <p:spPr>
          <a:xfrm>
            <a:off x="77343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noGrp="1"/>
          </p:cNvSpPr>
          <p:nvPr/>
        </p:nvSpPr>
        <p:spPr>
          <a:xfrm>
            <a:off x="78486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纯模板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noGrp="1"/>
          </p:cNvSpPr>
          <p:nvPr/>
        </p:nvSpPr>
        <p:spPr>
          <a:xfrm>
            <a:off x="94107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noGrp="1"/>
          </p:cNvSpPr>
          <p:nvPr/>
        </p:nvSpPr>
        <p:spPr>
          <a:xfrm>
            <a:off x="95250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组合积木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noGrp="1"/>
          </p:cNvSpPr>
          <p:nvPr/>
        </p:nvSpPr>
        <p:spPr>
          <a:xfrm>
            <a:off x="78486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代码扩展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noGrp="1"/>
          </p:cNvSpPr>
          <p:nvPr/>
        </p:nvSpPr>
        <p:spPr>
          <a:xfrm>
            <a:off x="95250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兼容包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noGrp="1"/>
          </p:cNvSpPr>
          <p:nvPr/>
        </p:nvSpPr>
        <p:spPr>
          <a:xfrm>
            <a:off x="78486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版本锁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noGrp="1"/>
          </p:cNvSpPr>
          <p:nvPr/>
        </p:nvSpPr>
        <p:spPr>
          <a:xfrm>
            <a:off x="95250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权限审查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noGrp="1"/>
          </p:cNvSpPr>
          <p:nvPr/>
        </p:nvSpPr>
        <p:spPr>
          <a:xfrm>
            <a:off x="7848600" y="45243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签名撤回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noGrp="1"/>
          </p:cNvSpPr>
          <p:nvPr/>
        </p:nvSpPr>
        <p:spPr>
          <a:xfrm>
            <a:off x="7734300" y="5200650"/>
            <a:ext cx="3238500" cy="514350"/>
          </a:xfrm>
          <a:prstGeom prst="roundRect">
            <a:avLst>
              <a:gd name="adj" fmla="val 25926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noGrp="1"/>
          </p:cNvSpPr>
          <p:nvPr/>
        </p:nvSpPr>
        <p:spPr>
          <a:xfrm>
            <a:off x="7867650" y="5229225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IR、Runtime Core、轨迹与权限模型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rcRect t="2671" b="2671"/>
          <a:stretch/>
        </p:blipFill>
        <p:spPr>
          <a:xfrm>
            <a:off x="819150" y="2076450"/>
            <a:ext cx="6305550" cy="30861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0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MOBILE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手机负责使用与操控 Agent，不把桌面画布硬塞进小屏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Android、HarmonyOS、iOS 读取交互清单，显示消息、附件、审批、进度与轨迹摘要。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6572250" cy="3790950"/>
          </a:xfrm>
          <a:prstGeom prst="roundRect">
            <a:avLst>
              <a:gd name="adj" fmla="val 5528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241935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noGrp="1"/>
          </p:cNvSpPr>
          <p:nvPr/>
        </p:nvSpPr>
        <p:spPr>
          <a:xfrm>
            <a:off x="1066800" y="5229225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5268" lnSpcReduction="20000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概念示意 · 本机 / 桌面 / 服务器运行目标协商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移动端七项核心能力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noGrp="1"/>
          </p:cNvSpPr>
          <p:nvPr/>
        </p:nvSpPr>
        <p:spPr>
          <a:xfrm>
            <a:off x="77343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noGrp="1"/>
          </p:cNvSpPr>
          <p:nvPr/>
        </p:nvSpPr>
        <p:spPr>
          <a:xfrm>
            <a:off x="78486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列表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noGrp="1"/>
          </p:cNvSpPr>
          <p:nvPr/>
        </p:nvSpPr>
        <p:spPr>
          <a:xfrm>
            <a:off x="94107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noGrp="1"/>
          </p:cNvSpPr>
          <p:nvPr/>
        </p:nvSpPr>
        <p:spPr>
          <a:xfrm>
            <a:off x="95250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交互入口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noGrp="1"/>
          </p:cNvSpPr>
          <p:nvPr/>
        </p:nvSpPr>
        <p:spPr>
          <a:xfrm>
            <a:off x="78486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附件输入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noGrp="1"/>
          </p:cNvSpPr>
          <p:nvPr/>
        </p:nvSpPr>
        <p:spPr>
          <a:xfrm>
            <a:off x="95250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工具进度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noGrp="1"/>
          </p:cNvSpPr>
          <p:nvPr/>
        </p:nvSpPr>
        <p:spPr>
          <a:xfrm>
            <a:off x="78486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审批取消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noGrp="1"/>
          </p:cNvSpPr>
          <p:nvPr/>
        </p:nvSpPr>
        <p:spPr>
          <a:xfrm>
            <a:off x="95250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断线恢复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noGrp="1"/>
          </p:cNvSpPr>
          <p:nvPr/>
        </p:nvSpPr>
        <p:spPr>
          <a:xfrm>
            <a:off x="7848600" y="45243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目标协商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noGrp="1"/>
          </p:cNvSpPr>
          <p:nvPr/>
        </p:nvSpPr>
        <p:spPr>
          <a:xfrm>
            <a:off x="7734300" y="5200650"/>
            <a:ext cx="3238500" cy="514350"/>
          </a:xfrm>
          <a:prstGeom prst="roundRect">
            <a:avLst>
              <a:gd name="adj" fmla="val 25926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noGrp="1"/>
          </p:cNvSpPr>
          <p:nvPr/>
        </p:nvSpPr>
        <p:spPr>
          <a:xfrm>
            <a:off x="7867650" y="5229225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IR、Runtime Core、轨迹与权限模型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rcRect t="2671" b="2671"/>
          <a:stretch/>
        </p:blipFill>
        <p:spPr>
          <a:xfrm>
            <a:off x="819150" y="2076450"/>
            <a:ext cx="6305550" cy="30861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0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场景化拓展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从个人学习到组织生产，服务围绕同一产品底座展开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标准功能解决通用搭建，拓展服务把目标、课程、数据、系统和治理要求组合成可用方案。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一套内核支撑个人订阅、机构方案与企业交付，作品格式与运行证据保持一致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服务价值：缩短场景落地周期，让定制能力继续沉淀为可复用资产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个人学习进阶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路径与项目包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课程 / 挑战 / 作品集 / 反馈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个人创作拓展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场景蓝图与能力包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知识 / 工具 / 模型 / 发布指导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学校课程方案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课程与蓝图共创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教案 / 任务 / 评价 / 版本锁定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教育机构运营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班级与教师服务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培训 / 分发 / 提交 / 本地资源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企业场景共创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流程诊断与方案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/ 数据 / 系统 / 风险边界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企业定制交付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+ App + RPA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集成 / 私有化 / 审计 / 运维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定制服务体系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定制不是一次性交付，而是可复用的产品化链路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每次场景共创都沿统一步骤落地，并把成果沉淀为组织蓝图、私有积木与版本化解决方案。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标准积木优先，自定义能力有 Contract，原生能力有保留区；交付可升级、可 Rollback、可复用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交付闭环：诊断 → 设计 → 共创 → 验证 → 部署 → 运营 → 资产回流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场景诊断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目标与流程建模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用户 / 任务 / KPI / 责任边界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与模块蓝图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知识 / 工具 / 权限 / 人工节点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内容与数据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 / 知识 / 规则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 / ACL / 更新 / 引用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连接与开发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积木 / MCP / API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AppSurface / RPA / 旧系统适配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部署与治理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环境 / Secrets / 审计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权限 / Rollback / 成本 / 可用性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培训与运营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教师 / 员工 / 管理员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上线 / 支持 / 评测 / 版本升级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ROADMAP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产品、解决方案与生态按四个阶段共同扩张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底层能力稳定后，再扩大服务目录、组织交付与多端运行；所有场景共享同一项目格式。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正式地基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5833" lnSpcReduction="10000"/>
          </a:bodyPr>
          <a:lstStyle/>
          <a:p>
            <a:r>
              <a:t>阶段 0–2｜Contract Baseline / 多模块</a:t>
            </a:r>
          </a:p>
          <a:p>
            <a:r>
              <a:t>桌面｜面板 / 终端 / 日志</a:t>
            </a:r>
          </a:p>
          <a:p>
            <a:r>
              <a:t>地基｜设置 / 资源 / 权限</a:t>
            </a:r>
          </a:p>
          <a:p>
            <a:r>
              <a:t>闭环｜保存 / 窗口 / 回收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产品闭环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531" lnSpcReduction="10000"/>
          </a:bodyPr>
          <a:lstStyle/>
          <a:p>
            <a:r>
              <a:t>阶段 3–7｜RAG / 项目积木化</a:t>
            </a:r>
          </a:p>
          <a:p>
            <a:r>
              <a:t>产品｜蓝图 / Agent / 构建助手</a:t>
            </a:r>
          </a:p>
          <a:p>
            <a:r>
              <a:t>交付｜Trace / AppSurface</a:t>
            </a:r>
          </a:p>
          <a:p>
            <a:r>
              <a:t>办公｜有人值守 RPA / 多架构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规模化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0348" lnSpcReduction="10000"/>
          </a:bodyPr>
          <a:lstStyle/>
          <a:p>
            <a:r>
              <a:t>阶段 8–11｜6 模板 / CLI / 4 Skills</a:t>
            </a:r>
          </a:p>
          <a:p>
            <a:r>
              <a:t>教育｜工作区 / 机构方案</a:t>
            </a:r>
          </a:p>
          <a:p>
            <a:r>
              <a:t>企业｜团队 / 部署 / 无人值守 RPA</a:t>
            </a:r>
          </a:p>
          <a:p>
            <a:r>
              <a:t>服务｜定制方案 / 私有资产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生态与多端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6615" lnSpcReduction="10000"/>
          </a:bodyPr>
          <a:lstStyle/>
          <a:p>
            <a:r>
              <a:t>阶段 12–14｜社区供应链</a:t>
            </a:r>
          </a:p>
          <a:p>
            <a:r>
              <a:t>桌面｜macOS + 移动使用器</a:t>
            </a:r>
          </a:p>
          <a:p>
            <a:r>
              <a:t>商业｜权益 / 订阅 / 服务目录</a:t>
            </a:r>
          </a:p>
          <a:p>
            <a:r>
              <a:t>生态｜多端分发 / 国际化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每个服务方案都回流为蓝图、积木、适配器或私有资产包，形成复用飞轮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5A5DFD-C6BE-4653-B54F-904DF01C84B1}">
  <we:reference id="wa200010215" version="2.0.0.0" store="en-US" storeType="OMEX"/>
  <we:alternateReferences>
    <we:reference id="WA200010215" version="2.0.0.0" store="" storeType="OMEX"/>
  </we:alternateReferences>
  <we:properties>
    <we:property name="bps.codex_control.document_id" value="&quot;8fd79d6f-96b9-4d1b-bcbb-e68a2dc4a01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5857</Words>
  <Application>Microsoft Office PowerPoint</Application>
  <DocSecurity>0</DocSecurity>
  <PresentationFormat>宽屏</PresentationFormat>
  <Paragraphs>1040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39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/>
  <cp:revision>1</cp:revision>
  <dcterms:created xsi:type="dcterms:W3CDTF">2026-08-26T16:03:27Z</dcterms:created>
  <dcterms:modified xsi:type="dcterms:W3CDTF">2026-08-26T16:36:27Z</dcterms:modified>
</cp:coreProperties>
</file>
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f0f1cbf8084ef6" /><Relationship Type="http://schemas.openxmlformats.org/officeDocument/2006/relationships/extended-properties" Target="/docProps/app.xml" Id="Rc108b5d715674c53" /><Relationship Type="http://schemas.openxmlformats.org/officeDocument/2006/relationships/officeDocument" Target="/ppt/presentation.xml" Id="Rb38f8844fee741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8a341291834f32"/>
  </p:sldMasterIdLst>
  <p:notesMasterIdLst>
    <p:notesMasterId xmlns:r="http://schemas.openxmlformats.org/officeDocument/2006/relationships" r:id="R4a3845ff0de04565"/>
  </p:notesMasterIdLst>
  <p:sldIdLst>
    <p:sldId xmlns:r="http://schemas.openxmlformats.org/officeDocument/2006/relationships" id="256" r:id="R826b634378394027"/>
    <p:sldId xmlns:r="http://schemas.openxmlformats.org/officeDocument/2006/relationships" id="257" r:id="R3afcdf69767c4d83"/>
    <p:sldId xmlns:r="http://schemas.openxmlformats.org/officeDocument/2006/relationships" id="258" r:id="R44e6b1f869ec48c1"/>
    <p:sldId xmlns:r="http://schemas.openxmlformats.org/officeDocument/2006/relationships" id="259" r:id="R0aeefb5ad0b345bc"/>
    <p:sldId xmlns:r="http://schemas.openxmlformats.org/officeDocument/2006/relationships" id="260" r:id="R14456800dbb041c4"/>
    <p:sldId xmlns:r="http://schemas.openxmlformats.org/officeDocument/2006/relationships" id="261" r:id="R708224859fba4eff"/>
    <p:sldId xmlns:r="http://schemas.openxmlformats.org/officeDocument/2006/relationships" id="262" r:id="Rd7c9759f934b4a93"/>
    <p:sldId xmlns:r="http://schemas.openxmlformats.org/officeDocument/2006/relationships" id="263" r:id="R96150673e1254394"/>
    <p:sldId xmlns:r="http://schemas.openxmlformats.org/officeDocument/2006/relationships" id="264" r:id="R80d86cc13c124ddf"/>
    <p:sldId xmlns:r="http://schemas.openxmlformats.org/officeDocument/2006/relationships" id="265" r:id="R55446ac81eac4a2b"/>
    <p:sldId xmlns:r="http://schemas.openxmlformats.org/officeDocument/2006/relationships" id="266" r:id="R4ea97d34e5cd4218"/>
    <p:sldId xmlns:r="http://schemas.openxmlformats.org/officeDocument/2006/relationships" id="267" r:id="R0a418d6236204424"/>
    <p:sldId xmlns:r="http://schemas.openxmlformats.org/officeDocument/2006/relationships" id="268" r:id="R313d466de6ab4f28"/>
    <p:sldId xmlns:r="http://schemas.openxmlformats.org/officeDocument/2006/relationships" id="269" r:id="R5e057a1709354d4c"/>
    <p:sldId xmlns:r="http://schemas.openxmlformats.org/officeDocument/2006/relationships" id="270" r:id="Rc5dd82d04fae4f85"/>
    <p:sldId xmlns:r="http://schemas.openxmlformats.org/officeDocument/2006/relationships" id="271" r:id="Rb7c15d54a7ff44d9"/>
    <p:sldId xmlns:r="http://schemas.openxmlformats.org/officeDocument/2006/relationships" id="272" r:id="Rf843da7c3f554c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f93523833543eb" /><Relationship Type="http://schemas.openxmlformats.org/officeDocument/2006/relationships/slideMaster" Target="/ppt/slideMasters/slideMaster1.xml" Id="Re18a341291834f32" /><Relationship Type="http://schemas.openxmlformats.org/officeDocument/2006/relationships/notesMaster" Target="/ppt/notesMasters/notesMaster1.xml" Id="R4a3845ff0de04565" /><Relationship Type="http://schemas.openxmlformats.org/officeDocument/2006/relationships/presProps" Target="/ppt/presProps.xml" Id="R695fc81376334057" /><Relationship Type="http://schemas.openxmlformats.org/officeDocument/2006/relationships/tableStyles" Target="/ppt/tableStyles.xml" Id="R11a4f90aa0584f55" /><Relationship Type="http://schemas.openxmlformats.org/officeDocument/2006/relationships/slide" Target="/ppt/slides/slide1.xml" Id="R826b634378394027" /><Relationship Type="http://schemas.openxmlformats.org/officeDocument/2006/relationships/slide" Target="/ppt/slides/slide2.xml" Id="R3afcdf69767c4d83" /><Relationship Type="http://schemas.openxmlformats.org/officeDocument/2006/relationships/slide" Target="/ppt/slides/slide3.xml" Id="R44e6b1f869ec48c1" /><Relationship Type="http://schemas.openxmlformats.org/officeDocument/2006/relationships/slide" Target="/ppt/slides/slide4.xml" Id="R0aeefb5ad0b345bc" /><Relationship Type="http://schemas.openxmlformats.org/officeDocument/2006/relationships/slide" Target="/ppt/slides/slide5.xml" Id="R14456800dbb041c4" /><Relationship Type="http://schemas.openxmlformats.org/officeDocument/2006/relationships/slide" Target="/ppt/slides/slide6.xml" Id="R708224859fba4eff" /><Relationship Type="http://schemas.openxmlformats.org/officeDocument/2006/relationships/slide" Target="/ppt/slides/slide7.xml" Id="Rd7c9759f934b4a93" /><Relationship Type="http://schemas.openxmlformats.org/officeDocument/2006/relationships/slide" Target="/ppt/slides/slide8.xml" Id="R96150673e1254394" /><Relationship Type="http://schemas.openxmlformats.org/officeDocument/2006/relationships/slide" Target="/ppt/slides/slide9.xml" Id="R80d86cc13c124ddf" /><Relationship Type="http://schemas.openxmlformats.org/officeDocument/2006/relationships/slide" Target="/ppt/slides/slide10.xml" Id="R55446ac81eac4a2b" /><Relationship Type="http://schemas.openxmlformats.org/officeDocument/2006/relationships/slide" Target="/ppt/slides/slide11.xml" Id="R4ea97d34e5cd4218" /><Relationship Type="http://schemas.openxmlformats.org/officeDocument/2006/relationships/slide" Target="/ppt/slides/slide12.xml" Id="R0a418d6236204424" /><Relationship Type="http://schemas.openxmlformats.org/officeDocument/2006/relationships/slide" Target="/ppt/slides/slide13.xml" Id="R313d466de6ab4f28" /><Relationship Type="http://schemas.openxmlformats.org/officeDocument/2006/relationships/slide" Target="/ppt/slides/slide14.xml" Id="R5e057a1709354d4c" /><Relationship Type="http://schemas.openxmlformats.org/officeDocument/2006/relationships/slide" Target="/ppt/slides/slide15.xml" Id="Rc5dd82d04fae4f85" /><Relationship Type="http://schemas.openxmlformats.org/officeDocument/2006/relationships/slide" Target="/ppt/slides/slide16.xml" Id="Rb7c15d54a7ff44d9" /><Relationship Type="http://schemas.openxmlformats.org/officeDocument/2006/relationships/slide" Target="/ppt/slides/slide17.xml" Id="Rf843da7c3f554c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6ee14ddd6c49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ddea5a7c064339" /><Relationship Type="http://schemas.openxmlformats.org/officeDocument/2006/relationships/notesMaster" Target="/ppt/notesMasters/notesMaster1.xml" Id="R02352e44383740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69abcc84b04f63" /><Relationship Type="http://schemas.openxmlformats.org/officeDocument/2006/relationships/notesMaster" Target="/ppt/notesMasters/notesMaster1.xml" Id="Rc6cfde2bd64f46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087ccf535646af" /><Relationship Type="http://schemas.openxmlformats.org/officeDocument/2006/relationships/notesMaster" Target="/ppt/notesMasters/notesMaster1.xml" Id="Rb422248b3e334f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de9504ed0c4a67" /><Relationship Type="http://schemas.openxmlformats.org/officeDocument/2006/relationships/notesMaster" Target="/ppt/notesMasters/notesMaster1.xml" Id="R0b21dca619034c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f7cbe5c3fe40f5" /><Relationship Type="http://schemas.openxmlformats.org/officeDocument/2006/relationships/notesMaster" Target="/ppt/notesMasters/notesMaster1.xml" Id="R51121159650644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d99a654a40485b" /><Relationship Type="http://schemas.openxmlformats.org/officeDocument/2006/relationships/notesMaster" Target="/ppt/notesMasters/notesMaster1.xml" Id="Rb66def8b1dfc41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5b51a87a0d400f" /><Relationship Type="http://schemas.openxmlformats.org/officeDocument/2006/relationships/notesMaster" Target="/ppt/notesMasters/notesMaster1.xml" Id="R2c3d8891f6654c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fe2f9c39a94646" /><Relationship Type="http://schemas.openxmlformats.org/officeDocument/2006/relationships/notesMaster" Target="/ppt/notesMasters/notesMaster1.xml" Id="Rd06cca29127c48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208d7d4cb047f1" /><Relationship Type="http://schemas.openxmlformats.org/officeDocument/2006/relationships/notesMaster" Target="/ppt/notesMasters/notesMaster1.xml" Id="Rd2ca5c8ad13544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5c08eb953845b9" /><Relationship Type="http://schemas.openxmlformats.org/officeDocument/2006/relationships/notesMaster" Target="/ppt/notesMasters/notesMaster1.xml" Id="R768bf2c0e55f48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f9093f35104bf6" /><Relationship Type="http://schemas.openxmlformats.org/officeDocument/2006/relationships/notesMaster" Target="/ppt/notesMasters/notesMaster1.xml" Id="R8c4b9e469f344f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420360cc9c4fb7" /><Relationship Type="http://schemas.openxmlformats.org/officeDocument/2006/relationships/notesMaster" Target="/ppt/notesMasters/notesMaster1.xml" Id="R348f1b50d0fe41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9ee9d783b5465a" /><Relationship Type="http://schemas.openxmlformats.org/officeDocument/2006/relationships/notesMaster" Target="/ppt/notesMasters/notesMaster1.xml" Id="Rfdae8e1494954d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574d29a5674146" /><Relationship Type="http://schemas.openxmlformats.org/officeDocument/2006/relationships/notesMaster" Target="/ppt/notesMasters/notesMaster1.xml" Id="R9baa19cd136643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3348ee23a34f84" /><Relationship Type="http://schemas.openxmlformats.org/officeDocument/2006/relationships/notesMaster" Target="/ppt/notesMasters/notesMaster1.xml" Id="R540e95f1a0974e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abea02d35042c1" /><Relationship Type="http://schemas.openxmlformats.org/officeDocument/2006/relationships/notesMaster" Target="/ppt/notesMasters/notesMaster1.xml" Id="R13475c396d6440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1153cbc7964de6" /><Relationship Type="http://schemas.openxmlformats.org/officeDocument/2006/relationships/notesMaster" Target="/ppt/notesMasters/notesMaster1.xml" Id="R25213098f3b24c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20 秒。</a:t>
            </a:r>
          </a:p>
          <a:p xmlns:a="http://schemas.openxmlformats.org/drawingml/2006/main">
            <a:r>
              <a:t>大家好，我们是TB快重置就队。Blocky Studio是一款面向教育的积木AI创作软件。我们希望学生不只拿到一个答案，还能搭出作品，看到它用了什么资料、经过哪些步骤，并知道怎样修改。下面用一个水循环课程任务，展示作品如何运行、AI如何参与，以及这些设计带来的应用价值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35 秒。</a:t>
            </a:r>
          </a:p>
          <a:p xmlns:a="http://schemas.openxmlformats.org/drawingml/2006/main">
            <a:r>
              <a:t>请看一个具体任务：学生根据水循环资料做一张学习卡。除了得到文字，教师还需要看它依据哪段资料、经过哪些步骤，学生能否自己修改和解释。Blocky围绕这个过程提供创作工具：让资料、步骤与结果留在同一件作品中。下面的案例使用合成课程资料，展示当前产品能力；真实课堂中的学习效果仍需验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30 秒。</a:t>
            </a:r>
          </a:p>
          <a:p xmlns:a="http://schemas.openxmlformats.org/drawingml/2006/main">
            <a:r>
              <a:t>交互上，我们借鉴Scratch的积木创作方式。学生把角色、资料、模型、工具与输出放在一个作品里。运行后可以查看过程，定位问题，再修改作品。角色、资料、模型和工具是可修改的组成部分；运行事件又能对应回这些积木。接下来看当前软件里实际完成的流程。</a:t>
            </a:r>
          </a:p>
          <a:p xmlns:a="http://schemas.openxmlformats.org/drawingml/2006/main">
            <a:r>
              <a:t>资料来源（访问日期：2026-10-03）：</a:t>
            </a:r>
          </a:p>
          <a:p xmlns:a="http://schemas.openxmlformats.org/drawingml/2006/main">
            <a:r>
              <a:t>https://scratchfoundation.org/learn/learning-library/starter-projects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秒。</a:t>
            </a:r>
          </a:p>
          <a:p xmlns:a="http://schemas.openxmlformats.org/drawingml/2006/main">
            <a:r>
              <a:t>这张图来自当前Blocky桌面版的实际运行。画布上的角色要求按课程资料回答并提供出处，下方依次是收到问题、查找资料、组织回答和输出。我们导入了合成的水循环资料，再提问水循环有哪些过程。这一步使用本地原文整理器，目的是展示真实资料检索与作品结构，输出保留原文与出处；稍后再展示外部模型参与生成学习卡的流程。下一页把结果与过程放大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秒。</a:t>
            </a:r>
          </a:p>
          <a:p xmlns:a="http://schemas.openxmlformats.org/drawingml/2006/main">
            <a:r>
              <a:t>左边是实际输出，能看到课程文件和行号，界面保留了原文摘录的提示，资料里没有的信息保持待核实。右边是同一次运行的彩色事件，可以回到对应积木。引用是核查入口，不能代替对内容的判断。我们想让教师和学生有材料讨论：这句话从哪里来，哪一步需要修改。点击事件后，画布会定位到对应积木，便于继续修改作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60 秒。</a:t>
            </a:r>
          </a:p>
          <a:p xmlns:a="http://schemas.openxmlformats.org/drawingml/2006/main">
            <a:r>
              <a:t>这是独立的构建助手流程。本次它通过息壤deepseek-v4-pro真实读取课程文件，创建了水循环学习卡。结果包括过程解释、资料出处和缺失信息的待核实项。界面能看到实际文件变更和撤回入口。它支持教师准备材料，但材料仍需教师审阅。这条文件生成流程与刚才的画布检索相互独立：一个展示资料检索和过程，一个展示模型决策与受控文件操作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75 秒。</a:t>
            </a:r>
          </a:p>
          <a:p xmlns:a="http://schemas.openxmlformats.org/drawingml/2006/main">
            <a:r>
              <a:t>AI如何进入这个软件，可以分两条路径理解。上面是作品运行：画布先编译和校验，运行内核按照角色、资料和输出等步骤执行，事件关联回具体积木。这个水循环问答示例只整理检索到的原文，强调依据可追溯。下面是构建助手：用户给出任务，模型提出读取文件或写入内容的请求，Host检查所选目录、权限和文件版本，再交给受控工具执行。工具结果返回给模型，直到形成学习卡。模型负责理解任务和生成内容，实际读写由权限边界约束，界面展示真实差异并提供撤回入口。这样，模型能力与作品的执行、检查和修改衔接起来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60 秒。</a:t>
            </a:r>
          </a:p>
          <a:p xmlns:a="http://schemas.openxmlformats.org/drawingml/2006/main">
            <a:r>
              <a:t>我们的创新重点是让创作结构、执行过程和修改保持对应。第一，积木构成可保存、可复用的作品，学生可以改变资料和步骤。第二，结果中的出处和运行轨迹把问题带回具体资料、具体积木。第三，模型协助修改时展示实际差异，项目候选经过用户审阅再应用。底层采用Blockly、Tauri和Pi等开源组件，Blocky实现自身的作品格式、语义编译、运行事件映射和Host集成。Scratch提供成熟的积木创作参照，Blocks Builder AI也是直接教育竞品；我们以这套工作台的完整使用过程说明项目贡献，不把通用能力说成独家发明。</a:t>
            </a:r>
          </a:p>
          <a:p xmlns:a="http://schemas.openxmlformats.org/drawingml/2006/main">
            <a:r>
              <a:t>资料来源（访问日期：2026-10-03）：</a:t>
            </a:r>
          </a:p>
          <a:p xmlns:a="http://schemas.openxmlformats.org/drawingml/2006/main">
            <a:r>
              <a:t>https://scratchfoundation.org/learn/learning-library/starter-projects</a:t>
            </a:r>
          </a:p>
          <a:p xmlns:a="http://schemas.openxmlformats.org/drawingml/2006/main">
            <a:r>
              <a:t>https://blocksbuilder.ai/features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秒。</a:t>
            </a:r>
          </a:p>
          <a:p xmlns:a="http://schemas.openxmlformats.org/drawingml/2006/main">
            <a:r>
              <a:t>我们选择完整软件免费，机构联系报价。首批收入来自范围明确的课程准备、教师培训、安装配置、支持和约定模型额度。报价按规模和工作量核定，而不是统一给每所学校一个价格。个人使用软件免费也不代表外部模型调用没有成本。统一机构账户、额度和计费尚待建设，早期合同只承诺已经具备且可以履约的服务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30 秒。</a:t>
            </a:r>
          </a:p>
          <a:p xmlns:a="http://schemas.openxmlformats.org/drawingml/2006/main">
            <a:r>
              <a:t>当前已经有可运行的Windows桌面软件，前面展示的资料问答、运行轨迹和学习卡文件都来自实际结果。下一步围绕同一课程开展教师试用，观察学生是否能完成、解释和修改作品，再验证教师能否独立复用。商业化从范围清楚的课程与支持服务开始；课堂效果与机构收入目前仍待验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20 秒。</a:t>
            </a:r>
          </a:p>
          <a:p xmlns:a="http://schemas.openxmlformats.org/drawingml/2006/main">
            <a:r>
              <a:t>Blocky希望让学生不只获得一段AI输出，还能搭建作品、检查依据、解释过程并亲手修改。当前桌面产品已经实现这条创作链路，我们将用真实课程继续验证它的教学与应用价值。谢谢各位评委。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问答备份页，主讲不计时。</a:t>
            </a:r>
          </a:p>
          <a:p xmlns:a="http://schemas.openxmlformats.org/drawingml/2006/main">
            <a:r>
              <a:t>我们把财务做成逐月模型。基准假设三年交付四、十、十八份合同，每份均价一万八千元，首年收入七万二千元。计入人工、模型、支持、固定运营与设备折旧后，前两年亏损，第三年单年转正，但三年累计仍亏损。假设两万元自有资金后，峰值缺口八万三千元，加两万元储备，追加资金预算十万三千元。所有这些都未承诺，资金不到位就缩小支出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问答备份页，主讲不计时。</a:t>
            </a:r>
          </a:p>
          <a:p xmlns:a="http://schemas.openxmlformats.org/drawingml/2006/main">
            <a:r>
              <a:t>这个方向并不是空白市场。Scratch提供成熟的积木学习方式。Blocks Builder AI已经公开提供积木AI、个人免费和教育机构洽谈。Dify也有教育计划。因此免费不能成为我们的主要差异。Blocky要证明的是，桌面作品、资料出处和可查看过程能否帮助教师反复组织课程。我们不会因为有这些功能就宣称已经超过竞品。</a:t>
            </a:r>
          </a:p>
          <a:p xmlns:a="http://schemas.openxmlformats.org/drawingml/2006/main">
            <a:r>
              <a:t>资料来源（访问日期：2026-10-03）：</a:t>
            </a:r>
          </a:p>
          <a:p xmlns:a="http://schemas.openxmlformats.org/drawingml/2006/main">
            <a:r>
              <a:t>https://scratchfoundation.org/learn/learning-library/starter-projects</a:t>
            </a:r>
          </a:p>
          <a:p xmlns:a="http://schemas.openxmlformats.org/drawingml/2006/main">
            <a:r>
              <a:t>https://blocksbuilder.ai/features</a:t>
            </a:r>
          </a:p>
          <a:p xmlns:a="http://schemas.openxmlformats.org/drawingml/2006/main">
            <a:r>
              <a:t>https://blocksbuilder.ai/pricing</a:t>
            </a:r>
          </a:p>
          <a:p xmlns:a="http://schemas.openxmlformats.org/drawingml/2006/main">
            <a:r>
              <a:t>https://dify.ai/education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问答备份页，主讲不计时。</a:t>
            </a:r>
          </a:p>
          <a:p xmlns:a="http://schemas.openxmlformats.org/drawingml/2006/main">
            <a:r>
              <a:t>情景来自可编辑的36个月财务模型。悲观假设合同更少、均价更低、支持工时与模型费用更高，且当月只收30%款；积极假设更高成交与效率，但同时增加固定支出与外部增援。税费按收入比例预留，只是管理预算，不是法定税率。三年累计损益仍为负的情景不能表述成已盈利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问答备份页，主讲不计时。</a:t>
            </a:r>
          </a:p>
          <a:p xmlns:a="http://schemas.openxmlformats.org/drawingml/2006/main">
            <a:r>
              <a:t>积木适合解释、修改与复用流程，并不意味着所有任务都优于聊天。资料引用不保证答案正确。文件和工具操作遵循当前Host权限边界，具体机构仍需结合资料与设备要求核实。不要承诺绝对安全、零幻觉或未经验证的教学提升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问答备份页，主讲不计时。</a:t>
            </a:r>
          </a:p>
          <a:p xmlns:a="http://schemas.openxmlformats.org/drawingml/2006/main">
            <a:r>
              <a:t>演示前先准备同一合成课程资料、正确作品和可用模型配置。画布示例展示资料检索与原文引用，构建助手示例展示文件读写与生成。真实模型请求耗时与网络有关，不在现场临时承诺固定等待时长。若条件不足，按真实截图和结果说明，不伪装现场实时运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问答备份页，主讲不计时。</a:t>
            </a:r>
          </a:p>
          <a:p xmlns:a="http://schemas.openxmlformats.org/drawingml/2006/main">
            <a:r>
              <a:t>外部产品以公开页面描述为依据，不将公开功能推断为教学效果或营收。Blocky截图来自2026年10月3日的当前Windows版本实际运行，全部使用合成教学资料。经营数字来自配套财务模型，全部为假设。</a:t>
            </a:r>
          </a:p>
          <a:p xmlns:a="http://schemas.openxmlformats.org/drawingml/2006/main">
            <a:r>
              <a:t>资料来源（访问日期：2026-10-03）：</a:t>
            </a:r>
          </a:p>
          <a:p xmlns:a="http://schemas.openxmlformats.org/drawingml/2006/main">
            <a:r>
              <a:t>https://scratchfoundation.org/learn/learning-library/starter-projects</a:t>
            </a:r>
          </a:p>
          <a:p xmlns:a="http://schemas.openxmlformats.org/drawingml/2006/main">
            <a:r>
              <a:t>https://blocksbuilder.ai/features</a:t>
            </a:r>
          </a:p>
          <a:p xmlns:a="http://schemas.openxmlformats.org/drawingml/2006/main">
            <a:r>
              <a:t>https://blocksbuilder.ai/pricing</a:t>
            </a:r>
          </a:p>
          <a:p xmlns:a="http://schemas.openxmlformats.org/drawingml/2006/main">
            <a:r>
              <a:t>https://dify.ai/education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058caed52a40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b6f24999ca4fd1" /><Relationship Type="http://schemas.openxmlformats.org/officeDocument/2006/relationships/slideLayout" Target="/ppt/slideLayouts/slideLayout1.xml" Id="R265eab6f68564b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5eab6f68564b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9aa1b9a0f4b97" /><Relationship Type="http://schemas.openxmlformats.org/officeDocument/2006/relationships/image" Target="/ppt/media/image.png" Id="R034221f6c071440f" /><Relationship Type="http://schemas.openxmlformats.org/officeDocument/2006/relationships/notesSlide" Target="/ppt/notesSlides/notesSlide1.xml" Id="R28d17cf3d2a84b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19ce936e74b31" /><Relationship Type="http://schemas.openxmlformats.org/officeDocument/2006/relationships/image" Target="/ppt/media/image2.png" Id="Rb019e090de8a4cd1" /><Relationship Type="http://schemas.openxmlformats.org/officeDocument/2006/relationships/notesSlide" Target="/ppt/notesSlides/notesSlide2.xml" Id="R751e25273b1c40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91e468046407b" /><Relationship Type="http://schemas.openxmlformats.org/officeDocument/2006/relationships/image" Target="/ppt/media/image3.png" Id="Rca9decb2442d47a3" /><Relationship Type="http://schemas.openxmlformats.org/officeDocument/2006/relationships/notesSlide" Target="/ppt/notesSlides/notesSlide3.xml" Id="Rb8c01bb7471244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5cc66c8d14bdc" /><Relationship Type="http://schemas.openxmlformats.org/officeDocument/2006/relationships/image" Target="/ppt/media/image4.png" Id="R05728f1ba5e14db4" /><Relationship Type="http://schemas.openxmlformats.org/officeDocument/2006/relationships/notesSlide" Target="/ppt/notesSlides/notesSlide4.xml" Id="Ra3ad7c6068504c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482c60b544904" /><Relationship Type="http://schemas.openxmlformats.org/officeDocument/2006/relationships/image" Target="/ppt/media/image5.png" Id="R3584720116b14dab" /><Relationship Type="http://schemas.openxmlformats.org/officeDocument/2006/relationships/image" Target="/ppt/media/image6.png" Id="Ree055dfa428442c5" /><Relationship Type="http://schemas.openxmlformats.org/officeDocument/2006/relationships/notesSlide" Target="/ppt/notesSlides/notesSlide5.xml" Id="R13c1298b1a6f49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c269029e9448c" /><Relationship Type="http://schemas.openxmlformats.org/officeDocument/2006/relationships/image" Target="/ppt/media/image7.png" Id="Rf3ebde9d75dc4f94" /><Relationship Type="http://schemas.openxmlformats.org/officeDocument/2006/relationships/notesSlide" Target="/ppt/notesSlides/notesSlide6.xml" Id="Ra3c835af8f2546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75d71943744ed" /><Relationship Type="http://schemas.openxmlformats.org/officeDocument/2006/relationships/notesSlide" Target="/ppt/notesSlides/notesSlide7.xml" Id="R2a8fb979e48441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384776f34443a" /><Relationship Type="http://schemas.openxmlformats.org/officeDocument/2006/relationships/notesSlide" Target="/ppt/notesSlides/notesSlide8.xml" Id="R051cb3deafd44a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0220a88b04d0b" /><Relationship Type="http://schemas.openxmlformats.org/officeDocument/2006/relationships/image" Target="/ppt/media/image8.png" Id="R0b79a47362184d4a" /><Relationship Type="http://schemas.openxmlformats.org/officeDocument/2006/relationships/notesSlide" Target="/ppt/notesSlides/notesSlide9.xml" Id="R816b8a12874944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2637f53cc4b80" /><Relationship Type="http://schemas.openxmlformats.org/officeDocument/2006/relationships/image" Target="/ppt/media/image9.png" Id="R74b36b2ee7e949a9" /><Relationship Type="http://schemas.openxmlformats.org/officeDocument/2006/relationships/notesSlide" Target="/ppt/notesSlides/notesSlide10.xml" Id="R58eb2f8c9ea848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416a7d9bd4818" /><Relationship Type="http://schemas.openxmlformats.org/officeDocument/2006/relationships/image" Target="/ppt/media/image10.png" Id="Ra168ca05a3ce45e0" /><Relationship Type="http://schemas.openxmlformats.org/officeDocument/2006/relationships/notesSlide" Target="/ppt/notesSlides/notesSlide11.xml" Id="Rdb8d3311367044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a9d8ce0f541bc" /><Relationship Type="http://schemas.openxmlformats.org/officeDocument/2006/relationships/chart" Target="/ppt/slides/charts/chart1.xml" Id="R1368a639a2244da5" /><Relationship Type="http://schemas.openxmlformats.org/officeDocument/2006/relationships/notesSlide" Target="/ppt/notesSlides/notesSlide12.xml" Id="Rf9c2a04fd6f740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a375bf1514e3f" /><Relationship Type="http://schemas.openxmlformats.org/officeDocument/2006/relationships/notesSlide" Target="/ppt/notesSlides/notesSlide13.xml" Id="R2089c0df52fb4c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5231c5e57472c" /><Relationship Type="http://schemas.openxmlformats.org/officeDocument/2006/relationships/notesSlide" Target="/ppt/notesSlides/notesSlide14.xml" Id="Rf43700031be344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42f28c6ba4099" /><Relationship Type="http://schemas.openxmlformats.org/officeDocument/2006/relationships/notesSlide" Target="/ppt/notesSlides/notesSlide15.xml" Id="R94a8a1c277ce44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97046edaf45a3" /><Relationship Type="http://schemas.openxmlformats.org/officeDocument/2006/relationships/image" Target="/ppt/media/image11.png" Id="R26ab0890e9454d89" /><Relationship Type="http://schemas.openxmlformats.org/officeDocument/2006/relationships/notesSlide" Target="/ppt/notesSlides/notesSlide16.xml" Id="Rdf4bf6dd362240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52b01a7a440a2" /><Relationship Type="http://schemas.openxmlformats.org/officeDocument/2006/relationships/notesSlide" Target="/ppt/notesSlides/notesSlide17.xml" Id="R2cc135a26fa8440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收入</c:v>
          </c:tx>
          <c:spPr>
            <a:solidFill xmlns:a="http://schemas.openxmlformats.org/drawingml/2006/main">
              <a:srgbClr val="007C73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</c:numCache>
            </c:num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7.2</c:v>
                </c:pt>
                <c:pt idx="1">
                  <c:v>18</c:v>
                </c:pt>
                <c:pt idx="2">
                  <c:v>32.4</c:v>
                </c:pt>
              </c:numCache>
            </c:numRef>
          </c:val>
        </c:ser>
        <c:ser>
          <c:idx val="1"/>
          <c:order val="1"/>
          <c:tx>
            <c:v>费用</c:v>
          </c:tx>
          <c:spPr>
            <a:solidFill xmlns:a="http://schemas.openxmlformats.org/drawingml/2006/main">
              <a:srgbClr val="7050B5"/>
            </a:solidFill>
          </c:spPr>
          <c:cat>
            <c:numRef>
              <c:f>'Chart Data'!$C$2:$C$4</c:f>
              <c:numCache>
                <c:formatCode>General</c:formatCode>
                <c:ptCount val="3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</c:numCache>
            </c:num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13.264</c:v>
                </c:pt>
                <c:pt idx="1">
                  <c:v>18.84</c:v>
                </c:pt>
                <c:pt idx="2">
                  <c:v>26.968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5232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CCD5D0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7F7F3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52326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7F7F3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221f6c071440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1-0">
            <a:extLst xmlns:a="http://schemas.openxmlformats.org/drawingml/2006/main">
              <a:ext uri="{FF2B5EF4-FFF2-40B4-BE49-F238E27FC236}">
                <a16:creationId xmlns:a16="http://schemas.microsoft.com/office/drawing/2014/main" id="{EAF239D5-7BBD-45B2-9EC0-59C1E2B4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D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D8C9"/>
                </a:solidFill>
                <a:latin typeface="Microsoft YaHei"/>
                <a:ea typeface="Microsoft YaHei"/>
                <a:cs typeface="Microsoft YaHei"/>
              </a:rPr>
              <a:t>息壤杯 · 高校赛区 · 项目答辩</a:t>
            </a:r>
          </a:p>
        </p:txBody>
      </p:sp>
      <p:sp>
        <p:nvSpPr>
          <p:cNvPr id="3" name="text-1-1">
            <a:extLst xmlns:a="http://schemas.openxmlformats.org/drawingml/2006/main">
              <a:ext uri="{FF2B5EF4-FFF2-40B4-BE49-F238E27FC236}">
                <a16:creationId xmlns:a16="http://schemas.microsoft.com/office/drawing/2014/main" id="{CFBAE674-D7C7-4613-9C62-1B1B8277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00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4" name="text-1-2">
            <a:extLst xmlns:a="http://schemas.openxmlformats.org/drawingml/2006/main">
              <a:ext uri="{FF2B5EF4-FFF2-40B4-BE49-F238E27FC236}">
                <a16:creationId xmlns:a16="http://schemas.microsoft.com/office/drawing/2014/main" id="{F9B55F20-951A-4D1D-BAF4-559CBA14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A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ABD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1-3">
            <a:extLst xmlns:a="http://schemas.openxmlformats.org/drawingml/2006/main">
              <a:ext uri="{FF2B5EF4-FFF2-40B4-BE49-F238E27FC236}">
                <a16:creationId xmlns:a16="http://schemas.microsoft.com/office/drawing/2014/main" id="{57DE9B7B-3BC4-412D-AC6F-0C08F71B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A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8BA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1-4">
            <a:extLst xmlns:a="http://schemas.openxmlformats.org/drawingml/2006/main">
              <a:ext uri="{FF2B5EF4-FFF2-40B4-BE49-F238E27FC236}">
                <a16:creationId xmlns:a16="http://schemas.microsoft.com/office/drawing/2014/main" id="{F23EBD85-C607-40EB-8952-DCB340CA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6572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让学生把 AI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搭成看得懂的作品</a:t>
            </a:r>
          </a:p>
        </p:txBody>
      </p:sp>
      <p:sp>
        <p:nvSpPr>
          <p:cNvPr id="7" name="text-1-5">
            <a:extLst xmlns:a="http://schemas.openxmlformats.org/drawingml/2006/main">
              <a:ext uri="{FF2B5EF4-FFF2-40B4-BE49-F238E27FC236}">
                <a16:creationId xmlns:a16="http://schemas.microsoft.com/office/drawing/2014/main" id="{3BDE344B-C428-4B97-A45C-4828FED2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86275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9E3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9E3D7"/>
                </a:solidFill>
                <a:latin typeface="Microsoft YaHei"/>
                <a:ea typeface="Microsoft YaHei"/>
                <a:cs typeface="Microsoft YaHei"/>
              </a:rPr>
              <a:t>积木创作  /  资料出处  /  运行过程</a:t>
            </a:r>
          </a:p>
        </p:txBody>
      </p:sp>
      <p:sp>
        <p:nvSpPr>
          <p:cNvPr id="8" name="text-1-6">
            <a:extLst xmlns:a="http://schemas.openxmlformats.org/drawingml/2006/main">
              <a:ext uri="{FF2B5EF4-FFF2-40B4-BE49-F238E27FC236}">
                <a16:creationId xmlns:a16="http://schemas.microsoft.com/office/drawing/2014/main" id="{D14C42C3-D5BC-426F-9E9F-B09B3794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6191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5D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5D2D2"/>
                </a:solidFill>
                <a:latin typeface="Microsoft YaHei"/>
                <a:ea typeface="Microsoft YaHei"/>
                <a:cs typeface="Microsoft YaHei"/>
              </a:rPr>
              <a:t>TB快重置就队</a:t>
            </a:r>
          </a:p>
          <a:p xmlns:a="http://schemas.openxmlformats.org/drawingml/2006/main">
            <a:pPr algn="l">
              <a:defRPr sz="1575" b="0">
                <a:solidFill>
                  <a:srgbClr val="C5D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5D2D2"/>
                </a:solidFill>
                <a:latin typeface="Microsoft YaHei"/>
                <a:ea typeface="Microsoft YaHei"/>
                <a:cs typeface="Microsoft YaHei"/>
              </a:rPr>
              <a:t>2026年10月</a:t>
            </a:r>
          </a:p>
        </p:txBody>
      </p:sp>
    </p:spTree>
    <p:extLst>
      <p:ext uri="{BB962C8B-B14F-4D97-AF65-F5344CB8AC3E}">
        <p14:creationId xmlns:p14="http://schemas.microsoft.com/office/powerpoint/2010/main" val="11941072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-0">
            <a:extLst xmlns:a="http://schemas.openxmlformats.org/drawingml/2006/main">
              <a:ext uri="{FF2B5EF4-FFF2-40B4-BE49-F238E27FC236}">
                <a16:creationId xmlns:a16="http://schemas.microsoft.com/office/drawing/2014/main" id="{8AE65F52-F304-4C88-AB86-58E1F663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01 / 教学场景</a:t>
            </a:r>
          </a:p>
        </p:txBody>
      </p:sp>
      <p:sp>
        <p:nvSpPr>
          <p:cNvPr id="2" name="text-2-1">
            <a:extLst xmlns:a="http://schemas.openxmlformats.org/drawingml/2006/main">
              <a:ext uri="{FF2B5EF4-FFF2-40B4-BE49-F238E27FC236}">
                <a16:creationId xmlns:a16="http://schemas.microsoft.com/office/drawing/2014/main" id="{077F3936-79EF-430B-8646-5AA0E58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做一张学习卡，也要解释它怎么来的</a:t>
            </a:r>
          </a:p>
        </p:txBody>
      </p:sp>
      <p:sp>
        <p:nvSpPr>
          <p:cNvPr id="3" name="text-2-2">
            <a:extLst xmlns:a="http://schemas.openxmlformats.org/drawingml/2006/main">
              <a:ext uri="{FF2B5EF4-FFF2-40B4-BE49-F238E27FC236}">
                <a16:creationId xmlns:a16="http://schemas.microsoft.com/office/drawing/2014/main" id="{C4076A3E-1887-48E9-9749-EA55E188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自然科学课程：查资料、问问题、整理学习卡。</a:t>
            </a:r>
          </a:p>
        </p:txBody>
      </p:sp>
      <p:sp>
        <p:nvSpPr>
          <p:cNvPr id="4" name="text-2-3">
            <a:extLst xmlns:a="http://schemas.openxmlformats.org/drawingml/2006/main">
              <a:ext uri="{FF2B5EF4-FFF2-40B4-BE49-F238E27FC236}">
                <a16:creationId xmlns:a16="http://schemas.microsoft.com/office/drawing/2014/main" id="{31092866-C364-454D-9810-52B8AD82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2-4">
            <a:extLst xmlns:a="http://schemas.openxmlformats.org/drawingml/2006/main">
              <a:ext uri="{FF2B5EF4-FFF2-40B4-BE49-F238E27FC236}">
                <a16:creationId xmlns:a16="http://schemas.microsoft.com/office/drawing/2014/main" id="{156F128F-2A0F-421D-865D-EF2E1D3B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9e090de8a4cd1"/>
          <ns0:srcRect xmlns:ns0="http://schemas.openxmlformats.org/drawingml/2006/main" l="0" t="19500" r="0" b="6000"/>
          <a:stretch xmlns:a="http://schemas.openxmlformats.org/drawingml/2006/main"/>
        </p:blipFill>
        <p:spPr>
          <a:xfrm xmlns:a="http://schemas.openxmlformats.org/drawingml/2006/main">
            <a:off x="2359016" y="2390775"/>
            <a:ext cx="7473968" cy="3133725"/>
          </a:xfrm>
          <a:prstGeom xmlns:a="http://schemas.openxmlformats.org/drawingml/2006/main" prst="rect">
            <a:avLst/>
          </a:prstGeom>
        </p:spPr>
      </p:pic>
      <p:sp>
        <p:nvSpPr>
          <p:cNvPr id="7" name="text-2-5">
            <a:extLst xmlns:a="http://schemas.openxmlformats.org/drawingml/2006/main">
              <a:ext uri="{FF2B5EF4-FFF2-40B4-BE49-F238E27FC236}">
                <a16:creationId xmlns:a16="http://schemas.microsoft.com/office/drawing/2014/main" id="{7B598C36-2D1A-4CB0-B0E0-024211AB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102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找到依据</a:t>
            </a:r>
          </a:p>
        </p:txBody>
      </p:sp>
      <p:sp>
        <p:nvSpPr>
          <p:cNvPr id="8" name="text-2-6">
            <a:extLst xmlns:a="http://schemas.openxmlformats.org/drawingml/2006/main">
              <a:ext uri="{FF2B5EF4-FFF2-40B4-BE49-F238E27FC236}">
                <a16:creationId xmlns:a16="http://schemas.microsoft.com/office/drawing/2014/main" id="{84CCE093-27A8-4B02-B17A-0F0CD04A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019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回答能回到课程资料</a:t>
            </a:r>
          </a:p>
        </p:txBody>
      </p:sp>
      <p:sp>
        <p:nvSpPr>
          <p:cNvPr id="9" name="text-2-7">
            <a:extLst xmlns:a="http://schemas.openxmlformats.org/drawingml/2006/main">
              <a:ext uri="{FF2B5EF4-FFF2-40B4-BE49-F238E27FC236}">
                <a16:creationId xmlns:a16="http://schemas.microsoft.com/office/drawing/2014/main" id="{00F30731-D58B-48BA-A614-E4CD7B14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102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rPr>
              <a:t>调整步骤</a:t>
            </a:r>
          </a:p>
        </p:txBody>
      </p:sp>
      <p:sp>
        <p:nvSpPr>
          <p:cNvPr id="10" name="text-2-8">
            <a:extLst xmlns:a="http://schemas.openxmlformats.org/drawingml/2006/main">
              <a:ext uri="{FF2B5EF4-FFF2-40B4-BE49-F238E27FC236}">
                <a16:creationId xmlns:a16="http://schemas.microsoft.com/office/drawing/2014/main" id="{CF52929A-D013-4652-9E21-4CFC235C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19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作品结构可以修改</a:t>
            </a:r>
          </a:p>
        </p:txBody>
      </p:sp>
      <p:sp>
        <p:nvSpPr>
          <p:cNvPr id="11" name="text-2-9">
            <a:extLst xmlns:a="http://schemas.openxmlformats.org/drawingml/2006/main">
              <a:ext uri="{FF2B5EF4-FFF2-40B4-BE49-F238E27FC236}">
                <a16:creationId xmlns:a16="http://schemas.microsoft.com/office/drawing/2014/main" id="{DA7D17C1-3C19-42DA-9550-413A7D6B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6102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AE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E6800"/>
                </a:solidFill>
                <a:latin typeface="Microsoft YaHei"/>
                <a:ea typeface="Microsoft YaHei"/>
                <a:cs typeface="Microsoft YaHei"/>
              </a:rPr>
              <a:t>讲清结果</a:t>
            </a:r>
          </a:p>
        </p:txBody>
      </p:sp>
      <p:sp>
        <p:nvSpPr>
          <p:cNvPr id="12" name="text-2-10">
            <a:extLst xmlns:a="http://schemas.openxmlformats.org/drawingml/2006/main">
              <a:ext uri="{FF2B5EF4-FFF2-40B4-BE49-F238E27FC236}">
                <a16:creationId xmlns:a16="http://schemas.microsoft.com/office/drawing/2014/main" id="{2DF3F4E5-6992-47EA-8637-F75A31FA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019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解释过程与未知信息</a:t>
            </a:r>
          </a:p>
        </p:txBody>
      </p:sp>
    </p:spTree>
    <p:extLst>
      <p:ext uri="{BB962C8B-B14F-4D97-AF65-F5344CB8AC3E}">
        <p14:creationId xmlns:p14="http://schemas.microsoft.com/office/powerpoint/2010/main" val="17616301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3-0">
            <a:extLst xmlns:a="http://schemas.openxmlformats.org/drawingml/2006/main">
              <a:ext uri="{FF2B5EF4-FFF2-40B4-BE49-F238E27FC236}">
                <a16:creationId xmlns:a16="http://schemas.microsoft.com/office/drawing/2014/main" id="{7324A1A5-29E2-4BE4-8CD6-ED6C232C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02 / 产品方式</a:t>
            </a:r>
          </a:p>
        </p:txBody>
      </p:sp>
      <p:sp>
        <p:nvSpPr>
          <p:cNvPr id="2" name="text-3-1">
            <a:extLst xmlns:a="http://schemas.openxmlformats.org/drawingml/2006/main">
              <a:ext uri="{FF2B5EF4-FFF2-40B4-BE49-F238E27FC236}">
                <a16:creationId xmlns:a16="http://schemas.microsoft.com/office/drawing/2014/main" id="{88075007-4716-4082-A5BE-64DF1714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把一次 AI 任务拆成可修改的积木</a:t>
            </a:r>
          </a:p>
        </p:txBody>
      </p:sp>
      <p:sp>
        <p:nvSpPr>
          <p:cNvPr id="3" name="text-3-2">
            <a:extLst xmlns:a="http://schemas.openxmlformats.org/drawingml/2006/main">
              <a:ext uri="{FF2B5EF4-FFF2-40B4-BE49-F238E27FC236}">
                <a16:creationId xmlns:a16="http://schemas.microsoft.com/office/drawing/2014/main" id="{D3A5CEA0-8072-48CB-937E-E3203403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4" name="text-3-3">
            <a:extLst xmlns:a="http://schemas.openxmlformats.org/drawingml/2006/main">
              <a:ext uri="{FF2B5EF4-FFF2-40B4-BE49-F238E27FC236}">
                <a16:creationId xmlns:a16="http://schemas.microsoft.com/office/drawing/2014/main" id="{F4658F0B-8084-41B2-99C7-1435C9D9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text-3-4">
            <a:extLst xmlns:a="http://schemas.openxmlformats.org/drawingml/2006/main">
              <a:ext uri="{FF2B5EF4-FFF2-40B4-BE49-F238E27FC236}">
                <a16:creationId xmlns:a16="http://schemas.microsoft.com/office/drawing/2014/main" id="{EB1649DE-2C75-4E8A-802A-39FC614E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同一个作品承载角色、资料、模型、工具和输出。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decb2442d47a3"/>
          <ns0:srcRect xmlns:ns0="http://schemas.openxmlformats.org/drawingml/2006/main" l="0" t="24000" r="0" b="13000"/>
          <a:stretch xmlns:a="http://schemas.openxmlformats.org/drawingml/2006/main"/>
        </p:blipFill>
        <p:spPr>
          <a:xfrm xmlns:a="http://schemas.openxmlformats.org/drawingml/2006/main">
            <a:off x="1220179" y="2057400"/>
            <a:ext cx="9751641" cy="3457575"/>
          </a:xfrm>
          <a:prstGeom xmlns:a="http://schemas.openxmlformats.org/drawingml/2006/main" prst="rect">
            <a:avLst/>
          </a:prstGeom>
        </p:spPr>
      </p:pic>
      <p:sp>
        <p:nvSpPr>
          <p:cNvPr id="7" name="text-3-5">
            <a:extLst xmlns:a="http://schemas.openxmlformats.org/drawingml/2006/main">
              <a:ext uri="{FF2B5EF4-FFF2-40B4-BE49-F238E27FC236}">
                <a16:creationId xmlns:a16="http://schemas.microsoft.com/office/drawing/2014/main" id="{49AD9121-0AC1-4FAE-98F4-C8F3010A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626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搭建</a:t>
            </a:r>
          </a:p>
        </p:txBody>
      </p:sp>
      <p:sp>
        <p:nvSpPr>
          <p:cNvPr id="8" name="text-3-6">
            <a:extLst xmlns:a="http://schemas.openxmlformats.org/drawingml/2006/main">
              <a:ext uri="{FF2B5EF4-FFF2-40B4-BE49-F238E27FC236}">
                <a16:creationId xmlns:a16="http://schemas.microsoft.com/office/drawing/2014/main" id="{5C286A50-D39A-4DA2-8224-3F4AC59D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912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决定步骤，保存作品</a:t>
            </a:r>
          </a:p>
        </p:txBody>
      </p:sp>
      <p:sp>
        <p:nvSpPr>
          <p:cNvPr id="9" name="text-3-7">
            <a:extLst xmlns:a="http://schemas.openxmlformats.org/drawingml/2006/main">
              <a:ext uri="{FF2B5EF4-FFF2-40B4-BE49-F238E27FC236}">
                <a16:creationId xmlns:a16="http://schemas.microsoft.com/office/drawing/2014/main" id="{E1B7F3CC-21DC-4A08-B15A-735E03BA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5626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rPr>
              <a:t>运行</a:t>
            </a:r>
          </a:p>
        </p:txBody>
      </p:sp>
      <p:sp>
        <p:nvSpPr>
          <p:cNvPr id="10" name="text-3-8">
            <a:extLst xmlns:a="http://schemas.openxmlformats.org/drawingml/2006/main">
              <a:ext uri="{FF2B5EF4-FFF2-40B4-BE49-F238E27FC236}">
                <a16:creationId xmlns:a16="http://schemas.microsoft.com/office/drawing/2014/main" id="{85504C46-98A8-4164-A89C-E89FE540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9912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查看过程，定位问题</a:t>
            </a:r>
          </a:p>
        </p:txBody>
      </p:sp>
      <p:sp>
        <p:nvSpPr>
          <p:cNvPr id="11" name="text-3-9">
            <a:extLst xmlns:a="http://schemas.openxmlformats.org/drawingml/2006/main">
              <a:ext uri="{FF2B5EF4-FFF2-40B4-BE49-F238E27FC236}">
                <a16:creationId xmlns:a16="http://schemas.microsoft.com/office/drawing/2014/main" id="{DB9AAFA2-4105-471E-B459-EAB8A52E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5626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AE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E6800"/>
                </a:solidFill>
                <a:latin typeface="Microsoft YaHei"/>
                <a:ea typeface="Microsoft YaHei"/>
                <a:cs typeface="Microsoft YaHei"/>
              </a:rPr>
              <a:t>改进</a:t>
            </a:r>
          </a:p>
        </p:txBody>
      </p:sp>
      <p:sp>
        <p:nvSpPr>
          <p:cNvPr id="12" name="text-3-10">
            <a:extLst xmlns:a="http://schemas.openxmlformats.org/drawingml/2006/main">
              <a:ext uri="{FF2B5EF4-FFF2-40B4-BE49-F238E27FC236}">
                <a16:creationId xmlns:a16="http://schemas.microsoft.com/office/drawing/2014/main" id="{D87B859F-3315-431B-B19C-39B11379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9912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检查结果，再次运行</a:t>
            </a:r>
          </a:p>
        </p:txBody>
      </p:sp>
    </p:spTree>
    <p:extLst>
      <p:ext uri="{BB962C8B-B14F-4D97-AF65-F5344CB8AC3E}">
        <p14:creationId xmlns:p14="http://schemas.microsoft.com/office/powerpoint/2010/main" val="421228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4-0">
            <a:extLst xmlns:a="http://schemas.openxmlformats.org/drawingml/2006/main">
              <a:ext uri="{FF2B5EF4-FFF2-40B4-BE49-F238E27FC236}">
                <a16:creationId xmlns:a16="http://schemas.microsoft.com/office/drawing/2014/main" id="{D7D7E73B-6D66-4D28-80EA-51A3B978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03 / 当前产品</a:t>
            </a:r>
          </a:p>
        </p:txBody>
      </p:sp>
      <p:sp>
        <p:nvSpPr>
          <p:cNvPr id="2" name="text-4-1">
            <a:extLst xmlns:a="http://schemas.openxmlformats.org/drawingml/2006/main">
              <a:ext uri="{FF2B5EF4-FFF2-40B4-BE49-F238E27FC236}">
                <a16:creationId xmlns:a16="http://schemas.microsoft.com/office/drawing/2014/main" id="{64DA8104-F2AA-479B-8760-828D4CFE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一个自然科学课程资料作品</a:t>
            </a:r>
          </a:p>
        </p:txBody>
      </p:sp>
      <p:sp>
        <p:nvSpPr>
          <p:cNvPr id="3" name="text-4-2">
            <a:extLst xmlns:a="http://schemas.openxmlformats.org/drawingml/2006/main">
              <a:ext uri="{FF2B5EF4-FFF2-40B4-BE49-F238E27FC236}">
                <a16:creationId xmlns:a16="http://schemas.microsoft.com/office/drawing/2014/main" id="{725AE00F-9AB1-473F-A6AC-5F36F3AB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Windows 桌面版 · 实际运行 · 合成教学资料</a:t>
            </a:r>
          </a:p>
        </p:txBody>
      </p:sp>
      <p:sp>
        <p:nvSpPr>
          <p:cNvPr id="4" name="text-4-3">
            <a:extLst xmlns:a="http://schemas.openxmlformats.org/drawingml/2006/main">
              <a:ext uri="{FF2B5EF4-FFF2-40B4-BE49-F238E27FC236}">
                <a16:creationId xmlns:a16="http://schemas.microsoft.com/office/drawing/2014/main" id="{20DFCB50-3085-4F20-ACC8-FF1B78CF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4-4">
            <a:extLst xmlns:a="http://schemas.openxmlformats.org/drawingml/2006/main">
              <a:ext uri="{FF2B5EF4-FFF2-40B4-BE49-F238E27FC236}">
                <a16:creationId xmlns:a16="http://schemas.microsoft.com/office/drawing/2014/main" id="{0E3424EE-2B8E-45BB-8052-0DFCA5B3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28f1ba5e14db4"/>
          <a:stretch xmlns:a="http://schemas.openxmlformats.org/drawingml/2006/main"/>
        </p:blipFill>
        <p:spPr>
          <a:xfrm xmlns:a="http://schemas.openxmlformats.org/drawingml/2006/main">
            <a:off x="4154264" y="2257425"/>
            <a:ext cx="6550473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text-4-5">
            <a:extLst xmlns:a="http://schemas.openxmlformats.org/drawingml/2006/main">
              <a:ext uri="{FF2B5EF4-FFF2-40B4-BE49-F238E27FC236}">
                <a16:creationId xmlns:a16="http://schemas.microsoft.com/office/drawing/2014/main" id="{5BC9DD0D-2853-43D3-B0F7-C2E72FC1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432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设置角色</a:t>
            </a:r>
          </a:p>
        </p:txBody>
      </p:sp>
      <p:sp>
        <p:nvSpPr>
          <p:cNvPr id="8" name="text-4-6">
            <a:extLst xmlns:a="http://schemas.openxmlformats.org/drawingml/2006/main">
              <a:ext uri="{FF2B5EF4-FFF2-40B4-BE49-F238E27FC236}">
                <a16:creationId xmlns:a16="http://schemas.microsoft.com/office/drawing/2014/main" id="{6F875121-8756-4F80-BE01-5555CA5D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71850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收到问题</a:t>
            </a:r>
          </a:p>
          <a:p xmlns:a="http://schemas.openxmlformats.org/drawingml/2006/main">
            <a:pPr algn="l">
              <a:defRPr sz="21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查找课程资料</a:t>
            </a:r>
          </a:p>
          <a:p xmlns:a="http://schemas.openxmlformats.org/drawingml/2006/main">
            <a:pPr algn="l">
              <a:defRPr sz="21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组织与输出</a:t>
            </a:r>
          </a:p>
        </p:txBody>
      </p:sp>
      <p:sp>
        <p:nvSpPr>
          <p:cNvPr id="9" name="text-4-7">
            <a:extLst xmlns:a="http://schemas.openxmlformats.org/drawingml/2006/main">
              <a:ext uri="{FF2B5EF4-FFF2-40B4-BE49-F238E27FC236}">
                <a16:creationId xmlns:a16="http://schemas.microsoft.com/office/drawing/2014/main" id="{BC96243D-AC97-4224-B80D-1222E9FB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43525"/>
            <a:ext cx="2476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运行与编辑</a:t>
            </a:r>
          </a:p>
          <a:p xmlns:a="http://schemas.openxmlformats.org/drawingml/2006/main">
            <a:pPr algn="l">
              <a:defRPr sz="17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在同一工作区</a:t>
            </a:r>
          </a:p>
        </p:txBody>
      </p:sp>
    </p:spTree>
    <p:extLst>
      <p:ext uri="{BB962C8B-B14F-4D97-AF65-F5344CB8AC3E}">
        <p14:creationId xmlns:p14="http://schemas.microsoft.com/office/powerpoint/2010/main" val="20602588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5-0">
            <a:extLst xmlns:a="http://schemas.openxmlformats.org/drawingml/2006/main">
              <a:ext uri="{FF2B5EF4-FFF2-40B4-BE49-F238E27FC236}">
                <a16:creationId xmlns:a16="http://schemas.microsoft.com/office/drawing/2014/main" id="{0BC16D12-45F6-4A8B-B208-B3CBC3CB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04 / 过程可检查</a:t>
            </a:r>
          </a:p>
        </p:txBody>
      </p:sp>
      <p:sp>
        <p:nvSpPr>
          <p:cNvPr id="2" name="text-5-1">
            <a:extLst xmlns:a="http://schemas.openxmlformats.org/drawingml/2006/main">
              <a:ext uri="{FF2B5EF4-FFF2-40B4-BE49-F238E27FC236}">
                <a16:creationId xmlns:a16="http://schemas.microsoft.com/office/drawing/2014/main" id="{C71AD8AF-FEB1-4869-99A3-F2BDBBE0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看出处，也能回到产生结果的步骤</a:t>
            </a:r>
          </a:p>
        </p:txBody>
      </p:sp>
      <p:sp>
        <p:nvSpPr>
          <p:cNvPr id="3" name="text-5-2">
            <a:extLst xmlns:a="http://schemas.openxmlformats.org/drawingml/2006/main">
              <a:ext uri="{FF2B5EF4-FFF2-40B4-BE49-F238E27FC236}">
                <a16:creationId xmlns:a16="http://schemas.microsoft.com/office/drawing/2014/main" id="{D72EE8A4-65F0-4699-9937-094744CE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当前案例：检索真实导入的合成资料，以原文摘录方式输出。</a:t>
            </a:r>
          </a:p>
        </p:txBody>
      </p:sp>
      <p:sp>
        <p:nvSpPr>
          <p:cNvPr id="4" name="text-5-3">
            <a:extLst xmlns:a="http://schemas.openxmlformats.org/drawingml/2006/main">
              <a:ext uri="{FF2B5EF4-FFF2-40B4-BE49-F238E27FC236}">
                <a16:creationId xmlns:a16="http://schemas.microsoft.com/office/drawing/2014/main" id="{AF49BDDB-DC88-47C3-AEC1-97C952DD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5-4">
            <a:extLst xmlns:a="http://schemas.openxmlformats.org/drawingml/2006/main">
              <a:ext uri="{FF2B5EF4-FFF2-40B4-BE49-F238E27FC236}">
                <a16:creationId xmlns:a16="http://schemas.microsoft.com/office/drawing/2014/main" id="{5B058DD3-1CBD-48C0-9387-53572C07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4720116b14dab"/>
          <ns0:srcRect xmlns:ns0="http://schemas.openxmlformats.org/drawingml/2006/main" l="75300" t="23500" r="1000" b="38000"/>
          <a:stretch xmlns:a="http://schemas.openxmlformats.org/drawingml/2006/main"/>
        </p:blipFill>
        <p:spPr>
          <a:xfrm xmlns:a="http://schemas.openxmlformats.org/drawingml/2006/main">
            <a:off x="1387575" y="2524125"/>
            <a:ext cx="3244650" cy="32956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55dfa428442c5"/>
          <ns0:srcRect xmlns:ns0="http://schemas.openxmlformats.org/drawingml/2006/main" l="75900" t="29200" r="1600" b="38000"/>
          <a:stretch xmlns:a="http://schemas.openxmlformats.org/drawingml/2006/main"/>
        </p:blipFill>
        <p:spPr>
          <a:xfrm xmlns:a="http://schemas.openxmlformats.org/drawingml/2006/main">
            <a:off x="7012314" y="2524125"/>
            <a:ext cx="3615671" cy="3295650"/>
          </a:xfrm>
          <a:prstGeom xmlns:a="http://schemas.openxmlformats.org/drawingml/2006/main" prst="rect">
            <a:avLst/>
          </a:prstGeom>
        </p:spPr>
      </p:pic>
      <p:sp>
        <p:nvSpPr>
          <p:cNvPr id="8" name="text-5-5">
            <a:extLst xmlns:a="http://schemas.openxmlformats.org/drawingml/2006/main">
              <a:ext uri="{FF2B5EF4-FFF2-40B4-BE49-F238E27FC236}">
                <a16:creationId xmlns:a16="http://schemas.microsoft.com/office/drawing/2014/main" id="{50563DC3-19AC-4846-8EA2-68F30E7E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两条资料来源，保留未知提示</a:t>
            </a:r>
          </a:p>
        </p:txBody>
      </p:sp>
      <p:sp>
        <p:nvSpPr>
          <p:cNvPr id="9" name="text-5-6">
            <a:extLst xmlns:a="http://schemas.openxmlformats.org/drawingml/2006/main">
              <a:ext uri="{FF2B5EF4-FFF2-40B4-BE49-F238E27FC236}">
                <a16:creationId xmlns:a16="http://schemas.microsoft.com/office/drawing/2014/main" id="{8FD4F955-4D5A-47F0-80FF-9396C321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905500"/>
            <a:ext cx="5276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rPr>
              <a:t>点击运行事件，定位对应积木</a:t>
            </a:r>
          </a:p>
        </p:txBody>
      </p:sp>
    </p:spTree>
    <p:extLst>
      <p:ext uri="{BB962C8B-B14F-4D97-AF65-F5344CB8AC3E}">
        <p14:creationId xmlns:p14="http://schemas.microsoft.com/office/powerpoint/2010/main" val="6971357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6-0">
            <a:extLst xmlns:a="http://schemas.openxmlformats.org/drawingml/2006/main">
              <a:ext uri="{FF2B5EF4-FFF2-40B4-BE49-F238E27FC236}">
                <a16:creationId xmlns:a16="http://schemas.microsoft.com/office/drawing/2014/main" id="{E8AA3D95-81E3-474D-B069-CA914BBC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05 / 构建助手</a:t>
            </a:r>
          </a:p>
        </p:txBody>
      </p:sp>
      <p:sp>
        <p:nvSpPr>
          <p:cNvPr id="2" name="text-6-1">
            <a:extLst xmlns:a="http://schemas.openxmlformats.org/drawingml/2006/main">
              <a:ext uri="{FF2B5EF4-FFF2-40B4-BE49-F238E27FC236}">
                <a16:creationId xmlns:a16="http://schemas.microsoft.com/office/drawing/2014/main" id="{E565EB28-F8E7-4529-85B7-2FC997AB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用自然语言，把课程资料变成学习卡</a:t>
            </a:r>
          </a:p>
        </p:txBody>
      </p:sp>
      <p:sp>
        <p:nvSpPr>
          <p:cNvPr id="3" name="text-6-2">
            <a:extLst xmlns:a="http://schemas.openxmlformats.org/drawingml/2006/main">
              <a:ext uri="{FF2B5EF4-FFF2-40B4-BE49-F238E27FC236}">
                <a16:creationId xmlns:a16="http://schemas.microsoft.com/office/drawing/2014/main" id="{8DD2FBF4-A5BE-4148-AF1C-340D90AA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真实模型演示 · 读取课程文件 → 生成文件 → 可查看变更与撤回</a:t>
            </a:r>
          </a:p>
        </p:txBody>
      </p:sp>
      <p:sp>
        <p:nvSpPr>
          <p:cNvPr id="4" name="text-6-3">
            <a:extLst xmlns:a="http://schemas.openxmlformats.org/drawingml/2006/main">
              <a:ext uri="{FF2B5EF4-FFF2-40B4-BE49-F238E27FC236}">
                <a16:creationId xmlns:a16="http://schemas.microsoft.com/office/drawing/2014/main" id="{E05826D8-97B9-4EA6-9ABE-D6C33D24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6-4">
            <a:extLst xmlns:a="http://schemas.openxmlformats.org/drawingml/2006/main">
              <a:ext uri="{FF2B5EF4-FFF2-40B4-BE49-F238E27FC236}">
                <a16:creationId xmlns:a16="http://schemas.microsoft.com/office/drawing/2014/main" id="{46DBA31E-DEBA-49D7-BF90-AB27DF13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text-6-5">
            <a:extLst xmlns:a="http://schemas.openxmlformats.org/drawingml/2006/main">
              <a:ext uri="{FF2B5EF4-FFF2-40B4-BE49-F238E27FC236}">
                <a16:creationId xmlns:a16="http://schemas.microsoft.com/office/drawing/2014/main" id="{C2D6CF81-1279-43A0-AB2C-F1A4CF0E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56197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“请整理一张水循环学习卡，</a:t>
            </a:r>
          </a:p>
          <a:p xmlns:a="http://schemas.openxmlformats.org/drawingml/2006/main">
            <a:pPr algn="l">
              <a:defRPr sz="2400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标明出处，把资料缺少的</a:t>
            </a:r>
          </a:p>
          <a:p xmlns:a="http://schemas.openxmlformats.org/drawingml/2006/main">
            <a:pPr algn="l">
              <a:defRPr sz="2400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具体降雨量列为待核实。”</a:t>
            </a:r>
          </a:p>
        </p:txBody>
      </p:sp>
      <p:sp>
        <p:nvSpPr>
          <p:cNvPr id="7" name="text-6-6">
            <a:extLst xmlns:a="http://schemas.openxmlformats.org/drawingml/2006/main">
              <a:ext uri="{FF2B5EF4-FFF2-40B4-BE49-F238E27FC236}">
                <a16:creationId xmlns:a16="http://schemas.microsoft.com/office/drawing/2014/main" id="{16346EAA-1E55-4318-8E09-CA5C1CB0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已生成：水循环学习卡.md</a:t>
            </a:r>
          </a:p>
        </p:txBody>
      </p:sp>
      <p:sp>
        <p:nvSpPr>
          <p:cNvPr id="8" name="text-6-7">
            <a:extLst xmlns:a="http://schemas.openxmlformats.org/drawingml/2006/main">
              <a:ext uri="{FF2B5EF4-FFF2-40B4-BE49-F238E27FC236}">
                <a16:creationId xmlns:a16="http://schemas.microsoft.com/office/drawing/2014/main" id="{19E59F20-11CA-4093-B6D0-2A121194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用于备课材料创作的辅助流程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bde9d75dc4f94"/>
          <ns0:srcRect xmlns:ns0="http://schemas.openxmlformats.org/drawingml/2006/main" l="75500" t="29600" r="1000" b="22000"/>
          <a:stretch xmlns:a="http://schemas.openxmlformats.org/drawingml/2006/main"/>
        </p:blipFill>
        <p:spPr>
          <a:xfrm xmlns:a="http://schemas.openxmlformats.org/drawingml/2006/main">
            <a:off x="7648336" y="2324100"/>
            <a:ext cx="3010378" cy="3876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007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ext-7-0">
            <a:extLst xmlns:a="http://schemas.openxmlformats.org/drawingml/2006/main">
              <a:ext uri="{FF2B5EF4-FFF2-40B4-BE49-F238E27FC236}">
                <a16:creationId xmlns:a16="http://schemas.microsoft.com/office/drawing/2014/main" id="{FF36C52A-7A69-4067-9500-C9B16F73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06 / AI 如何实现</a:t>
            </a:r>
          </a:p>
        </p:txBody>
      </p:sp>
      <p:sp>
        <p:nvSpPr>
          <p:cNvPr id="2" name="text-7-1">
            <a:extLst xmlns:a="http://schemas.openxmlformats.org/drawingml/2006/main">
              <a:ext uri="{FF2B5EF4-FFF2-40B4-BE49-F238E27FC236}">
                <a16:creationId xmlns:a16="http://schemas.microsoft.com/office/drawing/2014/main" id="{8298606B-79D9-4626-9710-6FBD37F0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积木定义步骤，模型调用受控工具</a:t>
            </a:r>
          </a:p>
        </p:txBody>
      </p:sp>
      <p:sp>
        <p:nvSpPr>
          <p:cNvPr id="3" name="text-7-2">
            <a:extLst xmlns:a="http://schemas.openxmlformats.org/drawingml/2006/main">
              <a:ext uri="{FF2B5EF4-FFF2-40B4-BE49-F238E27FC236}">
                <a16:creationId xmlns:a16="http://schemas.microsoft.com/office/drawing/2014/main" id="{8F602064-A61C-4CCE-970E-F0176235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作品运行与构建助手复用同一套项目语义和权限边界。</a:t>
            </a:r>
          </a:p>
        </p:txBody>
      </p:sp>
      <p:sp>
        <p:nvSpPr>
          <p:cNvPr id="4" name="text-7-3">
            <a:extLst xmlns:a="http://schemas.openxmlformats.org/drawingml/2006/main">
              <a:ext uri="{FF2B5EF4-FFF2-40B4-BE49-F238E27FC236}">
                <a16:creationId xmlns:a16="http://schemas.microsoft.com/office/drawing/2014/main" id="{93696459-BEEE-4FB0-A899-7B1EF24C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7-4">
            <a:extLst xmlns:a="http://schemas.openxmlformats.org/drawingml/2006/main">
              <a:ext uri="{FF2B5EF4-FFF2-40B4-BE49-F238E27FC236}">
                <a16:creationId xmlns:a16="http://schemas.microsoft.com/office/drawing/2014/main" id="{A6B1BB57-FBE7-426F-9938-72BE6113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text-7-5">
            <a:extLst xmlns:a="http://schemas.openxmlformats.org/drawingml/2006/main">
              <a:ext uri="{FF2B5EF4-FFF2-40B4-BE49-F238E27FC236}">
                <a16:creationId xmlns:a16="http://schemas.microsoft.com/office/drawing/2014/main" id="{B5911BCC-FEBE-4E10-81D6-34F8D8C0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作品运行</a:t>
            </a:r>
          </a:p>
        </p:txBody>
      </p:sp>
      <p:sp>
        <p:nvSpPr>
          <p:cNvPr id="7" name="text-7-6">
            <a:extLst xmlns:a="http://schemas.openxmlformats.org/drawingml/2006/main">
              <a:ext uri="{FF2B5EF4-FFF2-40B4-BE49-F238E27FC236}">
                <a16:creationId xmlns:a16="http://schemas.microsoft.com/office/drawing/2014/main" id="{57DA0FC0-7E9B-47C0-BE42-03B68856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05075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画布编译与校验后，按作品结构执行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62F02-AED1-4151-867D-8A6B5F11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23622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3"/>
          </a:solidFill>
          <a:ln xmlns:a="http://schemas.openxmlformats.org/drawingml/2006/main" w="0">
            <a:noFill/>
          </a:ln>
        </p:spPr>
      </p:sp>
      <p:sp>
        <p:nvSpPr>
          <p:cNvPr id="9" name="text-7-8">
            <a:extLst xmlns:a="http://schemas.openxmlformats.org/drawingml/2006/main">
              <a:ext uri="{FF2B5EF4-FFF2-40B4-BE49-F238E27FC236}">
                <a16:creationId xmlns:a16="http://schemas.microsoft.com/office/drawing/2014/main" id="{C3CE4947-07B8-47E2-A112-C5F24B10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67050"/>
            <a:ext cx="2076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收到问题</a:t>
            </a:r>
          </a:p>
        </p:txBody>
      </p:sp>
      <p:sp>
        <p:nvSpPr>
          <p:cNvPr id="10" name="text-7-9">
            <a:extLst xmlns:a="http://schemas.openxmlformats.org/drawingml/2006/main">
              <a:ext uri="{FF2B5EF4-FFF2-40B4-BE49-F238E27FC236}">
                <a16:creationId xmlns:a16="http://schemas.microsoft.com/office/drawing/2014/main" id="{14498055-5BBE-4EF9-BECE-BF467DB7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4805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确定本次输入</a:t>
            </a:r>
          </a:p>
        </p:txBody>
      </p:sp>
      <p:sp>
        <p:nvSpPr>
          <p:cNvPr id="11" name="text-7-10">
            <a:extLst xmlns:a="http://schemas.openxmlformats.org/drawingml/2006/main">
              <a:ext uri="{FF2B5EF4-FFF2-40B4-BE49-F238E27FC236}">
                <a16:creationId xmlns:a16="http://schemas.microsoft.com/office/drawing/2014/main" id="{364B97D8-EC30-4541-8441-10C3553D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71825"/>
            <a:ext cx="333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74779-F262-471F-B58F-089FFACF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43225"/>
            <a:ext cx="23622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3"/>
          </a:solidFill>
          <a:ln xmlns:a="http://schemas.openxmlformats.org/drawingml/2006/main" w="0">
            <a:noFill/>
          </a:ln>
        </p:spPr>
      </p:sp>
      <p:sp>
        <p:nvSpPr>
          <p:cNvPr id="13" name="text-7-12">
            <a:extLst xmlns:a="http://schemas.openxmlformats.org/drawingml/2006/main">
              <a:ext uri="{FF2B5EF4-FFF2-40B4-BE49-F238E27FC236}">
                <a16:creationId xmlns:a16="http://schemas.microsoft.com/office/drawing/2014/main" id="{490D6A8F-0677-425F-B066-820CADD9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067050"/>
            <a:ext cx="2076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检索课程资料</a:t>
            </a:r>
          </a:p>
        </p:txBody>
      </p:sp>
      <p:sp>
        <p:nvSpPr>
          <p:cNvPr id="14" name="text-7-13">
            <a:extLst xmlns:a="http://schemas.openxmlformats.org/drawingml/2006/main">
              <a:ext uri="{FF2B5EF4-FFF2-40B4-BE49-F238E27FC236}">
                <a16:creationId xmlns:a16="http://schemas.microsoft.com/office/drawing/2014/main" id="{AB170AD7-ADF1-4078-88A0-CA597B15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44805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返回可定位出处</a:t>
            </a:r>
          </a:p>
        </p:txBody>
      </p:sp>
      <p:sp>
        <p:nvSpPr>
          <p:cNvPr id="15" name="text-7-14">
            <a:extLst xmlns:a="http://schemas.openxmlformats.org/drawingml/2006/main">
              <a:ext uri="{FF2B5EF4-FFF2-40B4-BE49-F238E27FC236}">
                <a16:creationId xmlns:a16="http://schemas.microsoft.com/office/drawing/2014/main" id="{B3B0382B-5D53-4FB3-B918-4D4F0C66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71825"/>
            <a:ext cx="333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90AA2-6176-4811-AF31-2CD893F2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43225"/>
            <a:ext cx="23622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3"/>
          </a:solidFill>
          <a:ln xmlns:a="http://schemas.openxmlformats.org/drawingml/2006/main" w="0">
            <a:noFill/>
          </a:ln>
        </p:spPr>
      </p:sp>
      <p:sp>
        <p:nvSpPr>
          <p:cNvPr id="17" name="text-7-16">
            <a:extLst xmlns:a="http://schemas.openxmlformats.org/drawingml/2006/main">
              <a:ext uri="{FF2B5EF4-FFF2-40B4-BE49-F238E27FC236}">
                <a16:creationId xmlns:a16="http://schemas.microsoft.com/office/drawing/2014/main" id="{A8DB17C1-59E7-4023-B4D4-F683A160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67050"/>
            <a:ext cx="2076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组织并输出</a:t>
            </a:r>
          </a:p>
        </p:txBody>
      </p:sp>
      <p:sp>
        <p:nvSpPr>
          <p:cNvPr id="18" name="text-7-17">
            <a:extLst xmlns:a="http://schemas.openxmlformats.org/drawingml/2006/main">
              <a:ext uri="{FF2B5EF4-FFF2-40B4-BE49-F238E27FC236}">
                <a16:creationId xmlns:a16="http://schemas.microsoft.com/office/drawing/2014/main" id="{84EE43DB-847E-4E28-96C2-D426E232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44805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本例为原文摘录</a:t>
            </a:r>
          </a:p>
        </p:txBody>
      </p:sp>
      <p:sp>
        <p:nvSpPr>
          <p:cNvPr id="19" name="text-7-18">
            <a:extLst xmlns:a="http://schemas.openxmlformats.org/drawingml/2006/main">
              <a:ext uri="{FF2B5EF4-FFF2-40B4-BE49-F238E27FC236}">
                <a16:creationId xmlns:a16="http://schemas.microsoft.com/office/drawing/2014/main" id="{6AA1E136-F536-4938-BE00-50B8550A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71825"/>
            <a:ext cx="333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44D168-B5BE-45CC-AA46-9F31DDBC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43225"/>
            <a:ext cx="23622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3"/>
          </a:solidFill>
          <a:ln xmlns:a="http://schemas.openxmlformats.org/drawingml/2006/main" w="0">
            <a:noFill/>
          </a:ln>
        </p:spPr>
      </p:sp>
      <p:sp>
        <p:nvSpPr>
          <p:cNvPr id="21" name="text-7-20">
            <a:extLst xmlns:a="http://schemas.openxmlformats.org/drawingml/2006/main">
              <a:ext uri="{FF2B5EF4-FFF2-40B4-BE49-F238E27FC236}">
                <a16:creationId xmlns:a16="http://schemas.microsoft.com/office/drawing/2014/main" id="{B17DD20C-C9DD-44CB-9131-3C0C0CE7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67050"/>
            <a:ext cx="2076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运行事件</a:t>
            </a:r>
          </a:p>
        </p:txBody>
      </p:sp>
      <p:sp>
        <p:nvSpPr>
          <p:cNvPr id="22" name="text-7-21">
            <a:extLst xmlns:a="http://schemas.openxmlformats.org/drawingml/2006/main">
              <a:ext uri="{FF2B5EF4-FFF2-40B4-BE49-F238E27FC236}">
                <a16:creationId xmlns:a16="http://schemas.microsoft.com/office/drawing/2014/main" id="{D9CEA630-376A-454A-8982-BCEF0B64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44805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关联到对应积木</a:t>
            </a:r>
          </a:p>
        </p:txBody>
      </p:sp>
      <p:sp>
        <p:nvSpPr>
          <p:cNvPr id="23" name="text-7-22">
            <a:extLst xmlns:a="http://schemas.openxmlformats.org/drawingml/2006/main">
              <a:ext uri="{FF2B5EF4-FFF2-40B4-BE49-F238E27FC236}">
                <a16:creationId xmlns:a16="http://schemas.microsoft.com/office/drawing/2014/main" id="{48D0332D-4F9C-4BCA-A6F3-02979B6A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rPr>
              <a:t>构建助手</a:t>
            </a:r>
          </a:p>
        </p:txBody>
      </p:sp>
      <p:sp>
        <p:nvSpPr>
          <p:cNvPr id="24" name="text-7-23">
            <a:extLst xmlns:a="http://schemas.openxmlformats.org/drawingml/2006/main">
              <a:ext uri="{FF2B5EF4-FFF2-40B4-BE49-F238E27FC236}">
                <a16:creationId xmlns:a16="http://schemas.microsoft.com/office/drawing/2014/main" id="{39E035BC-666E-429D-9A26-BCA511D5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14800"/>
            <a:ext cx="803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本次：息壤 deepseek-v4-pro 实际完成文件生成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578929-6BB1-461D-A509-2DA4E98F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3622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0B5"/>
          </a:solidFill>
          <a:ln xmlns:a="http://schemas.openxmlformats.org/drawingml/2006/main" w="0">
            <a:noFill/>
          </a:ln>
        </p:spPr>
      </p:sp>
      <p:sp>
        <p:nvSpPr>
          <p:cNvPr id="26" name="text-7-25">
            <a:extLst xmlns:a="http://schemas.openxmlformats.org/drawingml/2006/main">
              <a:ext uri="{FF2B5EF4-FFF2-40B4-BE49-F238E27FC236}">
                <a16:creationId xmlns:a16="http://schemas.microsoft.com/office/drawing/2014/main" id="{1BA06E00-3F26-4B55-8EB9-2770B667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76775"/>
            <a:ext cx="2076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自然语言任务</a:t>
            </a:r>
          </a:p>
        </p:txBody>
      </p:sp>
      <p:sp>
        <p:nvSpPr>
          <p:cNvPr id="27" name="text-7-26">
            <a:extLst xmlns:a="http://schemas.openxmlformats.org/drawingml/2006/main">
              <a:ext uri="{FF2B5EF4-FFF2-40B4-BE49-F238E27FC236}">
                <a16:creationId xmlns:a16="http://schemas.microsoft.com/office/drawing/2014/main" id="{54BA30DF-903A-42EA-8AD2-E54406CE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5777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指定资料与目标</a:t>
            </a:r>
          </a:p>
        </p:txBody>
      </p:sp>
      <p:sp>
        <p:nvSpPr>
          <p:cNvPr id="28" name="text-7-27">
            <a:extLst xmlns:a="http://schemas.openxmlformats.org/drawingml/2006/main">
              <a:ext uri="{FF2B5EF4-FFF2-40B4-BE49-F238E27FC236}">
                <a16:creationId xmlns:a16="http://schemas.microsoft.com/office/drawing/2014/main" id="{B77F71A1-7B0C-4CF7-A88E-FF81E5FA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81550"/>
            <a:ext cx="333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53768B-57EC-462A-8DDF-74D0E458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52950"/>
            <a:ext cx="23622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0B5"/>
          </a:solidFill>
          <a:ln xmlns:a="http://schemas.openxmlformats.org/drawingml/2006/main" w="0">
            <a:noFill/>
          </a:ln>
        </p:spPr>
      </p:sp>
      <p:sp>
        <p:nvSpPr>
          <p:cNvPr id="30" name="text-7-29">
            <a:extLst xmlns:a="http://schemas.openxmlformats.org/drawingml/2006/main">
              <a:ext uri="{FF2B5EF4-FFF2-40B4-BE49-F238E27FC236}">
                <a16:creationId xmlns:a16="http://schemas.microsoft.com/office/drawing/2014/main" id="{BBC24A8E-A718-4647-9C2C-9BA38E12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076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模型提出请求</a:t>
            </a:r>
          </a:p>
        </p:txBody>
      </p:sp>
      <p:sp>
        <p:nvSpPr>
          <p:cNvPr id="31" name="text-7-30">
            <a:extLst xmlns:a="http://schemas.openxmlformats.org/drawingml/2006/main">
              <a:ext uri="{FF2B5EF4-FFF2-40B4-BE49-F238E27FC236}">
                <a16:creationId xmlns:a16="http://schemas.microsoft.com/office/drawing/2014/main" id="{661DEC32-C9E9-4987-B73C-F3C03A7C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05777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读取文件、生成内容</a:t>
            </a:r>
          </a:p>
        </p:txBody>
      </p:sp>
      <p:sp>
        <p:nvSpPr>
          <p:cNvPr id="32" name="text-7-31">
            <a:extLst xmlns:a="http://schemas.openxmlformats.org/drawingml/2006/main">
              <a:ext uri="{FF2B5EF4-FFF2-40B4-BE49-F238E27FC236}">
                <a16:creationId xmlns:a16="http://schemas.microsoft.com/office/drawing/2014/main" id="{1837341F-B625-46AE-B9A6-2A5A7218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81550"/>
            <a:ext cx="333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78E478-B51F-455F-B9D7-E0F9C4D6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23622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0B5"/>
          </a:solidFill>
          <a:ln xmlns:a="http://schemas.openxmlformats.org/drawingml/2006/main" w="0">
            <a:noFill/>
          </a:ln>
        </p:spPr>
      </p:sp>
      <p:sp>
        <p:nvSpPr>
          <p:cNvPr id="34" name="text-7-33">
            <a:extLst xmlns:a="http://schemas.openxmlformats.org/drawingml/2006/main">
              <a:ext uri="{FF2B5EF4-FFF2-40B4-BE49-F238E27FC236}">
                <a16:creationId xmlns:a16="http://schemas.microsoft.com/office/drawing/2014/main" id="{FEAAD95D-A52E-4E43-B9D7-90AFE432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76775"/>
            <a:ext cx="2076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Host 检查权限</a:t>
            </a:r>
          </a:p>
        </p:txBody>
      </p:sp>
      <p:sp>
        <p:nvSpPr>
          <p:cNvPr id="35" name="text-7-34">
            <a:extLst xmlns:a="http://schemas.openxmlformats.org/drawingml/2006/main">
              <a:ext uri="{FF2B5EF4-FFF2-40B4-BE49-F238E27FC236}">
                <a16:creationId xmlns:a16="http://schemas.microsoft.com/office/drawing/2014/main" id="{867A5955-FC12-489E-95C7-38810FC1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05777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限定目录与写入版本</a:t>
            </a:r>
          </a:p>
        </p:txBody>
      </p:sp>
      <p:sp>
        <p:nvSpPr>
          <p:cNvPr id="36" name="text-7-35">
            <a:extLst xmlns:a="http://schemas.openxmlformats.org/drawingml/2006/main">
              <a:ext uri="{FF2B5EF4-FFF2-40B4-BE49-F238E27FC236}">
                <a16:creationId xmlns:a16="http://schemas.microsoft.com/office/drawing/2014/main" id="{BE1AEC20-0D9C-46B2-BB47-026E02D7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81550"/>
            <a:ext cx="333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0A282A-063A-44EC-849F-8C452680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3622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0B5"/>
          </a:solidFill>
          <a:ln xmlns:a="http://schemas.openxmlformats.org/drawingml/2006/main" w="0">
            <a:noFill/>
          </a:ln>
        </p:spPr>
      </p:sp>
      <p:sp>
        <p:nvSpPr>
          <p:cNvPr id="38" name="text-7-37">
            <a:extLst xmlns:a="http://schemas.openxmlformats.org/drawingml/2006/main">
              <a:ext uri="{FF2B5EF4-FFF2-40B4-BE49-F238E27FC236}">
                <a16:creationId xmlns:a16="http://schemas.microsoft.com/office/drawing/2014/main" id="{C76D41C4-E733-481A-AA01-6176BB6E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76775"/>
            <a:ext cx="2076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实际文件变更</a:t>
            </a:r>
          </a:p>
        </p:txBody>
      </p:sp>
      <p:sp>
        <p:nvSpPr>
          <p:cNvPr id="39" name="text-7-38">
            <a:extLst xmlns:a="http://schemas.openxmlformats.org/drawingml/2006/main">
              <a:ext uri="{FF2B5EF4-FFF2-40B4-BE49-F238E27FC236}">
                <a16:creationId xmlns:a16="http://schemas.microsoft.com/office/drawing/2014/main" id="{7931598C-0832-4946-979B-7034DC0A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05777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查看差异、按版本撤回</a:t>
            </a:r>
          </a:p>
        </p:txBody>
      </p:sp>
      <p:sp>
        <p:nvSpPr>
          <p:cNvPr id="40" name="text-7-39">
            <a:extLst xmlns:a="http://schemas.openxmlformats.org/drawingml/2006/main">
              <a:ext uri="{FF2B5EF4-FFF2-40B4-BE49-F238E27FC236}">
                <a16:creationId xmlns:a16="http://schemas.microsoft.com/office/drawing/2014/main" id="{0609254B-8FCB-4339-9B37-ABC1FA95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91200"/>
            <a:ext cx="10887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模型参与决策与生成；文件操作由受控工具执行。</a:t>
            </a:r>
          </a:p>
        </p:txBody>
      </p:sp>
    </p:spTree>
    <p:extLst>
      <p:ext uri="{BB962C8B-B14F-4D97-AF65-F5344CB8AC3E}">
        <p14:creationId xmlns:p14="http://schemas.microsoft.com/office/powerpoint/2010/main" val="1391668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8-0">
            <a:extLst xmlns:a="http://schemas.openxmlformats.org/drawingml/2006/main">
              <a:ext uri="{FF2B5EF4-FFF2-40B4-BE49-F238E27FC236}">
                <a16:creationId xmlns:a16="http://schemas.microsoft.com/office/drawing/2014/main" id="{F0207D61-3EEA-4B05-8F25-6B771612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07 / 方案创新</a:t>
            </a:r>
          </a:p>
        </p:txBody>
      </p:sp>
      <p:sp>
        <p:nvSpPr>
          <p:cNvPr id="2" name="text-8-1">
            <a:extLst xmlns:a="http://schemas.openxmlformats.org/drawingml/2006/main">
              <a:ext uri="{FF2B5EF4-FFF2-40B4-BE49-F238E27FC236}">
                <a16:creationId xmlns:a16="http://schemas.microsoft.com/office/drawing/2014/main" id="{6D9E427B-472F-464E-92C9-7E00333D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把创作结构、运行过程和修改连在一起</a:t>
            </a:r>
          </a:p>
        </p:txBody>
      </p:sp>
      <p:sp>
        <p:nvSpPr>
          <p:cNvPr id="3" name="text-8-2">
            <a:extLst xmlns:a="http://schemas.openxmlformats.org/drawingml/2006/main">
              <a:ext uri="{FF2B5EF4-FFF2-40B4-BE49-F238E27FC236}">
                <a16:creationId xmlns:a16="http://schemas.microsoft.com/office/drawing/2014/main" id="{206B186A-14DC-414B-A95B-DCF0B757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的应用创新体现在完整工作台，以及结构与实际行为的对应。</a:t>
            </a:r>
          </a:p>
        </p:txBody>
      </p:sp>
      <p:sp>
        <p:nvSpPr>
          <p:cNvPr id="4" name="text-8-3">
            <a:extLst xmlns:a="http://schemas.openxmlformats.org/drawingml/2006/main">
              <a:ext uri="{FF2B5EF4-FFF2-40B4-BE49-F238E27FC236}">
                <a16:creationId xmlns:a16="http://schemas.microsoft.com/office/drawing/2014/main" id="{32080F10-62A0-4CF2-8DD8-1E233109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8-4">
            <a:extLst xmlns:a="http://schemas.openxmlformats.org/drawingml/2006/main">
              <a:ext uri="{FF2B5EF4-FFF2-40B4-BE49-F238E27FC236}">
                <a16:creationId xmlns:a16="http://schemas.microsoft.com/office/drawing/2014/main" id="{C099E59B-7BA8-4D3E-B72A-B854062A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53328-92F5-46E0-BBAB-D141270E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666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3"/>
          </a:solidFill>
          <a:ln xmlns:a="http://schemas.openxmlformats.org/drawingml/2006/main" w="0">
            <a:noFill/>
          </a:ln>
        </p:spPr>
      </p:sp>
      <p:sp>
        <p:nvSpPr>
          <p:cNvPr id="7" name="text-8-6">
            <a:extLst xmlns:a="http://schemas.openxmlformats.org/drawingml/2006/main">
              <a:ext uri="{FF2B5EF4-FFF2-40B4-BE49-F238E27FC236}">
                <a16:creationId xmlns:a16="http://schemas.microsoft.com/office/drawing/2014/main" id="{8B888469-46AC-4826-B761-759F6155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3209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可修改的作品</a:t>
            </a:r>
          </a:p>
        </p:txBody>
      </p:sp>
      <p:sp>
        <p:nvSpPr>
          <p:cNvPr id="8" name="text-8-7">
            <a:extLst xmlns:a="http://schemas.openxmlformats.org/drawingml/2006/main">
              <a:ext uri="{FF2B5EF4-FFF2-40B4-BE49-F238E27FC236}">
                <a16:creationId xmlns:a16="http://schemas.microsoft.com/office/drawing/2014/main" id="{FD4259AB-B2CC-41E6-B655-DDB7C5B8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76525"/>
            <a:ext cx="731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角色、资料、模型、工具以积木组合；作品可保存与复用。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CF1E0-0012-44FD-866A-2582CB1A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666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0B5"/>
          </a:solidFill>
          <a:ln xmlns:a="http://schemas.openxmlformats.org/drawingml/2006/main" w="0">
            <a:noFill/>
          </a:ln>
        </p:spPr>
      </p:sp>
      <p:sp>
        <p:nvSpPr>
          <p:cNvPr id="10" name="text-8-9">
            <a:extLst xmlns:a="http://schemas.openxmlformats.org/drawingml/2006/main">
              <a:ext uri="{FF2B5EF4-FFF2-40B4-BE49-F238E27FC236}">
                <a16:creationId xmlns:a16="http://schemas.microsoft.com/office/drawing/2014/main" id="{9004257A-505A-499E-9C73-8FA84E2B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3209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rPr>
              <a:t>可回查的过程</a:t>
            </a:r>
          </a:p>
        </p:txBody>
      </p:sp>
      <p:sp>
        <p:nvSpPr>
          <p:cNvPr id="11" name="text-8-10">
            <a:extLst xmlns:a="http://schemas.openxmlformats.org/drawingml/2006/main">
              <a:ext uri="{FF2B5EF4-FFF2-40B4-BE49-F238E27FC236}">
                <a16:creationId xmlns:a16="http://schemas.microsoft.com/office/drawing/2014/main" id="{3D072C78-3836-48BF-B5D8-83ECD688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790950"/>
            <a:ext cx="731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回答定位资料，运行事件定位积木；问题回到具体步骤。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3DCD4-5774-4EEB-AC12-3A47A24A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666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6800"/>
          </a:solidFill>
          <a:ln xmlns:a="http://schemas.openxmlformats.org/drawingml/2006/main" w="0">
            <a:noFill/>
          </a:ln>
        </p:spPr>
      </p:sp>
      <p:sp>
        <p:nvSpPr>
          <p:cNvPr id="13" name="text-8-12">
            <a:extLst xmlns:a="http://schemas.openxmlformats.org/drawingml/2006/main">
              <a:ext uri="{FF2B5EF4-FFF2-40B4-BE49-F238E27FC236}">
                <a16:creationId xmlns:a16="http://schemas.microsoft.com/office/drawing/2014/main" id="{17B82CF0-452C-45BE-B738-AD521A15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3209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E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E6800"/>
                </a:solidFill>
                <a:latin typeface="Microsoft YaHei"/>
                <a:ea typeface="Microsoft YaHei"/>
                <a:cs typeface="Microsoft YaHei"/>
              </a:rPr>
              <a:t>可审阅的改动</a:t>
            </a:r>
          </a:p>
        </p:txBody>
      </p:sp>
      <p:sp>
        <p:nvSpPr>
          <p:cNvPr id="14" name="text-8-13">
            <a:extLst xmlns:a="http://schemas.openxmlformats.org/drawingml/2006/main">
              <a:ext uri="{FF2B5EF4-FFF2-40B4-BE49-F238E27FC236}">
                <a16:creationId xmlns:a16="http://schemas.microsoft.com/office/drawing/2014/main" id="{9AF3D739-495A-4D08-A0E1-68ABC518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905375"/>
            <a:ext cx="731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构建助手展示文件差异；项目候选经审阅后应用并可撤销。</a:t>
            </a:r>
          </a:p>
        </p:txBody>
      </p:sp>
      <p:sp>
        <p:nvSpPr>
          <p:cNvPr id="15" name="text-8-14">
            <a:extLst xmlns:a="http://schemas.openxmlformats.org/drawingml/2006/main">
              <a:ext uri="{FF2B5EF4-FFF2-40B4-BE49-F238E27FC236}">
                <a16:creationId xmlns:a16="http://schemas.microsoft.com/office/drawing/2014/main" id="{CF76596E-24A0-4891-A7BB-0628B269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0"/>
            <a:ext cx="10934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底层使用 Blockly、Tauri、Pi；自研作品语义、运行映射与受控集成。</a:t>
            </a:r>
          </a:p>
        </p:txBody>
      </p:sp>
    </p:spTree>
    <p:extLst>
      <p:ext uri="{BB962C8B-B14F-4D97-AF65-F5344CB8AC3E}">
        <p14:creationId xmlns:p14="http://schemas.microsoft.com/office/powerpoint/2010/main" val="16795803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-0">
            <a:extLst xmlns:a="http://schemas.openxmlformats.org/drawingml/2006/main">
              <a:ext uri="{FF2B5EF4-FFF2-40B4-BE49-F238E27FC236}">
                <a16:creationId xmlns:a16="http://schemas.microsoft.com/office/drawing/2014/main" id="{822BE1FE-FB7C-4074-9294-5CABDD2A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08 / 商业模式</a:t>
            </a:r>
          </a:p>
        </p:txBody>
      </p:sp>
      <p:sp>
        <p:nvSpPr>
          <p:cNvPr id="2" name="text-9-1">
            <a:extLst xmlns:a="http://schemas.openxmlformats.org/drawingml/2006/main">
              <a:ext uri="{FF2B5EF4-FFF2-40B4-BE49-F238E27FC236}">
                <a16:creationId xmlns:a16="http://schemas.microsoft.com/office/drawing/2014/main" id="{2132F142-50AE-477F-8842-9C9BF4CE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完整软件免费，机构按需求报价</a:t>
            </a:r>
          </a:p>
        </p:txBody>
      </p:sp>
      <p:sp>
        <p:nvSpPr>
          <p:cNvPr id="3" name="text-9-2">
            <a:extLst xmlns:a="http://schemas.openxmlformats.org/drawingml/2006/main">
              <a:ext uri="{FF2B5EF4-FFF2-40B4-BE49-F238E27FC236}">
                <a16:creationId xmlns:a16="http://schemas.microsoft.com/office/drawing/2014/main" id="{037AFDB7-7552-45C7-B7F2-38E4DD4C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学生使用，教师组织；机构为课程、部署与支持服务付费。</a:t>
            </a:r>
          </a:p>
        </p:txBody>
      </p:sp>
      <p:sp>
        <p:nvSpPr>
          <p:cNvPr id="4" name="text-9-3">
            <a:extLst xmlns:a="http://schemas.openxmlformats.org/drawingml/2006/main">
              <a:ext uri="{FF2B5EF4-FFF2-40B4-BE49-F238E27FC236}">
                <a16:creationId xmlns:a16="http://schemas.microsoft.com/office/drawing/2014/main" id="{ADA56BDF-91B3-415C-AC7A-BCCA3915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9-4">
            <a:extLst xmlns:a="http://schemas.openxmlformats.org/drawingml/2006/main">
              <a:ext uri="{FF2B5EF4-FFF2-40B4-BE49-F238E27FC236}">
                <a16:creationId xmlns:a16="http://schemas.microsoft.com/office/drawing/2014/main" id="{B772A63F-9208-4487-B566-3A3E3514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text-9-5">
            <a:extLst xmlns:a="http://schemas.openxmlformats.org/drawingml/2006/main">
              <a:ext uri="{FF2B5EF4-FFF2-40B4-BE49-F238E27FC236}">
                <a16:creationId xmlns:a16="http://schemas.microsoft.com/office/drawing/2014/main" id="{DDE4B7C5-C6C2-40E0-A867-7A9B51DB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543175"/>
            <a:ext cx="419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完整功能免费</a:t>
            </a:r>
          </a:p>
        </p:txBody>
      </p:sp>
      <p:sp>
        <p:nvSpPr>
          <p:cNvPr id="7" name="text-9-6">
            <a:extLst xmlns:a="http://schemas.openxmlformats.org/drawingml/2006/main">
              <a:ext uri="{FF2B5EF4-FFF2-40B4-BE49-F238E27FC236}">
                <a16:creationId xmlns:a16="http://schemas.microsoft.com/office/drawing/2014/main" id="{6D0887D7-195A-478E-90D3-EED4E7A0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543175"/>
            <a:ext cx="419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rPr>
              <a:t>机构联系报价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9a47362184d4a"/>
          <ns0:srcRect xmlns:ns0="http://schemas.openxmlformats.org/drawingml/2006/main" l="0" t="28000" r="0" b="13500"/>
          <a:stretch xmlns:a="http://schemas.openxmlformats.org/drawingml/2006/main"/>
        </p:blipFill>
        <p:spPr>
          <a:xfrm xmlns:a="http://schemas.openxmlformats.org/drawingml/2006/main">
            <a:off x="2262710" y="3190875"/>
            <a:ext cx="7666579" cy="2524125"/>
          </a:xfrm>
          <a:prstGeom xmlns:a="http://schemas.openxmlformats.org/drawingml/2006/main" prst="rect">
            <a:avLst/>
          </a:prstGeom>
        </p:spPr>
      </p:pic>
      <p:sp>
        <p:nvSpPr>
          <p:cNvPr id="9" name="text-9-7">
            <a:extLst xmlns:a="http://schemas.openxmlformats.org/drawingml/2006/main">
              <a:ext uri="{FF2B5EF4-FFF2-40B4-BE49-F238E27FC236}">
                <a16:creationId xmlns:a16="http://schemas.microsoft.com/office/drawing/2014/main" id="{DA9E81BD-8925-444D-B304-5941368A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753100"/>
            <a:ext cx="4191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外部模型费用按约承担</a:t>
            </a:r>
          </a:p>
        </p:txBody>
      </p:sp>
      <p:sp>
        <p:nvSpPr>
          <p:cNvPr id="10" name="text-9-8">
            <a:extLst xmlns:a="http://schemas.openxmlformats.org/drawingml/2006/main">
              <a:ext uri="{FF2B5EF4-FFF2-40B4-BE49-F238E27FC236}">
                <a16:creationId xmlns:a16="http://schemas.microsoft.com/office/drawing/2014/main" id="{B273096A-6687-4F26-91B6-24372CD0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753100"/>
            <a:ext cx="4191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课程、部署、培训与支持</a:t>
            </a:r>
          </a:p>
        </p:txBody>
      </p:sp>
      <p:sp>
        <p:nvSpPr>
          <p:cNvPr id="11" name="text-9-9">
            <a:extLst xmlns:a="http://schemas.openxmlformats.org/drawingml/2006/main">
              <a:ext uri="{FF2B5EF4-FFF2-40B4-BE49-F238E27FC236}">
                <a16:creationId xmlns:a16="http://schemas.microsoft.com/office/drawing/2014/main" id="{02223187-DCF4-4CF6-A4A1-421424B6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69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机构账户、额度管理与计费尚待建设；早期服务只承诺当前可交付范围。</a:t>
            </a:r>
          </a:p>
        </p:txBody>
      </p:sp>
    </p:spTree>
    <p:extLst>
      <p:ext uri="{BB962C8B-B14F-4D97-AF65-F5344CB8AC3E}">
        <p14:creationId xmlns:p14="http://schemas.microsoft.com/office/powerpoint/2010/main" val="20988514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0-0">
            <a:extLst xmlns:a="http://schemas.openxmlformats.org/drawingml/2006/main">
              <a:ext uri="{FF2B5EF4-FFF2-40B4-BE49-F238E27FC236}">
                <a16:creationId xmlns:a16="http://schemas.microsoft.com/office/drawing/2014/main" id="{358FB7CA-FC87-425B-980C-4D90BD05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09 / 完成度与落地</a:t>
            </a:r>
          </a:p>
        </p:txBody>
      </p:sp>
      <p:sp>
        <p:nvSpPr>
          <p:cNvPr id="2" name="text-10-1">
            <a:extLst xmlns:a="http://schemas.openxmlformats.org/drawingml/2006/main">
              <a:ext uri="{FF2B5EF4-FFF2-40B4-BE49-F238E27FC236}">
                <a16:creationId xmlns:a16="http://schemas.microsoft.com/office/drawing/2014/main" id="{ACFD1CF9-3C31-4F3B-A34E-5C4041EA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桌面产品已可运行，下一步进入真实课程</a:t>
            </a:r>
          </a:p>
        </p:txBody>
      </p:sp>
      <p:sp>
        <p:nvSpPr>
          <p:cNvPr id="3" name="text-10-2">
            <a:extLst xmlns:a="http://schemas.openxmlformats.org/drawingml/2006/main">
              <a:ext uri="{FF2B5EF4-FFF2-40B4-BE49-F238E27FC236}">
                <a16:creationId xmlns:a16="http://schemas.microsoft.com/office/drawing/2014/main" id="{7ACC5CE9-149C-48D9-94F5-6677440E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已交付：积木创作、资料引用、运行轨迹、构建助手与项目保存。</a:t>
            </a:r>
          </a:p>
        </p:txBody>
      </p:sp>
      <p:sp>
        <p:nvSpPr>
          <p:cNvPr id="4" name="text-10-3">
            <a:extLst xmlns:a="http://schemas.openxmlformats.org/drawingml/2006/main">
              <a:ext uri="{FF2B5EF4-FFF2-40B4-BE49-F238E27FC236}">
                <a16:creationId xmlns:a16="http://schemas.microsoft.com/office/drawing/2014/main" id="{BA19BB31-D336-41B3-8CF1-4B85CA1E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10-4">
            <a:extLst xmlns:a="http://schemas.openxmlformats.org/drawingml/2006/main">
              <a:ext uri="{FF2B5EF4-FFF2-40B4-BE49-F238E27FC236}">
                <a16:creationId xmlns:a16="http://schemas.microsoft.com/office/drawing/2014/main" id="{AF62B9E9-0921-4BB5-843B-77B8CEB3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36b2ee7e949a9"/>
          <ns0:srcRect xmlns:ns0="http://schemas.openxmlformats.org/drawingml/2006/main" l="0" t="38800" r="0" b="6700"/>
          <a:stretch xmlns:a="http://schemas.openxmlformats.org/drawingml/2006/main"/>
        </p:blipFill>
        <p:spPr>
          <a:xfrm xmlns:a="http://schemas.openxmlformats.org/drawingml/2006/main">
            <a:off x="2027949" y="2552700"/>
            <a:ext cx="8136103" cy="2495550"/>
          </a:xfrm>
          <a:prstGeom xmlns:a="http://schemas.openxmlformats.org/drawingml/2006/main" prst="rect">
            <a:avLst/>
          </a:prstGeom>
        </p:spPr>
      </p:pic>
      <p:sp>
        <p:nvSpPr>
          <p:cNvPr id="7" name="text-10-5">
            <a:extLst xmlns:a="http://schemas.openxmlformats.org/drawingml/2006/main">
              <a:ext uri="{FF2B5EF4-FFF2-40B4-BE49-F238E27FC236}">
                <a16:creationId xmlns:a16="http://schemas.microsoft.com/office/drawing/2014/main" id="{0722A5F6-1361-47C1-8D4F-D91389C0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1125"/>
            <a:ext cx="3095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当前成果</a:t>
            </a:r>
          </a:p>
        </p:txBody>
      </p:sp>
      <p:sp>
        <p:nvSpPr>
          <p:cNvPr id="8" name="text-10-6">
            <a:extLst xmlns:a="http://schemas.openxmlformats.org/drawingml/2006/main">
              <a:ext uri="{FF2B5EF4-FFF2-40B4-BE49-F238E27FC236}">
                <a16:creationId xmlns:a16="http://schemas.microsoft.com/office/drawing/2014/main" id="{0EE7B838-1CF8-426E-8084-8C88A94F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71500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完整课程案例与学习卡</a:t>
            </a:r>
          </a:p>
        </p:txBody>
      </p:sp>
      <p:sp>
        <p:nvSpPr>
          <p:cNvPr id="9" name="text-10-7">
            <a:extLst xmlns:a="http://schemas.openxmlformats.org/drawingml/2006/main">
              <a:ext uri="{FF2B5EF4-FFF2-40B4-BE49-F238E27FC236}">
                <a16:creationId xmlns:a16="http://schemas.microsoft.com/office/drawing/2014/main" id="{F916098E-6179-474F-826F-09848E7A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91125"/>
            <a:ext cx="3095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rPr>
              <a:t>课程试用</a:t>
            </a:r>
          </a:p>
        </p:txBody>
      </p:sp>
      <p:sp>
        <p:nvSpPr>
          <p:cNvPr id="10" name="text-10-8">
            <a:extLst xmlns:a="http://schemas.openxmlformats.org/drawingml/2006/main">
              <a:ext uri="{FF2B5EF4-FFF2-40B4-BE49-F238E27FC236}">
                <a16:creationId xmlns:a16="http://schemas.microsoft.com/office/drawing/2014/main" id="{DE630831-F137-4901-B881-08F156A9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71500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教师组织学生完成任务</a:t>
            </a:r>
          </a:p>
        </p:txBody>
      </p:sp>
      <p:sp>
        <p:nvSpPr>
          <p:cNvPr id="11" name="text-10-9">
            <a:extLst xmlns:a="http://schemas.openxmlformats.org/drawingml/2006/main">
              <a:ext uri="{FF2B5EF4-FFF2-40B4-BE49-F238E27FC236}">
                <a16:creationId xmlns:a16="http://schemas.microsoft.com/office/drawing/2014/main" id="{D61AEEE2-667D-406B-8395-801E3B60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191125"/>
            <a:ext cx="3095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AE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E6800"/>
                </a:solidFill>
                <a:latin typeface="Microsoft YaHei"/>
                <a:ea typeface="Microsoft YaHei"/>
                <a:cs typeface="Microsoft YaHei"/>
              </a:rPr>
              <a:t>持续应用</a:t>
            </a:r>
          </a:p>
        </p:txBody>
      </p:sp>
      <p:sp>
        <p:nvSpPr>
          <p:cNvPr id="12" name="text-10-10">
            <a:extLst xmlns:a="http://schemas.openxmlformats.org/drawingml/2006/main">
              <a:ext uri="{FF2B5EF4-FFF2-40B4-BE49-F238E27FC236}">
                <a16:creationId xmlns:a16="http://schemas.microsoft.com/office/drawing/2014/main" id="{39FC1612-87CC-4F97-8CC7-08531E9E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71500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教师独立复用，再拓展服务</a:t>
            </a:r>
          </a:p>
        </p:txBody>
      </p:sp>
      <p:sp>
        <p:nvSpPr>
          <p:cNvPr id="13" name="text-10-11">
            <a:extLst xmlns:a="http://schemas.openxmlformats.org/drawingml/2006/main">
              <a:ext uri="{FF2B5EF4-FFF2-40B4-BE49-F238E27FC236}">
                <a16:creationId xmlns:a16="http://schemas.microsoft.com/office/drawing/2014/main" id="{C02CCD71-96CB-44F5-8E32-CC307B8E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06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真实课堂效果、机构合同与收入，尚未形成验证结果。</a:t>
            </a:r>
          </a:p>
        </p:txBody>
      </p:sp>
    </p:spTree>
    <p:extLst>
      <p:ext uri="{BB962C8B-B14F-4D97-AF65-F5344CB8AC3E}">
        <p14:creationId xmlns:p14="http://schemas.microsoft.com/office/powerpoint/2010/main" val="7977849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2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8ca05a3ce45e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11-0">
            <a:extLst xmlns:a="http://schemas.openxmlformats.org/drawingml/2006/main">
              <a:ext uri="{FF2B5EF4-FFF2-40B4-BE49-F238E27FC236}">
                <a16:creationId xmlns:a16="http://schemas.microsoft.com/office/drawing/2014/main" id="{3272A15B-F531-42DF-A0B3-618B6DB2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D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D8C9"/>
                </a:solidFill>
                <a:latin typeface="Microsoft YaHei"/>
                <a:ea typeface="Microsoft YaHei"/>
                <a:cs typeface="Microsoft YaHei"/>
              </a:rPr>
              <a:t>10 / 项目价值</a:t>
            </a:r>
          </a:p>
        </p:txBody>
      </p:sp>
      <p:sp>
        <p:nvSpPr>
          <p:cNvPr id="3" name="text-11-1">
            <a:extLst xmlns:a="http://schemas.openxmlformats.org/drawingml/2006/main">
              <a:ext uri="{FF2B5EF4-FFF2-40B4-BE49-F238E27FC236}">
                <a16:creationId xmlns:a16="http://schemas.microsoft.com/office/drawing/2014/main" id="{9D0255BD-9ACA-45CC-A43B-044C2489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00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4" name="text-11-2">
            <a:extLst xmlns:a="http://schemas.openxmlformats.org/drawingml/2006/main">
              <a:ext uri="{FF2B5EF4-FFF2-40B4-BE49-F238E27FC236}">
                <a16:creationId xmlns:a16="http://schemas.microsoft.com/office/drawing/2014/main" id="{C5ADA4CC-5F28-4BED-83F0-E9642319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A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ABD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11-3">
            <a:extLst xmlns:a="http://schemas.openxmlformats.org/drawingml/2006/main">
              <a:ext uri="{FF2B5EF4-FFF2-40B4-BE49-F238E27FC236}">
                <a16:creationId xmlns:a16="http://schemas.microsoft.com/office/drawing/2014/main" id="{293A43C8-2C9E-4646-8E3C-FE664A5A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A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8BAB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text-11-4">
            <a:extLst xmlns:a="http://schemas.openxmlformats.org/drawingml/2006/main">
              <a:ext uri="{FF2B5EF4-FFF2-40B4-BE49-F238E27FC236}">
                <a16:creationId xmlns:a16="http://schemas.microsoft.com/office/drawing/2014/main" id="{D47458B6-F0EB-4BF7-A8C0-D6E9C5E8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6286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 AI 创作</a:t>
            </a:r>
          </a:p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看得懂，改得动</a:t>
            </a:r>
          </a:p>
        </p:txBody>
      </p:sp>
      <p:sp>
        <p:nvSpPr>
          <p:cNvPr id="7" name="text-11-5">
            <a:extLst xmlns:a="http://schemas.openxmlformats.org/drawingml/2006/main">
              <a:ext uri="{FF2B5EF4-FFF2-40B4-BE49-F238E27FC236}">
                <a16:creationId xmlns:a16="http://schemas.microsoft.com/office/drawing/2014/main" id="{0F6BABD3-758D-4FC4-AA57-A7ACD959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61817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E3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9E3D7"/>
                </a:solidFill>
                <a:latin typeface="Microsoft YaHei"/>
                <a:ea typeface="Microsoft YaHei"/>
                <a:cs typeface="Microsoft YaHei"/>
              </a:rPr>
              <a:t>从课程资料到作品</a:t>
            </a:r>
          </a:p>
          <a:p xmlns:a="http://schemas.openxmlformats.org/drawingml/2006/main">
            <a:pPr algn="l">
              <a:defRPr sz="2175" b="1">
                <a:solidFill>
                  <a:srgbClr val="A9E3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9E3D7"/>
                </a:solidFill>
                <a:latin typeface="Microsoft YaHei"/>
                <a:ea typeface="Microsoft YaHei"/>
                <a:cs typeface="Microsoft YaHei"/>
              </a:rPr>
              <a:t>把依据、步骤与修改留在过程里</a:t>
            </a:r>
          </a:p>
        </p:txBody>
      </p:sp>
      <p:sp>
        <p:nvSpPr>
          <p:cNvPr id="8" name="text-11-6">
            <a:extLst xmlns:a="http://schemas.openxmlformats.org/drawingml/2006/main">
              <a:ext uri="{FF2B5EF4-FFF2-40B4-BE49-F238E27FC236}">
                <a16:creationId xmlns:a16="http://schemas.microsoft.com/office/drawing/2014/main" id="{7EA5C980-D9F4-483C-BFDA-A1C6F095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5D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5D2D2"/>
                </a:solidFill>
                <a:latin typeface="Microsoft YaHei"/>
                <a:ea typeface="Microsoft YaHei"/>
                <a:cs typeface="Microsoft YaHei"/>
              </a:rPr>
              <a:t>TB快重置就队  ·  谢谢各位评委</a:t>
            </a:r>
          </a:p>
        </p:txBody>
      </p:sp>
    </p:spTree>
    <p:extLst>
      <p:ext uri="{BB962C8B-B14F-4D97-AF65-F5344CB8AC3E}">
        <p14:creationId xmlns:p14="http://schemas.microsoft.com/office/powerpoint/2010/main" val="2220743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2-0">
            <a:extLst xmlns:a="http://schemas.openxmlformats.org/drawingml/2006/main">
              <a:ext uri="{FF2B5EF4-FFF2-40B4-BE49-F238E27FC236}">
                <a16:creationId xmlns:a16="http://schemas.microsoft.com/office/drawing/2014/main" id="{53F4BDE8-4CB2-41F6-B9F2-9A83548D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备份 / 经营测算</a:t>
            </a:r>
          </a:p>
        </p:txBody>
      </p:sp>
      <p:sp>
        <p:nvSpPr>
          <p:cNvPr id="2" name="text-12-1">
            <a:extLst xmlns:a="http://schemas.openxmlformats.org/drawingml/2006/main">
              <a:ext uri="{FF2B5EF4-FFF2-40B4-BE49-F238E27FC236}">
                <a16:creationId xmlns:a16="http://schemas.microsoft.com/office/drawing/2014/main" id="{03EE730C-F608-45A6-9FB8-32D7E74B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基准情景前两年亏损，先控制现金</a:t>
            </a:r>
          </a:p>
        </p:txBody>
      </p:sp>
      <p:sp>
        <p:nvSpPr>
          <p:cNvPr id="3" name="text-12-2">
            <a:extLst xmlns:a="http://schemas.openxmlformats.org/drawingml/2006/main">
              <a:ext uri="{FF2B5EF4-FFF2-40B4-BE49-F238E27FC236}">
                <a16:creationId xmlns:a16="http://schemas.microsoft.com/office/drawing/2014/main" id="{27007A05-0354-44FC-9863-1C2354D7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2027–2029规划假设 · 人民币万元 · 尚无实际合同、收入或资金承诺</a:t>
            </a:r>
          </a:p>
        </p:txBody>
      </p:sp>
      <p:sp>
        <p:nvSpPr>
          <p:cNvPr id="4" name="text-12-3">
            <a:extLst xmlns:a="http://schemas.openxmlformats.org/drawingml/2006/main">
              <a:ext uri="{FF2B5EF4-FFF2-40B4-BE49-F238E27FC236}">
                <a16:creationId xmlns:a16="http://schemas.microsoft.com/office/drawing/2014/main" id="{40DA486B-AE36-4C05-9362-C805B550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12-4">
            <a:extLst xmlns:a="http://schemas.openxmlformats.org/drawingml/2006/main">
              <a:ext uri="{FF2B5EF4-FFF2-40B4-BE49-F238E27FC236}">
                <a16:creationId xmlns:a16="http://schemas.microsoft.com/office/drawing/2014/main" id="{9A41C900-DA61-411A-8C13-BAF4E3DB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09600" y="2438400"/>
          <a:ext xmlns:a="http://schemas.openxmlformats.org/drawingml/2006/main" cx="744855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68a639a2244da5"/>
          </a:graphicData>
        </a:graphic>
      </p:graphicFrame>
      <p:sp>
        <p:nvSpPr>
          <p:cNvPr id="7" name="text-12-5">
            <a:extLst xmlns:a="http://schemas.openxmlformats.org/drawingml/2006/main">
              <a:ext uri="{FF2B5EF4-FFF2-40B4-BE49-F238E27FC236}">
                <a16:creationId xmlns:a16="http://schemas.microsoft.com/office/drawing/2014/main" id="{54A563E5-E884-4A34-849A-6221D788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52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10.30万元</a:t>
            </a:r>
          </a:p>
        </p:txBody>
      </p:sp>
      <p:sp>
        <p:nvSpPr>
          <p:cNvPr id="8" name="text-12-6">
            <a:extLst xmlns:a="http://schemas.openxmlformats.org/drawingml/2006/main">
              <a:ext uri="{FF2B5EF4-FFF2-40B4-BE49-F238E27FC236}">
                <a16:creationId xmlns:a16="http://schemas.microsoft.com/office/drawing/2014/main" id="{D692644B-46AD-4081-82B6-284A22B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528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基准追加资金预算</a:t>
            </a:r>
          </a:p>
        </p:txBody>
      </p:sp>
      <p:sp>
        <p:nvSpPr>
          <p:cNvPr id="9" name="text-12-7">
            <a:extLst xmlns:a="http://schemas.openxmlformats.org/drawingml/2006/main">
              <a:ext uri="{FF2B5EF4-FFF2-40B4-BE49-F238E27FC236}">
                <a16:creationId xmlns:a16="http://schemas.microsoft.com/office/drawing/2014/main" id="{F8BEE069-4571-441E-AE76-7736DEF5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62450"/>
            <a:ext cx="2809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峰值缺口 8.30万</a:t>
            </a:r>
          </a:p>
          <a:p xmlns:a="http://schemas.openxmlformats.org/drawingml/2006/main">
            <a:pPr algn="l">
              <a:defRPr sz="18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最低储备 2.00万</a:t>
            </a:r>
          </a:p>
        </p:txBody>
      </p:sp>
      <p:sp>
        <p:nvSpPr>
          <p:cNvPr id="10" name="text-12-8">
            <a:extLst xmlns:a="http://schemas.openxmlformats.org/drawingml/2006/main">
              <a:ext uri="{FF2B5EF4-FFF2-40B4-BE49-F238E27FC236}">
                <a16:creationId xmlns:a16="http://schemas.microsoft.com/office/drawing/2014/main" id="{6E317CE1-1D4A-45C2-92F8-AF37129D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944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合同目标：4 / 10 / 18 份；每份均价 1.8 万元为假设。</a:t>
            </a:r>
          </a:p>
        </p:txBody>
      </p:sp>
      <p:sp>
        <p:nvSpPr>
          <p:cNvPr id="11" name="text-12-9">
            <a:extLst xmlns:a="http://schemas.openxmlformats.org/drawingml/2006/main">
              <a:ext uri="{FF2B5EF4-FFF2-40B4-BE49-F238E27FC236}">
                <a16:creationId xmlns:a16="http://schemas.microsoft.com/office/drawing/2014/main" id="{A57A1C03-B7D1-4B04-9200-56BE5143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10944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2029单年转正，三年累计仍亏1.472万元。</a:t>
            </a:r>
          </a:p>
        </p:txBody>
      </p:sp>
    </p:spTree>
    <p:extLst>
      <p:ext uri="{BB962C8B-B14F-4D97-AF65-F5344CB8AC3E}">
        <p14:creationId xmlns:p14="http://schemas.microsoft.com/office/powerpoint/2010/main" val="18165605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3-0">
            <a:extLst xmlns:a="http://schemas.openxmlformats.org/drawingml/2006/main">
              <a:ext uri="{FF2B5EF4-FFF2-40B4-BE49-F238E27FC236}">
                <a16:creationId xmlns:a16="http://schemas.microsoft.com/office/drawing/2014/main" id="{FCD76DC4-FF65-464B-BAA4-9565B94C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备份 / 竞争位置</a:t>
            </a:r>
          </a:p>
        </p:txBody>
      </p:sp>
      <p:sp>
        <p:nvSpPr>
          <p:cNvPr id="2" name="text-13-1">
            <a:extLst xmlns:a="http://schemas.openxmlformats.org/drawingml/2006/main">
              <a:ext uri="{FF2B5EF4-FFF2-40B4-BE49-F238E27FC236}">
                <a16:creationId xmlns:a16="http://schemas.microsoft.com/office/drawing/2014/main" id="{90E46D16-6D6E-45C0-B1C1-51EE390F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免费之外，要证明课堂复用价值</a:t>
            </a:r>
          </a:p>
        </p:txBody>
      </p:sp>
      <p:sp>
        <p:nvSpPr>
          <p:cNvPr id="3" name="text-13-2">
            <a:extLst xmlns:a="http://schemas.openxmlformats.org/drawingml/2006/main">
              <a:ext uri="{FF2B5EF4-FFF2-40B4-BE49-F238E27FC236}">
                <a16:creationId xmlns:a16="http://schemas.microsoft.com/office/drawing/2014/main" id="{305EEEFB-7E36-40B8-86B6-97DEDA47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Scratch 是交互参照；Blocks Builder AI 是直接教育竞品。</a:t>
            </a:r>
          </a:p>
        </p:txBody>
      </p:sp>
      <p:sp>
        <p:nvSpPr>
          <p:cNvPr id="4" name="text-13-3">
            <a:extLst xmlns:a="http://schemas.openxmlformats.org/drawingml/2006/main">
              <a:ext uri="{FF2B5EF4-FFF2-40B4-BE49-F238E27FC236}">
                <a16:creationId xmlns:a16="http://schemas.microsoft.com/office/drawing/2014/main" id="{B17644B8-849C-4399-840F-CCD52FF6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13-4">
            <a:extLst xmlns:a="http://schemas.openxmlformats.org/drawingml/2006/main">
              <a:ext uri="{FF2B5EF4-FFF2-40B4-BE49-F238E27FC236}">
                <a16:creationId xmlns:a16="http://schemas.microsoft.com/office/drawing/2014/main" id="{BDF3AC77-83B2-4892-A34E-49C03C85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2543175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190750"/>
                <a:gridCol w="3476625"/>
                <a:gridCol w="5305425"/>
              </a:tblGrid>
              <a:tr h="63579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</a:t>
                      </a:r>
                    </a:p>
                  </a:txBody>
                  <a:tcPr marL="152400" marR="152400" marT="123825" marB="123825">
                    <a:solidFill>
                      <a:srgbClr val="007C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公开重点</a:t>
                      </a:r>
                    </a:p>
                  </a:txBody>
                  <a:tcPr marL="152400" marR="152400" marT="123825" marB="123825">
                    <a:solidFill>
                      <a:srgbClr val="007C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Blocky 需要证明的价值</a:t>
                      </a:r>
                    </a:p>
                  </a:txBody>
                  <a:tcPr marL="152400" marR="152400" marT="123825" marB="123825">
                    <a:solidFill>
                      <a:srgbClr val="007C73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Scratch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积木创作与学习资源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把创作方式扩展到 AI 任务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Blocks Builder AI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积木 AI；个人免费、机构洽谈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桌面作品、资料与过程的教学价值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Dify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应用构建与教育计划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让课程组织与学生创作更易开展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  <p:sp>
        <p:nvSpPr>
          <p:cNvPr id="7" name="text-13-5">
            <a:extLst xmlns:a="http://schemas.openxmlformats.org/drawingml/2006/main">
              <a:ext uri="{FF2B5EF4-FFF2-40B4-BE49-F238E27FC236}">
                <a16:creationId xmlns:a16="http://schemas.microsoft.com/office/drawing/2014/main" id="{9B1F1E96-D9DE-4F30-BE81-33D1DBFE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我们的验证重点：教师能否独立复用一套课程作品。</a:t>
            </a:r>
          </a:p>
        </p:txBody>
      </p:sp>
    </p:spTree>
    <p:extLst>
      <p:ext uri="{BB962C8B-B14F-4D97-AF65-F5344CB8AC3E}">
        <p14:creationId xmlns:p14="http://schemas.microsoft.com/office/powerpoint/2010/main" val="915299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4-0">
            <a:extLst xmlns:a="http://schemas.openxmlformats.org/drawingml/2006/main">
              <a:ext uri="{FF2B5EF4-FFF2-40B4-BE49-F238E27FC236}">
                <a16:creationId xmlns:a16="http://schemas.microsoft.com/office/drawing/2014/main" id="{3CF0CF41-74FE-408F-ADF7-E346C568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备份 / 成本与情景</a:t>
            </a:r>
          </a:p>
        </p:txBody>
      </p:sp>
      <p:sp>
        <p:nvSpPr>
          <p:cNvPr id="2" name="text-14-1">
            <a:extLst xmlns:a="http://schemas.openxmlformats.org/drawingml/2006/main">
              <a:ext uri="{FF2B5EF4-FFF2-40B4-BE49-F238E27FC236}">
                <a16:creationId xmlns:a16="http://schemas.microsoft.com/office/drawing/2014/main" id="{03A2D413-986B-43ED-A304-0571C6C8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合同量和支持成本，比市场大数字更关键</a:t>
            </a:r>
          </a:p>
        </p:txBody>
      </p:sp>
      <p:sp>
        <p:nvSpPr>
          <p:cNvPr id="3" name="text-14-2">
            <a:extLst xmlns:a="http://schemas.openxmlformats.org/drawingml/2006/main">
              <a:ext uri="{FF2B5EF4-FFF2-40B4-BE49-F238E27FC236}">
                <a16:creationId xmlns:a16="http://schemas.microsoft.com/office/drawing/2014/main" id="{AEEEEF7E-6885-497B-AF6F-73BAFAE6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全部为规划情景，非客户报价或已实现业绩。</a:t>
            </a:r>
          </a:p>
        </p:txBody>
      </p:sp>
      <p:sp>
        <p:nvSpPr>
          <p:cNvPr id="4" name="text-14-3">
            <a:extLst xmlns:a="http://schemas.openxmlformats.org/drawingml/2006/main">
              <a:ext uri="{FF2B5EF4-FFF2-40B4-BE49-F238E27FC236}">
                <a16:creationId xmlns:a16="http://schemas.microsoft.com/office/drawing/2014/main" id="{6F9ABC50-CF60-498C-9E51-13988667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14-4">
            <a:extLst xmlns:a="http://schemas.openxmlformats.org/drawingml/2006/main">
              <a:ext uri="{FF2B5EF4-FFF2-40B4-BE49-F238E27FC236}">
                <a16:creationId xmlns:a16="http://schemas.microsoft.com/office/drawing/2014/main" id="{7C4A112A-F3ED-4AB0-9412-B1BFA933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562225"/>
          <a:ext xmlns:a="http://schemas.openxmlformats.org/drawingml/2006/main" cx="10972800" cy="23050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1905000"/>
                <a:gridCol w="3095625"/>
                <a:gridCol w="3095625"/>
                <a:gridCol w="2876550"/>
              </a:tblGrid>
              <a:tr h="5762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情景</a:t>
                      </a:r>
                    </a:p>
                  </a:txBody>
                  <a:tcPr marL="152400" marR="152400" marT="123825" marB="123825">
                    <a:solidFill>
                      <a:srgbClr val="007C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三年收入（万元）</a:t>
                      </a:r>
                    </a:p>
                  </a:txBody>
                  <a:tcPr marL="152400" marR="152400" marT="123825" marB="123825">
                    <a:solidFill>
                      <a:srgbClr val="007C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三年损益（万元）</a:t>
                      </a:r>
                    </a:p>
                  </a:txBody>
                  <a:tcPr marL="152400" marR="152400" marT="123825" marB="123825">
                    <a:solidFill>
                      <a:srgbClr val="007C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追加资金（万元）</a:t>
                      </a:r>
                    </a:p>
                  </a:txBody>
                  <a:tcPr marL="152400" marR="152400" marT="123825" marB="123825">
                    <a:solidFill>
                      <a:srgbClr val="007C73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悲观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18.00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-27.840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28.110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57.60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-1.472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10.300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积极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96.80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18.044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3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7.543</a:t>
                      </a:r>
                    </a:p>
                  </a:txBody>
                  <a:tcPr marL="152400" marR="152400" marT="123825" marB="123825"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  <p:sp>
        <p:nvSpPr>
          <p:cNvPr id="7" name="text-14-5">
            <a:extLst xmlns:a="http://schemas.openxmlformats.org/drawingml/2006/main">
              <a:ext uri="{FF2B5EF4-FFF2-40B4-BE49-F238E27FC236}">
                <a16:creationId xmlns:a16="http://schemas.microsoft.com/office/drawing/2014/main" id="{9D7691AB-80B4-4006-B89C-6E789E32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95900"/>
            <a:ext cx="10896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基准单份：1.8万元收入，80小时交付，1400元模型额度预算。</a:t>
            </a:r>
          </a:p>
        </p:txBody>
      </p:sp>
      <p:sp>
        <p:nvSpPr>
          <p:cNvPr id="8" name="text-14-6">
            <a:extLst xmlns:a="http://schemas.openxmlformats.org/drawingml/2006/main">
              <a:ext uri="{FF2B5EF4-FFF2-40B4-BE49-F238E27FC236}">
                <a16:creationId xmlns:a16="http://schemas.microsoft.com/office/drawing/2014/main" id="{7AA7D77E-9383-43AE-9AEA-BFD3698C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91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低迷情景不能只补基准资金；必须收缩费用、调整任务或暂停扩张。</a:t>
            </a:r>
          </a:p>
        </p:txBody>
      </p:sp>
    </p:spTree>
    <p:extLst>
      <p:ext uri="{BB962C8B-B14F-4D97-AF65-F5344CB8AC3E}">
        <p14:creationId xmlns:p14="http://schemas.microsoft.com/office/powerpoint/2010/main" val="10019990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5-0">
            <a:extLst xmlns:a="http://schemas.openxmlformats.org/drawingml/2006/main">
              <a:ext uri="{FF2B5EF4-FFF2-40B4-BE49-F238E27FC236}">
                <a16:creationId xmlns:a16="http://schemas.microsoft.com/office/drawing/2014/main" id="{AB7967AF-7789-4932-A092-A2B6ACF9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备份 / 评委追问</a:t>
            </a:r>
          </a:p>
        </p:txBody>
      </p:sp>
      <p:sp>
        <p:nvSpPr>
          <p:cNvPr id="2" name="text-15-1">
            <a:extLst xmlns:a="http://schemas.openxmlformats.org/drawingml/2006/main">
              <a:ext uri="{FF2B5EF4-FFF2-40B4-BE49-F238E27FC236}">
                <a16:creationId xmlns:a16="http://schemas.microsoft.com/office/drawing/2014/main" id="{2C4DB76E-6634-49DC-A1DA-CD2C460B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为什么还需要积木，怎样面对错误？</a:t>
            </a:r>
          </a:p>
        </p:txBody>
      </p:sp>
      <p:sp>
        <p:nvSpPr>
          <p:cNvPr id="3" name="text-15-2">
            <a:extLst xmlns:a="http://schemas.openxmlformats.org/drawingml/2006/main">
              <a:ext uri="{FF2B5EF4-FFF2-40B4-BE49-F238E27FC236}">
                <a16:creationId xmlns:a16="http://schemas.microsoft.com/office/drawing/2014/main" id="{1CFA6042-E0F5-4B1D-A83A-B0C06A17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作品结构、资料核查与工具权限，是三个可继续展开的问题。</a:t>
            </a:r>
          </a:p>
        </p:txBody>
      </p:sp>
      <p:sp>
        <p:nvSpPr>
          <p:cNvPr id="4" name="text-15-3">
            <a:extLst xmlns:a="http://schemas.openxmlformats.org/drawingml/2006/main">
              <a:ext uri="{FF2B5EF4-FFF2-40B4-BE49-F238E27FC236}">
                <a16:creationId xmlns:a16="http://schemas.microsoft.com/office/drawing/2014/main" id="{65585F8F-DA19-4DCE-839E-02B0EAD2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15-4">
            <a:extLst xmlns:a="http://schemas.openxmlformats.org/drawingml/2006/main">
              <a:ext uri="{FF2B5EF4-FFF2-40B4-BE49-F238E27FC236}">
                <a16:creationId xmlns:a16="http://schemas.microsoft.com/office/drawing/2014/main" id="{39A3E538-F40A-4E23-B905-4F67555E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text-15-5">
            <a:extLst xmlns:a="http://schemas.openxmlformats.org/drawingml/2006/main">
              <a:ext uri="{FF2B5EF4-FFF2-40B4-BE49-F238E27FC236}">
                <a16:creationId xmlns:a16="http://schemas.microsoft.com/office/drawing/2014/main" id="{1C03F549-AC98-4B46-B0D4-1BE9E64A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9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已有聊天工具，为什么用积木？</a:t>
            </a:r>
          </a:p>
        </p:txBody>
      </p:sp>
      <p:sp>
        <p:nvSpPr>
          <p:cNvPr id="7" name="text-15-6">
            <a:extLst xmlns:a="http://schemas.openxmlformats.org/drawingml/2006/main">
              <a:ext uri="{FF2B5EF4-FFF2-40B4-BE49-F238E27FC236}">
                <a16:creationId xmlns:a16="http://schemas.microsoft.com/office/drawing/2014/main" id="{3158ED46-6531-4593-A6E5-3DFB7239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用于需要保存、修改、解释步骤的课程任务；价值需看教师能否复用。</a:t>
            </a:r>
          </a:p>
        </p:txBody>
      </p:sp>
      <p:sp>
        <p:nvSpPr>
          <p:cNvPr id="8" name="text-15-7">
            <a:extLst xmlns:a="http://schemas.openxmlformats.org/drawingml/2006/main">
              <a:ext uri="{FF2B5EF4-FFF2-40B4-BE49-F238E27FC236}">
                <a16:creationId xmlns:a16="http://schemas.microsoft.com/office/drawing/2014/main" id="{8C9C55A9-4E22-4521-9941-B9DF33F8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有引用就不会错吗？</a:t>
            </a:r>
          </a:p>
        </p:txBody>
      </p:sp>
      <p:sp>
        <p:nvSpPr>
          <p:cNvPr id="9" name="text-15-8">
            <a:extLst xmlns:a="http://schemas.openxmlformats.org/drawingml/2006/main">
              <a:ext uri="{FF2B5EF4-FFF2-40B4-BE49-F238E27FC236}">
                <a16:creationId xmlns:a16="http://schemas.microsoft.com/office/drawing/2014/main" id="{4752A0D7-E6D6-4101-8BC6-11BC4BFF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95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引用提供核查入口；教师仍需检查内容、资料范围与模型输出。</a:t>
            </a:r>
          </a:p>
        </p:txBody>
      </p:sp>
      <p:sp>
        <p:nvSpPr>
          <p:cNvPr id="10" name="text-15-9">
            <a:extLst xmlns:a="http://schemas.openxmlformats.org/drawingml/2006/main">
              <a:ext uri="{FF2B5EF4-FFF2-40B4-BE49-F238E27FC236}">
                <a16:creationId xmlns:a16="http://schemas.microsoft.com/office/drawing/2014/main" id="{5C9CF52B-A0E6-4DA4-8782-092459A9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149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谁能改文件或调用工具？</a:t>
            </a:r>
          </a:p>
        </p:txBody>
      </p:sp>
      <p:sp>
        <p:nvSpPr>
          <p:cNvPr id="11" name="text-15-10">
            <a:extLst xmlns:a="http://schemas.openxmlformats.org/drawingml/2006/main">
              <a:ext uri="{FF2B5EF4-FFF2-40B4-BE49-F238E27FC236}">
                <a16:creationId xmlns:a16="http://schemas.microsoft.com/office/drawing/2014/main" id="{6D30B814-DFFB-4CE7-A257-ADEA41E0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72100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当前由Host控制工具权限，变更可查看和撤回；不承诺所有工具都安全。</a:t>
            </a:r>
          </a:p>
        </p:txBody>
      </p:sp>
    </p:spTree>
    <p:extLst>
      <p:ext uri="{BB962C8B-B14F-4D97-AF65-F5344CB8AC3E}">
        <p14:creationId xmlns:p14="http://schemas.microsoft.com/office/powerpoint/2010/main" val="6683863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6-0">
            <a:extLst xmlns:a="http://schemas.openxmlformats.org/drawingml/2006/main">
              <a:ext uri="{FF2B5EF4-FFF2-40B4-BE49-F238E27FC236}">
                <a16:creationId xmlns:a16="http://schemas.microsoft.com/office/drawing/2014/main" id="{10D0D620-06EE-417B-B640-C063D5F3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备份 / 产品演示</a:t>
            </a:r>
          </a:p>
        </p:txBody>
      </p:sp>
      <p:sp>
        <p:nvSpPr>
          <p:cNvPr id="2" name="text-16-1">
            <a:extLst xmlns:a="http://schemas.openxmlformats.org/drawingml/2006/main">
              <a:ext uri="{FF2B5EF4-FFF2-40B4-BE49-F238E27FC236}">
                <a16:creationId xmlns:a16="http://schemas.microsoft.com/office/drawing/2014/main" id="{1B38EA3F-0C9F-4543-B8A1-EA3197B9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同一课程资料，两种可检查的创作方式</a:t>
            </a:r>
          </a:p>
        </p:txBody>
      </p:sp>
      <p:sp>
        <p:nvSpPr>
          <p:cNvPr id="3" name="text-16-2">
            <a:extLst xmlns:a="http://schemas.openxmlformats.org/drawingml/2006/main">
              <a:ext uri="{FF2B5EF4-FFF2-40B4-BE49-F238E27FC236}">
                <a16:creationId xmlns:a16="http://schemas.microsoft.com/office/drawing/2014/main" id="{47AD66AC-B948-40E4-8126-7B71B612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画布作品检索原文；构建助手生成学习卡。</a:t>
            </a:r>
          </a:p>
        </p:txBody>
      </p:sp>
      <p:sp>
        <p:nvSpPr>
          <p:cNvPr id="4" name="text-16-3">
            <a:extLst xmlns:a="http://schemas.openxmlformats.org/drawingml/2006/main">
              <a:ext uri="{FF2B5EF4-FFF2-40B4-BE49-F238E27FC236}">
                <a16:creationId xmlns:a16="http://schemas.microsoft.com/office/drawing/2014/main" id="{AE808FBC-6418-4F52-94BD-5405EFFE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16-4">
            <a:extLst xmlns:a="http://schemas.openxmlformats.org/drawingml/2006/main">
              <a:ext uri="{FF2B5EF4-FFF2-40B4-BE49-F238E27FC236}">
                <a16:creationId xmlns:a16="http://schemas.microsoft.com/office/drawing/2014/main" id="{AD7F118A-3866-4DA1-9B77-7E3F2E10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text-16-5">
            <a:extLst xmlns:a="http://schemas.openxmlformats.org/drawingml/2006/main">
              <a:ext uri="{FF2B5EF4-FFF2-40B4-BE49-F238E27FC236}">
                <a16:creationId xmlns:a16="http://schemas.microsoft.com/office/drawing/2014/main" id="{03781B7F-3353-4DEE-AD23-B4FF1FC3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画布作品</a:t>
            </a:r>
          </a:p>
        </p:txBody>
      </p:sp>
      <p:sp>
        <p:nvSpPr>
          <p:cNvPr id="7" name="text-16-6">
            <a:extLst xmlns:a="http://schemas.openxmlformats.org/drawingml/2006/main">
              <a:ext uri="{FF2B5EF4-FFF2-40B4-BE49-F238E27FC236}">
                <a16:creationId xmlns:a16="http://schemas.microsoft.com/office/drawing/2014/main" id="{B5AD181D-4103-409B-BA22-AE0CE9A6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提问 → 出处 → 轨迹</a:t>
            </a:r>
          </a:p>
        </p:txBody>
      </p:sp>
      <p:sp>
        <p:nvSpPr>
          <p:cNvPr id="8" name="text-16-7">
            <a:extLst xmlns:a="http://schemas.openxmlformats.org/drawingml/2006/main">
              <a:ext uri="{FF2B5EF4-FFF2-40B4-BE49-F238E27FC236}">
                <a16:creationId xmlns:a16="http://schemas.microsoft.com/office/drawing/2014/main" id="{0FDB736C-3556-4850-B504-0ADA6FE9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050B5"/>
                </a:solidFill>
                <a:latin typeface="Microsoft YaHei"/>
                <a:ea typeface="Microsoft YaHei"/>
                <a:cs typeface="Microsoft YaHei"/>
              </a:rPr>
              <a:t>构建助手</a:t>
            </a:r>
          </a:p>
        </p:txBody>
      </p:sp>
      <p:sp>
        <p:nvSpPr>
          <p:cNvPr id="9" name="text-16-8">
            <a:extLst xmlns:a="http://schemas.openxmlformats.org/drawingml/2006/main">
              <a:ext uri="{FF2B5EF4-FFF2-40B4-BE49-F238E27FC236}">
                <a16:creationId xmlns:a16="http://schemas.microsoft.com/office/drawing/2014/main" id="{3FBBBEA5-6E3F-48D0-8876-692CABB4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选资料 → 任务 → 文件</a:t>
            </a:r>
          </a:p>
        </p:txBody>
      </p:sp>
      <p:sp>
        <p:nvSpPr>
          <p:cNvPr id="10" name="text-16-9">
            <a:extLst xmlns:a="http://schemas.openxmlformats.org/drawingml/2006/main">
              <a:ext uri="{FF2B5EF4-FFF2-40B4-BE49-F238E27FC236}">
                <a16:creationId xmlns:a16="http://schemas.microsoft.com/office/drawing/2014/main" id="{80C82589-E647-404C-8CFE-291680F2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E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E6800"/>
                </a:solidFill>
                <a:latin typeface="Microsoft YaHei"/>
                <a:ea typeface="Microsoft YaHei"/>
                <a:cs typeface="Microsoft YaHei"/>
              </a:rPr>
              <a:t>模型边界</a:t>
            </a:r>
          </a:p>
        </p:txBody>
      </p:sp>
      <p:sp>
        <p:nvSpPr>
          <p:cNvPr id="11" name="text-16-10">
            <a:extLst xmlns:a="http://schemas.openxmlformats.org/drawingml/2006/main">
              <a:ext uri="{FF2B5EF4-FFF2-40B4-BE49-F238E27FC236}">
                <a16:creationId xmlns:a16="http://schemas.microsoft.com/office/drawing/2014/main" id="{5C5E3E63-38EE-4BF6-9010-FA5757A5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原文摘录 / 外部生成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b0890e9454d89"/>
          <a:stretch xmlns:a="http://schemas.openxmlformats.org/drawingml/2006/main"/>
        </p:blipFill>
        <p:spPr>
          <a:xfrm xmlns:a="http://schemas.openxmlformats.org/drawingml/2006/main">
            <a:off x="5052357" y="2457450"/>
            <a:ext cx="6002061" cy="3752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493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7-0">
            <a:extLst xmlns:a="http://schemas.openxmlformats.org/drawingml/2006/main">
              <a:ext uri="{FF2B5EF4-FFF2-40B4-BE49-F238E27FC236}">
                <a16:creationId xmlns:a16="http://schemas.microsoft.com/office/drawing/2014/main" id="{3CA8398D-78D1-499A-9AA4-28E0B522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备份 / 资料来源</a:t>
            </a:r>
          </a:p>
        </p:txBody>
      </p:sp>
      <p:sp>
        <p:nvSpPr>
          <p:cNvPr id="2" name="text-17-1">
            <a:extLst xmlns:a="http://schemas.openxmlformats.org/drawingml/2006/main">
              <a:ext uri="{FF2B5EF4-FFF2-40B4-BE49-F238E27FC236}">
                <a16:creationId xmlns:a16="http://schemas.microsoft.com/office/drawing/2014/main" id="{B63775DD-DC40-4664-9AED-1ADD6D06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外部比较与数字都有可回溯来源</a:t>
            </a:r>
          </a:p>
        </p:txBody>
      </p:sp>
      <p:sp>
        <p:nvSpPr>
          <p:cNvPr id="3" name="text-17-2">
            <a:extLst xmlns:a="http://schemas.openxmlformats.org/drawingml/2006/main">
              <a:ext uri="{FF2B5EF4-FFF2-40B4-BE49-F238E27FC236}">
                <a16:creationId xmlns:a16="http://schemas.microsoft.com/office/drawing/2014/main" id="{3B365C64-330E-497F-B45B-69106BE7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公开页面访问日期：2026年10月3日</a:t>
            </a:r>
          </a:p>
        </p:txBody>
      </p:sp>
      <p:sp>
        <p:nvSpPr>
          <p:cNvPr id="4" name="text-17-3">
            <a:extLst xmlns:a="http://schemas.openxmlformats.org/drawingml/2006/main">
              <a:ext uri="{FF2B5EF4-FFF2-40B4-BE49-F238E27FC236}">
                <a16:creationId xmlns:a16="http://schemas.microsoft.com/office/drawing/2014/main" id="{B391B973-5113-40D7-9E7A-9EC8C170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5" name="text-17-4">
            <a:extLst xmlns:a="http://schemas.openxmlformats.org/drawingml/2006/main">
              <a:ext uri="{FF2B5EF4-FFF2-40B4-BE49-F238E27FC236}">
                <a16:creationId xmlns:a16="http://schemas.microsoft.com/office/drawing/2014/main" id="{8AAB86B3-4806-4071-A413-79E17074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103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869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text-17-5">
            <a:extLst xmlns:a="http://schemas.openxmlformats.org/drawingml/2006/main">
              <a:ext uri="{FF2B5EF4-FFF2-40B4-BE49-F238E27FC236}">
                <a16:creationId xmlns:a16="http://schemas.microsoft.com/office/drawing/2014/main" id="{A6AF2691-E517-4066-BB15-AC11D2B4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Scratch Foundation</a:t>
            </a:r>
          </a:p>
        </p:txBody>
      </p:sp>
      <p:sp>
        <p:nvSpPr>
          <p:cNvPr id="7" name="text-17-6">
            <a:extLst xmlns:a="http://schemas.openxmlformats.org/drawingml/2006/main">
              <a:ext uri="{FF2B5EF4-FFF2-40B4-BE49-F238E27FC236}">
                <a16:creationId xmlns:a16="http://schemas.microsoft.com/office/drawing/2014/main" id="{6CE99902-4918-4BD8-925B-88B1C48F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146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Starter Projects · 学习与积木创作参照</a:t>
            </a:r>
          </a:p>
        </p:txBody>
      </p:sp>
      <p:sp>
        <p:nvSpPr>
          <p:cNvPr id="8" name="text-17-7">
            <a:extLst xmlns:a="http://schemas.openxmlformats.org/drawingml/2006/main">
              <a:ext uri="{FF2B5EF4-FFF2-40B4-BE49-F238E27FC236}">
                <a16:creationId xmlns:a16="http://schemas.microsoft.com/office/drawing/2014/main" id="{D5343B62-A1DB-4BB7-887B-7E209786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Blocks Builder AI</a:t>
            </a:r>
          </a:p>
        </p:txBody>
      </p:sp>
      <p:sp>
        <p:nvSpPr>
          <p:cNvPr id="9" name="text-17-8">
            <a:extLst xmlns:a="http://schemas.openxmlformats.org/drawingml/2006/main">
              <a:ext uri="{FF2B5EF4-FFF2-40B4-BE49-F238E27FC236}">
                <a16:creationId xmlns:a16="http://schemas.microsoft.com/office/drawing/2014/main" id="{3B6D75C4-BAE2-4B84-BA83-9A96E23E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243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Features / Pricing · 功能、个人免费与教育洽谈</a:t>
            </a:r>
          </a:p>
        </p:txBody>
      </p:sp>
      <p:sp>
        <p:nvSpPr>
          <p:cNvPr id="10" name="text-17-9">
            <a:extLst xmlns:a="http://schemas.openxmlformats.org/drawingml/2006/main">
              <a:ext uri="{FF2B5EF4-FFF2-40B4-BE49-F238E27FC236}">
                <a16:creationId xmlns:a16="http://schemas.microsoft.com/office/drawing/2014/main" id="{6185283B-7785-4D2B-91A0-287FAFEC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387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C73"/>
                </a:solidFill>
                <a:latin typeface="Microsoft YaHei"/>
                <a:ea typeface="Microsoft YaHei"/>
                <a:cs typeface="Microsoft YaHei"/>
              </a:rPr>
              <a:t>Dify</a:t>
            </a:r>
          </a:p>
        </p:txBody>
      </p:sp>
      <p:sp>
        <p:nvSpPr>
          <p:cNvPr id="11" name="text-17-10">
            <a:extLst xmlns:a="http://schemas.openxmlformats.org/drawingml/2006/main">
              <a:ext uri="{FF2B5EF4-FFF2-40B4-BE49-F238E27FC236}">
                <a16:creationId xmlns:a16="http://schemas.microsoft.com/office/drawing/2014/main" id="{69115EBD-884B-48A8-B7CE-DE754F6A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340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326"/>
                </a:solidFill>
                <a:latin typeface="Microsoft YaHei"/>
                <a:ea typeface="Microsoft YaHei"/>
                <a:cs typeface="Microsoft YaHei"/>
              </a:rPr>
              <a:t>Dify for Education · 专业AI应用构建的教育路径</a:t>
            </a:r>
          </a:p>
        </p:txBody>
      </p:sp>
    </p:spTree>
    <p:extLst>
      <p:ext uri="{BB962C8B-B14F-4D97-AF65-F5344CB8AC3E}">
        <p14:creationId xmlns:p14="http://schemas.microsoft.com/office/powerpoint/2010/main" val="6173908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Blocky Studio</dc:creator>
  <lastModifiedBy>Blocky Studio</lastModifiedBy>
  <dc:title>Blocky Studio 新版答辩</dc:title>
  <dcterms:created xsi:type="dcterms:W3CDTF">2026-10-02T17:39:26.9230000Z</dcterms:created>
  <dcterms:modified xsi:type="dcterms:W3CDTF">2026-10-02T17:39:26.9230000Z</dcterms:modified>
  <dc:subject>教育 AI 创作与机构服务</dc:subject>
</coreProperties>
</file>
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开场给出完整投资命题：教育是可验证入口，长期价值来自同一 Agent 语言、运行内核与项目积木化。</a:t>
            </a:r>
          </a:p>
          <a:p>
            <a:endParaRPr/>
          </a:p>
          <a:p>
            <a:r>
              <a:t>[Sources]</a:t>
            </a:r>
          </a:p>
          <a:p>
            <a:r>
              <a:t>- https://js.news.cn/20260814/e55cedf9698f4f56a99a8a96d8473a54/c.html</a:t>
            </a:r>
          </a:p>
          <a:p>
            <a:r>
              <a:t>- D:/1Folder/Blocky-AI/doc/产品设计/Blocky-完整积木与Agent兼容设计.md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Scratch 已验证可视化编程的教育价值；Blocky 把同样的可见性带到 Agent 的角色、知识、工具、记忆与权限。</a:t>
            </a:r>
          </a:p>
          <a:p>
            <a:endParaRPr/>
          </a:p>
          <a:p>
            <a:r>
              <a:t>[Sources]</a:t>
            </a:r>
          </a:p>
          <a:p>
            <a:r>
              <a:t>- https://scratch.mit.edu/educators/</a:t>
            </a:r>
          </a:p>
          <a:p>
            <a:r>
              <a:t>- D:/1Folder/Blocky-AI/doc/执行计划/2026-08-23-Blocky-竞品驱动完整开发计划.md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产品答案是一套 Scratch 式 Agent 语言。截图只代表 Windows Core 技术尖峰实证，正式产品状态在后页分层说明。</a:t>
            </a:r>
          </a:p>
          <a:p>
            <a:endParaRPr/>
          </a:p>
          <a:p>
            <a:r>
              <a:t>[Sources]</a:t>
            </a:r>
          </a:p>
          <a:p>
            <a:r>
              <a:t>- D:/1Folder/Blocky-AI/doc/产品设计/Blocky-完整积木与Agent兼容设计.md</a:t>
            </a:r>
          </a:p>
          <a:p>
            <a:r>
              <a:t>- D:/1Folder/Blocky-AI/doc/技术设计/Windows-Core技术尖峰报告.md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课堂采用多课时项目制，每课时完成一个可检查里程碑，避免把复杂 Agent 误写成一节课完成。</a:t>
            </a:r>
          </a:p>
          <a:p>
            <a:endParaRPr/>
          </a:p>
          <a:p>
            <a:r>
              <a:t>[Sources]</a:t>
            </a:r>
          </a:p>
          <a:p>
            <a:r>
              <a:t>- D:/1Folder/Blocky-AI/doc/执行计划/2026-08-23-Blocky-竞品驱动完整开发计划.md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工程证据包括 Windows Core 长稳、Host 保存重载与正式契约验收。技术证据不等同于课堂或收入证据。</a:t>
            </a:r>
          </a:p>
          <a:p>
            <a:endParaRPr/>
          </a:p>
          <a:p>
            <a:r>
              <a:t>[Sources]</a:t>
            </a:r>
          </a:p>
          <a:p>
            <a:r>
              <a:t>- D:/1Folder/Blocky-AI/doc/技术设计/Windows-Core技术尖峰报告.md</a:t>
            </a:r>
          </a:p>
          <a:p>
            <a:r>
              <a:t>- D:/1Folder/Blocky-AI/doc/验收/归档/2026-08-23/验收-Blocky阶段0契约冻结.md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18 个月漏斗假设：20 名共创教师形成 30 个课堂样板；每课堂 40 人、10% 转个人年费，共 120 人；5 家付费试点扩至 10 家年度机构、每家 80 席，共 800 席。合计 920 个教育付费席位，均为目标而非当前牵引。</a:t>
            </a:r>
          </a:p>
          <a:p>
            <a:endParaRPr/>
          </a:p>
          <a:p>
            <a:r>
              <a:t>[Sources]</a:t>
            </a:r>
          </a:p>
          <a:p>
            <a:r>
              <a:t>- D:/1Folder/Blocky-AI/doc/执行计划/2026-08-23-Blocky-竞品驱动完整开发计划.md</a:t>
            </a:r>
          </a:p>
          <a:p>
            <a:r>
              <a:t>- Assumption: 18-month funnel targets; 30 classrooms × 40 students × 10% conversion + 10 institutions × 80 seats = 920 education paid seats.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18 个月 SOM 直接承接上一页漏斗：920 个教育席位与 100 个专业年费用户，年化订阅收入 142.16 万元。Y3 扩大路径为 5,000 教育与 500 专业用户。</a:t>
            </a:r>
          </a:p>
          <a:p>
            <a:endParaRPr/>
          </a:p>
          <a:p>
            <a:r>
              <a:t>[Sources]</a:t>
            </a:r>
          </a:p>
          <a:p>
            <a:r>
              <a:t>- D:/1Folder/Blocky-AI/doc/产品设计/Blocky-初版产品方案.md</a:t>
            </a:r>
          </a:p>
          <a:p>
            <a:r>
              <a:t>- Calculation: 920×980 + 100×5,200 = RMB 1,421,600; 5,000×980 + 500×5,200 = RMB 7,500,000.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竞争页比较用户替代方案的学习门槛、结构可见性和工程要求，不把 Blocky 描述为传统连线工具。</a:t>
            </a:r>
          </a:p>
          <a:p>
            <a:endParaRPr/>
          </a:p>
          <a:p>
            <a:r>
              <a:t>[Sources]</a:t>
            </a:r>
          </a:p>
          <a:p>
            <a:r>
              <a:t>- https://scratch.mit.edu/educators/</a:t>
            </a:r>
          </a:p>
          <a:p>
            <a:r>
              <a:t>- https://docs.dify.ai/</a:t>
            </a:r>
          </a:p>
          <a:p>
            <a:r>
              <a:t>- https://docs.n8n.io/</a:t>
            </a:r>
          </a:p>
          <a:p>
            <a:r>
              <a:t>- https://developers.openai.com/codex/</a:t>
            </a:r>
          </a:p>
          <a:p>
            <a:r>
              <a:t>- https://github.com/dkorobtsov/pitch-deck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壁垒链由可见 AST、稳定 IR、受控 Runtime 和可回放 Trace 组成；课程、适配器和社区资产在同一语言上累积。</a:t>
            </a:r>
          </a:p>
          <a:p>
            <a:endParaRPr/>
          </a:p>
          <a:p>
            <a:r>
              <a:t>[Sources]</a:t>
            </a:r>
          </a:p>
          <a:p>
            <a:r>
              <a:t>- D:/1Folder/Blocky-AI/doc/产品设计/Blocky-GitHub项目积木化与Agent组件设计.md</a:t>
            </a:r>
          </a:p>
          <a:p>
            <a:r>
              <a:t>- D:/1Folder/Blocky-AI/doc/技术设计/Windows-Core技术尖峰报告.md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教育是首个入口，同一项目格式继续承载个人创作、办公自动化、服务交付、社区和多端使用。页面描述的是目标形态。</a:t>
            </a:r>
          </a:p>
          <a:p>
            <a:endParaRPr/>
          </a:p>
          <a:p>
            <a:r>
              <a:t>[Sources]</a:t>
            </a:r>
          </a:p>
          <a:p>
            <a:r>
              <a:t>- D:/1Folder/Blocky-AI/doc/产品设计/Blocky-完整积木与Agent兼容设计.md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订阅价格来自当前商业基线；毛利目标用透明成本比例约束。教育成本目标为模型云 18%、支付 2%、支持 5%；专业为 22%、2%、6%；机构与企业毛利依赖课程、交付人天和私有资产复用。</a:t>
            </a:r>
          </a:p>
          <a:p>
            <a:endParaRPr/>
          </a:p>
          <a:p>
            <a:r>
              <a:t>[Sources]</a:t>
            </a:r>
          </a:p>
          <a:p>
            <a:r>
              <a:t>- D:/1Folder/Blocky-AI/doc/产品设计/Blocky-初版产品方案.md</a:t>
            </a:r>
          </a:p>
          <a:p>
            <a:r>
              <a:t>- Assumption: cost shares and gross-margin targets are management targets for scenario planning, not historical performance.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GTM 从教师共创开始，以作品、轨迹、引用和复用证据推动机构决策，再通过订阅与服务形成复购。</a:t>
            </a:r>
          </a:p>
          <a:p>
            <a:endParaRPr/>
          </a:p>
          <a:p>
            <a:r>
              <a:t>[Sources]</a:t>
            </a:r>
          </a:p>
          <a:p>
            <a:r>
              <a:t>- D:/1Folder/Blocky-AI/doc/执行计划/2026-08-23-Blocky-竞品驱动完整开发计划.md</a:t>
            </a:r>
          </a:p>
          <a:p>
            <a:r>
              <a:t>- Assumption: cycle lengths and conversion stages are operating hypotheses.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四道门槛分别验证共创意愿、学生完成、教师复用和机构采购承诺；机构门槛要求进入正式预算流程并形成至少 5 家付费试点或订金。数值均是目标。</a:t>
            </a:r>
          </a:p>
          <a:p>
            <a:endParaRPr/>
          </a:p>
          <a:p>
            <a:r>
              <a:t>[Sources]</a:t>
            </a:r>
          </a:p>
          <a:p>
            <a:r>
              <a:t>- D:/1Folder/Blocky-AI/doc/执行计划/2026-08-23-Blocky-竞品驱动完整开发计划.md</a:t>
            </a:r>
          </a:p>
          <a:p>
            <a:r>
              <a:t>- Assumption: 20 teachers, 30 classroom samples, 70% completion, 50% reuse and 5 paid pilots or deposits.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团队页如实呈现创始人主导状态，不虚构姓名或履历；本轮资金支持 3 人核心配置：创始人负责产品与 Agent 工程，新增桌面运行工程和教育商业两个岗位，并建立教师、教研与合规合作网络。</a:t>
            </a:r>
          </a:p>
          <a:p>
            <a:endParaRPr/>
          </a:p>
          <a:p>
            <a:r>
              <a:t>[Sources]</a:t>
            </a:r>
          </a:p>
          <a:p>
            <a:r>
              <a:t>- D:/1Folder/Blocky-AI/AGENTS.md</a:t>
            </a:r>
          </a:p>
          <a:p>
            <a:r>
              <a:t>- D:/1Folder/Blocky-AI/doc/技术设计/Windows-Core技术尖峰报告.md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三年基准情景只计算教育与专业订阅，不计机构和企业服务。现金结果按订阅收入×综合毛利率减团队与运营投入：Y1 约负 187 万、Y2 约负 153 万、Y3 正 90 万。</a:t>
            </a:r>
          </a:p>
          <a:p>
            <a:endParaRPr/>
          </a:p>
          <a:p>
            <a:r>
              <a:t>[Sources]</a:t>
            </a:r>
          </a:p>
          <a:p>
            <a:r>
              <a:t>- D:/1Folder/Blocky-AI/doc/产品设计/Blocky-初版产品方案.md</a:t>
            </a:r>
          </a:p>
          <a:p>
            <a:r>
              <a:t>- Calculation: Y1 220,000×60%-2,000,000≈-1,868,000; Y2 1,421,600×68%-2,500,000≈-1,533,000; Y3 7,500,000×72%-4,500,000=900,000.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300 万元覆盖 18 个月，平均月度投入约 16.7 万元。0–6 月完成 3 人配置、正式产品闭环和 20 名共创教师；7–12 月形成 30 个课堂样板与至少 5 家付费试点；13–18 月目标 920 教育席和 100 专业订阅。</a:t>
            </a:r>
          </a:p>
          <a:p>
            <a:endParaRPr/>
          </a:p>
          <a:p>
            <a:r>
              <a:t>[Sources]</a:t>
            </a:r>
          </a:p>
          <a:p>
            <a:r>
              <a:t>- Assumption: proposed RMB 3 million / 18-month milestone and staffing plan for investor review.</a:t>
            </a:r>
          </a:p>
          <a:p>
            <a:r>
              <a:t>- D:/1Folder/Blocky-AI/doc/执行计划/2026-08-23-Blocky-竞品驱动完整开发计划.md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资源诉求以 300 万元、18 个月、3 人核心团队和平均月度投入 16.7 万元为口径，目标是完成正式产品闭环、课堂样板、付费试点与首批机构复制。</a:t>
            </a:r>
          </a:p>
          <a:p>
            <a:endParaRPr/>
          </a:p>
          <a:p>
            <a:r>
              <a:t>[Sources]</a:t>
            </a:r>
          </a:p>
          <a:p>
            <a:r>
              <a:t>- Assumption: proposed seed resource envelope of RMB 3 million over 18 months.</a:t>
            </a:r>
          </a:p>
          <a:p>
            <a:r>
              <a:t>- https://js.news.cn/20260814/e55cedf9698f4f56a99a8a96d8473a54/c.html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收束投资命题：教育验证易学，工程底座保证可用，项目积木化和资产复用打开长期平台价值。</a:t>
            </a:r>
          </a:p>
          <a:p>
            <a:endParaRPr/>
          </a:p>
          <a:p>
            <a:r>
              <a:t>[Sources]</a:t>
            </a:r>
          </a:p>
          <a:p>
            <a:r>
              <a:t>- D:/1Folder/Blocky-AI/doc/产品设计/Blocky-完整积木与Agent兼容设计.md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附录保留完整产品、服务、兼容模板、CLI、社区、移动使用器和长期路线。</a:t>
            </a:r>
          </a:p>
          <a:p>
            <a:endParaRPr/>
          </a:p>
          <a:p>
            <a:r>
              <a:t>[Sources]</a:t>
            </a:r>
          </a:p>
          <a:p>
            <a:r>
              <a:t>- D:/1Folder/Blocky-AI/AGENTS.md</a:t>
            </a:r>
          </a:p>
          <a:p>
            <a:r>
              <a:t>- D:/1Folder/Blocky-AI/doc/产品设计/Blocky-完整积木与Agent兼容设计.md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这里的 3 分钟是基于现成蓝图的产品演示时长，不是完整课程时长。五步连续呈现选择蓝图、修改角色/知识/工具、运行、查看轨迹与保存重开，并让引用、拒答和项目复现证据同屏。</a:t>
            </a:r>
          </a:p>
          <a:p>
            <a:endParaRPr/>
          </a:p>
          <a:p>
            <a:r>
              <a:t>[Sources]</a:t>
            </a:r>
          </a:p>
          <a:p>
            <a:r>
              <a:t>- D:\1Folder\Blocky-AI\doc\执行计划\2026-08-23-Blocky-竞品驱动完整开发计划.md (Agent 搭建展示旅程)</a:t>
            </a:r>
          </a:p>
          <a:p>
            <a:r>
              <a:t>- D:\1Folder\Blocky-AI\doc\技术设计\Windows-Core技术尖峰报告.md (确定性运行、保存重开与事件证据)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creation depths share one project format: compatibility templates, expandable Blocky blueprints, atomic blocks, and controlled internal code.</a:t>
            </a:r>
          </a:p>
          <a:p>
            <a:endParaRPr/>
          </a:p>
          <a:p>
            <a:r>
              <a:t>[Sources]</a:t>
            </a:r>
          </a:p>
          <a:p>
            <a:r>
              <a:t>- D:/1Folder/Blocky-AI/doc/执行计划/2026-08-23-Blocky-竞品驱动完整开发计划.md (four creation levels)</a:t>
            </a:r>
          </a:p>
          <a:p>
            <a:r>
              <a:t>- D:/1Folder/Blocky-AI/doc/产品设计/Blocky-积木完整清单.md (19 capability families and stable semantic catalog)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Internal code is a controlled local implementation layer, not a place to hide Agent topology, tool contracts, or permissions.</a:t>
            </a:r>
          </a:p>
          <a:p>
            <a:endParaRPr/>
          </a:p>
          <a:p>
            <a:r>
              <a:t>[Sources]</a:t>
            </a:r>
          </a:p>
          <a:p>
            <a:r>
              <a:t>- D:/1Folder/Blocky-AI/doc/产品设计/Blocky-完整积木与Agent兼容设计.md (block internal code and status)</a:t>
            </a:r>
          </a:p>
          <a:p>
            <a:r>
              <a:t>- D:/1Folder/Blocky-AI/doc/产品设计/Blocky-交互入口与工具积木设计.md (visual and code custom blocks)</a:t>
            </a:r>
          </a:p>
          <a:p>
            <a:r>
              <a:t>- D:/1Folder/Blocky-AI/doc/技术设计/ADR-004-开放扩展与社区安全边界.md (code extension isolation and permissions)</a:t>
            </a:r>
          </a:p>
          <a:p>
            <a:r>
              <a:t>- D:/1Folder/Blocky-AI/PPT与商业计划书/assets/blocky-block-internals-v1.png (OpenAI image generation, concept illustration)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AppSurface is optional and explicit. Creating a page does not implicitly create authentication, a database, a domain, or deployment.</a:t>
            </a:r>
          </a:p>
          <a:p>
            <a:endParaRPr/>
          </a:p>
          <a:p>
            <a:r>
              <a:t>[Sources]</a:t>
            </a:r>
          </a:p>
          <a:p>
            <a:r>
              <a:t>- D:/1Folder/Blocky-AI/doc/产品设计/Blocky-多画布应用界面与RPA设计.md (multi-canvas, AppSurface, browser preview)</a:t>
            </a:r>
          </a:p>
          <a:p>
            <a:r>
              <a:t>- D:/1Folder/Blocky-AI/doc/技术设计/ADR-005-多模块应用界面与RPA边界.md (explicit creation and isolated bridge)</a:t>
            </a:r>
          </a:p>
          <a:p>
            <a:r>
              <a:t>- D:/1Folder/Blocky-AI/PPT与商业计划书/assets/blocky-appsurface-frontend-v1.png (OpenAI image generation, concept illustration)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Office expansion uses the same module language. The first route is attended automation with explicit approvals, checkpoints, and semantic/UIA targeting.</a:t>
            </a:r>
          </a:p>
          <a:p>
            <a:endParaRPr/>
          </a:p>
          <a:p>
            <a:r>
              <a:t>[Sources]</a:t>
            </a:r>
          </a:p>
          <a:p>
            <a:r>
              <a:t>- D:/1Folder/Blocky-AI/doc/产品设计/Blocky-多画布应用界面与RPA设计.md (office scenarios and attended RPA)</a:t>
            </a:r>
          </a:p>
          <a:p>
            <a:r>
              <a:t>- D:/1Folder/Blocky-AI/doc/技术设计/ADR-005-多模块应用界面与RPA边界.md (RPA Host and recovery boundary)</a:t>
            </a:r>
          </a:p>
          <a:p>
            <a:r>
              <a:t>- D:/1Folder/Blocky-AI/PPT与商业计划书/assets/blocky-office-automation-v1.png (OpenAI image generation, concept illustration)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six office blueprint families are product scenarios derived from the office/RPA design, not current implementation claims.</a:t>
            </a:r>
          </a:p>
          <a:p>
            <a:endParaRPr/>
          </a:p>
          <a:p>
            <a:r>
              <a:t>[Sources]</a:t>
            </a:r>
          </a:p>
          <a:p>
            <a:r>
              <a:t>- D:/1Folder/Blocky-AI/doc/产品设计/Blocky-多画布应用界面与RPA设计.md (legacy system, browser-desktop, Excel/form, reconciliation, ticket, no-API scenarios)</a:t>
            </a:r>
          </a:p>
          <a:p>
            <a:r>
              <a:t>- D:/1Folder/Blocky-AI/doc/产品设计/Blocky-积木完整清单.md (computer, browser, data, approval, checkpoint capabilities)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desktop workbench separates editing facts, runtime events, user terminals, Agent process requests, logs, and audit while preserving stable source mapping.</a:t>
            </a:r>
          </a:p>
          <a:p>
            <a:endParaRPr/>
          </a:p>
          <a:p>
            <a:r>
              <a:t>[Sources]</a:t>
            </a:r>
          </a:p>
          <a:p>
            <a:r>
              <a:t>- D:/1Folder/Blocky-AI/doc/产品设计/Blocky-底部面板终端与日志系统设计.md (Problems, Run Log, Terminal, Output, redaction)</a:t>
            </a:r>
          </a:p>
          <a:p>
            <a:r>
              <a:t>- D:/1Folder/Blocky-AI/doc/产品设计/Blocky-设置中心设计模板.md (workspace, preview, RPA, terminal, logging settings)</a:t>
            </a:r>
          </a:p>
          <a:p>
            <a:r>
              <a:t>- D:/1Folder/Blocky-AI/doc/技术设计/ADR-006-底部面板终端与日志系统边界.md (terminal and event isolation)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六个方向分别承载轻量编码、专业编程、个人助理、团队协作、工程开发和组合研究等 Agent 架构。这里表达的是兼容版图与教学入口，不把设计方向写成已经完成的“原生完整兼容”。</a:t>
            </a:r>
          </a:p>
          <a:p>
            <a:endParaRPr/>
          </a:p>
          <a:p>
            <a:r>
              <a:t>[Sources]</a:t>
            </a:r>
          </a:p>
          <a:p>
            <a:r>
              <a:t>- D:\1Folder\Blocky-AI\doc\产品设计\Blocky-内置兼容模板.md (Pi、Codex、OpenClaw、Hermes、OpenCode、DeepSeek Harness 六模板设计)</a:t>
            </a:r>
          </a:p>
          <a:p>
            <a:r>
              <a:t>- D:\1Folder\Blocky-AI\doc\技术设计\ADR-002-原生Agent兼容运行时.md (进程外运行时、版本化适配器与可逆投影)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Blocky 构建助手不仅搭建 Agent，还承担项目积木化入口：锁定来源，理解源码与行为，映射 Blocky 语义，生成幽灵差异，再通过编译、测试和运行轨迹验证。它让新的仓库、Agent 与业务能力持续进入 Blocky，而核心积木目录仍保持稳定。</a:t>
            </a:r>
          </a:p>
          <a:p>
            <a:endParaRPr/>
          </a:p>
          <a:p>
            <a:r>
              <a:t>[Sources]</a:t>
            </a:r>
          </a:p>
          <a:p>
            <a:r>
              <a:t>- D:/1Folder/Blocky-AI/doc/产品设计/Blocky-GitHub项目积木化与Agent组件设计.md (核心决策、证据链与性能设计)</a:t>
            </a:r>
          </a:p>
          <a:p>
            <a:r>
              <a:t>- D:/1Folder/Blocky-AI/doc/技术设计/ADR-003-CLI与官方Agent-Skill接口.md (conversion-core、Build Spec 与语义补丁)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项目积木化的输入不只是一类 GitHub 仓库。Blocky 可以面向本地代码、现有 Agent、知识/RAG、MCP/CLI/API、业务自动化与教学或组织资产进行分型，再把它们组合进同一模块项目。</a:t>
            </a:r>
          </a:p>
          <a:p>
            <a:endParaRPr/>
          </a:p>
          <a:p>
            <a:r>
              <a:t>[Sources]</a:t>
            </a:r>
          </a:p>
          <a:p>
            <a:r>
              <a:t>- D:/1Folder/Blocky-AI/doc/产品设计/Blocky-GitHub项目积木化与Agent组件设计.md (仓库分型、RAG 组件与 Harness 夹具)</a:t>
            </a:r>
          </a:p>
          <a:p>
            <a:r>
              <a:t>- D:/1Folder/Blocky-AI/doc/产品设计/Blocky-多画布应用界面与RPA设计.md (业务流程、RPA 与跨模块表达)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项目积木化不是强迫所有内容变成同一种形态。稳定组件进入自定义积木，多步通用能力进入可展开蓝图，完整 Harness 进入兼容模板草案，许可证、性能或动态边界进入原生保留报告；同一项目可同时产生四类结果。</a:t>
            </a:r>
          </a:p>
          <a:p>
            <a:endParaRPr/>
          </a:p>
          <a:p>
            <a:r>
              <a:t>[Sources]</a:t>
            </a:r>
          </a:p>
          <a:p>
            <a:r>
              <a:t>- D:/1Folder/Blocky-AI/doc/产品设计/Blocky-GitHub项目积木化与Agent组件设计.md (四类产物与选择规则)</a:t>
            </a:r>
          </a:p>
          <a:p>
            <a:r>
              <a:t>- D:/1Folder/Blocky-AI/doc/技术设计/ADR-004-开放扩展与社区安全边界.md (自定义积木、扩展包与安全边界)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四个官方 Skills 分别负责搭建 Agent、创建积木、项目积木化和逆向现有 Agent。图形页、构建助手、CLI、Skills 与 Codex 插件共同读取相同的积木目录、编译器、IR、权限和运行事件。</a:t>
            </a:r>
          </a:p>
          <a:p>
            <a:endParaRPr/>
          </a:p>
          <a:p>
            <a:r>
              <a:t>[Sources]</a:t>
            </a:r>
          </a:p>
          <a:p>
            <a:r>
              <a:t>- D:/1Folder/Blocky-AI/doc/产品设计/CLI与官方Agent-Skill.md (CLI 家族与四个官方 Skills)</a:t>
            </a:r>
          </a:p>
          <a:p>
            <a:r>
              <a:t>- D:/1Folder/Blocky-AI/doc/技术设计/ADR-003-CLI与官方Agent-Skill接口.md (Build Spec、语义补丁与插件边界)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Community objects are classified by execution risk. Signatures identify publishers and content integrity but do not replace scanning, permissions, sandboxing, or revocation.</a:t>
            </a:r>
          </a:p>
          <a:p>
            <a:endParaRPr/>
          </a:p>
          <a:p>
            <a:r>
              <a:t>[Sources]</a:t>
            </a:r>
          </a:p>
          <a:p>
            <a:r>
              <a:t>- D:/1Folder/Blocky-AI/doc/技术设计/ADR-004-开放扩展与社区安全边界.md (four distribution objects and supply-chain controls)</a:t>
            </a:r>
          </a:p>
          <a:p>
            <a:r>
              <a:t>- D:/1Folder/Blocky-AI/doc/产品设计/Blocky-积木完整清单.md (community publish/install/update/fork)</a:t>
            </a:r>
          </a:p>
          <a:p>
            <a:r>
              <a:t>- D:/1Folder/Blocky-AI/PPT与商业计划书/assets/blocky-community-packages-v1.png (OpenAI image generation, concept illustration)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mobile product is an Agent runner, not a reduced desktop editor. It reads InteractionManifest and negotiates local, desktop, or user-selected server targets.</a:t>
            </a:r>
          </a:p>
          <a:p>
            <a:endParaRPr/>
          </a:p>
          <a:p>
            <a:r>
              <a:t>[Sources]</a:t>
            </a:r>
          </a:p>
          <a:p>
            <a:r>
              <a:t>- D:/1Folder/Blocky-AI/doc/产品设计/Blocky-初版产品方案.md (mobile Agent runner scope)</a:t>
            </a:r>
          </a:p>
          <a:p>
            <a:r>
              <a:t>- D:/1Folder/Blocky-AI/doc/产品设计/Blocky-交互入口与工具积木设计.md (mobile InteractionManifest and target choice)</a:t>
            </a:r>
          </a:p>
          <a:p>
            <a:r>
              <a:t>- D:/1Folder/Blocky-AI/doc/技术设计/ADR-001-首版跨端技术选型.md (Android, HarmonyOS, iOS responsibilities)</a:t>
            </a:r>
          </a:p>
          <a:p>
            <a:r>
              <a:t>- D:/1Folder/Blocky-AI/PPT与商业计划书/assets/blocky-mobile-runner-v1.png (OpenAI image generation, concept illustration)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Blocky 的拓展服务分为三类客户：个人学习与创作、学校或教育机构、企业与行业团队。标准产品提供统一语言与运行底座，服务层围绕课程、蓝图、知识、系统集成、治理和运营形成场景解决方案。</a:t>
            </a:r>
          </a:p>
          <a:p>
            <a:endParaRPr/>
          </a:p>
          <a:p>
            <a:r>
              <a:t>[Sources]</a:t>
            </a:r>
          </a:p>
          <a:p>
            <a:r>
              <a:t>- D:/1Folder/Blocky-AI/doc/产品设计/Blocky-初版产品方案.md (目标用户、教育机构和企业咨询方案)</a:t>
            </a:r>
          </a:p>
          <a:p>
            <a:r>
              <a:t>- D:/1Folder/Blocky-AI/doc/执行计划/2026-08-23-Blocky-竞品驱动完整开发计划.md (阶段 10 教育工作区、阶段 11 企业交付、阶段 14 商业化)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定制服务沿统一交付链推进：先做场景诊断，再形成 Agent 与模块蓝图，连接内容、数据和业务系统，完成部署治理，最后通过培训、运营和版本升级持续服务。交付成果回流为组织蓝图、私有积木、适配器和版本化资产包。</a:t>
            </a:r>
          </a:p>
          <a:p>
            <a:endParaRPr/>
          </a:p>
          <a:p>
            <a:r>
              <a:t>[Sources]</a:t>
            </a:r>
          </a:p>
          <a:p>
            <a:r>
              <a:t>- D:/1Folder/Blocky-AI/doc/执行计划/2026-08-23-Blocky-竞品驱动完整开发计划.md (教育、团队、部署、企业 RPA 与社区阶段)</a:t>
            </a:r>
          </a:p>
          <a:p>
            <a:r>
              <a:t>- D:/1Folder/Blocky-AI/doc/产品设计/Blocky-多画布应用界面与RPA设计.md (应用界面、RPA 与组织交付边界)</a:t>
            </a:r>
          </a:p>
          <a:p>
            <a:r>
              <a:t>- D:/1Folder/Blocky-AI/doc/技术设计/ADR-004-开放扩展与社区安全边界.md (自定义能力、私有包与供应链治理)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路线图把产品能力、场景服务和生态放在同一节奏中：R0 建立正式地基，R1 完成自助产品与项目积木化，R2 扩展教育机构、团队、部署和企业服务，R3 建立社区、多端与商业服务目录。</a:t>
            </a:r>
          </a:p>
          <a:p>
            <a:endParaRPr/>
          </a:p>
          <a:p>
            <a:r>
              <a:t>[Sources]</a:t>
            </a:r>
          </a:p>
          <a:p>
            <a:r>
              <a:t>- D:/1Folder/Blocky-AI/doc/执行计划/2026-08-23-Blocky-竞品驱动完整开发计划.md (R0-R3、阶段 0-14)</a:t>
            </a:r>
          </a:p>
          <a:p>
            <a:r>
              <a:t>- D:/1Folder/Blocky-AI/doc/产品设计/Blocky-状态与阶段替换账本.md (阶段替换与正式边界)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FA0D9BE4-76F9-4A7D-9C8D-2F5EF256500F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4953000" cy="6858000"/>
          </a:xfrm>
          <a:prstGeom prst="rect">
            <a:avLst/>
          </a:prstGeom>
          <a:solidFill>
            <a:srgbClr val="FFF6D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4CCF9B-8A6D-4873-B7C6-72B7F16F49D6}"/>
              </a:ext>
            </a:extLst>
          </p:cNvPr>
          <p:cNvSpPr>
            <a:spLocks noGrp="1"/>
          </p:cNvSpPr>
          <p:nvPr/>
        </p:nvSpPr>
        <p:spPr>
          <a:xfrm>
            <a:off x="10096500" y="0"/>
            <a:ext cx="2095500" cy="685800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CD4AD890-3E02-4B32-A590-73AF68E445E3}"/>
              </a:ext>
            </a:extLst>
          </p:cNvPr>
          <p:cNvSpPr>
            <a:spLocks noGrp="1"/>
          </p:cNvSpPr>
          <p:nvPr/>
        </p:nvSpPr>
        <p:spPr>
          <a:xfrm>
            <a:off x="8782050" y="781050"/>
            <a:ext cx="1695450" cy="1695450"/>
          </a:xfrm>
          <a:prstGeom prst="ellipse">
            <a:avLst/>
          </a:prstGeom>
          <a:solidFill>
            <a:srgbClr val="FFD44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29575" y="1257300"/>
            <a:ext cx="2952750" cy="295275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D369273-24D0-4097-89BD-DB290BEAF915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2026 息壤杯｜惠民产品创新｜AI+教育赛道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E12D827-8A22-4FC0-8118-2EA4F9F6C46B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6191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让学生真正搭建 Agent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820EF3-5C41-49AB-9DB0-278C191C10C9}"/>
              </a:ext>
            </a:extLst>
          </p:cNvPr>
          <p:cNvSpPr>
            <a:spLocks noGrp="1"/>
          </p:cNvSpPr>
          <p:nvPr/>
        </p:nvSpPr>
        <p:spPr>
          <a:xfrm>
            <a:off x="685800" y="2228850"/>
            <a:ext cx="6477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看得懂、改得动、跑得通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3CB7FC-A2C8-4032-B5FB-5BDAD9D7A4ED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E5E5DB-B502-4C97-A633-16C100D0891A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533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337"/>
          </a:bodyPr>
          <a:lstStyle/>
          <a:p>
            <a:pPr algn="l">
              <a:buNone/>
              <a:defRPr sz="17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Scratch 式 Agent 语言 × Runtime Core × 项目积木化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5806E6E-DF21-46F4-84A1-E56863B718DB}"/>
              </a:ext>
            </a:extLst>
          </p:cNvPr>
          <p:cNvSpPr>
            <a:spLocks noGrp="1"/>
          </p:cNvSpPr>
          <p:nvPr/>
        </p:nvSpPr>
        <p:spPr>
          <a:xfrm>
            <a:off x="685800" y="4972050"/>
            <a:ext cx="2952750" cy="323850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9525">
            <a:solidFill>
              <a:srgbClr val="D8E6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C856512-3F11-4BC5-BBFE-0365EA4629F0}"/>
              </a:ext>
            </a:extLst>
          </p:cNvPr>
          <p:cNvSpPr>
            <a:spLocks noGrp="1"/>
          </p:cNvSpPr>
          <p:nvPr/>
        </p:nvSpPr>
        <p:spPr>
          <a:xfrm>
            <a:off x="800100" y="5038725"/>
            <a:ext cx="2724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教育验证入口 · 个人与组织扩展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294BB3B-9431-4961-B921-BE763B2F22DE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590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教育是首个可验证场景，同一底座扩展到个人创作、项目积木化与组织自动化。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9D0086F-B57E-43C0-B341-1F4B85AAFDD3}"/>
              </a:ext>
            </a:extLst>
          </p:cNvPr>
          <p:cNvSpPr>
            <a:spLocks noGrp="1"/>
          </p:cNvSpPr>
          <p:nvPr/>
        </p:nvSpPr>
        <p:spPr>
          <a:xfrm>
            <a:off x="10029825" y="6153150"/>
            <a:ext cx="1571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</p:spTree>
    <p:extLst>
      <p:ext uri="{BB962C8B-B14F-4D97-AF65-F5344CB8AC3E}">
        <p14:creationId xmlns:p14="http://schemas.microsoft.com/office/powerpoint/2010/main" val="1325861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A86DE290-F233-4EA8-B16E-409742FCCB5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WHY NOW · 教育断层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0540E2D-BEFB-41DE-A2EC-A7BFC2D2A66C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Scratch 证明可视化编程能教会系统思维，Agent 需要同级入口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144CACA-0CE4-40DB-B2E2-8BE7B71AF697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学生已经会提问，但还缺少看见结构、理解权限、解释运行并承担结果的创作工具。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E40599E7-286E-4CEB-8ADD-B581260DAE77}"/>
              </a:ext>
            </a:extLst>
          </p:cNvPr>
          <p:cNvSpPr>
            <a:spLocks noGrp="1"/>
          </p:cNvSpPr>
          <p:nvPr/>
        </p:nvSpPr>
        <p:spPr>
          <a:xfrm>
            <a:off x="4762500" y="2895600"/>
            <a:ext cx="6743700" cy="19050"/>
          </a:xfrm>
          <a:prstGeom prst="roundRect">
            <a:avLst>
              <a:gd name="adj" fmla="val 7746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8AA88ED-3F7F-4892-A17B-A48C5F03034C}"/>
              </a:ext>
            </a:extLst>
          </p:cNvPr>
          <p:cNvSpPr>
            <a:spLocks noGrp="1"/>
          </p:cNvSpPr>
          <p:nvPr/>
        </p:nvSpPr>
        <p:spPr>
          <a:xfrm>
            <a:off x="4991100" y="2352675"/>
            <a:ext cx="7239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C5A4442-86C5-4DBE-B966-1E22F62101A9}"/>
              </a:ext>
            </a:extLst>
          </p:cNvPr>
          <p:cNvSpPr>
            <a:spLocks noGrp="1"/>
          </p:cNvSpPr>
          <p:nvPr/>
        </p:nvSpPr>
        <p:spPr>
          <a:xfrm>
            <a:off x="5086350" y="24193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95D5BBB-CF18-459F-89A2-0A0FDD0AAD2F}"/>
              </a:ext>
            </a:extLst>
          </p:cNvPr>
          <p:cNvSpPr>
            <a:spLocks noGrp="1"/>
          </p:cNvSpPr>
          <p:nvPr/>
        </p:nvSpPr>
        <p:spPr>
          <a:xfrm>
            <a:off x="5905500" y="2276475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20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Scratch 启蒙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BBB09F4-5080-4128-A92D-ECF4FE194626}"/>
              </a:ext>
            </a:extLst>
          </p:cNvPr>
          <p:cNvSpPr>
            <a:spLocks noGrp="1"/>
          </p:cNvSpPr>
          <p:nvPr/>
        </p:nvSpPr>
        <p:spPr>
          <a:xfrm>
            <a:off x="7810500" y="2209800"/>
            <a:ext cx="3467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1350"/>
              <a:t>8–16 岁｜用可视积木学习创造、推理与协作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B5DA8EC-409C-4867-98FA-3B237753F063}"/>
              </a:ext>
            </a:extLst>
          </p:cNvPr>
          <p:cNvSpPr>
            <a:spLocks noGrp="1"/>
          </p:cNvSpPr>
          <p:nvPr/>
        </p:nvSpPr>
        <p:spPr>
          <a:xfrm>
            <a:off x="4762500" y="3848100"/>
            <a:ext cx="6743700" cy="19050"/>
          </a:xfrm>
          <a:prstGeom prst="roundRect">
            <a:avLst>
              <a:gd name="adj" fmla="val 7746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FF2932F-EF45-40EC-BFB1-02393B5A0AC2}"/>
              </a:ext>
            </a:extLst>
          </p:cNvPr>
          <p:cNvSpPr>
            <a:spLocks noGrp="1"/>
          </p:cNvSpPr>
          <p:nvPr/>
        </p:nvSpPr>
        <p:spPr>
          <a:xfrm>
            <a:off x="4991100" y="3305175"/>
            <a:ext cx="7239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6E62B85-C3E2-4470-9235-AA031C745FD1}"/>
              </a:ext>
            </a:extLst>
          </p:cNvPr>
          <p:cNvSpPr>
            <a:spLocks noGrp="1"/>
          </p:cNvSpPr>
          <p:nvPr/>
        </p:nvSpPr>
        <p:spPr>
          <a:xfrm>
            <a:off x="5086350" y="33718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断层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26C706B-C168-4645-A2AA-6D71C55B9F71}"/>
              </a:ext>
            </a:extLst>
          </p:cNvPr>
          <p:cNvSpPr>
            <a:spLocks noGrp="1"/>
          </p:cNvSpPr>
          <p:nvPr/>
        </p:nvSpPr>
        <p:spPr>
          <a:xfrm>
            <a:off x="5905500" y="3228975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20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只会对话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DCAE70C-34DE-4B49-BC59-72916708ACBA}"/>
              </a:ext>
            </a:extLst>
          </p:cNvPr>
          <p:cNvSpPr>
            <a:spLocks noGrp="1"/>
          </p:cNvSpPr>
          <p:nvPr/>
        </p:nvSpPr>
        <p:spPr>
          <a:xfrm>
            <a:off x="7810500" y="3162300"/>
            <a:ext cx="3467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sz="1350"/>
              <a:t>聊天界面只呈现输入与答案，不呈现结构、工具调用与责任边界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171AE33-BE20-47DD-8783-063FEE2E2E7A}"/>
              </a:ext>
            </a:extLst>
          </p:cNvPr>
          <p:cNvSpPr>
            <a:spLocks noGrp="1"/>
          </p:cNvSpPr>
          <p:nvPr/>
        </p:nvSpPr>
        <p:spPr>
          <a:xfrm>
            <a:off x="4762500" y="4800600"/>
            <a:ext cx="6743700" cy="19050"/>
          </a:xfrm>
          <a:prstGeom prst="roundRect">
            <a:avLst>
              <a:gd name="adj" fmla="val 7746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AC036CF-9EEB-4C8E-9ECE-8C71807979A1}"/>
              </a:ext>
            </a:extLst>
          </p:cNvPr>
          <p:cNvSpPr>
            <a:spLocks noGrp="1"/>
          </p:cNvSpPr>
          <p:nvPr/>
        </p:nvSpPr>
        <p:spPr>
          <a:xfrm>
            <a:off x="4991100" y="4257675"/>
            <a:ext cx="7239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0BF48A1-AB51-4748-9371-48647738AE45}"/>
              </a:ext>
            </a:extLst>
          </p:cNvPr>
          <p:cNvSpPr>
            <a:spLocks noGrp="1"/>
          </p:cNvSpPr>
          <p:nvPr/>
        </p:nvSpPr>
        <p:spPr>
          <a:xfrm>
            <a:off x="5086350" y="43243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Blocky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1EC989C-9445-4F80-958F-20ACA0A308BA}"/>
              </a:ext>
            </a:extLst>
          </p:cNvPr>
          <p:cNvSpPr>
            <a:spLocks noGrp="1"/>
          </p:cNvSpPr>
          <p:nvPr/>
        </p:nvSpPr>
        <p:spPr>
          <a:xfrm>
            <a:off x="5905500" y="4181475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20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搭建 Agent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E8B500E-DE01-45BB-89B3-2630FCA98848}"/>
              </a:ext>
            </a:extLst>
          </p:cNvPr>
          <p:cNvSpPr>
            <a:spLocks noGrp="1"/>
          </p:cNvSpPr>
          <p:nvPr/>
        </p:nvSpPr>
        <p:spPr>
          <a:xfrm>
            <a:off x="7810500" y="4114800"/>
            <a:ext cx="3467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765"/>
          </a:bodyPr>
          <a:lstStyle/>
          <a:p>
            <a:pPr algn="l">
              <a:buNone/>
            </a:pPr>
            <a:r>
              <a:rPr sz="1350"/>
              <a:t>用 Scratch 式积木组合角色、知识、记忆、工具和权限，并以轨迹解释运行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ADDF664-42F9-4557-A074-F6D4E3617388}"/>
              </a:ext>
            </a:extLst>
          </p:cNvPr>
          <p:cNvSpPr>
            <a:spLocks noGrp="1"/>
          </p:cNvSpPr>
          <p:nvPr/>
        </p:nvSpPr>
        <p:spPr>
          <a:xfrm>
            <a:off x="685800" y="5181600"/>
            <a:ext cx="10820400" cy="876300"/>
          </a:xfrm>
          <a:prstGeom prst="roundRect">
            <a:avLst>
              <a:gd name="adj" fmla="val 21739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8992B56-2143-41CF-A6C7-C76679FB6041}"/>
              </a:ext>
            </a:extLst>
          </p:cNvPr>
          <p:cNvSpPr>
            <a:spLocks noGrp="1"/>
          </p:cNvSpPr>
          <p:nvPr/>
        </p:nvSpPr>
        <p:spPr>
          <a:xfrm>
            <a:off x="1009650" y="5410200"/>
            <a:ext cx="10172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把“会问 AI”升级为“会设计、搭建并负责运行 Agent”。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C773103-2070-44F1-BB78-268997BD5B8E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1C57BBC-E125-46E2-80A6-3C79EF39C58D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549C1A0-F743-4893-90AB-031ABD891658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145506"/>
            <a:ext cx="3524250" cy="264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032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EF5900A0-923A-4E1C-846F-F3A5107244E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PRODUCT · Agent 搭建形态 · Technical Spike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5AB7AA0-9727-4E4C-BBF2-EEFD311E9B4E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Blocky 把角色、知识、工具与权限变成 Scratch 式 Agent 积木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B59B95-7AD1-45F7-BF1A-D167D669074D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同一 Workspace、IR、Runtime Core 与权限模型，让入门视图和专业工程共享一份项目事实。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9CFA51A-88FD-4410-B098-83E927B78C40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6572250" cy="3790950"/>
          </a:xfrm>
          <a:prstGeom prst="roundRect">
            <a:avLst>
              <a:gd name="adj" fmla="val 5528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rcRect t="2671" b="2671"/>
          <a:stretch>
            <a:fillRect/>
          </a:stretch>
        </p:blipFill>
        <p:spPr>
          <a:xfrm>
            <a:off x="819150" y="2076450"/>
            <a:ext cx="6305550" cy="3276600"/>
          </a:xfrm>
          <a:prstGeom prst="roundRect">
            <a:avLst>
              <a:gd name="adj" fmla="val 5814"/>
            </a:avLst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E261A894-4ED3-4098-A787-A216B85C609B}"/>
              </a:ext>
            </a:extLst>
          </p:cNvPr>
          <p:cNvSpPr>
            <a:spLocks noGrp="1"/>
          </p:cNvSpPr>
          <p:nvPr/>
        </p:nvSpPr>
        <p:spPr>
          <a:xfrm>
            <a:off x="971550" y="5162550"/>
            <a:ext cx="2419350" cy="32385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9E048C9-2F90-43B2-9A6E-237B4222655B}"/>
              </a:ext>
            </a:extLst>
          </p:cNvPr>
          <p:cNvSpPr>
            <a:spLocks noGrp="1"/>
          </p:cNvSpPr>
          <p:nvPr/>
        </p:nvSpPr>
        <p:spPr>
          <a:xfrm>
            <a:off x="1066800" y="5229225"/>
            <a:ext cx="2228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4396" lnSpcReduction="20000"/>
          </a:bodyPr>
          <a:lstStyle/>
          <a:p>
            <a:pPr algn="ctr"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Windows Core Technical Spike · 100 积木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55A2940-0D37-4B5C-88BF-0A81177F04BB}"/>
              </a:ext>
            </a:extLst>
          </p:cNvPr>
          <p:cNvSpPr>
            <a:spLocks noGrp="1"/>
          </p:cNvSpPr>
          <p:nvPr/>
        </p:nvSpPr>
        <p:spPr>
          <a:xfrm>
            <a:off x="7734300" y="19621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入门七类 → 专业十二类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620E0F9-1BA2-45FA-A5DC-B1170BEE77DB}"/>
              </a:ext>
            </a:extLst>
          </p:cNvPr>
          <p:cNvSpPr>
            <a:spLocks noGrp="1"/>
          </p:cNvSpPr>
          <p:nvPr/>
        </p:nvSpPr>
        <p:spPr>
          <a:xfrm>
            <a:off x="7734300" y="251460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B6DA326-0AB4-44AA-B072-DC5B94BDB2DF}"/>
              </a:ext>
            </a:extLst>
          </p:cNvPr>
          <p:cNvSpPr>
            <a:spLocks noGrp="1"/>
          </p:cNvSpPr>
          <p:nvPr/>
        </p:nvSpPr>
        <p:spPr>
          <a:xfrm>
            <a:off x="7848600" y="26384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开始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74AD1FB-B3C4-4112-B08A-E37E65537F63}"/>
              </a:ext>
            </a:extLst>
          </p:cNvPr>
          <p:cNvSpPr>
            <a:spLocks noGrp="1"/>
          </p:cNvSpPr>
          <p:nvPr/>
        </p:nvSpPr>
        <p:spPr>
          <a:xfrm>
            <a:off x="9410700" y="251460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B8B38E6-C18D-4E35-B6A5-8AA91FDE5CB1}"/>
              </a:ext>
            </a:extLst>
          </p:cNvPr>
          <p:cNvSpPr>
            <a:spLocks noGrp="1"/>
          </p:cNvSpPr>
          <p:nvPr/>
        </p:nvSpPr>
        <p:spPr>
          <a:xfrm>
            <a:off x="9525000" y="26384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角色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E7209BE-AF05-4C3A-938C-A41B2F8E1AB8}"/>
              </a:ext>
            </a:extLst>
          </p:cNvPr>
          <p:cNvSpPr>
            <a:spLocks noGrp="1"/>
          </p:cNvSpPr>
          <p:nvPr/>
        </p:nvSpPr>
        <p:spPr>
          <a:xfrm>
            <a:off x="7734300" y="314325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DF6BB91-EC5F-4ABB-B3A5-5DF4EABB1CF9}"/>
              </a:ext>
            </a:extLst>
          </p:cNvPr>
          <p:cNvSpPr>
            <a:spLocks noGrp="1"/>
          </p:cNvSpPr>
          <p:nvPr/>
        </p:nvSpPr>
        <p:spPr>
          <a:xfrm>
            <a:off x="7848600" y="326707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会思考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34DC32F-04E8-4D1B-A6E1-CB7BAC03A0EB}"/>
              </a:ext>
            </a:extLst>
          </p:cNvPr>
          <p:cNvSpPr>
            <a:spLocks noGrp="1"/>
          </p:cNvSpPr>
          <p:nvPr/>
        </p:nvSpPr>
        <p:spPr>
          <a:xfrm>
            <a:off x="9410700" y="314325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F2E0D15-2836-4F23-99A8-0A64734DDA40}"/>
              </a:ext>
            </a:extLst>
          </p:cNvPr>
          <p:cNvSpPr>
            <a:spLocks noGrp="1"/>
          </p:cNvSpPr>
          <p:nvPr/>
        </p:nvSpPr>
        <p:spPr>
          <a:xfrm>
            <a:off x="9525000" y="326707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会查找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7666679-9916-4127-93CF-54C50FC49DEA}"/>
              </a:ext>
            </a:extLst>
          </p:cNvPr>
          <p:cNvSpPr>
            <a:spLocks noGrp="1"/>
          </p:cNvSpPr>
          <p:nvPr/>
        </p:nvSpPr>
        <p:spPr>
          <a:xfrm>
            <a:off x="7734300" y="377190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E51C3D2-2DDE-40D5-91FD-9B30DF022013}"/>
              </a:ext>
            </a:extLst>
          </p:cNvPr>
          <p:cNvSpPr>
            <a:spLocks noGrp="1"/>
          </p:cNvSpPr>
          <p:nvPr/>
        </p:nvSpPr>
        <p:spPr>
          <a:xfrm>
            <a:off x="7848600" y="38957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会记住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BDD0FF4-49F3-46E6-958D-DE773733879A}"/>
              </a:ext>
            </a:extLst>
          </p:cNvPr>
          <p:cNvSpPr>
            <a:spLocks noGrp="1"/>
          </p:cNvSpPr>
          <p:nvPr/>
        </p:nvSpPr>
        <p:spPr>
          <a:xfrm>
            <a:off x="9410700" y="377190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1D576F6-9BD2-41A0-8E5B-F4513EA728BD}"/>
              </a:ext>
            </a:extLst>
          </p:cNvPr>
          <p:cNvSpPr>
            <a:spLocks noGrp="1"/>
          </p:cNvSpPr>
          <p:nvPr/>
        </p:nvSpPr>
        <p:spPr>
          <a:xfrm>
            <a:off x="9525000" y="38957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会行动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F5A1C88-A08D-4D68-8ED0-EF46CECCF404}"/>
              </a:ext>
            </a:extLst>
          </p:cNvPr>
          <p:cNvSpPr>
            <a:spLocks noGrp="1"/>
          </p:cNvSpPr>
          <p:nvPr/>
        </p:nvSpPr>
        <p:spPr>
          <a:xfrm>
            <a:off x="7734300" y="440055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B89A2F2-3DD2-4C06-A9F0-228B03F4ED01}"/>
              </a:ext>
            </a:extLst>
          </p:cNvPr>
          <p:cNvSpPr>
            <a:spLocks noGrp="1"/>
          </p:cNvSpPr>
          <p:nvPr/>
        </p:nvSpPr>
        <p:spPr>
          <a:xfrm>
            <a:off x="7848600" y="452437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会回答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C33F627-823A-489F-94C4-FC9D9CE71389}"/>
              </a:ext>
            </a:extLst>
          </p:cNvPr>
          <p:cNvSpPr>
            <a:spLocks noGrp="1"/>
          </p:cNvSpPr>
          <p:nvPr/>
        </p:nvSpPr>
        <p:spPr>
          <a:xfrm>
            <a:off x="7734300" y="5200650"/>
            <a:ext cx="3238500" cy="514350"/>
          </a:xfrm>
          <a:prstGeom prst="roundRect">
            <a:avLst>
              <a:gd name="adj" fmla="val 25926"/>
            </a:avLst>
          </a:prstGeom>
          <a:solidFill>
            <a:srgbClr val="EAF2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06272D5-C6B4-478C-9CFF-B9CFF8A839B0}"/>
              </a:ext>
            </a:extLst>
          </p:cNvPr>
          <p:cNvSpPr>
            <a:spLocks noGrp="1"/>
          </p:cNvSpPr>
          <p:nvPr/>
        </p:nvSpPr>
        <p:spPr>
          <a:xfrm>
            <a:off x="7867650" y="5229225"/>
            <a:ext cx="2971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统一 Agent 项目格式</a:t>
            </a:r>
          </a:p>
          <a:p>
            <a:pPr algn="ctr">
              <a:buNone/>
              <a:defRPr sz="1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共享 IR、Runtime Core、轨迹与权限模型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9A25289-91C1-4471-8AA3-88C75A96652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B7B57DB-12D0-452A-88EA-454AE1E72B99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99F2206-526C-4EC7-9D06-DFA927D68B68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88080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ACE6BEB0-5134-4740-8BC5-70438A9E547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USE CASE · 4–6 课时项目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593C4D-248B-4BA9-B5FD-3076450D4322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首门课程按 4–6 课时设计：完成可复现、可解释的 Agent 项目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A294B6-FC5C-481E-9BCB-E0BD442C051E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课程设计门槛｜每课时只完成一个可检查里程碑：需求边界、角色知识、工具核验、展示复盘。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E0EE404-A53E-47C8-BD14-1A6FF57ECB76}"/>
              </a:ext>
            </a:extLst>
          </p:cNvPr>
          <p:cNvSpPr>
            <a:spLocks noGrp="1"/>
          </p:cNvSpPr>
          <p:nvPr/>
        </p:nvSpPr>
        <p:spPr>
          <a:xfrm>
            <a:off x="5429250" y="2876550"/>
            <a:ext cx="5143500" cy="476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DEA320BC-DCBD-459B-B601-6F0A4EF60DC0}"/>
              </a:ext>
            </a:extLst>
          </p:cNvPr>
          <p:cNvSpPr>
            <a:spLocks noGrp="1"/>
          </p:cNvSpPr>
          <p:nvPr/>
        </p:nvSpPr>
        <p:spPr>
          <a:xfrm>
            <a:off x="5086350" y="2533650"/>
            <a:ext cx="685800" cy="68580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8BF5B1-FF19-480C-A1F9-B3EBD55A3217}"/>
              </a:ext>
            </a:extLst>
          </p:cNvPr>
          <p:cNvSpPr>
            <a:spLocks noGrp="1"/>
          </p:cNvSpPr>
          <p:nvPr/>
        </p:nvSpPr>
        <p:spPr>
          <a:xfrm>
            <a:off x="5086350" y="2695575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5EB8ED1-07E5-4EEC-85C0-40D8A0D67C14}"/>
              </a:ext>
            </a:extLst>
          </p:cNvPr>
          <p:cNvSpPr>
            <a:spLocks noGrp="1"/>
          </p:cNvSpPr>
          <p:nvPr/>
        </p:nvSpPr>
        <p:spPr>
          <a:xfrm>
            <a:off x="4581525" y="3333750"/>
            <a:ext cx="169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需求与边界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B674A9-88C9-467B-8B72-EE50C9BD6D2F}"/>
              </a:ext>
            </a:extLst>
          </p:cNvPr>
          <p:cNvSpPr>
            <a:spLocks noGrp="1"/>
          </p:cNvSpPr>
          <p:nvPr/>
        </p:nvSpPr>
        <p:spPr>
          <a:xfrm>
            <a:off x="4581525" y="3981450"/>
            <a:ext cx="1695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第 1 课时</a:t>
            </a:r>
          </a:p>
          <a:p>
            <a:pPr algn="ctr">
              <a:buNone/>
              <a:def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定题 · 资料 · 边界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B2DC4C0-F9C1-4B05-86E6-F1C7ABDF1CA9}"/>
              </a:ext>
            </a:extLst>
          </p:cNvPr>
          <p:cNvSpPr>
            <a:spLocks noGrp="1"/>
          </p:cNvSpPr>
          <p:nvPr/>
        </p:nvSpPr>
        <p:spPr>
          <a:xfrm>
            <a:off x="6800850" y="2533650"/>
            <a:ext cx="685800" cy="68580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E25F763-49D5-4981-BAE1-812D10DBBCDD}"/>
              </a:ext>
            </a:extLst>
          </p:cNvPr>
          <p:cNvSpPr>
            <a:spLocks noGrp="1"/>
          </p:cNvSpPr>
          <p:nvPr/>
        </p:nvSpPr>
        <p:spPr>
          <a:xfrm>
            <a:off x="6800850" y="2695575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03C79FC-38CA-4920-BCFA-97252FFA762D}"/>
              </a:ext>
            </a:extLst>
          </p:cNvPr>
          <p:cNvSpPr>
            <a:spLocks noGrp="1"/>
          </p:cNvSpPr>
          <p:nvPr/>
        </p:nvSpPr>
        <p:spPr>
          <a:xfrm>
            <a:off x="6296025" y="3333750"/>
            <a:ext cx="169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角色与知识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6934EE-6AF6-484E-B295-F75570571BE2}"/>
              </a:ext>
            </a:extLst>
          </p:cNvPr>
          <p:cNvSpPr>
            <a:spLocks noGrp="1"/>
          </p:cNvSpPr>
          <p:nvPr/>
        </p:nvSpPr>
        <p:spPr>
          <a:xfrm>
            <a:off x="6296025" y="3981450"/>
            <a:ext cx="1695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第 2–3 课时</a:t>
            </a:r>
          </a:p>
          <a:p>
            <a:pPr algn="ctr">
              <a:buNone/>
              <a:def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角色 · 知识 · 检索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700918C-A06B-4E1A-8C9D-0648588A8481}"/>
              </a:ext>
            </a:extLst>
          </p:cNvPr>
          <p:cNvSpPr>
            <a:spLocks noGrp="1"/>
          </p:cNvSpPr>
          <p:nvPr/>
        </p:nvSpPr>
        <p:spPr>
          <a:xfrm>
            <a:off x="8515350" y="2533650"/>
            <a:ext cx="685800" cy="68580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FF1C48E-5BD0-4783-9B5F-9CD7A9A77DD4}"/>
              </a:ext>
            </a:extLst>
          </p:cNvPr>
          <p:cNvSpPr>
            <a:spLocks noGrp="1"/>
          </p:cNvSpPr>
          <p:nvPr/>
        </p:nvSpPr>
        <p:spPr>
          <a:xfrm>
            <a:off x="8515350" y="2695575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AE7325C-B220-4DD8-937A-0AFCD38AC2AC}"/>
              </a:ext>
            </a:extLst>
          </p:cNvPr>
          <p:cNvSpPr>
            <a:spLocks noGrp="1"/>
          </p:cNvSpPr>
          <p:nvPr/>
        </p:nvSpPr>
        <p:spPr>
          <a:xfrm>
            <a:off x="8010525" y="3333750"/>
            <a:ext cx="169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工具与核验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7E1AD58-3805-4CBB-B0C5-AD0CFD42C229}"/>
              </a:ext>
            </a:extLst>
          </p:cNvPr>
          <p:cNvSpPr>
            <a:spLocks noGrp="1"/>
          </p:cNvSpPr>
          <p:nvPr/>
        </p:nvSpPr>
        <p:spPr>
          <a:xfrm>
            <a:off x="8010525" y="3981450"/>
            <a:ext cx="1695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第 4–5 课时</a:t>
            </a:r>
          </a:p>
          <a:p>
            <a:pPr algn="ctr">
              <a:buNone/>
              <a:def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工具 · 权限 · 轨迹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F9DAF4FD-BC3F-4584-9B71-B1636FEDB026}"/>
              </a:ext>
            </a:extLst>
          </p:cNvPr>
          <p:cNvSpPr>
            <a:spLocks noGrp="1"/>
          </p:cNvSpPr>
          <p:nvPr/>
        </p:nvSpPr>
        <p:spPr>
          <a:xfrm>
            <a:off x="10229850" y="2533650"/>
            <a:ext cx="685800" cy="68580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3EA1FC6-3496-484C-95F5-14F46B1D35DC}"/>
              </a:ext>
            </a:extLst>
          </p:cNvPr>
          <p:cNvSpPr>
            <a:spLocks noGrp="1"/>
          </p:cNvSpPr>
          <p:nvPr/>
        </p:nvSpPr>
        <p:spPr>
          <a:xfrm>
            <a:off x="10229850" y="2695575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3475CB5-1F52-4474-A185-5DCFD29BB854}"/>
              </a:ext>
            </a:extLst>
          </p:cNvPr>
          <p:cNvSpPr>
            <a:spLocks noGrp="1"/>
          </p:cNvSpPr>
          <p:nvPr/>
        </p:nvSpPr>
        <p:spPr>
          <a:xfrm>
            <a:off x="9725025" y="3333750"/>
            <a:ext cx="169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展示与复盘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CF6F002-6517-421A-8333-2339096B420A}"/>
              </a:ext>
            </a:extLst>
          </p:cNvPr>
          <p:cNvSpPr>
            <a:spLocks noGrp="1"/>
          </p:cNvSpPr>
          <p:nvPr/>
        </p:nvSpPr>
        <p:spPr>
          <a:xfrm>
            <a:off x="9725025" y="3981450"/>
            <a:ext cx="1695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第 6 课时</a:t>
            </a:r>
          </a:p>
          <a:p>
            <a:pPr algn="ctr">
              <a:buNone/>
              <a:def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展示 · 拒答 · 保存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ED85272-C52C-40FA-B761-776CF436006A}"/>
              </a:ext>
            </a:extLst>
          </p:cNvPr>
          <p:cNvSpPr>
            <a:spLocks noGrp="1"/>
          </p:cNvSpPr>
          <p:nvPr/>
        </p:nvSpPr>
        <p:spPr>
          <a:xfrm>
            <a:off x="685800" y="5181600"/>
            <a:ext cx="10820400" cy="800100"/>
          </a:xfrm>
          <a:prstGeom prst="roundRect">
            <a:avLst>
              <a:gd name="adj" fmla="val 23810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5759AD1-71DC-48F0-89B6-BD531D8DC641}"/>
              </a:ext>
            </a:extLst>
          </p:cNvPr>
          <p:cNvSpPr>
            <a:spLocks noGrp="1"/>
          </p:cNvSpPr>
          <p:nvPr/>
        </p:nvSpPr>
        <p:spPr>
          <a:xfrm>
            <a:off x="952500" y="5391150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项目成果：搭得出 · 说得清 · 引得准 · 复现得了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340A4D9-AB1E-4082-B642-C0C46F98DF6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C5E1450-E4DF-4EFF-A864-D90D800E3F84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08E4714-55B0-428F-BB84-CF5DF9C58744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145506"/>
            <a:ext cx="3524250" cy="264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089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22387266-2A32-4DAA-B660-5E5EABCE394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EVIDENCE · 工程执行实证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8F1EAF-E370-4FDB-93A0-A8A1C5371AAC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335"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Technical Spike + Contract Baseline 验证核心运行、安全与保存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308558F-8F1D-45F1-B8C2-D2DFAE8A730F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可复核证据同时覆盖运行闭环、Host 边界、项目格式、诊断、权限与 Log Redaction。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341ACDB7-70DB-42B5-9BF7-1EC316D90871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5257800" cy="3886200"/>
          </a:xfrm>
          <a:prstGeom prst="roundRect">
            <a:avLst>
              <a:gd name="adj" fmla="val 5392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910B61B-741F-4A50-9E91-8504EE4D57AF}"/>
              </a:ext>
            </a:extLst>
          </p:cNvPr>
          <p:cNvSpPr>
            <a:spLocks noGrp="1"/>
          </p:cNvSpPr>
          <p:nvPr/>
        </p:nvSpPr>
        <p:spPr>
          <a:xfrm>
            <a:off x="933450" y="2152650"/>
            <a:ext cx="28575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1B3B13-0F03-4E53-89EB-30E7EAD81129}"/>
              </a:ext>
            </a:extLst>
          </p:cNvPr>
          <p:cNvSpPr>
            <a:spLocks noGrp="1"/>
          </p:cNvSpPr>
          <p:nvPr/>
        </p:nvSpPr>
        <p:spPr>
          <a:xfrm>
            <a:off x="1028700" y="2219325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rPr>
              <a:t>已验证 · Windows Core 运行实证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C8F19B-7745-4186-8A85-EDA802BFDFAF}"/>
              </a:ext>
            </a:extLst>
          </p:cNvPr>
          <p:cNvSpPr>
            <a:spLocks noGrp="1"/>
          </p:cNvSpPr>
          <p:nvPr/>
        </p:nvSpPr>
        <p:spPr>
          <a:xfrm>
            <a:off x="990600" y="2724150"/>
            <a:ext cx="4648200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8 项 Windows Core Quality Gates 全部通过</a:t>
            </a:r>
          </a:p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本地 Blockly + 稳定 Agent IR</a:t>
            </a:r>
          </a:p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InteractionManifest + ToolContract</a:t>
            </a:r>
          </a:p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确定性 Runtime + 窄 Tauri Host</a:t>
            </a:r>
          </a:p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100 积木项目保存、关闭、重开</a:t>
            </a:r>
          </a:p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360 次循环 / 30 分 03 秒长稳</a:t>
            </a:r>
          </a:p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30 次真实 Rust Host 保存 / 重载</a:t>
            </a:r>
          </a:p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覆盖：编辑 · 编译 · 运行 · 保存 · Host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B65E33F-B2AF-4819-8F01-A9FD68E3AE32}"/>
              </a:ext>
            </a:extLst>
          </p:cNvPr>
          <p:cNvSpPr>
            <a:spLocks noGrp="1"/>
          </p:cNvSpPr>
          <p:nvPr/>
        </p:nvSpPr>
        <p:spPr>
          <a:xfrm>
            <a:off x="6248400" y="1924050"/>
            <a:ext cx="5257800" cy="3886200"/>
          </a:xfrm>
          <a:prstGeom prst="roundRect">
            <a:avLst>
              <a:gd name="adj" fmla="val 5392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E365F07-950A-4D07-A025-90EE487382F4}"/>
              </a:ext>
            </a:extLst>
          </p:cNvPr>
          <p:cNvSpPr>
            <a:spLocks noGrp="1"/>
          </p:cNvSpPr>
          <p:nvPr/>
        </p:nvSpPr>
        <p:spPr>
          <a:xfrm>
            <a:off x="6496050" y="2152650"/>
            <a:ext cx="28575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222E42-B3B5-4113-8A95-7228B5B7F097}"/>
              </a:ext>
            </a:extLst>
          </p:cNvPr>
          <p:cNvSpPr>
            <a:spLocks noGrp="1"/>
          </p:cNvSpPr>
          <p:nvPr/>
        </p:nvSpPr>
        <p:spPr>
          <a:xfrm>
            <a:off x="6591300" y="2219325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已验收 · Contract Baseline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F7811E7-D896-4913-B268-3DD1943B29F5}"/>
              </a:ext>
            </a:extLst>
          </p:cNvPr>
          <p:cNvSpPr>
            <a:spLocks noGrp="1"/>
          </p:cNvSpPr>
          <p:nvPr/>
        </p:nvSpPr>
        <p:spPr>
          <a:xfrm>
            <a:off x="6553200" y="2724150"/>
            <a:ext cx="4648200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Contract Baseline：独立验收通过</a:t>
            </a:r>
          </a:p>
          <a:p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21 个必需 Schema 逐项复核</a:t>
            </a:r>
          </a:p>
          <a:p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9 份 Contract / Handoff 文档</a:t>
            </a:r>
          </a:p>
          <a:p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10 个正反 JSON Fixtures</a:t>
            </a:r>
          </a:p>
          <a:p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63 条相对链接全部核对</a:t>
            </a:r>
          </a:p>
          <a:p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高亮 / 日志 / 轨迹同源</a:t>
            </a:r>
          </a:p>
          <a:p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Patch Reject、Terminal Isolation、Log Redaction 负例</a:t>
            </a:r>
          </a:p>
          <a:p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覆盖：项目 · 交互 · 运行 · 构建 · 安全</a:t>
            </a: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rcRect t="11290" b="11290"/>
          <a:stretch>
            <a:fillRect/>
          </a:stretch>
        </p:blipFill>
        <p:spPr>
          <a:xfrm>
            <a:off x="13335000" y="4095750"/>
            <a:ext cx="2952750" cy="1428750"/>
          </a:xfrm>
          <a:prstGeom prst="roundRect">
            <a:avLst>
              <a:gd name="adj" fmla="val 13333"/>
            </a:avLst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236E84C-0488-46CA-AE0D-E70BA935F96B}"/>
              </a:ext>
            </a:extLst>
          </p:cNvPr>
          <p:cNvSpPr>
            <a:spLocks noGrp="1"/>
          </p:cNvSpPr>
          <p:nvPr/>
        </p:nvSpPr>
        <p:spPr>
          <a:xfrm>
            <a:off x="6553200" y="5219700"/>
            <a:ext cx="4648200" cy="32385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351F7CB-5C7D-4222-A237-0CBB7F6ED549}"/>
              </a:ext>
            </a:extLst>
          </p:cNvPr>
          <p:cNvSpPr>
            <a:spLocks noGrp="1"/>
          </p:cNvSpPr>
          <p:nvPr/>
        </p:nvSpPr>
        <p:spPr>
          <a:xfrm>
            <a:off x="6648450" y="5286375"/>
            <a:ext cx="4457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21 Schemas + 10 Fixtures + 63 链接：产品边界已通过独立核验。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128B773-2B04-44AF-B2B3-BA8929F4D09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CB40E5D-88E5-46E2-AEF4-2A8359C6C003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B7AF61F-E60E-4BA3-B5A8-4BF88AFAFDC8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Unified left evidence conclusion">
            <a:extLst>
              <a:ext uri="{FF2B5EF4-FFF2-40B4-BE49-F238E27FC236}">
                <a16:creationId xmlns:a16="http://schemas.microsoft.com/office/drawing/2014/main" id="{EFACA68A-A9A1-4F5A-99A6-DD4693702EF1}"/>
              </a:ext>
            </a:extLst>
          </p:cNvPr>
          <p:cNvSpPr>
            <a:spLocks noGrp="1"/>
          </p:cNvSpPr>
          <p:nvPr/>
        </p:nvSpPr>
        <p:spPr>
          <a:xfrm>
            <a:off x="990600" y="5219700"/>
            <a:ext cx="4648200" cy="323850"/>
          </a:xfrm>
          <a:prstGeom prst="roundRect">
            <a:avLst>
              <a:gd name="adj" fmla="val 35294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360 次循环 + 30 次 Host 重载：核心链路已有可复现实证。</a:t>
            </a:r>
          </a:p>
        </p:txBody>
      </p:sp>
    </p:spTree>
    <p:extLst>
      <p:ext uri="{BB962C8B-B14F-4D97-AF65-F5344CB8AC3E}">
        <p14:creationId xmlns:p14="http://schemas.microsoft.com/office/powerpoint/2010/main" val="831750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201F39D0-3FC4-4C0E-A1D5-86D2F8ECFD8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BEACHHEAD · 融资后 18 个月计划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C5C0489-E690-4515-8532-7EB6EF145516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20 名教师共创，计划形成首批 920 个教育付费席位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6F775723-017E-439C-BAFF-4E7F1EC398D8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3276600" cy="1390650"/>
          </a:xfrm>
          <a:prstGeom prst="roundRect">
            <a:avLst>
              <a:gd name="adj" fmla="val 15068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F850C1-E5E4-4E20-BF13-55AADFF3120E}"/>
              </a:ext>
            </a:extLst>
          </p:cNvPr>
          <p:cNvSpPr>
            <a:spLocks noGrp="1"/>
          </p:cNvSpPr>
          <p:nvPr/>
        </p:nvSpPr>
        <p:spPr>
          <a:xfrm>
            <a:off x="876300" y="2038350"/>
            <a:ext cx="2895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1,200 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9ABFEC-285F-4A91-B85F-F75A4E32DEF4}"/>
              </a:ext>
            </a:extLst>
          </p:cNvPr>
          <p:cNvSpPr>
            <a:spLocks noGrp="1"/>
          </p:cNvSpPr>
          <p:nvPr/>
        </p:nvSpPr>
        <p:spPr>
          <a:xfrm>
            <a:off x="876300" y="2647950"/>
            <a:ext cx="2895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课堂触达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D1B2A9D-4985-446A-87D6-92E232AB5800}"/>
              </a:ext>
            </a:extLst>
          </p:cNvPr>
          <p:cNvSpPr>
            <a:spLocks noGrp="1"/>
          </p:cNvSpPr>
          <p:nvPr/>
        </p:nvSpPr>
        <p:spPr>
          <a:xfrm>
            <a:off x="4267200" y="1790700"/>
            <a:ext cx="3276600" cy="1390650"/>
          </a:xfrm>
          <a:prstGeom prst="roundRect">
            <a:avLst>
              <a:gd name="adj" fmla="val 15068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0B0E0B3-9F29-4BA5-9C8F-694467624096}"/>
              </a:ext>
            </a:extLst>
          </p:cNvPr>
          <p:cNvSpPr>
            <a:spLocks noGrp="1"/>
          </p:cNvSpPr>
          <p:nvPr/>
        </p:nvSpPr>
        <p:spPr>
          <a:xfrm>
            <a:off x="4457700" y="2038350"/>
            <a:ext cx="2895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120 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CD9912-FD7C-4501-9DB1-2D0BD12DF0CB}"/>
              </a:ext>
            </a:extLst>
          </p:cNvPr>
          <p:cNvSpPr>
            <a:spLocks noGrp="1"/>
          </p:cNvSpPr>
          <p:nvPr/>
        </p:nvSpPr>
        <p:spPr>
          <a:xfrm>
            <a:off x="4457700" y="2647950"/>
            <a:ext cx="2895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个人年费转化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185F1D3-4FE8-477D-AB48-A4F5E6B57DAA}"/>
              </a:ext>
            </a:extLst>
          </p:cNvPr>
          <p:cNvSpPr>
            <a:spLocks noGrp="1"/>
          </p:cNvSpPr>
          <p:nvPr/>
        </p:nvSpPr>
        <p:spPr>
          <a:xfrm>
            <a:off x="7848600" y="1790700"/>
            <a:ext cx="3276600" cy="1390650"/>
          </a:xfrm>
          <a:prstGeom prst="roundRect">
            <a:avLst>
              <a:gd name="adj" fmla="val 15068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42DD1C9-15C8-4C45-B24D-0F3F1C253048}"/>
              </a:ext>
            </a:extLst>
          </p:cNvPr>
          <p:cNvSpPr>
            <a:spLocks noGrp="1"/>
          </p:cNvSpPr>
          <p:nvPr/>
        </p:nvSpPr>
        <p:spPr>
          <a:xfrm>
            <a:off x="8039100" y="2038350"/>
            <a:ext cx="2895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800 席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399323C-011B-4B20-8558-5F51814F58E7}"/>
              </a:ext>
            </a:extLst>
          </p:cNvPr>
          <p:cNvSpPr>
            <a:spLocks noGrp="1"/>
          </p:cNvSpPr>
          <p:nvPr/>
        </p:nvSpPr>
        <p:spPr>
          <a:xfrm>
            <a:off x="8039100" y="2647950"/>
            <a:ext cx="2895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机构年度席位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673A88D-0CF5-4432-A256-E2EEA4DF356F}"/>
              </a:ext>
            </a:extLst>
          </p:cNvPr>
          <p:cNvSpPr>
            <a:spLocks noGrp="1"/>
          </p:cNvSpPr>
          <p:nvPr/>
        </p:nvSpPr>
        <p:spPr>
          <a:xfrm>
            <a:off x="685800" y="3276600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18 个月漏斗｜30 个课堂 × 40 人 × 10% + 10 家机构 × 80 席 = 920 个教育付费席位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82CB344-CD97-45D5-BC37-4EBCBB6D4F60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5124450" cy="2038350"/>
          </a:xfrm>
          <a:prstGeom prst="roundRect">
            <a:avLst>
              <a:gd name="adj" fmla="val 9346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62A8040-09B1-491B-BCEB-B4DBF039171B}"/>
              </a:ext>
            </a:extLst>
          </p:cNvPr>
          <p:cNvSpPr>
            <a:spLocks noGrp="1"/>
          </p:cNvSpPr>
          <p:nvPr/>
        </p:nvSpPr>
        <p:spPr>
          <a:xfrm>
            <a:off x="952500" y="40005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课堂转化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7F655CE-95D1-43DB-9C45-AC34A9554442}"/>
              </a:ext>
            </a:extLst>
          </p:cNvPr>
          <p:cNvSpPr>
            <a:spLocks noGrp="1"/>
          </p:cNvSpPr>
          <p:nvPr/>
        </p:nvSpPr>
        <p:spPr>
          <a:xfrm>
            <a:off x="952500" y="4495800"/>
            <a:ext cx="44767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20 名教师 → 30 个课堂样板</a:t>
            </a:r>
          </a:p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30 × 40 人 = 1,200 人触达</a:t>
            </a:r>
          </a:p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10% 个人转化 = 120 人</a:t>
            </a:r>
          </a:p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证据｜完成率 / 复用率 / 付费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28DF826-4961-4CE8-9C98-C75C7FA22E38}"/>
              </a:ext>
            </a:extLst>
          </p:cNvPr>
          <p:cNvSpPr>
            <a:spLocks noGrp="1"/>
          </p:cNvSpPr>
          <p:nvPr/>
        </p:nvSpPr>
        <p:spPr>
          <a:xfrm>
            <a:off x="6153150" y="3752850"/>
            <a:ext cx="5353050" cy="2038350"/>
          </a:xfrm>
          <a:prstGeom prst="roundRect">
            <a:avLst>
              <a:gd name="adj" fmla="val 9346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266A8CA-19C6-434E-AD6C-5F818DBEAED1}"/>
              </a:ext>
            </a:extLst>
          </p:cNvPr>
          <p:cNvSpPr>
            <a:spLocks noGrp="1"/>
          </p:cNvSpPr>
          <p:nvPr/>
        </p:nvSpPr>
        <p:spPr>
          <a:xfrm>
            <a:off x="6419850" y="400050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 i="0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机构转化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6203AD2-7FC8-4B13-94FE-2B56DA410645}"/>
              </a:ext>
            </a:extLst>
          </p:cNvPr>
          <p:cNvSpPr>
            <a:spLocks noGrp="1"/>
          </p:cNvSpPr>
          <p:nvPr/>
        </p:nvSpPr>
        <p:spPr>
          <a:xfrm>
            <a:off x="6419850" y="4514850"/>
            <a:ext cx="4762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计划｜5 家付费试点 → 10 家年度机构</a:t>
            </a:r>
          </a:p>
          <a:p>
            <a:pPr algn="l">
              <a:buNone/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10 × 80 席 = 800 席</a:t>
            </a:r>
          </a:p>
          <a:p>
            <a:pPr algn="l">
              <a:buNone/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决策｜校方 / 教研 / 机构</a:t>
            </a:r>
          </a:p>
          <a:p>
            <a:pPr algn="l">
              <a:buNone/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证据｜预算 / 合同 / 采购时间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04AA025-0E59-4FE6-AC7A-41E48C410EA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6355FAC-5400-4765-91DC-A939B19139D2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612907B-4B8C-490E-9ECF-1C0176FBB748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01483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201F39D0-3FC4-4C0E-A1D5-86D2F8ECFD8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MARKET · 18 个月目标市场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C5C0489-E690-4515-8532-7EB6EF145516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首个可获得市场，由课堂与机构漏斗直接推导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6F775723-017E-439C-BAFF-4E7F1EC398D8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3276600" cy="1390650"/>
          </a:xfrm>
          <a:prstGeom prst="roundRect">
            <a:avLst>
              <a:gd name="adj" fmla="val 15068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F850C1-E5E4-4E20-BF13-55AADFF3120E}"/>
              </a:ext>
            </a:extLst>
          </p:cNvPr>
          <p:cNvSpPr>
            <a:spLocks noGrp="1"/>
          </p:cNvSpPr>
          <p:nvPr/>
        </p:nvSpPr>
        <p:spPr>
          <a:xfrm>
            <a:off x="876300" y="2038350"/>
            <a:ext cx="2895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920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9ABFEC-285F-4A91-B85F-F75A4E32DEF4}"/>
              </a:ext>
            </a:extLst>
          </p:cNvPr>
          <p:cNvSpPr>
            <a:spLocks noGrp="1"/>
          </p:cNvSpPr>
          <p:nvPr/>
        </p:nvSpPr>
        <p:spPr>
          <a:xfrm>
            <a:off x="876300" y="2647950"/>
            <a:ext cx="2895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教育付费 SOM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D1B2A9D-4985-446A-87D6-92E232AB5800}"/>
              </a:ext>
            </a:extLst>
          </p:cNvPr>
          <p:cNvSpPr>
            <a:spLocks noGrp="1"/>
          </p:cNvSpPr>
          <p:nvPr/>
        </p:nvSpPr>
        <p:spPr>
          <a:xfrm>
            <a:off x="4267200" y="1790700"/>
            <a:ext cx="3276600" cy="1390650"/>
          </a:xfrm>
          <a:prstGeom prst="roundRect">
            <a:avLst>
              <a:gd name="adj" fmla="val 15068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0B0E0B3-9F29-4BA5-9C8F-694467624096}"/>
              </a:ext>
            </a:extLst>
          </p:cNvPr>
          <p:cNvSpPr>
            <a:spLocks noGrp="1"/>
          </p:cNvSpPr>
          <p:nvPr/>
        </p:nvSpPr>
        <p:spPr>
          <a:xfrm>
            <a:off x="4457700" y="2038350"/>
            <a:ext cx="2895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CD9912-FD7C-4501-9DB1-2D0BD12DF0CB}"/>
              </a:ext>
            </a:extLst>
          </p:cNvPr>
          <p:cNvSpPr>
            <a:spLocks noGrp="1"/>
          </p:cNvSpPr>
          <p:nvPr/>
        </p:nvSpPr>
        <p:spPr>
          <a:xfrm>
            <a:off x="4457700" y="2647950"/>
            <a:ext cx="2895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专业付费 SOM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185F1D3-4FE8-477D-AB48-A4F5E6B57DAA}"/>
              </a:ext>
            </a:extLst>
          </p:cNvPr>
          <p:cNvSpPr>
            <a:spLocks noGrp="1"/>
          </p:cNvSpPr>
          <p:nvPr/>
        </p:nvSpPr>
        <p:spPr>
          <a:xfrm>
            <a:off x="7848600" y="1790700"/>
            <a:ext cx="3276600" cy="1390650"/>
          </a:xfrm>
          <a:prstGeom prst="roundRect">
            <a:avLst>
              <a:gd name="adj" fmla="val 15068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42DD1C9-15C8-4C45-B24D-0F3F1C253048}"/>
              </a:ext>
            </a:extLst>
          </p:cNvPr>
          <p:cNvSpPr>
            <a:spLocks noGrp="1"/>
          </p:cNvSpPr>
          <p:nvPr/>
        </p:nvSpPr>
        <p:spPr>
          <a:xfrm>
            <a:off x="8039100" y="2038350"/>
            <a:ext cx="2895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¥142 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399323C-011B-4B20-8558-5F51814F58E7}"/>
              </a:ext>
            </a:extLst>
          </p:cNvPr>
          <p:cNvSpPr>
            <a:spLocks noGrp="1"/>
          </p:cNvSpPr>
          <p:nvPr/>
        </p:nvSpPr>
        <p:spPr>
          <a:xfrm>
            <a:off x="8039100" y="2647950"/>
            <a:ext cx="2895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年化订阅收入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673A88D-0CF5-4432-A256-E2EEA4DF356F}"/>
              </a:ext>
            </a:extLst>
          </p:cNvPr>
          <p:cNvSpPr>
            <a:spLocks noGrp="1"/>
          </p:cNvSpPr>
          <p:nvPr/>
        </p:nvSpPr>
        <p:spPr>
          <a:xfrm>
            <a:off x="685800" y="3276600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收入公式｜920 × ¥980 + 100 × ¥5,200 = ¥142.16 万 / 年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82CB344-CD97-45D5-BC37-4EBCBB6D4F60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5124450" cy="2038350"/>
          </a:xfrm>
          <a:prstGeom prst="roundRect">
            <a:avLst>
              <a:gd name="adj" fmla="val 9346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62A8040-09B1-491B-BCEB-B4DBF039171B}"/>
              </a:ext>
            </a:extLst>
          </p:cNvPr>
          <p:cNvSpPr>
            <a:spLocks noGrp="1"/>
          </p:cNvSpPr>
          <p:nvPr/>
        </p:nvSpPr>
        <p:spPr>
          <a:xfrm>
            <a:off x="952500" y="40005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触达渠道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7F655CE-95D1-43DB-9C45-AC34A9554442}"/>
              </a:ext>
            </a:extLst>
          </p:cNvPr>
          <p:cNvSpPr>
            <a:spLocks noGrp="1"/>
          </p:cNvSpPr>
          <p:nvPr/>
        </p:nvSpPr>
        <p:spPr>
          <a:xfrm>
            <a:off x="952500" y="4495800"/>
            <a:ext cx="44767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教师共创 / 赛事与社群</a:t>
            </a:r>
          </a:p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高校与职教课程合作</a:t>
            </a:r>
          </a:p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课堂作品驱动口碑</a:t>
            </a:r>
          </a:p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项目积木化触达专业用户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28DF826-4961-4CE8-9C98-C75C7FA22E38}"/>
              </a:ext>
            </a:extLst>
          </p:cNvPr>
          <p:cNvSpPr>
            <a:spLocks noGrp="1"/>
          </p:cNvSpPr>
          <p:nvPr/>
        </p:nvSpPr>
        <p:spPr>
          <a:xfrm>
            <a:off x="6153150" y="3752850"/>
            <a:ext cx="5353050" cy="2038350"/>
          </a:xfrm>
          <a:prstGeom prst="roundRect">
            <a:avLst>
              <a:gd name="adj" fmla="val 9346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266A8CA-19C6-434E-AD6C-5F818DBEAED1}"/>
              </a:ext>
            </a:extLst>
          </p:cNvPr>
          <p:cNvSpPr>
            <a:spLocks noGrp="1"/>
          </p:cNvSpPr>
          <p:nvPr/>
        </p:nvSpPr>
        <p:spPr>
          <a:xfrm>
            <a:off x="6419850" y="400050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 i="0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扩大路径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6203AD2-7FC8-4B13-94FE-2B56DA410645}"/>
              </a:ext>
            </a:extLst>
          </p:cNvPr>
          <p:cNvSpPr>
            <a:spLocks noGrp="1"/>
          </p:cNvSpPr>
          <p:nvPr/>
        </p:nvSpPr>
        <p:spPr>
          <a:xfrm>
            <a:off x="6419850" y="4514850"/>
            <a:ext cx="4762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Y3｜5,000 教育 + 500 专业</a:t>
            </a:r>
          </a:p>
          <a:p>
            <a:pPr algn="l">
              <a:buNone/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订阅收入｜¥750 万 / 年</a:t>
            </a:r>
          </a:p>
          <a:p>
            <a:pPr algn="l">
              <a:buNone/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上行｜机构方案 / 企业服务</a:t>
            </a:r>
          </a:p>
          <a:p>
            <a:pPr algn="l">
              <a:buNone/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增量｜社区资产与多端使用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04AA025-0E59-4FE6-AC7A-41E48C410EA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6355FAC-5400-4765-91DC-A939B19139D2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612907B-4B8C-490E-9ECF-1C0176FBB748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01483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7DFB98D4-8A9E-4310-AC05-96F1315D6B3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COMPETITION · 用户替代方案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EB70E22-46A8-4D3F-A933-FA5CB30DFEE0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五类替代方案各有边界，Blocky 优化非程序员的 Agent 创作路径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7B9416-8927-4FDD-917D-66714D817F13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并列比较目标用户、创作范式、第一次成功门槛、结构可见性与专业扩展深度。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B5AC8B-8B9F-4695-9A04-96E9C71C918E}"/>
              </a:ext>
            </a:extLst>
          </p:cNvPr>
          <p:cNvSpPr>
            <a:spLocks noGrp="1"/>
          </p:cNvSpPr>
          <p:nvPr/>
        </p:nvSpPr>
        <p:spPr>
          <a:xfrm>
            <a:off x="2543175" y="284797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58FE4A2-B622-4C5E-AFC6-49E01F515B67}"/>
              </a:ext>
            </a:extLst>
          </p:cNvPr>
          <p:cNvSpPr>
            <a:spLocks noGrp="1"/>
          </p:cNvSpPr>
          <p:nvPr/>
        </p:nvSpPr>
        <p:spPr>
          <a:xfrm>
            <a:off x="4695825" y="284797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D9FA4B3-0E29-4B42-9E8B-B19439EE3E86}"/>
              </a:ext>
            </a:extLst>
          </p:cNvPr>
          <p:cNvSpPr>
            <a:spLocks noGrp="1"/>
          </p:cNvSpPr>
          <p:nvPr/>
        </p:nvSpPr>
        <p:spPr>
          <a:xfrm>
            <a:off x="6848475" y="284797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4327299-7A47-4BD8-8DDF-623868A858F8}"/>
              </a:ext>
            </a:extLst>
          </p:cNvPr>
          <p:cNvSpPr>
            <a:spLocks noGrp="1"/>
          </p:cNvSpPr>
          <p:nvPr/>
        </p:nvSpPr>
        <p:spPr>
          <a:xfrm>
            <a:off x="9001125" y="284797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1809E88-4FD6-4362-9922-851886FF0330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4A020EA-0F76-4C5F-99C3-F8E787B2D439}"/>
              </a:ext>
            </a:extLst>
          </p:cNvPr>
          <p:cNvSpPr>
            <a:spLocks noGrp="1"/>
          </p:cNvSpPr>
          <p:nvPr/>
        </p:nvSpPr>
        <p:spPr>
          <a:xfrm>
            <a:off x="83820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r>
              <a:t>Scratch</a:t>
            </a:r>
          </a:p>
          <a:p>
            <a:r>
              <a:t>教育积木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4209DFC-0DB0-4F03-997E-ED022F5387FD}"/>
              </a:ext>
            </a:extLst>
          </p:cNvPr>
          <p:cNvSpPr>
            <a:spLocks noGrp="1"/>
          </p:cNvSpPr>
          <p:nvPr/>
        </p:nvSpPr>
        <p:spPr>
          <a:xfrm>
            <a:off x="81915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42222" lnSpcReduction="10000"/>
          </a:bodyPr>
          <a:lstStyle/>
          <a:p>
            <a:r>
              <a:t>用户｜学生 / 教师</a:t>
            </a:r>
          </a:p>
          <a:p>
            <a:r>
              <a:t>范式｜教育积木</a:t>
            </a:r>
          </a:p>
          <a:p>
            <a:r>
              <a:t>边界｜缺 Agent 语义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FE863CB-E606-406C-8E49-63E027468A18}"/>
              </a:ext>
            </a:extLst>
          </p:cNvPr>
          <p:cNvSpPr>
            <a:spLocks noGrp="1"/>
          </p:cNvSpPr>
          <p:nvPr/>
        </p:nvSpPr>
        <p:spPr>
          <a:xfrm>
            <a:off x="283845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7EBB333-8FEB-4A68-A6D7-A07BB5A5EF49}"/>
              </a:ext>
            </a:extLst>
          </p:cNvPr>
          <p:cNvSpPr>
            <a:spLocks noGrp="1"/>
          </p:cNvSpPr>
          <p:nvPr/>
        </p:nvSpPr>
        <p:spPr>
          <a:xfrm>
            <a:off x="299085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r>
              <a:t>AI 对话</a:t>
            </a:r>
          </a:p>
          <a:p>
            <a:r>
              <a:t>低门槛问答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0CA3A16-F7D2-4375-AD05-98B39C160E7B}"/>
              </a:ext>
            </a:extLst>
          </p:cNvPr>
          <p:cNvSpPr>
            <a:spLocks noGrp="1"/>
          </p:cNvSpPr>
          <p:nvPr/>
        </p:nvSpPr>
        <p:spPr>
          <a:xfrm>
            <a:off x="297180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42222" lnSpcReduction="10000"/>
          </a:bodyPr>
          <a:lstStyle/>
          <a:p>
            <a:r>
              <a:t>用户｜大众</a:t>
            </a:r>
          </a:p>
          <a:p>
            <a:r>
              <a:t>范式｜对话</a:t>
            </a:r>
          </a:p>
          <a:p>
            <a:r>
              <a:t>边界｜结构不可见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ABBCBCB-D598-47CF-A31D-DE2AFCFB5AD4}"/>
              </a:ext>
            </a:extLst>
          </p:cNvPr>
          <p:cNvSpPr>
            <a:spLocks noGrp="1"/>
          </p:cNvSpPr>
          <p:nvPr/>
        </p:nvSpPr>
        <p:spPr>
          <a:xfrm>
            <a:off x="499110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DB15EC2-77A0-44D3-961C-3C1B64DF7D93}"/>
              </a:ext>
            </a:extLst>
          </p:cNvPr>
          <p:cNvSpPr>
            <a:spLocks noGrp="1"/>
          </p:cNvSpPr>
          <p:nvPr/>
        </p:nvSpPr>
        <p:spPr>
          <a:xfrm>
            <a:off x="514350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r>
              <a:t>Coze / Dify</a:t>
            </a:r>
          </a:p>
          <a:p>
            <a:r>
              <a:t>n8n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4BA4644-3DF6-4D5D-A39E-7633F3E10712}"/>
              </a:ext>
            </a:extLst>
          </p:cNvPr>
          <p:cNvSpPr>
            <a:spLocks noGrp="1"/>
          </p:cNvSpPr>
          <p:nvPr/>
        </p:nvSpPr>
        <p:spPr>
          <a:xfrm>
            <a:off x="512445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42222" lnSpcReduction="10000"/>
          </a:bodyPr>
          <a:lstStyle/>
          <a:p>
            <a:r>
              <a:t>用户｜运营 / 专业用户</a:t>
            </a:r>
          </a:p>
          <a:p>
            <a:r>
              <a:t>范式｜流程编排</a:t>
            </a:r>
          </a:p>
          <a:p>
            <a:r>
              <a:t>边界｜学习成本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89DA042-F4B5-409E-A55D-9D81D4EE3ECA}"/>
              </a:ext>
            </a:extLst>
          </p:cNvPr>
          <p:cNvSpPr>
            <a:spLocks noGrp="1"/>
          </p:cNvSpPr>
          <p:nvPr/>
        </p:nvSpPr>
        <p:spPr>
          <a:xfrm>
            <a:off x="714375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5EA51D8-9E31-4734-9C09-B3CF40E059D5}"/>
              </a:ext>
            </a:extLst>
          </p:cNvPr>
          <p:cNvSpPr>
            <a:spLocks noGrp="1"/>
          </p:cNvSpPr>
          <p:nvPr/>
        </p:nvSpPr>
        <p:spPr>
          <a:xfrm>
            <a:off x="729615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r>
              <a:t>Codex 等</a:t>
            </a:r>
          </a:p>
          <a:p>
            <a:r>
              <a:t>编码 Agent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AE9A07E-9C57-41E0-98BE-FB36F1B3427A}"/>
              </a:ext>
            </a:extLst>
          </p:cNvPr>
          <p:cNvSpPr>
            <a:spLocks noGrp="1"/>
          </p:cNvSpPr>
          <p:nvPr/>
        </p:nvSpPr>
        <p:spPr>
          <a:xfrm>
            <a:off x="727710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42222" lnSpcReduction="10000"/>
          </a:bodyPr>
          <a:lstStyle/>
          <a:p>
            <a:r>
              <a:t>用户｜开发者</a:t>
            </a:r>
          </a:p>
          <a:p>
            <a:r>
              <a:t>范式｜代码 / Shell</a:t>
            </a:r>
          </a:p>
          <a:p>
            <a:r>
              <a:t>边界｜工程环境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7D7090C-B895-46C1-8E74-265295F9DE71}"/>
              </a:ext>
            </a:extLst>
          </p:cNvPr>
          <p:cNvSpPr>
            <a:spLocks noGrp="1"/>
          </p:cNvSpPr>
          <p:nvPr/>
        </p:nvSpPr>
        <p:spPr>
          <a:xfrm>
            <a:off x="929640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E1F2994-A241-41AC-A0A0-8832A0CF7358}"/>
              </a:ext>
            </a:extLst>
          </p:cNvPr>
          <p:cNvSpPr>
            <a:spLocks noGrp="1"/>
          </p:cNvSpPr>
          <p:nvPr/>
        </p:nvSpPr>
        <p:spPr>
          <a:xfrm>
            <a:off x="944880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0598" lnSpcReduction="10000"/>
          </a:bodyPr>
          <a:lstStyle/>
          <a:p>
            <a:r>
              <a:t>Blocky</a:t>
            </a:r>
          </a:p>
          <a:p>
            <a:r>
              <a:t>Scratch 式 Agent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C53ED7-2762-4673-B1D7-3AD8965A0DD8}"/>
              </a:ext>
            </a:extLst>
          </p:cNvPr>
          <p:cNvSpPr>
            <a:spLocks noGrp="1"/>
          </p:cNvSpPr>
          <p:nvPr/>
        </p:nvSpPr>
        <p:spPr>
          <a:xfrm>
            <a:off x="942975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42222" lnSpcReduction="10000"/>
          </a:bodyPr>
          <a:lstStyle/>
          <a:p>
            <a:r>
              <a:t>用户｜学生 → 专业</a:t>
            </a:r>
          </a:p>
          <a:p>
            <a:r>
              <a:t>范式｜Scratch 式 Agent</a:t>
            </a:r>
          </a:p>
          <a:p>
            <a:r>
              <a:t>深度｜IR / Trace / 代码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9FD28F7F-9AB1-4D9F-9291-E09FBFEFEFBC}"/>
              </a:ext>
            </a:extLst>
          </p:cNvPr>
          <p:cNvSpPr>
            <a:spLocks noGrp="1"/>
          </p:cNvSpPr>
          <p:nvPr/>
        </p:nvSpPr>
        <p:spPr>
          <a:xfrm>
            <a:off x="1562100" y="4533900"/>
            <a:ext cx="9067800" cy="1066800"/>
          </a:xfrm>
          <a:prstGeom prst="roundRect">
            <a:avLst>
              <a:gd name="adj" fmla="val 17857"/>
            </a:avLst>
          </a:prstGeom>
          <a:solidFill>
            <a:srgbClr val="EAF2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FBA31EE-5FD9-4E8B-B02A-C5D35D3ED247}"/>
              </a:ext>
            </a:extLst>
          </p:cNvPr>
          <p:cNvSpPr>
            <a:spLocks noGrp="1"/>
          </p:cNvSpPr>
          <p:nvPr/>
        </p:nvSpPr>
        <p:spPr>
          <a:xfrm>
            <a:off x="1828800" y="4762500"/>
            <a:ext cx="8534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75" b="1" i="0">
                <a:solidFill>
                  <a:srgbClr val="FF8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Blocky 保留 Scratch 的学习曲线，补上 Agent 语义、可解释运行与专业展开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28A8729-2378-4A20-A1EE-2FBF3D7D7D34}"/>
              </a:ext>
            </a:extLst>
          </p:cNvPr>
          <p:cNvSpPr>
            <a:spLocks noGrp="1"/>
          </p:cNvSpPr>
          <p:nvPr/>
        </p:nvSpPr>
        <p:spPr>
          <a:xfrm>
            <a:off x="1828800" y="5143500"/>
            <a:ext cx="8534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竞争焦点｜谁能把第一次成功变成可解释、可复用、可升级的 Agent 创作能力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6E5C844-E2E1-463A-B081-124788438DC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98B031E-3513-477C-9387-EAA6713695DE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396D7D8-64FA-4C92-BE0C-FC36C84792DE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50101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3F8F04E4-5685-46EC-B7BF-FF503FC092B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MOAT · 可累积壁垒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FCCFBD-EC4D-495B-9570-BB048A245D84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壁垒是一条从可见语法到可逆证据的完整链路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F493F2-5172-4084-94AC-6144F45F7099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每一层都验证上一层，并把课程、适配器与项目资产沉淀到同一语言内核。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B084ED5-104D-4B3B-BA7D-6F35FC152F80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BE7AD9-2F88-4BEC-9E9A-6C8E2BE2CBCB}"/>
              </a:ext>
            </a:extLst>
          </p:cNvPr>
          <p:cNvSpPr>
            <a:spLocks noGrp="1"/>
          </p:cNvSpPr>
          <p:nvPr/>
        </p:nvSpPr>
        <p:spPr>
          <a:xfrm>
            <a:off x="8953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41301F-E876-4E53-B5B1-F226FE85931A}"/>
              </a:ext>
            </a:extLst>
          </p:cNvPr>
          <p:cNvSpPr>
            <a:spLocks noGrp="1"/>
          </p:cNvSpPr>
          <p:nvPr/>
        </p:nvSpPr>
        <p:spPr>
          <a:xfrm>
            <a:off x="8953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可见积木 AST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F20170A-1964-4746-B530-F4E1E4EF4D7E}"/>
              </a:ext>
            </a:extLst>
          </p:cNvPr>
          <p:cNvSpPr>
            <a:spLocks noGrp="1"/>
          </p:cNvSpPr>
          <p:nvPr/>
        </p:nvSpPr>
        <p:spPr>
          <a:xfrm>
            <a:off x="8953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课堂｜看见结构</a:t>
            </a:r>
          </a:p>
          <a:p>
            <a:pPr algn="l"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工程｜类型约束</a:t>
            </a:r>
          </a:p>
          <a:p>
            <a:pPr algn="l"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资产｜蓝图与积木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262643C-E4A7-4144-849B-26D585C55746}"/>
              </a:ext>
            </a:extLst>
          </p:cNvPr>
          <p:cNvSpPr>
            <a:spLocks noGrp="1"/>
          </p:cNvSpPr>
          <p:nvPr/>
        </p:nvSpPr>
        <p:spPr>
          <a:xfrm>
            <a:off x="33909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841C02-BC0E-44C6-8C20-F2749EB78096}"/>
              </a:ext>
            </a:extLst>
          </p:cNvPr>
          <p:cNvSpPr>
            <a:spLocks noGrp="1"/>
          </p:cNvSpPr>
          <p:nvPr/>
        </p:nvSpPr>
        <p:spPr>
          <a:xfrm>
            <a:off x="36004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F212ABA-CC1D-4413-A11C-66EFF83035EB}"/>
              </a:ext>
            </a:extLst>
          </p:cNvPr>
          <p:cNvSpPr>
            <a:spLocks noGrp="1"/>
          </p:cNvSpPr>
          <p:nvPr/>
        </p:nvSpPr>
        <p:spPr>
          <a:xfrm>
            <a:off x="36004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稳定 Agent IR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917920F-5001-4FBE-B984-FF8CDE84CD9B}"/>
              </a:ext>
            </a:extLst>
          </p:cNvPr>
          <p:cNvSpPr>
            <a:spLocks noGrp="1"/>
          </p:cNvSpPr>
          <p:nvPr/>
        </p:nvSpPr>
        <p:spPr>
          <a:xfrm>
            <a:off x="36004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语义｜跨界面共享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来源｜稳定映射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升级｜版本迁移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B39D476-BFC0-467D-953B-DAD47B6E173C}"/>
              </a:ext>
            </a:extLst>
          </p:cNvPr>
          <p:cNvSpPr>
            <a:spLocks noGrp="1"/>
          </p:cNvSpPr>
          <p:nvPr/>
        </p:nvSpPr>
        <p:spPr>
          <a:xfrm>
            <a:off x="60960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DBFFE6-3806-4E0B-B8B2-4849CEE10EDB}"/>
              </a:ext>
            </a:extLst>
          </p:cNvPr>
          <p:cNvSpPr>
            <a:spLocks noGrp="1"/>
          </p:cNvSpPr>
          <p:nvPr/>
        </p:nvSpPr>
        <p:spPr>
          <a:xfrm>
            <a:off x="63055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EA4E758-33B1-4B19-AC92-39FB3CD8E43C}"/>
              </a:ext>
            </a:extLst>
          </p:cNvPr>
          <p:cNvSpPr>
            <a:spLocks noGrp="1"/>
          </p:cNvSpPr>
          <p:nvPr/>
        </p:nvSpPr>
        <p:spPr>
          <a:xfrm>
            <a:off x="63055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受控 Runtime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63D6523-38D3-4000-876A-1730A7882E6A}"/>
              </a:ext>
            </a:extLst>
          </p:cNvPr>
          <p:cNvSpPr>
            <a:spLocks noGrp="1"/>
          </p:cNvSpPr>
          <p:nvPr/>
        </p:nvSpPr>
        <p:spPr>
          <a:xfrm>
            <a:off x="63055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权限｜Tool Contract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执行｜确定性边界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安全｜窄 Host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8784C53-44C1-42A2-B33A-A95ACBEBF750}"/>
              </a:ext>
            </a:extLst>
          </p:cNvPr>
          <p:cNvSpPr>
            <a:spLocks noGrp="1"/>
          </p:cNvSpPr>
          <p:nvPr/>
        </p:nvSpPr>
        <p:spPr>
          <a:xfrm>
            <a:off x="88011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ED2EAD-8316-4D07-B9D2-EF0FD529EFE1}"/>
              </a:ext>
            </a:extLst>
          </p:cNvPr>
          <p:cNvSpPr>
            <a:spLocks noGrp="1"/>
          </p:cNvSpPr>
          <p:nvPr/>
        </p:nvSpPr>
        <p:spPr>
          <a:xfrm>
            <a:off x="90106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FE2529C-D364-4829-A0AC-71E3C7BE2542}"/>
              </a:ext>
            </a:extLst>
          </p:cNvPr>
          <p:cNvSpPr>
            <a:spLocks noGrp="1"/>
          </p:cNvSpPr>
          <p:nvPr/>
        </p:nvSpPr>
        <p:spPr>
          <a:xfrm>
            <a:off x="90106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可回放 Trace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4EB2C4D-2107-42C6-974F-818DE79A7C15}"/>
              </a:ext>
            </a:extLst>
          </p:cNvPr>
          <p:cNvSpPr>
            <a:spLocks noGrp="1"/>
          </p:cNvSpPr>
          <p:nvPr/>
        </p:nvSpPr>
        <p:spPr>
          <a:xfrm>
            <a:off x="90106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证据｜事件与引用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复盘｜错误可定位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转换｜项目可逆映射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6CB4DB1-39DE-46AA-9842-ACA8ED2F9E1E}"/>
              </a:ext>
            </a:extLst>
          </p:cNvPr>
          <p:cNvSpPr>
            <a:spLocks noGrp="1"/>
          </p:cNvSpPr>
          <p:nvPr/>
        </p:nvSpPr>
        <p:spPr>
          <a:xfrm>
            <a:off x="1676400" y="5219700"/>
            <a:ext cx="8839200" cy="685800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0885AED-F686-45CE-BACD-85EAF9B1C6F7}"/>
              </a:ext>
            </a:extLst>
          </p:cNvPr>
          <p:cNvSpPr>
            <a:spLocks noGrp="1"/>
          </p:cNvSpPr>
          <p:nvPr/>
        </p:nvSpPr>
        <p:spPr>
          <a:xfrm>
            <a:off x="1905000" y="5410200"/>
            <a:ext cx="838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 i="0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三类复利资产｜Agent Language &amp; Contracts / 适配器与证据图 / 课程与社区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FF81F25-CA1D-42EA-95BF-4FA2DCB1B72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11AEA12-AB50-4D32-8FDF-96E4B5B4CC6F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15CDD87-5796-4A69-900F-7A9A60775B88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67875" y="228600"/>
            <a:ext cx="150495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898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7DFB98D4-8A9E-4310-AC05-96F1315D6B3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PLATFORM · 从教育入口扩张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EB70E22-46A8-4D3F-A933-FA5CB30DFEE0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同一语言从课堂延伸到个人创作、办公自动化与组织服务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7B9416-8927-4FDD-917D-66714D817F13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目标形态｜教育验证易学，工程内核承接复杂度，场景服务持续沉淀为可复用资产。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B99917-4785-4FF2-9985-F6BA06501A99}"/>
              </a:ext>
            </a:extLst>
          </p:cNvPr>
          <p:cNvSpPr>
            <a:spLocks noGrp="1"/>
          </p:cNvSpPr>
          <p:nvPr/>
        </p:nvSpPr>
        <p:spPr>
          <a:xfrm>
            <a:off x="2343150" y="3095625"/>
            <a:ext cx="742950" cy="38100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B5AC8B-8B9F-4695-9A04-96E9C71C918E}"/>
              </a:ext>
            </a:extLst>
          </p:cNvPr>
          <p:cNvSpPr>
            <a:spLocks noGrp="1"/>
          </p:cNvSpPr>
          <p:nvPr/>
        </p:nvSpPr>
        <p:spPr>
          <a:xfrm>
            <a:off x="2543175" y="284797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3CCDC8-7024-494D-AA95-7BFAEFB3498F}"/>
              </a:ext>
            </a:extLst>
          </p:cNvPr>
          <p:cNvSpPr>
            <a:spLocks noGrp="1"/>
          </p:cNvSpPr>
          <p:nvPr/>
        </p:nvSpPr>
        <p:spPr>
          <a:xfrm>
            <a:off x="4495800" y="3095625"/>
            <a:ext cx="742950" cy="38100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58FE4A2-B622-4C5E-AFC6-49E01F515B67}"/>
              </a:ext>
            </a:extLst>
          </p:cNvPr>
          <p:cNvSpPr>
            <a:spLocks noGrp="1"/>
          </p:cNvSpPr>
          <p:nvPr/>
        </p:nvSpPr>
        <p:spPr>
          <a:xfrm>
            <a:off x="4695825" y="284797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05E4D1E-C2BE-43FE-97BC-475FE4A6E679}"/>
              </a:ext>
            </a:extLst>
          </p:cNvPr>
          <p:cNvSpPr>
            <a:spLocks noGrp="1"/>
          </p:cNvSpPr>
          <p:nvPr/>
        </p:nvSpPr>
        <p:spPr>
          <a:xfrm>
            <a:off x="6648450" y="3095625"/>
            <a:ext cx="742950" cy="38100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D9FA4B3-0E29-4B42-9E8B-B19439EE3E86}"/>
              </a:ext>
            </a:extLst>
          </p:cNvPr>
          <p:cNvSpPr>
            <a:spLocks noGrp="1"/>
          </p:cNvSpPr>
          <p:nvPr/>
        </p:nvSpPr>
        <p:spPr>
          <a:xfrm>
            <a:off x="6848475" y="284797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0E01B1A-FBF1-410D-A8FE-40496C9C23D5}"/>
              </a:ext>
            </a:extLst>
          </p:cNvPr>
          <p:cNvSpPr>
            <a:spLocks noGrp="1"/>
          </p:cNvSpPr>
          <p:nvPr/>
        </p:nvSpPr>
        <p:spPr>
          <a:xfrm>
            <a:off x="8801100" y="3095625"/>
            <a:ext cx="742950" cy="38100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4327299-7A47-4BD8-8DDF-623868A858F8}"/>
              </a:ext>
            </a:extLst>
          </p:cNvPr>
          <p:cNvSpPr>
            <a:spLocks noGrp="1"/>
          </p:cNvSpPr>
          <p:nvPr/>
        </p:nvSpPr>
        <p:spPr>
          <a:xfrm>
            <a:off x="9001125" y="284797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1809E88-4FD6-4362-9922-851886FF0330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4A020EA-0F76-4C5F-99C3-F8E787B2D439}"/>
              </a:ext>
            </a:extLst>
          </p:cNvPr>
          <p:cNvSpPr>
            <a:spLocks noGrp="1"/>
          </p:cNvSpPr>
          <p:nvPr/>
        </p:nvSpPr>
        <p:spPr>
          <a:xfrm>
            <a:off x="83820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r>
              <a:t>积木创作
内部代码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4209DFC-0DB0-4F03-997E-ED022F5387FD}"/>
              </a:ext>
            </a:extLst>
          </p:cNvPr>
          <p:cNvSpPr>
            <a:spLocks noGrp="1"/>
          </p:cNvSpPr>
          <p:nvPr/>
        </p:nvSpPr>
        <p:spPr>
          <a:xfrm>
            <a:off x="81915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59583" lnSpcReduction="10000"/>
          </a:bodyPr>
          <a:lstStyle/>
          <a:p>
            <a:r>
              <a:t>7→12 类投影
参数 / 代码 / 回退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FE863CB-E606-406C-8E49-63E027468A18}"/>
              </a:ext>
            </a:extLst>
          </p:cNvPr>
          <p:cNvSpPr>
            <a:spLocks noGrp="1"/>
          </p:cNvSpPr>
          <p:nvPr/>
        </p:nvSpPr>
        <p:spPr>
          <a:xfrm>
            <a:off x="283845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7EBB333-8FEB-4A68-A6D7-A07BB5A5EF49}"/>
              </a:ext>
            </a:extLst>
          </p:cNvPr>
          <p:cNvSpPr>
            <a:spLocks noGrp="1"/>
          </p:cNvSpPr>
          <p:nvPr/>
        </p:nvSpPr>
        <p:spPr>
          <a:xfrm>
            <a:off x="299085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r>
              <a:t>多画布
AppSurface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0CA3A16-F7D2-4375-AD05-98B39C160E7B}"/>
              </a:ext>
            </a:extLst>
          </p:cNvPr>
          <p:cNvSpPr>
            <a:spLocks noGrp="1"/>
          </p:cNvSpPr>
          <p:nvPr/>
        </p:nvSpPr>
        <p:spPr>
          <a:xfrm>
            <a:off x="297180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59583" lnSpcReduction="10000"/>
          </a:bodyPr>
          <a:lstStyle/>
          <a:p>
            <a:r>
              <a:t>稳定引用 / 前端源码
隔离预览 / Bridge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ABBCBCB-D598-47CF-A31D-DE2AFCFB5AD4}"/>
              </a:ext>
            </a:extLst>
          </p:cNvPr>
          <p:cNvSpPr>
            <a:spLocks noGrp="1"/>
          </p:cNvSpPr>
          <p:nvPr/>
        </p:nvSpPr>
        <p:spPr>
          <a:xfrm>
            <a:off x="499110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DB15EC2-77A0-44D3-961C-3C1B64DF7D93}"/>
              </a:ext>
            </a:extLst>
          </p:cNvPr>
          <p:cNvSpPr>
            <a:spLocks noGrp="1"/>
          </p:cNvSpPr>
          <p:nvPr/>
        </p:nvSpPr>
        <p:spPr>
          <a:xfrm>
            <a:off x="514350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r>
              <a:t>办公 Agent
+ RPA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4BA4644-3DF6-4D5D-A39E-7633F3E10712}"/>
              </a:ext>
            </a:extLst>
          </p:cNvPr>
          <p:cNvSpPr>
            <a:spLocks noGrp="1"/>
          </p:cNvSpPr>
          <p:nvPr/>
        </p:nvSpPr>
        <p:spPr>
          <a:xfrm>
            <a:off x="512445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59583" lnSpcReduction="10000"/>
          </a:bodyPr>
          <a:lstStyle/>
          <a:p>
            <a:r>
              <a:t>浏览器 / 桌面 / 表格
审批 / 检查点 / 恢复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89DA042-F4B5-409E-A55D-9D81D4EE3ECA}"/>
              </a:ext>
            </a:extLst>
          </p:cNvPr>
          <p:cNvSpPr>
            <a:spLocks noGrp="1"/>
          </p:cNvSpPr>
          <p:nvPr/>
        </p:nvSpPr>
        <p:spPr>
          <a:xfrm>
            <a:off x="714375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5EA51D8-9E31-4734-9C09-B3CF40E059D5}"/>
              </a:ext>
            </a:extLst>
          </p:cNvPr>
          <p:cNvSpPr>
            <a:spLocks noGrp="1"/>
          </p:cNvSpPr>
          <p:nvPr/>
        </p:nvSpPr>
        <p:spPr>
          <a:xfrm>
            <a:off x="729615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r>
              <a:t>兼容 / CLI
4 Skills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AE9A07E-9C57-41E0-98BE-FB36F1B3427A}"/>
              </a:ext>
            </a:extLst>
          </p:cNvPr>
          <p:cNvSpPr>
            <a:spLocks noGrp="1"/>
          </p:cNvSpPr>
          <p:nvPr/>
        </p:nvSpPr>
        <p:spPr>
          <a:xfrm>
            <a:off x="727710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59583" lnSpcReduction="10000"/>
          </a:bodyPr>
          <a:lstStyle/>
          <a:p>
            <a:r>
              <a:t>Codex / OpenClaw
DeepSeek Harness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7D7090C-B895-46C1-8E74-265295F9DE71}"/>
              </a:ext>
            </a:extLst>
          </p:cNvPr>
          <p:cNvSpPr>
            <a:spLocks noGrp="1"/>
          </p:cNvSpPr>
          <p:nvPr/>
        </p:nvSpPr>
        <p:spPr>
          <a:xfrm>
            <a:off x="929640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E1F2994-A241-41AC-A0A0-8832A0CF7358}"/>
              </a:ext>
            </a:extLst>
          </p:cNvPr>
          <p:cNvSpPr>
            <a:spLocks noGrp="1"/>
          </p:cNvSpPr>
          <p:nvPr/>
        </p:nvSpPr>
        <p:spPr>
          <a:xfrm>
            <a:off x="944880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r>
              <a:t>场景服务</a:t>
            </a:r>
          </a:p>
          <a:p>
            <a:r>
              <a:t>社区与多端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C53ED7-2762-4673-B1D7-3AD8965A0DD8}"/>
              </a:ext>
            </a:extLst>
          </p:cNvPr>
          <p:cNvSpPr>
            <a:spLocks noGrp="1"/>
          </p:cNvSpPr>
          <p:nvPr/>
        </p:nvSpPr>
        <p:spPr>
          <a:xfrm>
            <a:off x="942975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59583" lnSpcReduction="10000"/>
          </a:bodyPr>
          <a:lstStyle/>
          <a:p>
            <a:r>
              <a:t>学习 / 机构 / 企业</a:t>
            </a:r>
          </a:p>
          <a:p>
            <a:r>
              <a:t>社区 / 移动 / 服务端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9FD28F7F-9AB1-4D9F-9291-E09FBFEFEFBC}"/>
              </a:ext>
            </a:extLst>
          </p:cNvPr>
          <p:cNvSpPr>
            <a:spLocks noGrp="1"/>
          </p:cNvSpPr>
          <p:nvPr/>
        </p:nvSpPr>
        <p:spPr>
          <a:xfrm>
            <a:off x="1562100" y="4533900"/>
            <a:ext cx="9067800" cy="1066800"/>
          </a:xfrm>
          <a:prstGeom prst="roundRect">
            <a:avLst>
              <a:gd name="adj" fmla="val 17857"/>
            </a:avLst>
          </a:prstGeom>
          <a:solidFill>
            <a:srgbClr val="EAF2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FBA31EE-5FD9-4E8B-B02A-C5D35D3ED247}"/>
              </a:ext>
            </a:extLst>
          </p:cNvPr>
          <p:cNvSpPr>
            <a:spLocks noGrp="1"/>
          </p:cNvSpPr>
          <p:nvPr/>
        </p:nvSpPr>
        <p:spPr>
          <a:xfrm>
            <a:off x="1828800" y="4762500"/>
            <a:ext cx="8534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75" b="1" i="0">
                <a:solidFill>
                  <a:srgbClr val="FF8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一个教育入口，四条增长路径：专业订阅 / 机构方案 / 企业服务 / 生态分发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28A8729-2378-4A20-A1EE-2FBF3D7D7D34}"/>
              </a:ext>
            </a:extLst>
          </p:cNvPr>
          <p:cNvSpPr>
            <a:spLocks noGrp="1"/>
          </p:cNvSpPr>
          <p:nvPr/>
        </p:nvSpPr>
        <p:spPr>
          <a:xfrm>
            <a:off x="1828800" y="5143500"/>
            <a:ext cx="8534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同一语义贯通桌面 / CLI / 4 Skills / 6 模板 / 机构与企业方案</a:t>
            </a:r>
          </a:p>
          <a:p>
            <a:pPr algn="ctr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每次场景共创都能沉淀为蓝图、积木、适配器或私有资产包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6E5C844-E2E1-463A-B081-124788438DC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98B031E-3513-477C-9387-EAA6713695DE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396D7D8-64FA-4C92-BE0C-FC36C84792DE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50101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B6A27B5C-FFF8-4BA6-8AA8-D1D9233B5BD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BUSINESS MODEL · 订阅 + 资产化服务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A8EE994-63C8-4810-8512-496778EA1524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订阅规模化，场景服务提升客单价并沉淀资产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78C2394-E478-4A35-ACBE-A67CFD17036C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5105400" cy="142875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FDA8FFC8-C87E-4425-842E-FF0B44101981}"/>
              </a:ext>
            </a:extLst>
          </p:cNvPr>
          <p:cNvSpPr>
            <a:spLocks noGrp="1"/>
          </p:cNvSpPr>
          <p:nvPr/>
        </p:nvSpPr>
        <p:spPr>
          <a:xfrm>
            <a:off x="914400" y="2266950"/>
            <a:ext cx="438150" cy="43815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A22C28-74B8-480B-A5F0-7E848C1209AE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1149FBD-B9E2-4937-8B71-F37ADC28A043}"/>
              </a:ext>
            </a:extLst>
          </p:cNvPr>
          <p:cNvSpPr>
            <a:spLocks noGrp="1"/>
          </p:cNvSpPr>
          <p:nvPr/>
        </p:nvSpPr>
        <p:spPr>
          <a:xfrm>
            <a:off x="1524000" y="222885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个人教育与学习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62D701-95C6-4BED-A41F-8D6A6AF6AC1F}"/>
              </a:ext>
            </a:extLst>
          </p:cNvPr>
          <p:cNvSpPr>
            <a:spLocks noGrp="1"/>
          </p:cNvSpPr>
          <p:nvPr/>
        </p:nvSpPr>
        <p:spPr>
          <a:xfrm>
            <a:off x="1524000" y="2647950"/>
            <a:ext cx="3943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4630" lnSpcReduction="10000"/>
          </a:bodyPr>
          <a:lstStyle/>
          <a:p>
            <a:r>
              <a:t>收入｜¥980 / 年</a:t>
            </a:r>
          </a:p>
          <a:p>
            <a:r>
              <a:t>成本｜模型云18% + 支付2% + 支持5%</a:t>
            </a:r>
          </a:p>
          <a:p>
            <a:r>
              <a:t>毛利目标｜≥75%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E5B7810-3F26-43BB-93A0-F55D68BF7537}"/>
              </a:ext>
            </a:extLst>
          </p:cNvPr>
          <p:cNvSpPr>
            <a:spLocks noGrp="1"/>
          </p:cNvSpPr>
          <p:nvPr/>
        </p:nvSpPr>
        <p:spPr>
          <a:xfrm>
            <a:off x="6096000" y="2000250"/>
            <a:ext cx="5105400" cy="142875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B718EFF-3796-4785-9452-469623611F10}"/>
              </a:ext>
            </a:extLst>
          </p:cNvPr>
          <p:cNvSpPr>
            <a:spLocks noGrp="1"/>
          </p:cNvSpPr>
          <p:nvPr/>
        </p:nvSpPr>
        <p:spPr>
          <a:xfrm>
            <a:off x="6324600" y="2266950"/>
            <a:ext cx="438150" cy="43815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6341AC-2841-4CC4-9481-27E550260A74}"/>
              </a:ext>
            </a:extLst>
          </p:cNvPr>
          <p:cNvSpPr>
            <a:spLocks noGrp="1"/>
          </p:cNvSpPr>
          <p:nvPr/>
        </p:nvSpPr>
        <p:spPr>
          <a:xfrm>
            <a:off x="6324600" y="23812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9382CA7-1DDC-4F08-83E5-C455DB14BABD}"/>
              </a:ext>
            </a:extLst>
          </p:cNvPr>
          <p:cNvSpPr>
            <a:spLocks noGrp="1"/>
          </p:cNvSpPr>
          <p:nvPr/>
        </p:nvSpPr>
        <p:spPr>
          <a:xfrm>
            <a:off x="6934200" y="222885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专业创作订阅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0B39A9-8513-47ED-A1BC-F37C3E47D708}"/>
              </a:ext>
            </a:extLst>
          </p:cNvPr>
          <p:cNvSpPr>
            <a:spLocks noGrp="1"/>
          </p:cNvSpPr>
          <p:nvPr/>
        </p:nvSpPr>
        <p:spPr>
          <a:xfrm>
            <a:off x="6934200" y="2647950"/>
            <a:ext cx="3943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4630" lnSpcReduction="10000"/>
          </a:bodyPr>
          <a:lstStyle/>
          <a:p>
            <a:r>
              <a:t>收入｜¥5,200 / 年</a:t>
            </a:r>
          </a:p>
          <a:p>
            <a:r>
              <a:t>成本｜模型云22% + 支付2% + 支持6%</a:t>
            </a:r>
          </a:p>
          <a:p>
            <a:r>
              <a:t>毛利目标｜≥70%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A4452A7-E5CE-4924-A445-B48DA60A6495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5105400" cy="142875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B2D7D452-E553-4345-AF90-902F7EB5B858}"/>
              </a:ext>
            </a:extLst>
          </p:cNvPr>
          <p:cNvSpPr>
            <a:spLocks noGrp="1"/>
          </p:cNvSpPr>
          <p:nvPr/>
        </p:nvSpPr>
        <p:spPr>
          <a:xfrm>
            <a:off x="914400" y="3962400"/>
            <a:ext cx="438150" cy="43815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324F0E1-6D97-4839-AE0B-76B2877E1C1B}"/>
              </a:ext>
            </a:extLst>
          </p:cNvPr>
          <p:cNvSpPr>
            <a:spLocks noGrp="1"/>
          </p:cNvSpPr>
          <p:nvPr/>
        </p:nvSpPr>
        <p:spPr>
          <a:xfrm>
            <a:off x="914400" y="407670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4753769-E44A-4AD1-B4F6-DA8F0484AE94}"/>
              </a:ext>
            </a:extLst>
          </p:cNvPr>
          <p:cNvSpPr>
            <a:spLocks noGrp="1"/>
          </p:cNvSpPr>
          <p:nvPr/>
        </p:nvSpPr>
        <p:spPr>
          <a:xfrm>
            <a:off x="1524000" y="392430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教育机构方案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50EC42B-1C31-477E-9175-1ACFD0A97C14}"/>
              </a:ext>
            </a:extLst>
          </p:cNvPr>
          <p:cNvSpPr>
            <a:spLocks noGrp="1"/>
          </p:cNvSpPr>
          <p:nvPr/>
        </p:nvSpPr>
        <p:spPr>
          <a:xfrm>
            <a:off x="1524000" y="4343400"/>
            <a:ext cx="3943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4630" lnSpcReduction="10000"/>
          </a:bodyPr>
          <a:lstStyle/>
          <a:p>
            <a:r>
              <a:t>收入｜席位 + 服务</a:t>
            </a:r>
          </a:p>
          <a:p>
            <a:r>
              <a:t>成本｜平台20% + 培训15% + 支持5%</a:t>
            </a:r>
          </a:p>
          <a:p>
            <a:r>
              <a:t>资产复用后毛利｜≥60%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A0FC9EB-61C0-4993-B35C-2BE0AF1D51BC}"/>
              </a:ext>
            </a:extLst>
          </p:cNvPr>
          <p:cNvSpPr>
            <a:spLocks noGrp="1"/>
          </p:cNvSpPr>
          <p:nvPr/>
        </p:nvSpPr>
        <p:spPr>
          <a:xfrm>
            <a:off x="6096000" y="3695700"/>
            <a:ext cx="5105400" cy="142875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E09E6542-76CB-47D0-9041-4F49CD089E5C}"/>
              </a:ext>
            </a:extLst>
          </p:cNvPr>
          <p:cNvSpPr>
            <a:spLocks noGrp="1"/>
          </p:cNvSpPr>
          <p:nvPr/>
        </p:nvSpPr>
        <p:spPr>
          <a:xfrm>
            <a:off x="6324600" y="3962400"/>
            <a:ext cx="438150" cy="43815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A926C71-5036-45B0-8D5C-FA1AA0A169D3}"/>
              </a:ext>
            </a:extLst>
          </p:cNvPr>
          <p:cNvSpPr>
            <a:spLocks noGrp="1"/>
          </p:cNvSpPr>
          <p:nvPr/>
        </p:nvSpPr>
        <p:spPr>
          <a:xfrm>
            <a:off x="6324600" y="407670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969A4BE-6C95-405D-B13D-444A3D13743F}"/>
              </a:ext>
            </a:extLst>
          </p:cNvPr>
          <p:cNvSpPr>
            <a:spLocks noGrp="1"/>
          </p:cNvSpPr>
          <p:nvPr/>
        </p:nvSpPr>
        <p:spPr>
          <a:xfrm>
            <a:off x="6934200" y="392430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企业与行业定制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1A712BE-4630-4C3A-BB09-CE74B5161B18}"/>
              </a:ext>
            </a:extLst>
          </p:cNvPr>
          <p:cNvSpPr>
            <a:spLocks noGrp="1"/>
          </p:cNvSpPr>
          <p:nvPr/>
        </p:nvSpPr>
        <p:spPr>
          <a:xfrm>
            <a:off x="6934200" y="4343400"/>
            <a:ext cx="3943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4630" lnSpcReduction="10000"/>
          </a:bodyPr>
          <a:lstStyle/>
          <a:p>
            <a:r>
              <a:t>收入｜范围与边界报价</a:t>
            </a:r>
          </a:p>
          <a:p>
            <a:r>
              <a:t>成本｜交付人天35% + 云10%</a:t>
            </a:r>
          </a:p>
          <a:p>
            <a:r>
              <a:t>私有资产复用后毛利｜≥55%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7BE1531-D33C-4A90-9B37-2141B9C0221C}"/>
              </a:ext>
            </a:extLst>
          </p:cNvPr>
          <p:cNvSpPr>
            <a:spLocks noGrp="1"/>
          </p:cNvSpPr>
          <p:nvPr/>
        </p:nvSpPr>
        <p:spPr>
          <a:xfrm>
            <a:off x="1352550" y="5562600"/>
            <a:ext cx="9486900" cy="495300"/>
          </a:xfrm>
          <a:prstGeom prst="roundRect">
            <a:avLst>
              <a:gd name="adj" fmla="val 30769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D47111A-BC8B-4568-93D9-021AC2753CC6}"/>
              </a:ext>
            </a:extLst>
          </p:cNvPr>
          <p:cNvSpPr>
            <a:spLocks noGrp="1"/>
          </p:cNvSpPr>
          <p:nvPr/>
        </p:nvSpPr>
        <p:spPr>
          <a:xfrm>
            <a:off x="1676400" y="5695950"/>
            <a:ext cx="883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定价为商业基线；机构与企业按席位、交付边界与资产复用率报价。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D1533BF-D6C7-4A7C-A78F-589AA8E1A1E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028915-1625-43AF-BAE1-77E7B4A0565B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3B49644-EB01-4511-9C5F-A6CFAC638B4A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81059" y="209550"/>
            <a:ext cx="1430931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109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B6A27B5C-FFF8-4BA6-8AA8-D1D9233B5BD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GO-TO-MARKET · 教师共创驱动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A8EE994-63C8-4810-8512-496778EA1524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教师共创与课堂证据是第一条获客路径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78C2394-E478-4A35-ACBE-A67CFD17036C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5105400" cy="142875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FDA8FFC8-C87E-4425-842E-FF0B44101981}"/>
              </a:ext>
            </a:extLst>
          </p:cNvPr>
          <p:cNvSpPr>
            <a:spLocks noGrp="1"/>
          </p:cNvSpPr>
          <p:nvPr/>
        </p:nvSpPr>
        <p:spPr>
          <a:xfrm>
            <a:off x="914400" y="2266950"/>
            <a:ext cx="438150" cy="43815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A22C28-74B8-480B-A5F0-7E848C1209AE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1149FBD-B9E2-4937-8B71-F37ADC28A043}"/>
              </a:ext>
            </a:extLst>
          </p:cNvPr>
          <p:cNvSpPr>
            <a:spLocks noGrp="1"/>
          </p:cNvSpPr>
          <p:nvPr/>
        </p:nvSpPr>
        <p:spPr>
          <a:xfrm>
            <a:off x="1524000" y="222885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课程共创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62D701-95C6-4BED-A41F-8D6A6AF6AC1F}"/>
              </a:ext>
            </a:extLst>
          </p:cNvPr>
          <p:cNvSpPr>
            <a:spLocks noGrp="1"/>
          </p:cNvSpPr>
          <p:nvPr/>
        </p:nvSpPr>
        <p:spPr>
          <a:xfrm>
            <a:off x="1524000" y="2647950"/>
            <a:ext cx="3943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4630" lnSpcReduction="10000"/>
          </a:bodyPr>
          <a:lstStyle/>
          <a:p>
            <a:r>
              <a:t>使用者｜教师 / 学生</a:t>
            </a:r>
          </a:p>
          <a:p>
            <a:r>
              <a:t>触达｜比赛 / 社群 / 高校</a:t>
            </a:r>
          </a:p>
          <a:p>
            <a:r>
              <a:t>周期｜2–4 周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E5B7810-3F26-43BB-93A0-F55D68BF7537}"/>
              </a:ext>
            </a:extLst>
          </p:cNvPr>
          <p:cNvSpPr>
            <a:spLocks noGrp="1"/>
          </p:cNvSpPr>
          <p:nvPr/>
        </p:nvSpPr>
        <p:spPr>
          <a:xfrm>
            <a:off x="6096000" y="2000250"/>
            <a:ext cx="5105400" cy="142875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B718EFF-3796-4785-9452-469623611F10}"/>
              </a:ext>
            </a:extLst>
          </p:cNvPr>
          <p:cNvSpPr>
            <a:spLocks noGrp="1"/>
          </p:cNvSpPr>
          <p:nvPr/>
        </p:nvSpPr>
        <p:spPr>
          <a:xfrm>
            <a:off x="6324600" y="2266950"/>
            <a:ext cx="438150" cy="43815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6341AC-2841-4CC4-9481-27E550260A74}"/>
              </a:ext>
            </a:extLst>
          </p:cNvPr>
          <p:cNvSpPr>
            <a:spLocks noGrp="1"/>
          </p:cNvSpPr>
          <p:nvPr/>
        </p:nvSpPr>
        <p:spPr>
          <a:xfrm>
            <a:off x="6324600" y="23812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9382CA7-1DDC-4F08-83E5-C455DB14BABD}"/>
              </a:ext>
            </a:extLst>
          </p:cNvPr>
          <p:cNvSpPr>
            <a:spLocks noGrp="1"/>
          </p:cNvSpPr>
          <p:nvPr/>
        </p:nvSpPr>
        <p:spPr>
          <a:xfrm>
            <a:off x="6934200" y="222885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课堂样板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0B39A9-8513-47ED-A1BC-F37C3E47D708}"/>
              </a:ext>
            </a:extLst>
          </p:cNvPr>
          <p:cNvSpPr>
            <a:spLocks noGrp="1"/>
          </p:cNvSpPr>
          <p:nvPr/>
        </p:nvSpPr>
        <p:spPr>
          <a:xfrm>
            <a:off x="6934200" y="2647950"/>
            <a:ext cx="3943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4630" lnSpcReduction="10000"/>
          </a:bodyPr>
          <a:lstStyle/>
          <a:p>
            <a:r>
              <a:t>证据｜作品 / 轨迹 / 引用</a:t>
            </a:r>
          </a:p>
          <a:p>
            <a:r>
              <a:t>门槛｜完成率 / 复用率</a:t>
            </a:r>
          </a:p>
          <a:p>
            <a:r>
              <a:t>周期｜4–6 课时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A4452A7-E5CE-4924-A445-B48DA60A6495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5105400" cy="142875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B2D7D452-E553-4345-AF90-902F7EB5B858}"/>
              </a:ext>
            </a:extLst>
          </p:cNvPr>
          <p:cNvSpPr>
            <a:spLocks noGrp="1"/>
          </p:cNvSpPr>
          <p:nvPr/>
        </p:nvSpPr>
        <p:spPr>
          <a:xfrm>
            <a:off x="914400" y="3962400"/>
            <a:ext cx="438150" cy="43815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324F0E1-6D97-4839-AE0B-76B2877E1C1B}"/>
              </a:ext>
            </a:extLst>
          </p:cNvPr>
          <p:cNvSpPr>
            <a:spLocks noGrp="1"/>
          </p:cNvSpPr>
          <p:nvPr/>
        </p:nvSpPr>
        <p:spPr>
          <a:xfrm>
            <a:off x="914400" y="407670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4753769-E44A-4AD1-B4F6-DA8F0484AE94}"/>
              </a:ext>
            </a:extLst>
          </p:cNvPr>
          <p:cNvSpPr>
            <a:spLocks noGrp="1"/>
          </p:cNvSpPr>
          <p:nvPr/>
        </p:nvSpPr>
        <p:spPr>
          <a:xfrm>
            <a:off x="1524000" y="392430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机构合同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50EC42B-1C31-477E-9175-1ACFD0A97C14}"/>
              </a:ext>
            </a:extLst>
          </p:cNvPr>
          <p:cNvSpPr>
            <a:spLocks noGrp="1"/>
          </p:cNvSpPr>
          <p:nvPr/>
        </p:nvSpPr>
        <p:spPr>
          <a:xfrm>
            <a:off x="1524000" y="4343400"/>
            <a:ext cx="3943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4630" lnSpcReduction="10000"/>
          </a:bodyPr>
          <a:lstStyle/>
          <a:p>
            <a:r>
              <a:t>决策者｜校方 / 教研 / 机构</a:t>
            </a:r>
          </a:p>
          <a:p>
            <a:r>
              <a:t>付费者｜学校 / 教培</a:t>
            </a:r>
          </a:p>
          <a:p>
            <a:r>
              <a:t>周期｜1–2 学期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A0FC9EB-61C0-4993-B35C-2BE0AF1D51BC}"/>
              </a:ext>
            </a:extLst>
          </p:cNvPr>
          <p:cNvSpPr>
            <a:spLocks noGrp="1"/>
          </p:cNvSpPr>
          <p:nvPr/>
        </p:nvSpPr>
        <p:spPr>
          <a:xfrm>
            <a:off x="6096000" y="3695700"/>
            <a:ext cx="5105400" cy="142875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E09E6542-76CB-47D0-9041-4F49CD089E5C}"/>
              </a:ext>
            </a:extLst>
          </p:cNvPr>
          <p:cNvSpPr>
            <a:spLocks noGrp="1"/>
          </p:cNvSpPr>
          <p:nvPr/>
        </p:nvSpPr>
        <p:spPr>
          <a:xfrm>
            <a:off x="6324600" y="3962400"/>
            <a:ext cx="438150" cy="43815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A926C71-5036-45B0-8D5C-FA1AA0A169D3}"/>
              </a:ext>
            </a:extLst>
          </p:cNvPr>
          <p:cNvSpPr>
            <a:spLocks noGrp="1"/>
          </p:cNvSpPr>
          <p:nvPr/>
        </p:nvSpPr>
        <p:spPr>
          <a:xfrm>
            <a:off x="6324600" y="407670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969A4BE-6C95-405D-B13D-444A3D13743F}"/>
              </a:ext>
            </a:extLst>
          </p:cNvPr>
          <p:cNvSpPr>
            <a:spLocks noGrp="1"/>
          </p:cNvSpPr>
          <p:nvPr/>
        </p:nvSpPr>
        <p:spPr>
          <a:xfrm>
            <a:off x="6934200" y="392430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资产放大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1A712BE-4630-4C3A-BB09-CE74B5161B18}"/>
              </a:ext>
            </a:extLst>
          </p:cNvPr>
          <p:cNvSpPr>
            <a:spLocks noGrp="1"/>
          </p:cNvSpPr>
          <p:nvPr/>
        </p:nvSpPr>
        <p:spPr>
          <a:xfrm>
            <a:off x="6934200" y="4343400"/>
            <a:ext cx="3943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4630" lnSpcReduction="10000"/>
          </a:bodyPr>
          <a:lstStyle/>
          <a:p>
            <a:r>
              <a:t>复购｜课程 / 席位 / 支持</a:t>
            </a:r>
          </a:p>
          <a:p>
            <a:r>
              <a:t>扩展｜专业 / 企业服务</a:t>
            </a:r>
          </a:p>
          <a:p>
            <a:r>
              <a:t>沉淀｜蓝图 / 私有积木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7BE1531-D33C-4A90-9B37-2141B9C0221C}"/>
              </a:ext>
            </a:extLst>
          </p:cNvPr>
          <p:cNvSpPr>
            <a:spLocks noGrp="1"/>
          </p:cNvSpPr>
          <p:nvPr/>
        </p:nvSpPr>
        <p:spPr>
          <a:xfrm>
            <a:off x="1352550" y="5562600"/>
            <a:ext cx="9486900" cy="495300"/>
          </a:xfrm>
          <a:prstGeom prst="roundRect">
            <a:avLst>
              <a:gd name="adj" fmla="val 30769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D47111A-BC8B-4568-93D9-021AC2753CC6}"/>
              </a:ext>
            </a:extLst>
          </p:cNvPr>
          <p:cNvSpPr>
            <a:spLocks noGrp="1"/>
          </p:cNvSpPr>
          <p:nvPr/>
        </p:nvSpPr>
        <p:spPr>
          <a:xfrm>
            <a:off x="1676400" y="5695950"/>
            <a:ext cx="883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比赛 / 教师社群 → 课程共创 → 课堂样板 → 机构采购 → 订阅与服务复购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D1533BF-D6C7-4A7C-A78F-589AA8E1A1E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028915-1625-43AF-BAE1-77E7B4A0565B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3B49644-EB01-4511-9C5F-A6CFAC638B4A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81059" y="209550"/>
            <a:ext cx="1430931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109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3F8F04E4-5685-46EC-B7BF-FF503FC092B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VALIDATION · 12 个月商业门槛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FCCFBD-EC4D-495B-9570-BB048A245D84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技术证据之后，四道门槛验证学习价值、采用与付费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F493F2-5172-4084-94AC-6144F45F7099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每项均标注目标样本、证据与通过条件；现有工程证据见第 5 页。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B084ED5-104D-4B3B-BA7D-6F35FC152F80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BE7AD9-2F88-4BEC-9E9A-6C8E2BE2CBCB}"/>
              </a:ext>
            </a:extLst>
          </p:cNvPr>
          <p:cNvSpPr>
            <a:spLocks noGrp="1"/>
          </p:cNvSpPr>
          <p:nvPr/>
        </p:nvSpPr>
        <p:spPr>
          <a:xfrm>
            <a:off x="8953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41301F-E876-4E53-B5B1-F226FE85931A}"/>
              </a:ext>
            </a:extLst>
          </p:cNvPr>
          <p:cNvSpPr>
            <a:spLocks noGrp="1"/>
          </p:cNvSpPr>
          <p:nvPr/>
        </p:nvSpPr>
        <p:spPr>
          <a:xfrm>
            <a:off x="8953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共创意愿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F20170A-1964-4746-B530-F4E1E4EF4D7E}"/>
              </a:ext>
            </a:extLst>
          </p:cNvPr>
          <p:cNvSpPr>
            <a:spLocks noGrp="1"/>
          </p:cNvSpPr>
          <p:nvPr/>
        </p:nvSpPr>
        <p:spPr>
          <a:xfrm>
            <a:off x="8953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样本｜20 名教师</a:t>
            </a:r>
          </a:p>
          <a:p>
            <a:pPr algn="l"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证据｜访谈 / 共创记录</a:t>
            </a:r>
          </a:p>
          <a:p>
            <a:pPr algn="l"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门槛｜≥50% 愿意试教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262643C-E4A7-4144-849B-26D585C55746}"/>
              </a:ext>
            </a:extLst>
          </p:cNvPr>
          <p:cNvSpPr>
            <a:spLocks noGrp="1"/>
          </p:cNvSpPr>
          <p:nvPr/>
        </p:nvSpPr>
        <p:spPr>
          <a:xfrm>
            <a:off x="33909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841C02-BC0E-44C6-8C20-F2749EB78096}"/>
              </a:ext>
            </a:extLst>
          </p:cNvPr>
          <p:cNvSpPr>
            <a:spLocks noGrp="1"/>
          </p:cNvSpPr>
          <p:nvPr/>
        </p:nvSpPr>
        <p:spPr>
          <a:xfrm>
            <a:off x="36004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F212ABA-CC1D-4413-A11C-66EFF83035EB}"/>
              </a:ext>
            </a:extLst>
          </p:cNvPr>
          <p:cNvSpPr>
            <a:spLocks noGrp="1"/>
          </p:cNvSpPr>
          <p:nvPr/>
        </p:nvSpPr>
        <p:spPr>
          <a:xfrm>
            <a:off x="36004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学生完成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917920F-5001-4FBE-B984-FF8CDE84CD9B}"/>
              </a:ext>
            </a:extLst>
          </p:cNvPr>
          <p:cNvSpPr>
            <a:spLocks noGrp="1"/>
          </p:cNvSpPr>
          <p:nvPr/>
        </p:nvSpPr>
        <p:spPr>
          <a:xfrm>
            <a:off x="36004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样本｜30 个课堂样板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证据｜作品 / 轨迹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门槛｜≥70% 完成项目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B39D476-BFC0-467D-953B-DAD47B6E173C}"/>
              </a:ext>
            </a:extLst>
          </p:cNvPr>
          <p:cNvSpPr>
            <a:spLocks noGrp="1"/>
          </p:cNvSpPr>
          <p:nvPr/>
        </p:nvSpPr>
        <p:spPr>
          <a:xfrm>
            <a:off x="60960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DBFFE6-3806-4E0B-B8B2-4849CEE10EDB}"/>
              </a:ext>
            </a:extLst>
          </p:cNvPr>
          <p:cNvSpPr>
            <a:spLocks noGrp="1"/>
          </p:cNvSpPr>
          <p:nvPr/>
        </p:nvSpPr>
        <p:spPr>
          <a:xfrm>
            <a:off x="63055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EA4E758-33B1-4B19-AC92-39FB3CD8E43C}"/>
              </a:ext>
            </a:extLst>
          </p:cNvPr>
          <p:cNvSpPr>
            <a:spLocks noGrp="1"/>
          </p:cNvSpPr>
          <p:nvPr/>
        </p:nvSpPr>
        <p:spPr>
          <a:xfrm>
            <a:off x="63055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教师复用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63D6523-38D3-4000-876A-1730A7882E6A}"/>
              </a:ext>
            </a:extLst>
          </p:cNvPr>
          <p:cNvSpPr>
            <a:spLocks noGrp="1"/>
          </p:cNvSpPr>
          <p:nvPr/>
        </p:nvSpPr>
        <p:spPr>
          <a:xfrm>
            <a:off x="63055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样本｜参与试教教师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证据｜二次开课记录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门槛｜≥50% 再次使用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8784C53-44C1-42A2-B33A-A95ACBEBF750}"/>
              </a:ext>
            </a:extLst>
          </p:cNvPr>
          <p:cNvSpPr>
            <a:spLocks noGrp="1"/>
          </p:cNvSpPr>
          <p:nvPr/>
        </p:nvSpPr>
        <p:spPr>
          <a:xfrm>
            <a:off x="88011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ED2EAD-8316-4D07-B9D2-EF0FD529EFE1}"/>
              </a:ext>
            </a:extLst>
          </p:cNvPr>
          <p:cNvSpPr>
            <a:spLocks noGrp="1"/>
          </p:cNvSpPr>
          <p:nvPr/>
        </p:nvSpPr>
        <p:spPr>
          <a:xfrm>
            <a:off x="90106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FE2529C-D364-4829-A0AC-71E3C7BE2542}"/>
              </a:ext>
            </a:extLst>
          </p:cNvPr>
          <p:cNvSpPr>
            <a:spLocks noGrp="1"/>
          </p:cNvSpPr>
          <p:nvPr/>
        </p:nvSpPr>
        <p:spPr>
          <a:xfrm>
            <a:off x="90106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采购承诺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4EB2C4D-2107-42C6-974F-818DE79A7C15}"/>
              </a:ext>
            </a:extLst>
          </p:cNvPr>
          <p:cNvSpPr>
            <a:spLocks noGrp="1"/>
          </p:cNvSpPr>
          <p:nvPr/>
        </p:nvSpPr>
        <p:spPr>
          <a:xfrm>
            <a:off x="90106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样本｜教育机构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证据｜预算流程 / 试点意向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门槛｜≥5 家付费试点或订金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6CB4DB1-39DE-46AA-9842-ACA8ED2F9E1E}"/>
              </a:ext>
            </a:extLst>
          </p:cNvPr>
          <p:cNvSpPr>
            <a:spLocks noGrp="1"/>
          </p:cNvSpPr>
          <p:nvPr/>
        </p:nvSpPr>
        <p:spPr>
          <a:xfrm>
            <a:off x="1676400" y="5219700"/>
            <a:ext cx="8839200" cy="685800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0885AED-F686-45CE-BACD-85EAF9B1C6F7}"/>
              </a:ext>
            </a:extLst>
          </p:cNvPr>
          <p:cNvSpPr>
            <a:spLocks noGrp="1"/>
          </p:cNvSpPr>
          <p:nvPr/>
        </p:nvSpPr>
        <p:spPr>
          <a:xfrm>
            <a:off x="1905000" y="5410200"/>
            <a:ext cx="838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 i="0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学习价值看作品与证据；商业价值看复用、采购动作与付费转化。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FF81F25-CA1D-42EA-95BF-4FA2DCB1B72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11AEA12-AB50-4D32-8FDF-96E4B5B4CC6F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15CDD87-5796-4A69-900F-7A9A60775B88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67875" y="228600"/>
            <a:ext cx="150495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898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22387266-2A32-4DAA-B660-5E5EABCE394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TEAM · 可复核执行力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8F1EAF-E370-4FDB-93A0-A8A1C5371AAC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创始人主导产品与 Agent 工程，18 个月按 3 人核心团队配置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308558F-8F1D-45F1-B8C2-D2DFAE8A730F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当前角色｜项目发起人、产品与 Agent 工程负责人；Technical Spike / Contract Baseline 可复核。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341ACDB7-70DB-42B5-9BF7-1EC316D90871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5257800" cy="3886200"/>
          </a:xfrm>
          <a:prstGeom prst="roundRect">
            <a:avLst>
              <a:gd name="adj" fmla="val 5392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910B61B-741F-4A50-9E91-8504EE4D57AF}"/>
              </a:ext>
            </a:extLst>
          </p:cNvPr>
          <p:cNvSpPr>
            <a:spLocks noGrp="1"/>
          </p:cNvSpPr>
          <p:nvPr/>
        </p:nvSpPr>
        <p:spPr>
          <a:xfrm>
            <a:off x="933450" y="2152650"/>
            <a:ext cx="28575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1B3B13-0F03-4E53-89EB-30E7EAD81129}"/>
              </a:ext>
            </a:extLst>
          </p:cNvPr>
          <p:cNvSpPr>
            <a:spLocks noGrp="1"/>
          </p:cNvSpPr>
          <p:nvPr/>
        </p:nvSpPr>
        <p:spPr>
          <a:xfrm>
            <a:off x="1028700" y="2219325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rPr>
              <a:t>创始人 / 产品与 Agent 工程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C8F19B-7745-4186-8A85-EDA802BFDFAF}"/>
              </a:ext>
            </a:extLst>
          </p:cNvPr>
          <p:cNvSpPr>
            <a:spLocks noGrp="1"/>
          </p:cNvSpPr>
          <p:nvPr/>
        </p:nvSpPr>
        <p:spPr>
          <a:xfrm>
            <a:off x="990600" y="2724150"/>
            <a:ext cx="4648200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身份｜Blocky Studio 项目发起人</a:t>
            </a:r>
          </a:p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当前职责｜产品、Agent 语言、工程地基</a:t>
            </a:r>
          </a:p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Proof｜Windows Core Technical Spike / Contract Baseline</a:t>
            </a:r>
          </a:p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资产｜完整产品设计地图 / 6 ADR / 21 Schema</a:t>
            </a:r>
          </a:p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优势｜把复杂 Agent 语义变成可学习产品</a:t>
            </a:r>
          </a:p>
          <a:p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考核｜正式产品、课堂样板、付费席位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B65E33F-B2AF-4819-8F01-A9FD68E3AE32}"/>
              </a:ext>
            </a:extLst>
          </p:cNvPr>
          <p:cNvSpPr>
            <a:spLocks noGrp="1"/>
          </p:cNvSpPr>
          <p:nvPr/>
        </p:nvSpPr>
        <p:spPr>
          <a:xfrm>
            <a:off x="6248400" y="1924050"/>
            <a:ext cx="5257800" cy="3886200"/>
          </a:xfrm>
          <a:prstGeom prst="roundRect">
            <a:avLst>
              <a:gd name="adj" fmla="val 5392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E365F07-950A-4D07-A025-90EE487382F4}"/>
              </a:ext>
            </a:extLst>
          </p:cNvPr>
          <p:cNvSpPr>
            <a:spLocks noGrp="1"/>
          </p:cNvSpPr>
          <p:nvPr/>
        </p:nvSpPr>
        <p:spPr>
          <a:xfrm>
            <a:off x="6496050" y="2152650"/>
            <a:ext cx="28575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222E42-B3B5-4113-8A95-7228B5B7F097}"/>
              </a:ext>
            </a:extLst>
          </p:cNvPr>
          <p:cNvSpPr>
            <a:spLocks noGrp="1"/>
          </p:cNvSpPr>
          <p:nvPr/>
        </p:nvSpPr>
        <p:spPr>
          <a:xfrm>
            <a:off x="6591300" y="2219325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18 个月核心配置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F7811E7-D896-4913-B268-3DD1943B29F5}"/>
              </a:ext>
            </a:extLst>
          </p:cNvPr>
          <p:cNvSpPr>
            <a:spLocks noGrp="1"/>
          </p:cNvSpPr>
          <p:nvPr/>
        </p:nvSpPr>
        <p:spPr>
          <a:xfrm>
            <a:off x="6553200" y="2724150"/>
            <a:ext cx="4648200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01 </a:t>
            </a:r>
            <a:r>
              <a:rPr sz="1275" b="0" i="0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创始人｜产品与</a:t>
            </a:r>
            <a:r>
              <a:rPr sz="1275" b="0" i="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Agent </a:t>
            </a:r>
            <a:r>
              <a:rPr sz="1275" b="0" i="0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工程</a:t>
            </a:r>
            <a:endParaRPr sz="1275" b="0" i="0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02 </a:t>
            </a:r>
            <a:r>
              <a:rPr sz="1275" b="0" i="0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工程招聘｜桌面与运行基础设施</a:t>
            </a:r>
            <a:endParaRPr sz="1275" b="0" i="0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03 </a:t>
            </a:r>
            <a:r>
              <a:rPr sz="1275" b="0" i="0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商业招聘｜教育产品与机构合作</a:t>
            </a:r>
            <a:endParaRPr sz="1275" b="0" i="0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顾问网络｜教师</a:t>
            </a:r>
            <a:r>
              <a:rPr sz="1275" b="0" i="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275" b="0" i="0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教研</a:t>
            </a:r>
            <a:r>
              <a:rPr sz="1275" b="0" i="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275" b="0" i="0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合规</a:t>
            </a:r>
            <a:endParaRPr sz="1275" b="0" i="0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6 </a:t>
            </a:r>
            <a:r>
              <a:rPr sz="1275" b="0" i="0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月考核｜产品闭环</a:t>
            </a:r>
            <a:r>
              <a:rPr sz="1275" b="0" i="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+ 20 </a:t>
            </a:r>
            <a:r>
              <a:rPr sz="1275" b="0" i="0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名共创教师</a:t>
            </a:r>
            <a:endParaRPr sz="1275" b="0" i="0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18 月考核｜920 </a:t>
            </a:r>
            <a:r>
              <a:rPr sz="1275" b="0" i="0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教育席</a:t>
            </a:r>
            <a:r>
              <a:rPr sz="1275" b="0" i="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 + 100 </a:t>
            </a:r>
            <a:r>
              <a:rPr sz="1275" b="0" i="0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专业订阅</a:t>
            </a:r>
            <a:endParaRPr sz="1275" b="0" i="0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236E84C-0488-46CA-AE0D-E70BA935F96B}"/>
              </a:ext>
            </a:extLst>
          </p:cNvPr>
          <p:cNvSpPr>
            <a:spLocks noGrp="1"/>
          </p:cNvSpPr>
          <p:nvPr/>
        </p:nvSpPr>
        <p:spPr>
          <a:xfrm>
            <a:off x="6553200" y="5219700"/>
            <a:ext cx="4648200" cy="32385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351F7CB-5C7D-4222-A237-0CBB7F6ED549}"/>
              </a:ext>
            </a:extLst>
          </p:cNvPr>
          <p:cNvSpPr>
            <a:spLocks noGrp="1"/>
          </p:cNvSpPr>
          <p:nvPr/>
        </p:nvSpPr>
        <p:spPr>
          <a:xfrm>
            <a:off x="6648450" y="5286375"/>
            <a:ext cx="4457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本轮｜新增 2 个核心岗位 + 教育 / 教研 / 合规合作网络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128B773-2B04-44AF-B2B3-BA8929F4D09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CB40E5D-88E5-46E2-AEF4-2A8359C6C003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B7AF61F-E60E-4BA3-B5A8-4BF88AFAFDC8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21" name="Unified left evidence conclusion">
            <a:extLst>
              <a:ext uri="{FF2B5EF4-FFF2-40B4-BE49-F238E27FC236}">
                <a16:creationId xmlns:a16="http://schemas.microsoft.com/office/drawing/2014/main" id="{EFACA68A-A9A1-4F5A-99A6-DD4693702EF1}"/>
              </a:ext>
            </a:extLst>
          </p:cNvPr>
          <p:cNvSpPr>
            <a:spLocks noGrp="1"/>
          </p:cNvSpPr>
          <p:nvPr/>
        </p:nvSpPr>
        <p:spPr>
          <a:xfrm>
            <a:off x="990600" y="5219700"/>
            <a:ext cx="4648200" cy="323850"/>
          </a:xfrm>
          <a:prstGeom prst="roundRect">
            <a:avLst>
              <a:gd name="adj" fmla="val 35294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现有｜创始人主导 + Runtime Core Spike + 可复核工程资产</a:t>
            </a:r>
          </a:p>
        </p:txBody>
      </p:sp>
    </p:spTree>
    <p:extLst>
      <p:ext uri="{BB962C8B-B14F-4D97-AF65-F5344CB8AC3E}">
        <p14:creationId xmlns:p14="http://schemas.microsoft.com/office/powerpoint/2010/main" val="831750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B6A27B5C-FFF8-4BA6-8AA8-D1D9233B5BD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FINANCIALS · 三年基准情景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A8EE994-63C8-4810-8512-496778EA1524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从课堂验证、机构复制走向经营现金转正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78C2394-E478-4A35-ACBE-A67CFD17036C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5105400" cy="142875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FDA8FFC8-C87E-4425-842E-FF0B44101981}"/>
              </a:ext>
            </a:extLst>
          </p:cNvPr>
          <p:cNvSpPr>
            <a:spLocks noGrp="1"/>
          </p:cNvSpPr>
          <p:nvPr/>
        </p:nvSpPr>
        <p:spPr>
          <a:xfrm>
            <a:off x="914400" y="2266950"/>
            <a:ext cx="438150" cy="43815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A22C28-74B8-480B-A5F0-7E848C1209AE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1149FBD-B9E2-4937-8B71-F37ADC28A043}"/>
              </a:ext>
            </a:extLst>
          </p:cNvPr>
          <p:cNvSpPr>
            <a:spLocks noGrp="1"/>
          </p:cNvSpPr>
          <p:nvPr/>
        </p:nvSpPr>
        <p:spPr>
          <a:xfrm>
            <a:off x="1524000" y="222885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Y1 · 课堂验证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62D701-95C6-4BED-A41F-8D6A6AF6AC1F}"/>
              </a:ext>
            </a:extLst>
          </p:cNvPr>
          <p:cNvSpPr>
            <a:spLocks noGrp="1"/>
          </p:cNvSpPr>
          <p:nvPr/>
        </p:nvSpPr>
        <p:spPr>
          <a:xfrm>
            <a:off x="1524000" y="2647950"/>
            <a:ext cx="3943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4630" lnSpcReduction="10000"/>
          </a:bodyPr>
          <a:lstStyle/>
          <a:p>
            <a:r>
              <a:t>教育 / 专业｜120 / 20</a:t>
            </a:r>
          </a:p>
          <a:p>
            <a:r>
              <a:t>订阅收入｜¥22 万</a:t>
            </a:r>
          </a:p>
          <a:p>
            <a:r>
              <a:t>综合毛利｜60%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E5B7810-3F26-43BB-93A0-F55D68BF7537}"/>
              </a:ext>
            </a:extLst>
          </p:cNvPr>
          <p:cNvSpPr>
            <a:spLocks noGrp="1"/>
          </p:cNvSpPr>
          <p:nvPr/>
        </p:nvSpPr>
        <p:spPr>
          <a:xfrm>
            <a:off x="6096000" y="2000250"/>
            <a:ext cx="5105400" cy="142875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B718EFF-3796-4785-9452-469623611F10}"/>
              </a:ext>
            </a:extLst>
          </p:cNvPr>
          <p:cNvSpPr>
            <a:spLocks noGrp="1"/>
          </p:cNvSpPr>
          <p:nvPr/>
        </p:nvSpPr>
        <p:spPr>
          <a:xfrm>
            <a:off x="6324600" y="2266950"/>
            <a:ext cx="438150" cy="43815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6341AC-2841-4CC4-9481-27E550260A74}"/>
              </a:ext>
            </a:extLst>
          </p:cNvPr>
          <p:cNvSpPr>
            <a:spLocks noGrp="1"/>
          </p:cNvSpPr>
          <p:nvPr/>
        </p:nvSpPr>
        <p:spPr>
          <a:xfrm>
            <a:off x="6324600" y="23812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9382CA7-1DDC-4F08-83E5-C455DB14BABD}"/>
              </a:ext>
            </a:extLst>
          </p:cNvPr>
          <p:cNvSpPr>
            <a:spLocks noGrp="1"/>
          </p:cNvSpPr>
          <p:nvPr/>
        </p:nvSpPr>
        <p:spPr>
          <a:xfrm>
            <a:off x="6934200" y="222885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Y2 · 机构复制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0B39A9-8513-47ED-A1BC-F37C3E47D708}"/>
              </a:ext>
            </a:extLst>
          </p:cNvPr>
          <p:cNvSpPr>
            <a:spLocks noGrp="1"/>
          </p:cNvSpPr>
          <p:nvPr/>
        </p:nvSpPr>
        <p:spPr>
          <a:xfrm>
            <a:off x="6934200" y="2647950"/>
            <a:ext cx="3943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4630" lnSpcReduction="10000"/>
          </a:bodyPr>
          <a:lstStyle/>
          <a:p>
            <a:r>
              <a:t>教育 / 专业｜920 / 100</a:t>
            </a:r>
          </a:p>
          <a:p>
            <a:r>
              <a:t>订阅收入｜¥142 万</a:t>
            </a:r>
          </a:p>
          <a:p>
            <a:r>
              <a:t>综合毛利｜68%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A4452A7-E5CE-4924-A445-B48DA60A6495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5105400" cy="142875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B2D7D452-E553-4345-AF90-902F7EB5B858}"/>
              </a:ext>
            </a:extLst>
          </p:cNvPr>
          <p:cNvSpPr>
            <a:spLocks noGrp="1"/>
          </p:cNvSpPr>
          <p:nvPr/>
        </p:nvSpPr>
        <p:spPr>
          <a:xfrm>
            <a:off x="914400" y="3962400"/>
            <a:ext cx="438150" cy="43815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324F0E1-6D97-4839-AE0B-76B2877E1C1B}"/>
              </a:ext>
            </a:extLst>
          </p:cNvPr>
          <p:cNvSpPr>
            <a:spLocks noGrp="1"/>
          </p:cNvSpPr>
          <p:nvPr/>
        </p:nvSpPr>
        <p:spPr>
          <a:xfrm>
            <a:off x="914400" y="407670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4753769-E44A-4AD1-B4F6-DA8F0484AE94}"/>
              </a:ext>
            </a:extLst>
          </p:cNvPr>
          <p:cNvSpPr>
            <a:spLocks noGrp="1"/>
          </p:cNvSpPr>
          <p:nvPr/>
        </p:nvSpPr>
        <p:spPr>
          <a:xfrm>
            <a:off x="1524000" y="392430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Y3 · 规模增长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50EC42B-1C31-477E-9175-1ACFD0A97C14}"/>
              </a:ext>
            </a:extLst>
          </p:cNvPr>
          <p:cNvSpPr>
            <a:spLocks noGrp="1"/>
          </p:cNvSpPr>
          <p:nvPr/>
        </p:nvSpPr>
        <p:spPr>
          <a:xfrm>
            <a:off x="1524000" y="4343400"/>
            <a:ext cx="3943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4630" lnSpcReduction="10000"/>
          </a:bodyPr>
          <a:lstStyle/>
          <a:p>
            <a:r>
              <a:t>教育 / 专业｜5,000 / 500</a:t>
            </a:r>
          </a:p>
          <a:p>
            <a:r>
              <a:t>订阅收入｜¥750 万</a:t>
            </a:r>
          </a:p>
          <a:p>
            <a:r>
              <a:t>综合毛利｜72%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A0FC9EB-61C0-4993-B35C-2BE0AF1D51BC}"/>
              </a:ext>
            </a:extLst>
          </p:cNvPr>
          <p:cNvSpPr>
            <a:spLocks noGrp="1"/>
          </p:cNvSpPr>
          <p:nvPr/>
        </p:nvSpPr>
        <p:spPr>
          <a:xfrm>
            <a:off x="6096000" y="3695700"/>
            <a:ext cx="5105400" cy="142875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E09E6542-76CB-47D0-9041-4F49CD089E5C}"/>
              </a:ext>
            </a:extLst>
          </p:cNvPr>
          <p:cNvSpPr>
            <a:spLocks noGrp="1"/>
          </p:cNvSpPr>
          <p:nvPr/>
        </p:nvSpPr>
        <p:spPr>
          <a:xfrm>
            <a:off x="6324600" y="3962400"/>
            <a:ext cx="438150" cy="43815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A926C71-5036-45B0-8D5C-FA1AA0A169D3}"/>
              </a:ext>
            </a:extLst>
          </p:cNvPr>
          <p:cNvSpPr>
            <a:spLocks noGrp="1"/>
          </p:cNvSpPr>
          <p:nvPr/>
        </p:nvSpPr>
        <p:spPr>
          <a:xfrm>
            <a:off x="6324600" y="407670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969A4BE-6C95-405D-B13D-444A3D13743F}"/>
              </a:ext>
            </a:extLst>
          </p:cNvPr>
          <p:cNvSpPr>
            <a:spLocks noGrp="1"/>
          </p:cNvSpPr>
          <p:nvPr/>
        </p:nvSpPr>
        <p:spPr>
          <a:xfrm>
            <a:off x="6934200" y="392430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现金路径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1A712BE-4630-4C3A-BB09-CE74B5161B18}"/>
              </a:ext>
            </a:extLst>
          </p:cNvPr>
          <p:cNvSpPr>
            <a:spLocks noGrp="1"/>
          </p:cNvSpPr>
          <p:nvPr/>
        </p:nvSpPr>
        <p:spPr>
          <a:xfrm>
            <a:off x="6934200" y="4343400"/>
            <a:ext cx="3943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4630" lnSpcReduction="10000"/>
          </a:bodyPr>
          <a:lstStyle/>
          <a:p>
            <a:r>
              <a:t>团队与运营｜200 / 250 / 450 万</a:t>
            </a:r>
          </a:p>
          <a:p>
            <a:r>
              <a:t>年度现金结果｜-187 / -153 / +90 万</a:t>
            </a:r>
          </a:p>
          <a:p>
            <a:r>
              <a:t>造血触发｜Y3 经营现金转正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7BE1531-D33C-4A90-9B37-2141B9C0221C}"/>
              </a:ext>
            </a:extLst>
          </p:cNvPr>
          <p:cNvSpPr>
            <a:spLocks noGrp="1"/>
          </p:cNvSpPr>
          <p:nvPr/>
        </p:nvSpPr>
        <p:spPr>
          <a:xfrm>
            <a:off x="1352550" y="5562600"/>
            <a:ext cx="9486900" cy="495300"/>
          </a:xfrm>
          <a:prstGeom prst="roundRect">
            <a:avLst>
              <a:gd name="adj" fmla="val 30769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D47111A-BC8B-4568-93D9-021AC2753CC6}"/>
              </a:ext>
            </a:extLst>
          </p:cNvPr>
          <p:cNvSpPr>
            <a:spLocks noGrp="1"/>
          </p:cNvSpPr>
          <p:nvPr/>
        </p:nvSpPr>
        <p:spPr>
          <a:xfrm>
            <a:off x="1676400" y="5695950"/>
            <a:ext cx="883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计划口径｜以下为测算，不代表已实现收入；订阅收入不含机构与企业服务。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D1533BF-D6C7-4A7C-A78F-589AA8E1A1E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028915-1625-43AF-BAE1-77E7B4A0565B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3B49644-EB01-4511-9C5F-A6CFAC638B4A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81059" y="209550"/>
            <a:ext cx="1430931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109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3F8F04E4-5685-46EC-B7BF-FF503FC092B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RESOURCE PLAN · 18 个月投入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FCCFBD-EC4D-495B-9570-BB048A245D84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18 个月用三段里程碑把 300 万转成付费席位与机构复制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F493F2-5172-4084-94AC-6144F45F7099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核心团队、月度投入、6 个月门槛和下一融资 / 自我造血触发均可检查。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B084ED5-104D-4B3B-BA7D-6F35FC152F80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BE7AD9-2F88-4BEC-9E9A-6C8E2BE2CBCB}"/>
              </a:ext>
            </a:extLst>
          </p:cNvPr>
          <p:cNvSpPr>
            <a:spLocks noGrp="1"/>
          </p:cNvSpPr>
          <p:nvPr/>
        </p:nvSpPr>
        <p:spPr>
          <a:xfrm>
            <a:off x="8953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41301F-E876-4E53-B5B1-F226FE85931A}"/>
              </a:ext>
            </a:extLst>
          </p:cNvPr>
          <p:cNvSpPr>
            <a:spLocks noGrp="1"/>
          </p:cNvSpPr>
          <p:nvPr/>
        </p:nvSpPr>
        <p:spPr>
          <a:xfrm>
            <a:off x="8953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产品 + 团队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F20170A-1964-4746-B530-F4E1E4EF4D7E}"/>
              </a:ext>
            </a:extLst>
          </p:cNvPr>
          <p:cNvSpPr>
            <a:spLocks noGrp="1"/>
          </p:cNvSpPr>
          <p:nvPr/>
        </p:nvSpPr>
        <p:spPr>
          <a:xfrm>
            <a:off x="8953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0417" lnSpcReduction="10000"/>
          </a:bodyPr>
          <a:lstStyle/>
          <a:p>
            <a:r>
              <a:t>1–6 月</a:t>
            </a:r>
          </a:p>
          <a:p>
            <a:r>
              <a:t>3 人核心配置</a:t>
            </a:r>
          </a:p>
          <a:p>
            <a:r>
              <a:t>正式产品闭环</a:t>
            </a:r>
          </a:p>
          <a:p>
            <a:r>
              <a:t>20 名共创教师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262643C-E4A7-4144-849B-26D585C55746}"/>
              </a:ext>
            </a:extLst>
          </p:cNvPr>
          <p:cNvSpPr>
            <a:spLocks noGrp="1"/>
          </p:cNvSpPr>
          <p:nvPr/>
        </p:nvSpPr>
        <p:spPr>
          <a:xfrm>
            <a:off x="33909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841C02-BC0E-44C6-8C20-F2749EB78096}"/>
              </a:ext>
            </a:extLst>
          </p:cNvPr>
          <p:cNvSpPr>
            <a:spLocks noGrp="1"/>
          </p:cNvSpPr>
          <p:nvPr/>
        </p:nvSpPr>
        <p:spPr>
          <a:xfrm>
            <a:off x="36004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F212ABA-CC1D-4413-A11C-66EFF83035EB}"/>
              </a:ext>
            </a:extLst>
          </p:cNvPr>
          <p:cNvSpPr>
            <a:spLocks noGrp="1"/>
          </p:cNvSpPr>
          <p:nvPr/>
        </p:nvSpPr>
        <p:spPr>
          <a:xfrm>
            <a:off x="36004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课堂 + 试点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917920F-5001-4FBE-B984-FF8CDE84CD9B}"/>
              </a:ext>
            </a:extLst>
          </p:cNvPr>
          <p:cNvSpPr>
            <a:spLocks noGrp="1"/>
          </p:cNvSpPr>
          <p:nvPr/>
        </p:nvSpPr>
        <p:spPr>
          <a:xfrm>
            <a:off x="36004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0417" lnSpcReduction="10000"/>
          </a:bodyPr>
          <a:lstStyle/>
          <a:p>
            <a:r>
              <a:t>7–12 月</a:t>
            </a:r>
          </a:p>
          <a:p>
            <a:r>
              <a:t>30 个课堂样板</a:t>
            </a:r>
          </a:p>
          <a:p>
            <a:r>
              <a:t>≥70% 项目完成率</a:t>
            </a:r>
          </a:p>
          <a:p>
            <a:r>
              <a:t>≥5 家付费试点 / 订金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B39D476-BFC0-467D-953B-DAD47B6E173C}"/>
              </a:ext>
            </a:extLst>
          </p:cNvPr>
          <p:cNvSpPr>
            <a:spLocks noGrp="1"/>
          </p:cNvSpPr>
          <p:nvPr/>
        </p:nvSpPr>
        <p:spPr>
          <a:xfrm>
            <a:off x="60960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DBFFE6-3806-4E0B-B8B2-4849CEE10EDB}"/>
              </a:ext>
            </a:extLst>
          </p:cNvPr>
          <p:cNvSpPr>
            <a:spLocks noGrp="1"/>
          </p:cNvSpPr>
          <p:nvPr/>
        </p:nvSpPr>
        <p:spPr>
          <a:xfrm>
            <a:off x="63055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EA4E758-33B1-4B19-AC92-39FB3CD8E43C}"/>
              </a:ext>
            </a:extLst>
          </p:cNvPr>
          <p:cNvSpPr>
            <a:spLocks noGrp="1"/>
          </p:cNvSpPr>
          <p:nvPr/>
        </p:nvSpPr>
        <p:spPr>
          <a:xfrm>
            <a:off x="63055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机构复制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63D6523-38D3-4000-876A-1730A7882E6A}"/>
              </a:ext>
            </a:extLst>
          </p:cNvPr>
          <p:cNvSpPr>
            <a:spLocks noGrp="1"/>
          </p:cNvSpPr>
          <p:nvPr/>
        </p:nvSpPr>
        <p:spPr>
          <a:xfrm>
            <a:off x="63055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0417" lnSpcReduction="10000"/>
          </a:bodyPr>
          <a:lstStyle/>
          <a:p>
            <a:r>
              <a:t>13–18 月</a:t>
            </a:r>
          </a:p>
          <a:p>
            <a:r>
              <a:t>10 家机构 × 80 席</a:t>
            </a:r>
          </a:p>
          <a:p>
            <a:r>
              <a:t>120 个个人教育订阅</a:t>
            </a:r>
          </a:p>
          <a:p>
            <a:r>
              <a:t>100 个专业订阅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8784C53-44C1-42A2-B33A-A95ACBEBF750}"/>
              </a:ext>
            </a:extLst>
          </p:cNvPr>
          <p:cNvSpPr>
            <a:spLocks noGrp="1"/>
          </p:cNvSpPr>
          <p:nvPr/>
        </p:nvSpPr>
        <p:spPr>
          <a:xfrm>
            <a:off x="88011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ED2EAD-8316-4D07-B9D2-EF0FD529EFE1}"/>
              </a:ext>
            </a:extLst>
          </p:cNvPr>
          <p:cNvSpPr>
            <a:spLocks noGrp="1"/>
          </p:cNvSpPr>
          <p:nvPr/>
        </p:nvSpPr>
        <p:spPr>
          <a:xfrm>
            <a:off x="90106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现金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FE2529C-D364-4829-A0AC-71E3C7BE2542}"/>
              </a:ext>
            </a:extLst>
          </p:cNvPr>
          <p:cNvSpPr>
            <a:spLocks noGrp="1"/>
          </p:cNvSpPr>
          <p:nvPr/>
        </p:nvSpPr>
        <p:spPr>
          <a:xfrm>
            <a:off x="90106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资金纪律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4EB2C4D-2107-42C6-974F-818DE79A7C15}"/>
              </a:ext>
            </a:extLst>
          </p:cNvPr>
          <p:cNvSpPr>
            <a:spLocks noGrp="1"/>
          </p:cNvSpPr>
          <p:nvPr/>
        </p:nvSpPr>
        <p:spPr>
          <a:xfrm>
            <a:off x="90106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0417" lnSpcReduction="10000"/>
          </a:bodyPr>
          <a:lstStyle/>
          <a:p>
            <a:r>
              <a:t>¥300 万 / 18 个月</a:t>
            </a:r>
          </a:p>
          <a:p>
            <a:r>
              <a:t>平均月度投入 ¥16.7 万</a:t>
            </a:r>
          </a:p>
          <a:p>
            <a:r>
              <a:t>下一触发｜920 教育席 + 100 专业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6CB4DB1-39DE-46AA-9842-ACA8ED2F9E1E}"/>
              </a:ext>
            </a:extLst>
          </p:cNvPr>
          <p:cNvSpPr>
            <a:spLocks noGrp="1"/>
          </p:cNvSpPr>
          <p:nvPr/>
        </p:nvSpPr>
        <p:spPr>
          <a:xfrm>
            <a:off x="1676400" y="5219700"/>
            <a:ext cx="8839200" cy="685800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0885AED-F686-45CE-BACD-85EAF9B1C6F7}"/>
              </a:ext>
            </a:extLst>
          </p:cNvPr>
          <p:cNvSpPr>
            <a:spLocks noGrp="1"/>
          </p:cNvSpPr>
          <p:nvPr/>
        </p:nvSpPr>
        <p:spPr>
          <a:xfrm>
            <a:off x="1905000" y="5410200"/>
            <a:ext cx="838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 i="0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下一轮 / 自我造血触发｜付费试点 → 920 教育席 + 100 专业订阅 → Y3 经营现金转正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FF81F25-CA1D-42EA-95BF-4FA2DCB1B72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11AEA12-AB50-4D32-8FDF-96E4B5B4CC6F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15CDD87-5796-4A69-900F-7A9A60775B88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67875" y="228600"/>
            <a:ext cx="150495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8985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B6A27B5C-FFF8-4BA6-8AA8-D1D9233B5BD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ASK · 息壤杯资源协同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A8EE994-63C8-4810-8512-496778EA1524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息壤杯可以帮助 Blocky 跨过三道商业化门槛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78C2394-E478-4A35-ACBE-A67CFD17036C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5105400" cy="142875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FDA8FFC8-C87E-4425-842E-FF0B44101981}"/>
              </a:ext>
            </a:extLst>
          </p:cNvPr>
          <p:cNvSpPr>
            <a:spLocks noGrp="1"/>
          </p:cNvSpPr>
          <p:nvPr/>
        </p:nvSpPr>
        <p:spPr>
          <a:xfrm>
            <a:off x="914400" y="2266950"/>
            <a:ext cx="438150" cy="43815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A22C28-74B8-480B-A5F0-7E848C1209AE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1149FBD-B9E2-4937-8B71-F37ADC28A043}"/>
              </a:ext>
            </a:extLst>
          </p:cNvPr>
          <p:cNvSpPr>
            <a:spLocks noGrp="1"/>
          </p:cNvSpPr>
          <p:nvPr/>
        </p:nvSpPr>
        <p:spPr>
          <a:xfrm>
            <a:off x="1524000" y="222885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课堂样板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62D701-95C6-4BED-A41F-8D6A6AF6AC1F}"/>
              </a:ext>
            </a:extLst>
          </p:cNvPr>
          <p:cNvSpPr>
            <a:spLocks noGrp="1"/>
          </p:cNvSpPr>
          <p:nvPr/>
        </p:nvSpPr>
        <p:spPr>
          <a:xfrm>
            <a:off x="1524000" y="2647950"/>
            <a:ext cx="3943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4630" lnSpcReduction="10000"/>
          </a:bodyPr>
          <a:lstStyle/>
          <a:p>
            <a:r>
              <a:t>目标｜20 名共创教师</a:t>
            </a:r>
          </a:p>
          <a:p>
            <a:r>
              <a:t>产出｜30 个课堂样板</a:t>
            </a:r>
          </a:p>
          <a:p>
            <a:r>
              <a:t>证据｜作品 / 轨迹 / 复用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E5B7810-3F26-43BB-93A0-F55D68BF7537}"/>
              </a:ext>
            </a:extLst>
          </p:cNvPr>
          <p:cNvSpPr>
            <a:spLocks noGrp="1"/>
          </p:cNvSpPr>
          <p:nvPr/>
        </p:nvSpPr>
        <p:spPr>
          <a:xfrm>
            <a:off x="6096000" y="2000250"/>
            <a:ext cx="5105400" cy="142875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B718EFF-3796-4785-9452-469623611F10}"/>
              </a:ext>
            </a:extLst>
          </p:cNvPr>
          <p:cNvSpPr>
            <a:spLocks noGrp="1"/>
          </p:cNvSpPr>
          <p:nvPr/>
        </p:nvSpPr>
        <p:spPr>
          <a:xfrm>
            <a:off x="6324600" y="2266950"/>
            <a:ext cx="438150" cy="43815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6341AC-2841-4CC4-9481-27E550260A74}"/>
              </a:ext>
            </a:extLst>
          </p:cNvPr>
          <p:cNvSpPr>
            <a:spLocks noGrp="1"/>
          </p:cNvSpPr>
          <p:nvPr/>
        </p:nvSpPr>
        <p:spPr>
          <a:xfrm>
            <a:off x="6324600" y="23812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9382CA7-1DDC-4F08-83E5-C455DB14BABD}"/>
              </a:ext>
            </a:extLst>
          </p:cNvPr>
          <p:cNvSpPr>
            <a:spLocks noGrp="1"/>
          </p:cNvSpPr>
          <p:nvPr/>
        </p:nvSpPr>
        <p:spPr>
          <a:xfrm>
            <a:off x="6934200" y="222885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机构复制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0B39A9-8513-47ED-A1BC-F37C3E47D708}"/>
              </a:ext>
            </a:extLst>
          </p:cNvPr>
          <p:cNvSpPr>
            <a:spLocks noGrp="1"/>
          </p:cNvSpPr>
          <p:nvPr/>
        </p:nvSpPr>
        <p:spPr>
          <a:xfrm>
            <a:off x="6934200" y="2647950"/>
            <a:ext cx="3943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4630" lnSpcReduction="10000"/>
          </a:bodyPr>
          <a:lstStyle/>
          <a:p>
            <a:r>
              <a:t>伙伴｜学校 / 教培 / 高校</a:t>
            </a:r>
          </a:p>
          <a:p>
            <a:r>
              <a:t>路径｜课程包 / 培训 / 席位</a:t>
            </a:r>
          </a:p>
          <a:p>
            <a:r>
              <a:t>结果｜首批可复制方案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A4452A7-E5CE-4924-A445-B48DA60A6495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5105400" cy="142875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B2D7D452-E553-4345-AF90-902F7EB5B858}"/>
              </a:ext>
            </a:extLst>
          </p:cNvPr>
          <p:cNvSpPr>
            <a:spLocks noGrp="1"/>
          </p:cNvSpPr>
          <p:nvPr/>
        </p:nvSpPr>
        <p:spPr>
          <a:xfrm>
            <a:off x="914400" y="3962400"/>
            <a:ext cx="438150" cy="43815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324F0E1-6D97-4839-AE0B-76B2877E1C1B}"/>
              </a:ext>
            </a:extLst>
          </p:cNvPr>
          <p:cNvSpPr>
            <a:spLocks noGrp="1"/>
          </p:cNvSpPr>
          <p:nvPr/>
        </p:nvSpPr>
        <p:spPr>
          <a:xfrm>
            <a:off x="914400" y="407670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4753769-E44A-4AD1-B4F6-DA8F0484AE94}"/>
              </a:ext>
            </a:extLst>
          </p:cNvPr>
          <p:cNvSpPr>
            <a:spLocks noGrp="1"/>
          </p:cNvSpPr>
          <p:nvPr/>
        </p:nvSpPr>
        <p:spPr>
          <a:xfrm>
            <a:off x="1524000" y="392430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模型与算力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50EC42B-1C31-477E-9175-1ACFD0A97C14}"/>
              </a:ext>
            </a:extLst>
          </p:cNvPr>
          <p:cNvSpPr>
            <a:spLocks noGrp="1"/>
          </p:cNvSpPr>
          <p:nvPr/>
        </p:nvSpPr>
        <p:spPr>
          <a:xfrm>
            <a:off x="1524000" y="4343400"/>
            <a:ext cx="3943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4630" lnSpcReduction="10000"/>
          </a:bodyPr>
          <a:lstStyle/>
          <a:p>
            <a:r>
              <a:t>需求｜教育 Provider / 算力</a:t>
            </a:r>
          </a:p>
          <a:p>
            <a:r>
              <a:t>目标｜稳定、低成本、可审计</a:t>
            </a:r>
          </a:p>
          <a:p>
            <a:r>
              <a:t>协同｜模型 / 云 / 生态渠道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A0FC9EB-61C0-4993-B35C-2BE0AF1D51BC}"/>
              </a:ext>
            </a:extLst>
          </p:cNvPr>
          <p:cNvSpPr>
            <a:spLocks noGrp="1"/>
          </p:cNvSpPr>
          <p:nvPr/>
        </p:nvSpPr>
        <p:spPr>
          <a:xfrm>
            <a:off x="6096000" y="3695700"/>
            <a:ext cx="5105400" cy="142875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E09E6542-76CB-47D0-9041-4F49CD089E5C}"/>
              </a:ext>
            </a:extLst>
          </p:cNvPr>
          <p:cNvSpPr>
            <a:spLocks noGrp="1"/>
          </p:cNvSpPr>
          <p:nvPr/>
        </p:nvSpPr>
        <p:spPr>
          <a:xfrm>
            <a:off x="6324600" y="3962400"/>
            <a:ext cx="438150" cy="43815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A926C71-5036-45B0-8D5C-FA1AA0A169D3}"/>
              </a:ext>
            </a:extLst>
          </p:cNvPr>
          <p:cNvSpPr>
            <a:spLocks noGrp="1"/>
          </p:cNvSpPr>
          <p:nvPr/>
        </p:nvSpPr>
        <p:spPr>
          <a:xfrm>
            <a:off x="6324600" y="407670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969A4BE-6C95-405D-B13D-444A3D13743F}"/>
              </a:ext>
            </a:extLst>
          </p:cNvPr>
          <p:cNvSpPr>
            <a:spLocks noGrp="1"/>
          </p:cNvSpPr>
          <p:nvPr/>
        </p:nvSpPr>
        <p:spPr>
          <a:xfrm>
            <a:off x="6934200" y="392430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种子资金与团队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1A712BE-4630-4C3A-BB09-CE74B5161B18}"/>
              </a:ext>
            </a:extLst>
          </p:cNvPr>
          <p:cNvSpPr>
            <a:spLocks noGrp="1"/>
          </p:cNvSpPr>
          <p:nvPr/>
        </p:nvSpPr>
        <p:spPr>
          <a:xfrm>
            <a:off x="6934200" y="4343400"/>
            <a:ext cx="3943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4630" lnSpcReduction="10000"/>
          </a:bodyPr>
          <a:lstStyle/>
          <a:p>
            <a:r>
              <a:t>额度｜¥300 万 / 18 个月</a:t>
            </a:r>
          </a:p>
          <a:p>
            <a:r>
              <a:t>配置｜3 人核心团队</a:t>
            </a:r>
          </a:p>
          <a:p>
            <a:r>
              <a:t>月度投入｜¥16.7 万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7BE1531-D33C-4A90-9B37-2141B9C0221C}"/>
              </a:ext>
            </a:extLst>
          </p:cNvPr>
          <p:cNvSpPr>
            <a:spLocks noGrp="1"/>
          </p:cNvSpPr>
          <p:nvPr/>
        </p:nvSpPr>
        <p:spPr>
          <a:xfrm>
            <a:off x="1352550" y="5562600"/>
            <a:ext cx="9486900" cy="495300"/>
          </a:xfrm>
          <a:prstGeom prst="roundRect">
            <a:avLst>
              <a:gd name="adj" fmla="val 30769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D47111A-BC8B-4568-93D9-021AC2753CC6}"/>
              </a:ext>
            </a:extLst>
          </p:cNvPr>
          <p:cNvSpPr>
            <a:spLocks noGrp="1"/>
          </p:cNvSpPr>
          <p:nvPr/>
        </p:nvSpPr>
        <p:spPr>
          <a:xfrm>
            <a:off x="1676400" y="5695950"/>
            <a:ext cx="883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一笔资源完成三次价值跃迁：技术可行 → 课堂可用 → 机构可复制。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D1533BF-D6C7-4A7C-A78F-589AA8E1A1E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028915-1625-43AF-BAE1-77E7B4A0565B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搭建与场景化服务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3B49644-EB01-4511-9C5F-A6CFAC638B4A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81059" y="209550"/>
            <a:ext cx="1430931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1090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FA0D9BE4-76F9-4A7D-9C8D-2F5EF256500F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4953000" cy="6858000"/>
          </a:xfrm>
          <a:prstGeom prst="rect">
            <a:avLst/>
          </a:prstGeom>
          <a:solidFill>
            <a:srgbClr val="FFF6D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4CCF9B-8A6D-4873-B7C6-72B7F16F49D6}"/>
              </a:ext>
            </a:extLst>
          </p:cNvPr>
          <p:cNvSpPr>
            <a:spLocks noGrp="1"/>
          </p:cNvSpPr>
          <p:nvPr/>
        </p:nvSpPr>
        <p:spPr>
          <a:xfrm>
            <a:off x="10096500" y="0"/>
            <a:ext cx="2095500" cy="685800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CD4AD890-3E02-4B32-A590-73AF68E445E3}"/>
              </a:ext>
            </a:extLst>
          </p:cNvPr>
          <p:cNvSpPr>
            <a:spLocks noGrp="1"/>
          </p:cNvSpPr>
          <p:nvPr/>
        </p:nvSpPr>
        <p:spPr>
          <a:xfrm>
            <a:off x="8782050" y="781050"/>
            <a:ext cx="1695450" cy="1695450"/>
          </a:xfrm>
          <a:prstGeom prst="ellipse">
            <a:avLst/>
          </a:prstGeom>
          <a:solidFill>
            <a:srgbClr val="FFD44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29575" y="1257300"/>
            <a:ext cx="2952750" cy="295275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D369273-24D0-4097-89BD-DB290BEAF915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BLOCKY STUDIO · AGENT 创作基础设施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E12D827-8A22-4FC0-8118-2EA4F9F6C46B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6191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看懂、改动、负责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820EF3-5C41-49AB-9DB0-278C191C10C9}"/>
              </a:ext>
            </a:extLst>
          </p:cNvPr>
          <p:cNvSpPr>
            <a:spLocks noGrp="1"/>
          </p:cNvSpPr>
          <p:nvPr/>
        </p:nvSpPr>
        <p:spPr>
          <a:xfrm>
            <a:off x="685800" y="2228850"/>
            <a:ext cx="6477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自己搭建的 Agent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3CB7FC-A2C8-4032-B5FB-5BDAD9D7A4ED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E5E5DB-B502-4C97-A633-16C100D0891A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533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从课堂样板开始，成长为 Agent 时代的创作基础设施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5806E6E-DF21-46F4-84A1-E56863B718DB}"/>
              </a:ext>
            </a:extLst>
          </p:cNvPr>
          <p:cNvSpPr>
            <a:spLocks noGrp="1"/>
          </p:cNvSpPr>
          <p:nvPr/>
        </p:nvSpPr>
        <p:spPr>
          <a:xfrm>
            <a:off x="685800" y="4972050"/>
            <a:ext cx="2952750" cy="323850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9525">
            <a:solidFill>
              <a:srgbClr val="D8E6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C856512-3F11-4BC5-BBFE-0365EA4629F0}"/>
              </a:ext>
            </a:extLst>
          </p:cNvPr>
          <p:cNvSpPr>
            <a:spLocks noGrp="1"/>
          </p:cNvSpPr>
          <p:nvPr/>
        </p:nvSpPr>
        <p:spPr>
          <a:xfrm>
            <a:off x="800100" y="5038725"/>
            <a:ext cx="2724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课堂可验证 · 商业可复制 · 生态可生长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294BB3B-9431-4961-B921-BE763B2F22DE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590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教育验证易学，工程底座保证可用，项目积木化与服务资产打开长期平台价值。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9D0086F-B57E-43C0-B341-1F4B85AAFDD3}"/>
              </a:ext>
            </a:extLst>
          </p:cNvPr>
          <p:cNvSpPr>
            <a:spLocks noGrp="1"/>
          </p:cNvSpPr>
          <p:nvPr/>
        </p:nvSpPr>
        <p:spPr>
          <a:xfrm>
            <a:off x="10029825" y="6153150"/>
            <a:ext cx="1571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</p:spTree>
    <p:extLst>
      <p:ext uri="{BB962C8B-B14F-4D97-AF65-F5344CB8AC3E}">
        <p14:creationId xmlns:p14="http://schemas.microsoft.com/office/powerpoint/2010/main" val="1325861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FA0D9BE4-76F9-4A7D-9C8D-2F5EF256500F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4953000" cy="6858000"/>
          </a:xfrm>
          <a:prstGeom prst="rect">
            <a:avLst/>
          </a:prstGeom>
          <a:solidFill>
            <a:srgbClr val="FFF6D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4CCF9B-8A6D-4873-B7C6-72B7F16F49D6}"/>
              </a:ext>
            </a:extLst>
          </p:cNvPr>
          <p:cNvSpPr>
            <a:spLocks noGrp="1"/>
          </p:cNvSpPr>
          <p:nvPr/>
        </p:nvSpPr>
        <p:spPr>
          <a:xfrm>
            <a:off x="10096500" y="0"/>
            <a:ext cx="2095500" cy="685800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CD4AD890-3E02-4B32-A590-73AF68E445E3}"/>
              </a:ext>
            </a:extLst>
          </p:cNvPr>
          <p:cNvSpPr>
            <a:spLocks noGrp="1"/>
          </p:cNvSpPr>
          <p:nvPr/>
        </p:nvSpPr>
        <p:spPr>
          <a:xfrm>
            <a:off x="8782050" y="781050"/>
            <a:ext cx="1695450" cy="1695450"/>
          </a:xfrm>
          <a:prstGeom prst="ellipse">
            <a:avLst/>
          </a:prstGeom>
          <a:solidFill>
            <a:srgbClr val="FFD44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29575" y="1257300"/>
            <a:ext cx="2952750" cy="295275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D369273-24D0-4097-89BD-DB290BEAF915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完整产品与生态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E12D827-8A22-4FC0-8118-2EA4F9F6C46B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6191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附录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820EF3-5C41-49AB-9DB0-278C191C10C9}"/>
              </a:ext>
            </a:extLst>
          </p:cNvPr>
          <p:cNvSpPr>
            <a:spLocks noGrp="1"/>
          </p:cNvSpPr>
          <p:nvPr/>
        </p:nvSpPr>
        <p:spPr>
          <a:xfrm>
            <a:off x="685800" y="2228850"/>
            <a:ext cx="6477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完整产品、服务与生态全景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3CB7FC-A2C8-4032-B5FB-5BDAD9D7A4ED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476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E5E5DB-B502-4C97-A633-16C100D0891A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533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Blocky Studio · 目标形态与技术证据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5806E6E-DF21-46F4-84A1-E56863B718DB}"/>
              </a:ext>
            </a:extLst>
          </p:cNvPr>
          <p:cNvSpPr>
            <a:spLocks noGrp="1"/>
          </p:cNvSpPr>
          <p:nvPr/>
        </p:nvSpPr>
        <p:spPr>
          <a:xfrm>
            <a:off x="685800" y="4972050"/>
            <a:ext cx="2952750" cy="323850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9525">
            <a:solidFill>
              <a:srgbClr val="D8E6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C856512-3F11-4BC5-BBFE-0365EA4629F0}"/>
              </a:ext>
            </a:extLst>
          </p:cNvPr>
          <p:cNvSpPr>
            <a:spLocks noGrp="1"/>
          </p:cNvSpPr>
          <p:nvPr/>
        </p:nvSpPr>
        <p:spPr>
          <a:xfrm>
            <a:off x="800100" y="5038725"/>
            <a:ext cx="2724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产品结构 · 工程边界 · 生态路线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294BB3B-9431-4961-B921-BE763B2F22DE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590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以下页面保留完整产品设计，并统一标注实证、Contract Baseline 与目标形态。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9D0086F-B57E-43C0-B341-1F4B85AAFDD3}"/>
              </a:ext>
            </a:extLst>
          </p:cNvPr>
          <p:cNvSpPr>
            <a:spLocks noGrp="1"/>
          </p:cNvSpPr>
          <p:nvPr/>
        </p:nvSpPr>
        <p:spPr>
          <a:xfrm>
            <a:off x="10029825" y="6153150"/>
            <a:ext cx="1571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</p:spTree>
    <p:extLst>
      <p:ext uri="{BB962C8B-B14F-4D97-AF65-F5344CB8AC3E}">
        <p14:creationId xmlns:p14="http://schemas.microsoft.com/office/powerpoint/2010/main" val="1325861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861BF2F6-7820-4F71-A5F3-44000ED8B76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验收演示 · 目标形态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0381ADE-80F5-42E9-8853-EF5280D4C30B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3 分钟验证 5 件事：选择、修改、运行、追踪、保存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EA1F63-0E40-4377-9F6C-F7E155EA5CE0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基于课程蓝图呈现“选择—修改—运行—轨迹—保存”；这是目标验收脚本，不等于完整课程时长。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E04AFC-6A82-41C7-ABEB-5D0B08086546}"/>
              </a:ext>
            </a:extLst>
          </p:cNvPr>
          <p:cNvSpPr>
            <a:spLocks noGrp="1"/>
          </p:cNvSpPr>
          <p:nvPr/>
        </p:nvSpPr>
        <p:spPr>
          <a:xfrm>
            <a:off x="2352675" y="3009900"/>
            <a:ext cx="704850" cy="3810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AB70C2E-A825-44BD-BFC3-2F9092FD59D8}"/>
              </a:ext>
            </a:extLst>
          </p:cNvPr>
          <p:cNvSpPr>
            <a:spLocks noGrp="1"/>
          </p:cNvSpPr>
          <p:nvPr/>
        </p:nvSpPr>
        <p:spPr>
          <a:xfrm>
            <a:off x="4429125" y="3009900"/>
            <a:ext cx="704850" cy="3810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E8E383A-D3C9-463D-90D3-B0C8254CF798}"/>
              </a:ext>
            </a:extLst>
          </p:cNvPr>
          <p:cNvSpPr>
            <a:spLocks noGrp="1"/>
          </p:cNvSpPr>
          <p:nvPr/>
        </p:nvSpPr>
        <p:spPr>
          <a:xfrm>
            <a:off x="6505575" y="3009900"/>
            <a:ext cx="704850" cy="3810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6F47339-424A-4575-BFED-D712680E3245}"/>
              </a:ext>
            </a:extLst>
          </p:cNvPr>
          <p:cNvSpPr>
            <a:spLocks noGrp="1"/>
          </p:cNvSpPr>
          <p:nvPr/>
        </p:nvSpPr>
        <p:spPr>
          <a:xfrm>
            <a:off x="8582025" y="3009900"/>
            <a:ext cx="704850" cy="3810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0149493-3133-4D57-B418-0FC64E040A5A}"/>
              </a:ext>
            </a:extLst>
          </p:cNvPr>
          <p:cNvSpPr>
            <a:spLocks noGrp="1"/>
          </p:cNvSpPr>
          <p:nvPr/>
        </p:nvSpPr>
        <p:spPr>
          <a:xfrm>
            <a:off x="704850" y="2266950"/>
            <a:ext cx="1657350" cy="1562100"/>
          </a:xfrm>
          <a:prstGeom prst="roundRect">
            <a:avLst>
              <a:gd name="adj" fmla="val 12195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4C735B2-1D95-42CD-9390-53260701C8FE}"/>
              </a:ext>
            </a:extLst>
          </p:cNvPr>
          <p:cNvSpPr>
            <a:spLocks noGrp="1"/>
          </p:cNvSpPr>
          <p:nvPr/>
        </p:nvSpPr>
        <p:spPr>
          <a:xfrm>
            <a:off x="876300" y="243840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D789284-904D-4CA8-AF84-68B161FB51F1}"/>
              </a:ext>
            </a:extLst>
          </p:cNvPr>
          <p:cNvSpPr>
            <a:spLocks noGrp="1"/>
          </p:cNvSpPr>
          <p:nvPr/>
        </p:nvSpPr>
        <p:spPr>
          <a:xfrm>
            <a:off x="876300" y="2819400"/>
            <a:ext cx="131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选择蓝图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0F9AD1A-0529-4DCF-B052-8C59974E91BA}"/>
              </a:ext>
            </a:extLst>
          </p:cNvPr>
          <p:cNvSpPr>
            <a:spLocks noGrp="1"/>
          </p:cNvSpPr>
          <p:nvPr/>
        </p:nvSpPr>
        <p:spPr>
          <a:xfrm>
            <a:off x="857250" y="3295650"/>
            <a:ext cx="1352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课堂知识 Agent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0FFD2D7-BE35-487B-8AF1-CFA6A5C49527}"/>
              </a:ext>
            </a:extLst>
          </p:cNvPr>
          <p:cNvSpPr>
            <a:spLocks noGrp="1"/>
          </p:cNvSpPr>
          <p:nvPr/>
        </p:nvSpPr>
        <p:spPr>
          <a:xfrm>
            <a:off x="2781300" y="2266950"/>
            <a:ext cx="1657350" cy="1562100"/>
          </a:xfrm>
          <a:prstGeom prst="roundRect">
            <a:avLst>
              <a:gd name="adj" fmla="val 12195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648D6E0-39E4-47B1-957D-861949DEB4B6}"/>
              </a:ext>
            </a:extLst>
          </p:cNvPr>
          <p:cNvSpPr>
            <a:spLocks noGrp="1"/>
          </p:cNvSpPr>
          <p:nvPr/>
        </p:nvSpPr>
        <p:spPr>
          <a:xfrm>
            <a:off x="2952750" y="243840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32CF790-33C9-4CCB-A157-EF7C63A8E4DE}"/>
              </a:ext>
            </a:extLst>
          </p:cNvPr>
          <p:cNvSpPr>
            <a:spLocks noGrp="1"/>
          </p:cNvSpPr>
          <p:nvPr/>
        </p:nvSpPr>
        <p:spPr>
          <a:xfrm>
            <a:off x="2952750" y="2819400"/>
            <a:ext cx="131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修改积木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6779A17-5ACC-4FC3-9593-C038762DE570}"/>
              </a:ext>
            </a:extLst>
          </p:cNvPr>
          <p:cNvSpPr>
            <a:spLocks noGrp="1"/>
          </p:cNvSpPr>
          <p:nvPr/>
        </p:nvSpPr>
        <p:spPr>
          <a:xfrm>
            <a:off x="2933700" y="3295650"/>
            <a:ext cx="1352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角色 · 知识 · 工具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D3931BE-909D-4CA1-A8AB-20443305CF5C}"/>
              </a:ext>
            </a:extLst>
          </p:cNvPr>
          <p:cNvSpPr>
            <a:spLocks noGrp="1"/>
          </p:cNvSpPr>
          <p:nvPr/>
        </p:nvSpPr>
        <p:spPr>
          <a:xfrm>
            <a:off x="4857750" y="2266950"/>
            <a:ext cx="1657350" cy="1562100"/>
          </a:xfrm>
          <a:prstGeom prst="roundRect">
            <a:avLst>
              <a:gd name="adj" fmla="val 12195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614AEE4-C3AD-424F-BF93-521A3B465AFB}"/>
              </a:ext>
            </a:extLst>
          </p:cNvPr>
          <p:cNvSpPr>
            <a:spLocks noGrp="1"/>
          </p:cNvSpPr>
          <p:nvPr/>
        </p:nvSpPr>
        <p:spPr>
          <a:xfrm>
            <a:off x="5029200" y="243840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214F98A-F223-47A2-9F28-C1B6DA0F00BD}"/>
              </a:ext>
            </a:extLst>
          </p:cNvPr>
          <p:cNvSpPr>
            <a:spLocks noGrp="1"/>
          </p:cNvSpPr>
          <p:nvPr/>
        </p:nvSpPr>
        <p:spPr>
          <a:xfrm>
            <a:off x="5029200" y="2819400"/>
            <a:ext cx="131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运行 Agent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84A1067-0938-4671-9EFE-7111139931C8}"/>
              </a:ext>
            </a:extLst>
          </p:cNvPr>
          <p:cNvSpPr>
            <a:spLocks noGrp="1"/>
          </p:cNvSpPr>
          <p:nvPr/>
        </p:nvSpPr>
        <p:spPr>
          <a:xfrm>
            <a:off x="5010150" y="3295650"/>
            <a:ext cx="1352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本地检索 + 引用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2A14FD71-DF17-4CA8-A89C-001B0D22DE38}"/>
              </a:ext>
            </a:extLst>
          </p:cNvPr>
          <p:cNvSpPr>
            <a:spLocks noGrp="1"/>
          </p:cNvSpPr>
          <p:nvPr/>
        </p:nvSpPr>
        <p:spPr>
          <a:xfrm>
            <a:off x="6934200" y="2266950"/>
            <a:ext cx="1657350" cy="1562100"/>
          </a:xfrm>
          <a:prstGeom prst="roundRect">
            <a:avLst>
              <a:gd name="adj" fmla="val 12195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2E6B1F2-F786-4907-9B38-6D5B309AEF33}"/>
              </a:ext>
            </a:extLst>
          </p:cNvPr>
          <p:cNvSpPr>
            <a:spLocks noGrp="1"/>
          </p:cNvSpPr>
          <p:nvPr/>
        </p:nvSpPr>
        <p:spPr>
          <a:xfrm>
            <a:off x="7105650" y="243840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7967383-C63A-4BD0-9C8F-2977BF77FC59}"/>
              </a:ext>
            </a:extLst>
          </p:cNvPr>
          <p:cNvSpPr>
            <a:spLocks noGrp="1"/>
          </p:cNvSpPr>
          <p:nvPr/>
        </p:nvSpPr>
        <p:spPr>
          <a:xfrm>
            <a:off x="7105650" y="2819400"/>
            <a:ext cx="131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查看轨迹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BA1E21-50FB-423D-A459-1A0C693B3CED}"/>
              </a:ext>
            </a:extLst>
          </p:cNvPr>
          <p:cNvSpPr>
            <a:spLocks noGrp="1"/>
          </p:cNvSpPr>
          <p:nvPr/>
        </p:nvSpPr>
        <p:spPr>
          <a:xfrm>
            <a:off x="7086600" y="3295650"/>
            <a:ext cx="1352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步骤 · 状态 · 输出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54B396C4-30A2-4334-9ED5-17BFDFAEAF08}"/>
              </a:ext>
            </a:extLst>
          </p:cNvPr>
          <p:cNvSpPr>
            <a:spLocks noGrp="1"/>
          </p:cNvSpPr>
          <p:nvPr/>
        </p:nvSpPr>
        <p:spPr>
          <a:xfrm>
            <a:off x="9010650" y="2266950"/>
            <a:ext cx="1657350" cy="1562100"/>
          </a:xfrm>
          <a:prstGeom prst="roundRect">
            <a:avLst>
              <a:gd name="adj" fmla="val 12195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B51A61D-3FAE-48E2-A03D-6F11EB65211E}"/>
              </a:ext>
            </a:extLst>
          </p:cNvPr>
          <p:cNvSpPr>
            <a:spLocks noGrp="1"/>
          </p:cNvSpPr>
          <p:nvPr/>
        </p:nvSpPr>
        <p:spPr>
          <a:xfrm>
            <a:off x="9182100" y="243840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1E3B23B-6531-4174-AD4B-5499123F3FBA}"/>
              </a:ext>
            </a:extLst>
          </p:cNvPr>
          <p:cNvSpPr>
            <a:spLocks noGrp="1"/>
          </p:cNvSpPr>
          <p:nvPr/>
        </p:nvSpPr>
        <p:spPr>
          <a:xfrm>
            <a:off x="9182100" y="2819400"/>
            <a:ext cx="131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保存重开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97C8725-F881-4B20-8922-9BCB26A46CD7}"/>
              </a:ext>
            </a:extLst>
          </p:cNvPr>
          <p:cNvSpPr>
            <a:spLocks noGrp="1"/>
          </p:cNvSpPr>
          <p:nvPr/>
        </p:nvSpPr>
        <p:spPr>
          <a:xfrm>
            <a:off x="9163050" y="3295650"/>
            <a:ext cx="1352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691" lnSpcReduction="20000"/>
          </a:bodyPr>
          <a:lstStyle/>
          <a:p>
            <a:pPr algn="ctr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Agent 语义保持一致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9565D525-758B-44D0-90F2-EE5FBAD25A81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3276600" cy="12001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E92FF6B1-7E33-4870-A17A-CF1D956F94F7}"/>
              </a:ext>
            </a:extLst>
          </p:cNvPr>
          <p:cNvSpPr>
            <a:spLocks noGrp="1"/>
          </p:cNvSpPr>
          <p:nvPr/>
        </p:nvSpPr>
        <p:spPr>
          <a:xfrm>
            <a:off x="895350" y="4572000"/>
            <a:ext cx="323850" cy="323850"/>
          </a:xfrm>
          <a:prstGeom prst="ellipse">
            <a:avLst/>
          </a:prstGeom>
          <a:solidFill>
            <a:srgbClr val="17A67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70344CA-4B17-44A6-BE50-710321E1F903}"/>
              </a:ext>
            </a:extLst>
          </p:cNvPr>
          <p:cNvSpPr>
            <a:spLocks noGrp="1"/>
          </p:cNvSpPr>
          <p:nvPr/>
        </p:nvSpPr>
        <p:spPr>
          <a:xfrm>
            <a:off x="895350" y="4638675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084B3E6-57A9-45C0-A2E9-15BEA85199E4}"/>
              </a:ext>
            </a:extLst>
          </p:cNvPr>
          <p:cNvSpPr>
            <a:spLocks noGrp="1"/>
          </p:cNvSpPr>
          <p:nvPr/>
        </p:nvSpPr>
        <p:spPr>
          <a:xfrm>
            <a:off x="1352550" y="451485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本地运行有证据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E7570BE-5162-4D12-AE16-D2927C1A0A7F}"/>
              </a:ext>
            </a:extLst>
          </p:cNvPr>
          <p:cNvSpPr>
            <a:spLocks noGrp="1"/>
          </p:cNvSpPr>
          <p:nvPr/>
        </p:nvSpPr>
        <p:spPr>
          <a:xfrm>
            <a:off x="1352550" y="4914900"/>
            <a:ext cx="2324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Provider / RuntimeEvent</a:t>
            </a:r>
          </a:p>
          <a:p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本地运行可读回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D08BFF40-00F6-42F3-A709-F0FF0B48333B}"/>
              </a:ext>
            </a:extLst>
          </p:cNvPr>
          <p:cNvSpPr>
            <a:spLocks noGrp="1"/>
          </p:cNvSpPr>
          <p:nvPr/>
        </p:nvSpPr>
        <p:spPr>
          <a:xfrm>
            <a:off x="4267200" y="4343400"/>
            <a:ext cx="3276600" cy="12001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9A82C568-EB54-4F86-9719-69A443CDC221}"/>
              </a:ext>
            </a:extLst>
          </p:cNvPr>
          <p:cNvSpPr>
            <a:spLocks noGrp="1"/>
          </p:cNvSpPr>
          <p:nvPr/>
        </p:nvSpPr>
        <p:spPr>
          <a:xfrm>
            <a:off x="4476750" y="4572000"/>
            <a:ext cx="323850" cy="323850"/>
          </a:xfrm>
          <a:prstGeom prst="ellipse">
            <a:avLst/>
          </a:prstGeom>
          <a:solidFill>
            <a:srgbClr val="17A67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33FE7DA-9E56-4BD7-9F7A-4A7695B09350}"/>
              </a:ext>
            </a:extLst>
          </p:cNvPr>
          <p:cNvSpPr>
            <a:spLocks noGrp="1"/>
          </p:cNvSpPr>
          <p:nvPr/>
        </p:nvSpPr>
        <p:spPr>
          <a:xfrm>
            <a:off x="4476750" y="4638675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444E849-D3A9-43C7-BF9A-8C9434B51348}"/>
              </a:ext>
            </a:extLst>
          </p:cNvPr>
          <p:cNvSpPr>
            <a:spLocks noGrp="1"/>
          </p:cNvSpPr>
          <p:nvPr/>
        </p:nvSpPr>
        <p:spPr>
          <a:xfrm>
            <a:off x="4933950" y="451485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引用与拒答可见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01D2692-8CDD-4B60-95CF-492AB2A4B3C2}"/>
              </a:ext>
            </a:extLst>
          </p:cNvPr>
          <p:cNvSpPr>
            <a:spLocks noGrp="1"/>
          </p:cNvSpPr>
          <p:nvPr/>
        </p:nvSpPr>
        <p:spPr>
          <a:xfrm>
            <a:off x="4933950" y="4914900"/>
            <a:ext cx="2324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Citation / Guard</a:t>
            </a:r>
          </a:p>
          <a:p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引用与拒答可复核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915B5C15-EEE9-4585-B27F-51E7E83D4636}"/>
              </a:ext>
            </a:extLst>
          </p:cNvPr>
          <p:cNvSpPr>
            <a:spLocks noGrp="1"/>
          </p:cNvSpPr>
          <p:nvPr/>
        </p:nvSpPr>
        <p:spPr>
          <a:xfrm>
            <a:off x="7848600" y="4343400"/>
            <a:ext cx="3276600" cy="12001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6D77F557-EDEC-4BE2-B1CE-221DCA3E956D}"/>
              </a:ext>
            </a:extLst>
          </p:cNvPr>
          <p:cNvSpPr>
            <a:spLocks noGrp="1"/>
          </p:cNvSpPr>
          <p:nvPr/>
        </p:nvSpPr>
        <p:spPr>
          <a:xfrm>
            <a:off x="8058150" y="4572000"/>
            <a:ext cx="323850" cy="323850"/>
          </a:xfrm>
          <a:prstGeom prst="ellipse">
            <a:avLst/>
          </a:prstGeom>
          <a:solidFill>
            <a:srgbClr val="17A67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25382B6-9835-4B93-B708-3D9BCA1D0AA5}"/>
              </a:ext>
            </a:extLst>
          </p:cNvPr>
          <p:cNvSpPr>
            <a:spLocks noGrp="1"/>
          </p:cNvSpPr>
          <p:nvPr/>
        </p:nvSpPr>
        <p:spPr>
          <a:xfrm>
            <a:off x="8058150" y="4638675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FAA06BF-AFB7-4CF2-8847-FC5A1A0927DD}"/>
              </a:ext>
            </a:extLst>
          </p:cNvPr>
          <p:cNvSpPr>
            <a:spLocks noGrp="1"/>
          </p:cNvSpPr>
          <p:nvPr/>
        </p:nvSpPr>
        <p:spPr>
          <a:xfrm>
            <a:off x="8515350" y="451485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项目可保存复现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E803178-7941-42C1-A1DB-7806CAA6EFB5}"/>
              </a:ext>
            </a:extLst>
          </p:cNvPr>
          <p:cNvSpPr>
            <a:spLocks noGrp="1"/>
          </p:cNvSpPr>
          <p:nvPr/>
        </p:nvSpPr>
        <p:spPr>
          <a:xfrm>
            <a:off x="8515350" y="4914900"/>
            <a:ext cx="2324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Workspace / Stable ID</a:t>
            </a:r>
          </a:p>
          <a:p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保存重开语义一致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2F3F74DB-353E-4AC3-8319-F0E8F80D0AF6}"/>
              </a:ext>
            </a:extLst>
          </p:cNvPr>
          <p:cNvSpPr>
            <a:spLocks noGrp="1"/>
          </p:cNvSpPr>
          <p:nvPr/>
        </p:nvSpPr>
        <p:spPr>
          <a:xfrm>
            <a:off x="8705850" y="5848350"/>
            <a:ext cx="2476500" cy="323850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229199D-0A09-4447-ADBA-1032DD292371}"/>
              </a:ext>
            </a:extLst>
          </p:cNvPr>
          <p:cNvSpPr>
            <a:spLocks noGrp="1"/>
          </p:cNvSpPr>
          <p:nvPr/>
        </p:nvSpPr>
        <p:spPr>
          <a:xfrm>
            <a:off x="8801100" y="5915025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闭环证据：五步连续呈现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08F5750-0E1E-40F3-9F23-28AE1F1975A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5473D5A-F999-426D-96D7-1D006B6715DD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DBEA014-107A-40CA-8682-5991D33EB86C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740985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3F8F04E4-5685-46EC-B7BF-FF503FC092B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四层创作深度 · 目标形态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FCCFBD-EC4D-495B-9570-BB048A245D84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从“拿来即用”到“修改内部实现”，能力按需展开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F493F2-5172-4084-94AC-6144F45F7099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四层共享同一 Project Manifest、Workspace、IR、权限与运行证据；切换深度不换项目。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B084ED5-104D-4B3B-BA7D-6F35FC152F80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BE7AD9-2F88-4BEC-9E9A-6C8E2BE2CBCB}"/>
              </a:ext>
            </a:extLst>
          </p:cNvPr>
          <p:cNvSpPr>
            <a:spLocks noGrp="1"/>
          </p:cNvSpPr>
          <p:nvPr/>
        </p:nvSpPr>
        <p:spPr>
          <a:xfrm>
            <a:off x="8953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41301F-E876-4E53-B5B1-F226FE85931A}"/>
              </a:ext>
            </a:extLst>
          </p:cNvPr>
          <p:cNvSpPr>
            <a:spLocks noGrp="1"/>
          </p:cNvSpPr>
          <p:nvPr/>
        </p:nvSpPr>
        <p:spPr>
          <a:xfrm>
            <a:off x="8953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兼容模板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F20170A-1964-4746-B530-F4E1E4EF4D7E}"/>
              </a:ext>
            </a:extLst>
          </p:cNvPr>
          <p:cNvSpPr>
            <a:spLocks noGrp="1"/>
          </p:cNvSpPr>
          <p:nvPr/>
        </p:nvSpPr>
        <p:spPr>
          <a:xfrm>
            <a:off x="8953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产物｜可运行 Agent</a:t>
            </a:r>
          </a:p>
          <a:p>
            <a:pPr algn="l"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证据｜Workspace + RuntimeEvent</a:t>
            </a:r>
          </a:p>
          <a:p>
            <a:pPr algn="l"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指标｜完成率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262643C-E4A7-4144-849B-26D585C55746}"/>
              </a:ext>
            </a:extLst>
          </p:cNvPr>
          <p:cNvSpPr>
            <a:spLocks noGrp="1"/>
          </p:cNvSpPr>
          <p:nvPr/>
        </p:nvSpPr>
        <p:spPr>
          <a:xfrm>
            <a:off x="33909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841C02-BC0E-44C6-8C20-F2749EB78096}"/>
              </a:ext>
            </a:extLst>
          </p:cNvPr>
          <p:cNvSpPr>
            <a:spLocks noGrp="1"/>
          </p:cNvSpPr>
          <p:nvPr/>
        </p:nvSpPr>
        <p:spPr>
          <a:xfrm>
            <a:off x="36004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F212ABA-CC1D-4413-A11C-66EFF83035EB}"/>
              </a:ext>
            </a:extLst>
          </p:cNvPr>
          <p:cNvSpPr>
            <a:spLocks noGrp="1"/>
          </p:cNvSpPr>
          <p:nvPr/>
        </p:nvSpPr>
        <p:spPr>
          <a:xfrm>
            <a:off x="36004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Blocky 蓝图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917920F-5001-4FBE-B984-FF8CDE84CD9B}"/>
              </a:ext>
            </a:extLst>
          </p:cNvPr>
          <p:cNvSpPr>
            <a:spLocks noGrp="1"/>
          </p:cNvSpPr>
          <p:nvPr/>
        </p:nvSpPr>
        <p:spPr>
          <a:xfrm>
            <a:off x="36004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行为｜指认关键积木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证据｜高亮 + Trace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指标｜解释率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B39D476-BFC0-467D-953B-DAD47B6E173C}"/>
              </a:ext>
            </a:extLst>
          </p:cNvPr>
          <p:cNvSpPr>
            <a:spLocks noGrp="1"/>
          </p:cNvSpPr>
          <p:nvPr/>
        </p:nvSpPr>
        <p:spPr>
          <a:xfrm>
            <a:off x="60960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DBFFE6-3806-4E0B-B8B2-4849CEE10EDB}"/>
              </a:ext>
            </a:extLst>
          </p:cNvPr>
          <p:cNvSpPr>
            <a:spLocks noGrp="1"/>
          </p:cNvSpPr>
          <p:nvPr/>
        </p:nvSpPr>
        <p:spPr>
          <a:xfrm>
            <a:off x="63055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EA4E758-33B1-4B19-AC92-39FB3CD8E43C}"/>
              </a:ext>
            </a:extLst>
          </p:cNvPr>
          <p:cNvSpPr>
            <a:spLocks noGrp="1"/>
          </p:cNvSpPr>
          <p:nvPr/>
        </p:nvSpPr>
        <p:spPr>
          <a:xfrm>
            <a:off x="63055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原子积木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63D6523-38D3-4000-876A-1730A7882E6A}"/>
              </a:ext>
            </a:extLst>
          </p:cNvPr>
          <p:cNvSpPr>
            <a:spLocks noGrp="1"/>
          </p:cNvSpPr>
          <p:nvPr/>
        </p:nvSpPr>
        <p:spPr>
          <a:xfrm>
            <a:off x="63055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行为｜回答含可定位来源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证据｜引用 / 拒答记录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指标｜引用可定位率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8784C53-44C1-42A2-B33A-A95ACBEBF750}"/>
              </a:ext>
            </a:extLst>
          </p:cNvPr>
          <p:cNvSpPr>
            <a:spLocks noGrp="1"/>
          </p:cNvSpPr>
          <p:nvPr/>
        </p:nvSpPr>
        <p:spPr>
          <a:xfrm>
            <a:off x="88011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ED2EAD-8316-4D07-B9D2-EF0FD529EFE1}"/>
              </a:ext>
            </a:extLst>
          </p:cNvPr>
          <p:cNvSpPr>
            <a:spLocks noGrp="1"/>
          </p:cNvSpPr>
          <p:nvPr/>
        </p:nvSpPr>
        <p:spPr>
          <a:xfrm>
            <a:off x="90106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FE2529C-D364-4829-A0AC-71E3C7BE2542}"/>
              </a:ext>
            </a:extLst>
          </p:cNvPr>
          <p:cNvSpPr>
            <a:spLocks noGrp="1"/>
          </p:cNvSpPr>
          <p:nvPr/>
        </p:nvSpPr>
        <p:spPr>
          <a:xfrm>
            <a:off x="90106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内部代码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4EB2C4D-2107-42C6-974F-818DE79A7C15}"/>
              </a:ext>
            </a:extLst>
          </p:cNvPr>
          <p:cNvSpPr>
            <a:spLocks noGrp="1"/>
          </p:cNvSpPr>
          <p:nvPr/>
        </p:nvSpPr>
        <p:spPr>
          <a:xfrm>
            <a:off x="90106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行为｜保存重开语义一致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证据｜Project reload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指标｜保存复现率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6CB4DB1-39DE-46AA-9842-ACA8ED2F9E1E}"/>
              </a:ext>
            </a:extLst>
          </p:cNvPr>
          <p:cNvSpPr>
            <a:spLocks noGrp="1"/>
          </p:cNvSpPr>
          <p:nvPr/>
        </p:nvSpPr>
        <p:spPr>
          <a:xfrm>
            <a:off x="1676400" y="5219700"/>
            <a:ext cx="8839200" cy="685800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0885AED-F686-45CE-BACD-85EAF9B1C6F7}"/>
              </a:ext>
            </a:extLst>
          </p:cNvPr>
          <p:cNvSpPr>
            <a:spLocks noGrp="1"/>
          </p:cNvSpPr>
          <p:nvPr/>
        </p:nvSpPr>
        <p:spPr>
          <a:xfrm>
            <a:off x="1905000" y="5410200"/>
            <a:ext cx="838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 i="0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同一底座｜兼容模板 → 蓝图 → 原子积木 → 内部代码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FF81F25-CA1D-42EA-95BF-4FA2DCB1B72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11AEA12-AB50-4D32-8FDF-96E4B5B4CC6F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15CDD87-5796-4A69-900F-7A9A60775B88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67875" y="228600"/>
            <a:ext cx="150495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8985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ACE6BEB0-5134-4740-8BC5-70438A9E547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积木内部修改 · 目标形态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593C4D-248B-4BA9-B5FD-3076450D4322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积木不是黑盒：从公开参数一直改到内部实现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A294B6-FC5C-481E-9BCB-E0BD442C051E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官方基线、用户差异、诊断与回退同屏呈现；代码只封装局部逻辑，不隐藏 Agent 拓扑与权限。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E0EE404-A53E-47C8-BD14-1A6FF57ECB76}"/>
              </a:ext>
            </a:extLst>
          </p:cNvPr>
          <p:cNvSpPr>
            <a:spLocks noGrp="1"/>
          </p:cNvSpPr>
          <p:nvPr/>
        </p:nvSpPr>
        <p:spPr>
          <a:xfrm>
            <a:off x="5429250" y="2876550"/>
            <a:ext cx="5143500" cy="476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DEA320BC-DCBD-459B-B601-6F0A4EF60DC0}"/>
              </a:ext>
            </a:extLst>
          </p:cNvPr>
          <p:cNvSpPr>
            <a:spLocks noGrp="1"/>
          </p:cNvSpPr>
          <p:nvPr/>
        </p:nvSpPr>
        <p:spPr>
          <a:xfrm>
            <a:off x="5086350" y="2533650"/>
            <a:ext cx="685800" cy="68580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8BF5B1-FF19-480C-A1F9-B3EBD55A3217}"/>
              </a:ext>
            </a:extLst>
          </p:cNvPr>
          <p:cNvSpPr>
            <a:spLocks noGrp="1"/>
          </p:cNvSpPr>
          <p:nvPr/>
        </p:nvSpPr>
        <p:spPr>
          <a:xfrm>
            <a:off x="5086350" y="2695575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5EB8ED1-07E5-4EEC-85C0-40D8A0D67C14}"/>
              </a:ext>
            </a:extLst>
          </p:cNvPr>
          <p:cNvSpPr>
            <a:spLocks noGrp="1"/>
          </p:cNvSpPr>
          <p:nvPr/>
        </p:nvSpPr>
        <p:spPr>
          <a:xfrm>
            <a:off x="4581525" y="3333750"/>
            <a:ext cx="169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参数与接口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B674A9-88C9-467B-8B72-EE50C9BD6D2F}"/>
              </a:ext>
            </a:extLst>
          </p:cNvPr>
          <p:cNvSpPr>
            <a:spLocks noGrp="1"/>
          </p:cNvSpPr>
          <p:nvPr/>
        </p:nvSpPr>
        <p:spPr>
          <a:xfrm>
            <a:off x="4581525" y="3981450"/>
            <a:ext cx="1695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350"/>
              <a:t>输入 / 输出
类型 / 默认值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B2DC4C0-F9C1-4B05-86E6-F1C7ABDF1CA9}"/>
              </a:ext>
            </a:extLst>
          </p:cNvPr>
          <p:cNvSpPr>
            <a:spLocks noGrp="1"/>
          </p:cNvSpPr>
          <p:nvPr/>
        </p:nvSpPr>
        <p:spPr>
          <a:xfrm>
            <a:off x="6800850" y="2533650"/>
            <a:ext cx="685800" cy="68580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E25F763-49D5-4981-BAE1-812D10DBBCDD}"/>
              </a:ext>
            </a:extLst>
          </p:cNvPr>
          <p:cNvSpPr>
            <a:spLocks noGrp="1"/>
          </p:cNvSpPr>
          <p:nvPr/>
        </p:nvSpPr>
        <p:spPr>
          <a:xfrm>
            <a:off x="6800850" y="2695575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03C79FC-38CA-4920-BCFA-97252FFA762D}"/>
              </a:ext>
            </a:extLst>
          </p:cNvPr>
          <p:cNvSpPr>
            <a:spLocks noGrp="1"/>
          </p:cNvSpPr>
          <p:nvPr/>
        </p:nvSpPr>
        <p:spPr>
          <a:xfrm>
            <a:off x="6296025" y="3333750"/>
            <a:ext cx="169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展开与封装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6934EE-6AF6-484E-B295-F75570571BE2}"/>
              </a:ext>
            </a:extLst>
          </p:cNvPr>
          <p:cNvSpPr>
            <a:spLocks noGrp="1"/>
          </p:cNvSpPr>
          <p:nvPr/>
        </p:nvSpPr>
        <p:spPr>
          <a:xfrm>
            <a:off x="6296025" y="3981450"/>
            <a:ext cx="1695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350"/>
              <a:t>展开原子积木
保留公开插槽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700918C-A06B-4E1A-8C9D-0648588A8481}"/>
              </a:ext>
            </a:extLst>
          </p:cNvPr>
          <p:cNvSpPr>
            <a:spLocks noGrp="1"/>
          </p:cNvSpPr>
          <p:nvPr/>
        </p:nvSpPr>
        <p:spPr>
          <a:xfrm>
            <a:off x="8515350" y="2533650"/>
            <a:ext cx="685800" cy="68580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FF1C48E-5BD0-4783-9B5F-9CD7A9A77DD4}"/>
              </a:ext>
            </a:extLst>
          </p:cNvPr>
          <p:cNvSpPr>
            <a:spLocks noGrp="1"/>
          </p:cNvSpPr>
          <p:nvPr/>
        </p:nvSpPr>
        <p:spPr>
          <a:xfrm>
            <a:off x="8515350" y="2695575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AE7325C-B220-4DD8-937A-0AFCD38AC2AC}"/>
              </a:ext>
            </a:extLst>
          </p:cNvPr>
          <p:cNvSpPr>
            <a:spLocks noGrp="1"/>
          </p:cNvSpPr>
          <p:nvPr/>
        </p:nvSpPr>
        <p:spPr>
          <a:xfrm>
            <a:off x="8010525" y="3333750"/>
            <a:ext cx="169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内部代码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7E1AD58-3805-4CBB-B0C5-AD0CFD42C229}"/>
              </a:ext>
            </a:extLst>
          </p:cNvPr>
          <p:cNvSpPr>
            <a:spLocks noGrp="1"/>
          </p:cNvSpPr>
          <p:nvPr/>
        </p:nvSpPr>
        <p:spPr>
          <a:xfrm>
            <a:off x="8010525" y="3981450"/>
            <a:ext cx="1695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350"/>
              <a:t>局部代码实现
差异 / 诊断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F9DAF4FD-BC3F-4584-9B71-B1636FEDB026}"/>
              </a:ext>
            </a:extLst>
          </p:cNvPr>
          <p:cNvSpPr>
            <a:spLocks noGrp="1"/>
          </p:cNvSpPr>
          <p:nvPr/>
        </p:nvSpPr>
        <p:spPr>
          <a:xfrm>
            <a:off x="10229850" y="2533650"/>
            <a:ext cx="685800" cy="68580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3EA1FC6-3496-484C-95F5-14F46B1D35DC}"/>
              </a:ext>
            </a:extLst>
          </p:cNvPr>
          <p:cNvSpPr>
            <a:spLocks noGrp="1"/>
          </p:cNvSpPr>
          <p:nvPr/>
        </p:nvSpPr>
        <p:spPr>
          <a:xfrm>
            <a:off x="10229850" y="2695575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3475CB5-1F52-4474-A185-5DCFD29BB854}"/>
              </a:ext>
            </a:extLst>
          </p:cNvPr>
          <p:cNvSpPr>
            <a:spLocks noGrp="1"/>
          </p:cNvSpPr>
          <p:nvPr/>
        </p:nvSpPr>
        <p:spPr>
          <a:xfrm>
            <a:off x="9725025" y="3333750"/>
            <a:ext cx="169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校验与回退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CF6F002-6517-421A-8333-2339096B420A}"/>
              </a:ext>
            </a:extLst>
          </p:cNvPr>
          <p:cNvSpPr>
            <a:spLocks noGrp="1"/>
          </p:cNvSpPr>
          <p:nvPr/>
        </p:nvSpPr>
        <p:spPr>
          <a:xfrm>
            <a:off x="9725025" y="3981450"/>
            <a:ext cx="1695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350"/>
              <a:t>编译 / 测试
接受 / 回退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ED85272-C52C-40FA-B761-776CF436006A}"/>
              </a:ext>
            </a:extLst>
          </p:cNvPr>
          <p:cNvSpPr>
            <a:spLocks noGrp="1"/>
          </p:cNvSpPr>
          <p:nvPr/>
        </p:nvSpPr>
        <p:spPr>
          <a:xfrm>
            <a:off x="685800" y="5181600"/>
            <a:ext cx="10820400" cy="800100"/>
          </a:xfrm>
          <a:prstGeom prst="roundRect">
            <a:avLst>
              <a:gd name="adj" fmla="val 23810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5759AD1-71DC-48F0-89B6-BD531D8DC641}"/>
              </a:ext>
            </a:extLst>
          </p:cNvPr>
          <p:cNvSpPr>
            <a:spLocks noGrp="1"/>
          </p:cNvSpPr>
          <p:nvPr/>
        </p:nvSpPr>
        <p:spPr>
          <a:xfrm>
            <a:off x="952500" y="5391150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同一块能力：可组合 · 可展开 · 可编辑 · 可验证 · 可回退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340A4D9-AB1E-4082-B642-C0C46F98DF6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C5E1450-E4DF-4EFF-A864-D90D800E3F84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08E4714-55B0-428F-BB84-CF5DF9C58744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145506"/>
            <a:ext cx="3524250" cy="264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0891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EF5900A0-923A-4E1C-846F-F3A5107244E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多画布与应用界面 · 目标形态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5AB7AA0-9727-4E4C-BBF2-EEFD311E9B4E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 项目需要页面时，前端由同一项目显式创建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B59B95-7AD1-45F7-BF1A-D167D669074D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画布标签拆分 Agent / 自动化 / 规则｜浏览器标签预览可选 AppSurface｜关闭标签不删除产物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9CFA51A-88FD-4410-B098-83E927B78C40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6572250" cy="3790950"/>
          </a:xfrm>
          <a:prstGeom prst="roundRect">
            <a:avLst>
              <a:gd name="adj" fmla="val 5528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261A894-4ED3-4098-A787-A216B85C609B}"/>
              </a:ext>
            </a:extLst>
          </p:cNvPr>
          <p:cNvSpPr>
            <a:spLocks noGrp="1"/>
          </p:cNvSpPr>
          <p:nvPr/>
        </p:nvSpPr>
        <p:spPr>
          <a:xfrm>
            <a:off x="971550" y="5162550"/>
            <a:ext cx="2419350" cy="32385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9E048C9-2F90-43B2-9A6E-237B4222655B}"/>
              </a:ext>
            </a:extLst>
          </p:cNvPr>
          <p:cNvSpPr>
            <a:spLocks noGrp="1"/>
          </p:cNvSpPr>
          <p:nvPr/>
        </p:nvSpPr>
        <p:spPr>
          <a:xfrm>
            <a:off x="1066800" y="5229225"/>
            <a:ext cx="2228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4603" lnSpcReduction="10000"/>
          </a:bodyPr>
          <a:lstStyle/>
          <a:p>
            <a:pPr algn="ctr"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概念示意 · AppSurface 由用户主动创建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55A2940-0D37-4B5C-88BF-0A81177F04BB}"/>
              </a:ext>
            </a:extLst>
          </p:cNvPr>
          <p:cNvSpPr>
            <a:spLocks noGrp="1"/>
          </p:cNvSpPr>
          <p:nvPr/>
        </p:nvSpPr>
        <p:spPr>
          <a:xfrm>
            <a:off x="7734300" y="19621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项目内一套交付路径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620E0F9-1BA2-45FA-A5DC-B1170BEE77DB}"/>
              </a:ext>
            </a:extLst>
          </p:cNvPr>
          <p:cNvSpPr>
            <a:spLocks noGrp="1"/>
          </p:cNvSpPr>
          <p:nvPr/>
        </p:nvSpPr>
        <p:spPr>
          <a:xfrm>
            <a:off x="7734300" y="251460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B6DA326-0AB4-44AA-B072-DC5B94BDB2DF}"/>
              </a:ext>
            </a:extLst>
          </p:cNvPr>
          <p:cNvSpPr>
            <a:spLocks noGrp="1"/>
          </p:cNvSpPr>
          <p:nvPr/>
        </p:nvSpPr>
        <p:spPr>
          <a:xfrm>
            <a:off x="7848600" y="26384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多画布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74AD1FB-B3C4-4112-B08A-E37E65537F63}"/>
              </a:ext>
            </a:extLst>
          </p:cNvPr>
          <p:cNvSpPr>
            <a:spLocks noGrp="1"/>
          </p:cNvSpPr>
          <p:nvPr/>
        </p:nvSpPr>
        <p:spPr>
          <a:xfrm>
            <a:off x="9410700" y="251460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B8B38E6-C18D-4E35-B6A5-8AA91FDE5CB1}"/>
              </a:ext>
            </a:extLst>
          </p:cNvPr>
          <p:cNvSpPr>
            <a:spLocks noGrp="1"/>
          </p:cNvSpPr>
          <p:nvPr/>
        </p:nvSpPr>
        <p:spPr>
          <a:xfrm>
            <a:off x="9525000" y="26384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稳定引用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E7209BE-AF05-4C3A-938C-A41B2F8E1AB8}"/>
              </a:ext>
            </a:extLst>
          </p:cNvPr>
          <p:cNvSpPr>
            <a:spLocks noGrp="1"/>
          </p:cNvSpPr>
          <p:nvPr/>
        </p:nvSpPr>
        <p:spPr>
          <a:xfrm>
            <a:off x="7734300" y="314325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DF6BB91-EC5F-4ABB-B3A5-5DF4EABB1CF9}"/>
              </a:ext>
            </a:extLst>
          </p:cNvPr>
          <p:cNvSpPr>
            <a:spLocks noGrp="1"/>
          </p:cNvSpPr>
          <p:nvPr/>
        </p:nvSpPr>
        <p:spPr>
          <a:xfrm>
            <a:off x="7848600" y="326707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应用界面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34DC32F-04E8-4D1B-A6E1-CB7BAC03A0EB}"/>
              </a:ext>
            </a:extLst>
          </p:cNvPr>
          <p:cNvSpPr>
            <a:spLocks noGrp="1"/>
          </p:cNvSpPr>
          <p:nvPr/>
        </p:nvSpPr>
        <p:spPr>
          <a:xfrm>
            <a:off x="9410700" y="314325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F2E0D15-2836-4F23-99A8-0A64734DDA40}"/>
              </a:ext>
            </a:extLst>
          </p:cNvPr>
          <p:cNvSpPr>
            <a:spLocks noGrp="1"/>
          </p:cNvSpPr>
          <p:nvPr/>
        </p:nvSpPr>
        <p:spPr>
          <a:xfrm>
            <a:off x="9525000" y="326707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前端源码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7666679-9916-4127-93CF-54C50FC49DEA}"/>
              </a:ext>
            </a:extLst>
          </p:cNvPr>
          <p:cNvSpPr>
            <a:spLocks noGrp="1"/>
          </p:cNvSpPr>
          <p:nvPr/>
        </p:nvSpPr>
        <p:spPr>
          <a:xfrm>
            <a:off x="7734300" y="377190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E51C3D2-2DDE-40D5-91FD-9B30DF022013}"/>
              </a:ext>
            </a:extLst>
          </p:cNvPr>
          <p:cNvSpPr>
            <a:spLocks noGrp="1"/>
          </p:cNvSpPr>
          <p:nvPr/>
        </p:nvSpPr>
        <p:spPr>
          <a:xfrm>
            <a:off x="7848600" y="38957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浏览器预览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BDD0FF4-49F3-46E6-958D-DE773733879A}"/>
              </a:ext>
            </a:extLst>
          </p:cNvPr>
          <p:cNvSpPr>
            <a:spLocks noGrp="1"/>
          </p:cNvSpPr>
          <p:nvPr/>
        </p:nvSpPr>
        <p:spPr>
          <a:xfrm>
            <a:off x="9410700" y="377190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1D576F6-9BD2-41A0-8E5B-F4513EA728BD}"/>
              </a:ext>
            </a:extLst>
          </p:cNvPr>
          <p:cNvSpPr>
            <a:spLocks noGrp="1"/>
          </p:cNvSpPr>
          <p:nvPr/>
        </p:nvSpPr>
        <p:spPr>
          <a:xfrm>
            <a:off x="9525000" y="38957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Bridge 清单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F5A1C88-A08D-4D68-8ED0-EF46CECCF404}"/>
              </a:ext>
            </a:extLst>
          </p:cNvPr>
          <p:cNvSpPr>
            <a:spLocks noGrp="1"/>
          </p:cNvSpPr>
          <p:nvPr/>
        </p:nvSpPr>
        <p:spPr>
          <a:xfrm>
            <a:off x="7734300" y="440055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B89A2F2-3DD2-4C06-A9F0-228B03F4ED01}"/>
              </a:ext>
            </a:extLst>
          </p:cNvPr>
          <p:cNvSpPr>
            <a:spLocks noGrp="1"/>
          </p:cNvSpPr>
          <p:nvPr/>
        </p:nvSpPr>
        <p:spPr>
          <a:xfrm>
            <a:off x="7848600" y="452437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隔离存储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C33F627-823A-489F-94C4-FC9D9CE71389}"/>
              </a:ext>
            </a:extLst>
          </p:cNvPr>
          <p:cNvSpPr>
            <a:spLocks noGrp="1"/>
          </p:cNvSpPr>
          <p:nvPr/>
        </p:nvSpPr>
        <p:spPr>
          <a:xfrm>
            <a:off x="7734300" y="5200650"/>
            <a:ext cx="3238500" cy="514350"/>
          </a:xfrm>
          <a:prstGeom prst="roundRect">
            <a:avLst>
              <a:gd name="adj" fmla="val 25926"/>
            </a:avLst>
          </a:prstGeom>
          <a:solidFill>
            <a:srgbClr val="EAF2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06272D5-C6B4-478C-9CFF-B9CFF8A839B0}"/>
              </a:ext>
            </a:extLst>
          </p:cNvPr>
          <p:cNvSpPr>
            <a:spLocks noGrp="1"/>
          </p:cNvSpPr>
          <p:nvPr/>
        </p:nvSpPr>
        <p:spPr>
          <a:xfrm>
            <a:off x="7867650" y="5229225"/>
            <a:ext cx="2971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统一 Agent 项目格式</a:t>
            </a:r>
          </a:p>
          <a:p>
            <a:pPr algn="ctr">
              <a:buNone/>
              <a:defRPr sz="1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共享 IR、Runtime Core、轨迹与权限模型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9A25289-91C1-4471-8AA3-88C75A96652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B7B57DB-12D0-452A-88EA-454AE1E72B99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99F2206-526C-4EC7-9D06-DFA927D68B68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3"/>
          <a:srcRect t="2671" b="2671"/>
          <a:stretch/>
        </p:blipFill>
        <p:spPr>
          <a:xfrm>
            <a:off x="819150" y="2076450"/>
            <a:ext cx="6305550" cy="30861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8880803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ACE6BEB0-5134-4740-8BC5-70438A9E547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Agent + 自动化 · 目标形态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593C4D-248B-4BA9-B5FD-3076450D4322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办公场景沿用同一积木语言，不另起一套产品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A294B6-FC5C-481E-9BCB-E0BD442C051E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把资料理解、浏览器操作、桌面应用与人工确认，组合成可追踪的有人值守流程。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E0EE404-A53E-47C8-BD14-1A6FF57ECB76}"/>
              </a:ext>
            </a:extLst>
          </p:cNvPr>
          <p:cNvSpPr>
            <a:spLocks noGrp="1"/>
          </p:cNvSpPr>
          <p:nvPr/>
        </p:nvSpPr>
        <p:spPr>
          <a:xfrm>
            <a:off x="5429250" y="2876550"/>
            <a:ext cx="5143500" cy="476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DEA320BC-DCBD-459B-B601-6F0A4EF60DC0}"/>
              </a:ext>
            </a:extLst>
          </p:cNvPr>
          <p:cNvSpPr>
            <a:spLocks noGrp="1"/>
          </p:cNvSpPr>
          <p:nvPr/>
        </p:nvSpPr>
        <p:spPr>
          <a:xfrm>
            <a:off x="5086350" y="2533650"/>
            <a:ext cx="685800" cy="68580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8BF5B1-FF19-480C-A1F9-B3EBD55A3217}"/>
              </a:ext>
            </a:extLst>
          </p:cNvPr>
          <p:cNvSpPr>
            <a:spLocks noGrp="1"/>
          </p:cNvSpPr>
          <p:nvPr/>
        </p:nvSpPr>
        <p:spPr>
          <a:xfrm>
            <a:off x="5086350" y="2695575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5EB8ED1-07E5-4EEC-85C0-40D8A0D67C14}"/>
              </a:ext>
            </a:extLst>
          </p:cNvPr>
          <p:cNvSpPr>
            <a:spLocks noGrp="1"/>
          </p:cNvSpPr>
          <p:nvPr/>
        </p:nvSpPr>
        <p:spPr>
          <a:xfrm>
            <a:off x="4581525" y="3333750"/>
            <a:ext cx="169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资料与表格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B674A9-88C9-467B-8B72-EE50C9BD6D2F}"/>
              </a:ext>
            </a:extLst>
          </p:cNvPr>
          <p:cNvSpPr>
            <a:spLocks noGrp="1"/>
          </p:cNvSpPr>
          <p:nvPr/>
        </p:nvSpPr>
        <p:spPr>
          <a:xfrm>
            <a:off x="4581525" y="3981450"/>
            <a:ext cx="1695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350"/>
              <a:t>读取结构化
来源 / Schema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B2DC4C0-F9C1-4B05-86E6-F1C7ABDF1CA9}"/>
              </a:ext>
            </a:extLst>
          </p:cNvPr>
          <p:cNvSpPr>
            <a:spLocks noGrp="1"/>
          </p:cNvSpPr>
          <p:nvPr/>
        </p:nvSpPr>
        <p:spPr>
          <a:xfrm>
            <a:off x="6800850" y="2533650"/>
            <a:ext cx="685800" cy="68580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E25F763-49D5-4981-BAE1-812D10DBBCDD}"/>
              </a:ext>
            </a:extLst>
          </p:cNvPr>
          <p:cNvSpPr>
            <a:spLocks noGrp="1"/>
          </p:cNvSpPr>
          <p:nvPr/>
        </p:nvSpPr>
        <p:spPr>
          <a:xfrm>
            <a:off x="6800850" y="2695575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03C79FC-38CA-4920-BCFA-97252FFA762D}"/>
              </a:ext>
            </a:extLst>
          </p:cNvPr>
          <p:cNvSpPr>
            <a:spLocks noGrp="1"/>
          </p:cNvSpPr>
          <p:nvPr/>
        </p:nvSpPr>
        <p:spPr>
          <a:xfrm>
            <a:off x="6296025" y="3333750"/>
            <a:ext cx="169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浏览器与桌面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6934EE-6AF6-484E-B295-F75570571BE2}"/>
              </a:ext>
            </a:extLst>
          </p:cNvPr>
          <p:cNvSpPr>
            <a:spLocks noGrp="1"/>
          </p:cNvSpPr>
          <p:nvPr/>
        </p:nvSpPr>
        <p:spPr>
          <a:xfrm>
            <a:off x="6296025" y="3981450"/>
            <a:ext cx="1695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350"/>
              <a:t>语义操作
浏览器 / 桌面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700918C-A06B-4E1A-8C9D-0648588A8481}"/>
              </a:ext>
            </a:extLst>
          </p:cNvPr>
          <p:cNvSpPr>
            <a:spLocks noGrp="1"/>
          </p:cNvSpPr>
          <p:nvPr/>
        </p:nvSpPr>
        <p:spPr>
          <a:xfrm>
            <a:off x="8515350" y="2533650"/>
            <a:ext cx="685800" cy="68580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FF1C48E-5BD0-4783-9B5F-9CD7A9A77DD4}"/>
              </a:ext>
            </a:extLst>
          </p:cNvPr>
          <p:cNvSpPr>
            <a:spLocks noGrp="1"/>
          </p:cNvSpPr>
          <p:nvPr/>
        </p:nvSpPr>
        <p:spPr>
          <a:xfrm>
            <a:off x="8515350" y="2695575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AE7325C-B220-4DD8-937A-0AFCD38AC2AC}"/>
              </a:ext>
            </a:extLst>
          </p:cNvPr>
          <p:cNvSpPr>
            <a:spLocks noGrp="1"/>
          </p:cNvSpPr>
          <p:nvPr/>
        </p:nvSpPr>
        <p:spPr>
          <a:xfrm>
            <a:off x="8010525" y="3333750"/>
            <a:ext cx="169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 + RPA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7E1AD58-3805-4CBB-B0C5-AD0CFD42C229}"/>
              </a:ext>
            </a:extLst>
          </p:cNvPr>
          <p:cNvSpPr>
            <a:spLocks noGrp="1"/>
          </p:cNvSpPr>
          <p:nvPr/>
        </p:nvSpPr>
        <p:spPr>
          <a:xfrm>
            <a:off x="8010525" y="3981450"/>
            <a:ext cx="1695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350"/>
              <a:t>有人值守
审批 / 检查点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F9DAF4FD-BC3F-4584-9B71-B1636FEDB026}"/>
              </a:ext>
            </a:extLst>
          </p:cNvPr>
          <p:cNvSpPr>
            <a:spLocks noGrp="1"/>
          </p:cNvSpPr>
          <p:nvPr/>
        </p:nvSpPr>
        <p:spPr>
          <a:xfrm>
            <a:off x="10229850" y="2533650"/>
            <a:ext cx="685800" cy="685800"/>
          </a:xfrm>
          <a:prstGeom prst="ellipse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3EA1FC6-3496-484C-95F5-14F46B1D35DC}"/>
              </a:ext>
            </a:extLst>
          </p:cNvPr>
          <p:cNvSpPr>
            <a:spLocks noGrp="1"/>
          </p:cNvSpPr>
          <p:nvPr/>
        </p:nvSpPr>
        <p:spPr>
          <a:xfrm>
            <a:off x="10229850" y="2695575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3475CB5-1F52-4474-A185-5DCFD29BB854}"/>
              </a:ext>
            </a:extLst>
          </p:cNvPr>
          <p:cNvSpPr>
            <a:spLocks noGrp="1"/>
          </p:cNvSpPr>
          <p:nvPr/>
        </p:nvSpPr>
        <p:spPr>
          <a:xfrm>
            <a:off x="9725025" y="3333750"/>
            <a:ext cx="169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人工与恢复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CF6F002-6517-421A-8333-2339096B420A}"/>
              </a:ext>
            </a:extLst>
          </p:cNvPr>
          <p:cNvSpPr>
            <a:spLocks noGrp="1"/>
          </p:cNvSpPr>
          <p:nvPr/>
        </p:nvSpPr>
        <p:spPr>
          <a:xfrm>
            <a:off x="9725025" y="3981450"/>
            <a:ext cx="1695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350"/>
              <a:t>动作确认
暂停 / 恢复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ED85272-C52C-40FA-B761-776CF436006A}"/>
              </a:ext>
            </a:extLst>
          </p:cNvPr>
          <p:cNvSpPr>
            <a:spLocks noGrp="1"/>
          </p:cNvSpPr>
          <p:nvPr/>
        </p:nvSpPr>
        <p:spPr>
          <a:xfrm>
            <a:off x="685800" y="5181600"/>
            <a:ext cx="10820400" cy="800100"/>
          </a:xfrm>
          <a:prstGeom prst="roundRect">
            <a:avLst>
              <a:gd name="adj" fmla="val 23810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5759AD1-71DC-48F0-89B6-BD531D8DC641}"/>
              </a:ext>
            </a:extLst>
          </p:cNvPr>
          <p:cNvSpPr>
            <a:spLocks noGrp="1"/>
          </p:cNvSpPr>
          <p:nvPr/>
        </p:nvSpPr>
        <p:spPr>
          <a:xfrm>
            <a:off x="952500" y="5391150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同一项目可容纳 Agent、自动化、规则、数据与应用界面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340A4D9-AB1E-4082-B642-C0C46F98DF6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C5E1450-E4DF-4EFF-A864-D90D800E3F84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08E4714-55B0-428F-BB84-CF5DF9C58744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145506"/>
            <a:ext cx="3524250" cy="264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0891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A95339E4-F604-4D6A-86EF-DF2CD0929E1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办公蓝图 · 目标形态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370CF98-9ECF-4290-B608-8ACEB1A04835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六类办公蓝图覆盖“理解—执行—核验—交付”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79087C1-24E9-4883-BB39-FFC3752BBE8C}"/>
              </a:ext>
            </a:extLst>
          </p:cNvPr>
          <p:cNvSpPr>
            <a:spLocks noGrp="1"/>
          </p:cNvSpPr>
          <p:nvPr/>
        </p:nvSpPr>
        <p:spPr>
          <a:xfrm>
            <a:off x="1714500" y="2019300"/>
            <a:ext cx="7905750" cy="3429000"/>
          </a:xfrm>
          <a:prstGeom prst="roundRect">
            <a:avLst>
              <a:gd name="adj" fmla="val 5556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AF039EF-8669-48E6-8355-B3E3CDD61D65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先以有人值守流程进入真实办公；团队可按权限、数据与系统逐步扩展。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252EBC-6654-4A56-A43D-04234BEB26AE}"/>
              </a:ext>
            </a:extLst>
          </p:cNvPr>
          <p:cNvSpPr>
            <a:spLocks noGrp="1"/>
          </p:cNvSpPr>
          <p:nvPr/>
        </p:nvSpPr>
        <p:spPr>
          <a:xfrm>
            <a:off x="876300" y="5105400"/>
            <a:ext cx="10439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1" i="0">
                <a:solidFill>
                  <a:srgbClr val="145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共同底座：项目模块 + 权限 + 检查点 + RuntimeEvent + Trace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710F48B-9833-4CEA-96EC-F710C0DB08BB}"/>
              </a:ext>
            </a:extLst>
          </p:cNvPr>
          <p:cNvSpPr>
            <a:spLocks noGrp="1"/>
          </p:cNvSpPr>
          <p:nvPr/>
        </p:nvSpPr>
        <p:spPr>
          <a:xfrm>
            <a:off x="9906000" y="2076450"/>
            <a:ext cx="1600200" cy="3352800"/>
          </a:xfrm>
          <a:prstGeom prst="roundRect">
            <a:avLst>
              <a:gd name="adj" fmla="val 11905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ACF8F47-F459-4EE8-AFFB-431D2346A884}"/>
              </a:ext>
            </a:extLst>
          </p:cNvPr>
          <p:cNvSpPr>
            <a:spLocks noGrp="1"/>
          </p:cNvSpPr>
          <p:nvPr/>
        </p:nvSpPr>
        <p:spPr>
          <a:xfrm>
            <a:off x="685800" y="5600700"/>
            <a:ext cx="10820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办公价值：减少重复搬运，同时保留来源、授权、过程与责任边界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CA2238B-6981-4EEF-9644-CAB79A1ED2D3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EEEB512-B61D-4234-BF5B-E7FCE68FD363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36BBFE9-8C7C-4891-A36F-ED778245CE43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26" name="compat-card-fill-1-1">
            <a:extLst>
              <a:ext uri="{FF2B5EF4-FFF2-40B4-BE49-F238E27FC236}">
                <a16:creationId xmlns:a16="http://schemas.microsoft.com/office/drawing/2014/main" id="{F69DB481-5385-40C6-8BEA-8619F0A3E72B}"/>
              </a:ext>
            </a:extLst>
          </p:cNvPr>
          <p:cNvSpPr>
            <a:spLocks noGrp="1"/>
          </p:cNvSpPr>
          <p:nvPr/>
        </p:nvSpPr>
        <p:spPr>
          <a:xfrm>
            <a:off x="895350" y="2133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compat-card-fill-1-2">
            <a:extLst>
              <a:ext uri="{FF2B5EF4-FFF2-40B4-BE49-F238E27FC236}">
                <a16:creationId xmlns:a16="http://schemas.microsoft.com/office/drawing/2014/main" id="{E4EF5A44-61F6-43D8-A716-C98483ED0778}"/>
              </a:ext>
            </a:extLst>
          </p:cNvPr>
          <p:cNvSpPr>
            <a:spLocks noGrp="1"/>
          </p:cNvSpPr>
          <p:nvPr/>
        </p:nvSpPr>
        <p:spPr>
          <a:xfrm>
            <a:off x="895350" y="2514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compat-card-fill-1-3">
            <a:extLst>
              <a:ext uri="{FF2B5EF4-FFF2-40B4-BE49-F238E27FC236}">
                <a16:creationId xmlns:a16="http://schemas.microsoft.com/office/drawing/2014/main" id="{2D5C7F0A-2376-4FCC-B006-D475EB4611E7}"/>
              </a:ext>
            </a:extLst>
          </p:cNvPr>
          <p:cNvSpPr>
            <a:spLocks noGrp="1"/>
          </p:cNvSpPr>
          <p:nvPr/>
        </p:nvSpPr>
        <p:spPr>
          <a:xfrm>
            <a:off x="895350" y="28956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compat-card-1">
            <a:extLst>
              <a:ext uri="{FF2B5EF4-FFF2-40B4-BE49-F238E27FC236}">
                <a16:creationId xmlns:a16="http://schemas.microsoft.com/office/drawing/2014/main" id="{6C151DE4-71A9-4FA2-9A44-BC594719616F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compat-accent-1">
            <a:extLst>
              <a:ext uri="{FF2B5EF4-FFF2-40B4-BE49-F238E27FC236}">
                <a16:creationId xmlns:a16="http://schemas.microsoft.com/office/drawing/2014/main" id="{4A5AF1A7-B885-4B88-B017-97B67775F82B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compat-title-1">
            <a:extLst>
              <a:ext uri="{FF2B5EF4-FFF2-40B4-BE49-F238E27FC236}">
                <a16:creationId xmlns:a16="http://schemas.microsoft.com/office/drawing/2014/main" id="{34755EBE-93F0-4137-A1C0-A92B874AF4D1}"/>
              </a:ext>
            </a:extLst>
          </p:cNvPr>
          <p:cNvSpPr>
            <a:spLocks noGrp="1"/>
          </p:cNvSpPr>
          <p:nvPr/>
        </p:nvSpPr>
        <p:spPr>
          <a:xfrm>
            <a:off x="1066800" y="22479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资料问答与报告</a:t>
            </a:r>
          </a:p>
        </p:txBody>
      </p:sp>
      <p:sp>
        <p:nvSpPr>
          <p:cNvPr id="32" name="compat-name-1">
            <a:extLst>
              <a:ext uri="{FF2B5EF4-FFF2-40B4-BE49-F238E27FC236}">
                <a16:creationId xmlns:a16="http://schemas.microsoft.com/office/drawing/2014/main" id="{7B4D9A5C-E768-4DC4-A8BF-A0C0D3177F91}"/>
              </a:ext>
            </a:extLst>
          </p:cNvPr>
          <p:cNvSpPr>
            <a:spLocks noGrp="1"/>
          </p:cNvSpPr>
          <p:nvPr/>
        </p:nvSpPr>
        <p:spPr>
          <a:xfrm>
            <a:off x="1066800" y="25336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带引用回答</a:t>
            </a:r>
          </a:p>
        </p:txBody>
      </p:sp>
      <p:sp>
        <p:nvSpPr>
          <p:cNvPr id="33" name="compat-desc-1">
            <a:extLst>
              <a:ext uri="{FF2B5EF4-FFF2-40B4-BE49-F238E27FC236}">
                <a16:creationId xmlns:a16="http://schemas.microsoft.com/office/drawing/2014/main" id="{6EEF4EE7-6902-4F7D-979E-88501EA44802}"/>
              </a:ext>
            </a:extLst>
          </p:cNvPr>
          <p:cNvSpPr>
            <a:spLocks noGrp="1"/>
          </p:cNvSpPr>
          <p:nvPr/>
        </p:nvSpPr>
        <p:spPr>
          <a:xfrm>
            <a:off x="1066800" y="29527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摘要 / 周报 / 研究整理</a:t>
            </a:r>
          </a:p>
        </p:txBody>
      </p:sp>
      <p:sp>
        <p:nvSpPr>
          <p:cNvPr id="34" name="compat-card-fill-2-1">
            <a:extLst>
              <a:ext uri="{FF2B5EF4-FFF2-40B4-BE49-F238E27FC236}">
                <a16:creationId xmlns:a16="http://schemas.microsoft.com/office/drawing/2014/main" id="{6678D41D-B7A4-47ED-A705-BC8B0F76C6AB}"/>
              </a:ext>
            </a:extLst>
          </p:cNvPr>
          <p:cNvSpPr>
            <a:spLocks noGrp="1"/>
          </p:cNvSpPr>
          <p:nvPr/>
        </p:nvSpPr>
        <p:spPr>
          <a:xfrm>
            <a:off x="4438650" y="2133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compat-card-fill-2-2">
            <a:extLst>
              <a:ext uri="{FF2B5EF4-FFF2-40B4-BE49-F238E27FC236}">
                <a16:creationId xmlns:a16="http://schemas.microsoft.com/office/drawing/2014/main" id="{AF7B2C68-02AD-4AB9-9093-19F05DEF1A4B}"/>
              </a:ext>
            </a:extLst>
          </p:cNvPr>
          <p:cNvSpPr>
            <a:spLocks noGrp="1"/>
          </p:cNvSpPr>
          <p:nvPr/>
        </p:nvSpPr>
        <p:spPr>
          <a:xfrm>
            <a:off x="4438650" y="2514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compat-card-fill-2-3">
            <a:extLst>
              <a:ext uri="{FF2B5EF4-FFF2-40B4-BE49-F238E27FC236}">
                <a16:creationId xmlns:a16="http://schemas.microsoft.com/office/drawing/2014/main" id="{E3636D79-096C-47D6-B78F-E30DAF504A34}"/>
              </a:ext>
            </a:extLst>
          </p:cNvPr>
          <p:cNvSpPr>
            <a:spLocks noGrp="1"/>
          </p:cNvSpPr>
          <p:nvPr/>
        </p:nvSpPr>
        <p:spPr>
          <a:xfrm>
            <a:off x="4438650" y="28956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compat-card-2">
            <a:extLst>
              <a:ext uri="{FF2B5EF4-FFF2-40B4-BE49-F238E27FC236}">
                <a16:creationId xmlns:a16="http://schemas.microsoft.com/office/drawing/2014/main" id="{59DCAF35-0EEB-4DA4-B734-CCF9E9C4CFF7}"/>
              </a:ext>
            </a:extLst>
          </p:cNvPr>
          <p:cNvSpPr>
            <a:spLocks noGrp="1"/>
          </p:cNvSpPr>
          <p:nvPr/>
        </p:nvSpPr>
        <p:spPr>
          <a:xfrm>
            <a:off x="4381500" y="20764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compat-accent-2">
            <a:extLst>
              <a:ext uri="{FF2B5EF4-FFF2-40B4-BE49-F238E27FC236}">
                <a16:creationId xmlns:a16="http://schemas.microsoft.com/office/drawing/2014/main" id="{6D379EDB-817E-4F0B-91DB-DF83E8488E25}"/>
              </a:ext>
            </a:extLst>
          </p:cNvPr>
          <p:cNvSpPr>
            <a:spLocks noGrp="1"/>
          </p:cNvSpPr>
          <p:nvPr/>
        </p:nvSpPr>
        <p:spPr>
          <a:xfrm>
            <a:off x="4381500" y="22288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compat-title-2">
            <a:extLst>
              <a:ext uri="{FF2B5EF4-FFF2-40B4-BE49-F238E27FC236}">
                <a16:creationId xmlns:a16="http://schemas.microsoft.com/office/drawing/2014/main" id="{E6BC2108-034B-409A-ABE7-485519372F2C}"/>
              </a:ext>
            </a:extLst>
          </p:cNvPr>
          <p:cNvSpPr>
            <a:spLocks noGrp="1"/>
          </p:cNvSpPr>
          <p:nvPr/>
        </p:nvSpPr>
        <p:spPr>
          <a:xfrm>
            <a:off x="4610100" y="22479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表格清洗与汇总</a:t>
            </a:r>
          </a:p>
        </p:txBody>
      </p:sp>
      <p:sp>
        <p:nvSpPr>
          <p:cNvPr id="40" name="compat-name-2">
            <a:extLst>
              <a:ext uri="{FF2B5EF4-FFF2-40B4-BE49-F238E27FC236}">
                <a16:creationId xmlns:a16="http://schemas.microsoft.com/office/drawing/2014/main" id="{53F45C2E-A901-407B-AAAB-6E9BA20F451C}"/>
              </a:ext>
            </a:extLst>
          </p:cNvPr>
          <p:cNvSpPr>
            <a:spLocks noGrp="1"/>
          </p:cNvSpPr>
          <p:nvPr/>
        </p:nvSpPr>
        <p:spPr>
          <a:xfrm>
            <a:off x="4610100" y="25336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Excel / CSV</a:t>
            </a:r>
          </a:p>
        </p:txBody>
      </p:sp>
      <p:sp>
        <p:nvSpPr>
          <p:cNvPr id="41" name="compat-desc-2">
            <a:extLst>
              <a:ext uri="{FF2B5EF4-FFF2-40B4-BE49-F238E27FC236}">
                <a16:creationId xmlns:a16="http://schemas.microsoft.com/office/drawing/2014/main" id="{7857053F-D439-4C53-B6DB-03E22CF16485}"/>
              </a:ext>
            </a:extLst>
          </p:cNvPr>
          <p:cNvSpPr>
            <a:spLocks noGrp="1"/>
          </p:cNvSpPr>
          <p:nvPr/>
        </p:nvSpPr>
        <p:spPr>
          <a:xfrm>
            <a:off x="4610100" y="29527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去重 / 对账 / 指标回填</a:t>
            </a:r>
          </a:p>
        </p:txBody>
      </p:sp>
      <p:sp>
        <p:nvSpPr>
          <p:cNvPr id="42" name="compat-card-fill-3-1">
            <a:extLst>
              <a:ext uri="{FF2B5EF4-FFF2-40B4-BE49-F238E27FC236}">
                <a16:creationId xmlns:a16="http://schemas.microsoft.com/office/drawing/2014/main" id="{D02C6BBE-B855-49E3-9FFF-F9AAB4710C1E}"/>
              </a:ext>
            </a:extLst>
          </p:cNvPr>
          <p:cNvSpPr>
            <a:spLocks noGrp="1"/>
          </p:cNvSpPr>
          <p:nvPr/>
        </p:nvSpPr>
        <p:spPr>
          <a:xfrm>
            <a:off x="7981950" y="2133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compat-card-fill-3-2">
            <a:extLst>
              <a:ext uri="{FF2B5EF4-FFF2-40B4-BE49-F238E27FC236}">
                <a16:creationId xmlns:a16="http://schemas.microsoft.com/office/drawing/2014/main" id="{777F7FB1-AD1C-4E78-AC1C-0C013DEA09DB}"/>
              </a:ext>
            </a:extLst>
          </p:cNvPr>
          <p:cNvSpPr>
            <a:spLocks noGrp="1"/>
          </p:cNvSpPr>
          <p:nvPr/>
        </p:nvSpPr>
        <p:spPr>
          <a:xfrm>
            <a:off x="7981950" y="2514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compat-card-fill-3-3">
            <a:extLst>
              <a:ext uri="{FF2B5EF4-FFF2-40B4-BE49-F238E27FC236}">
                <a16:creationId xmlns:a16="http://schemas.microsoft.com/office/drawing/2014/main" id="{45AFEE63-5A0B-450B-8AC2-1BF30F6BF4B6}"/>
              </a:ext>
            </a:extLst>
          </p:cNvPr>
          <p:cNvSpPr>
            <a:spLocks noGrp="1"/>
          </p:cNvSpPr>
          <p:nvPr/>
        </p:nvSpPr>
        <p:spPr>
          <a:xfrm>
            <a:off x="7981950" y="28956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compat-card-3">
            <a:extLst>
              <a:ext uri="{FF2B5EF4-FFF2-40B4-BE49-F238E27FC236}">
                <a16:creationId xmlns:a16="http://schemas.microsoft.com/office/drawing/2014/main" id="{EFD30262-A6C0-4D53-A7BF-1B52ACFE3797}"/>
              </a:ext>
            </a:extLst>
          </p:cNvPr>
          <p:cNvSpPr>
            <a:spLocks noGrp="1"/>
          </p:cNvSpPr>
          <p:nvPr/>
        </p:nvSpPr>
        <p:spPr>
          <a:xfrm>
            <a:off x="7924800" y="20764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compat-accent-3">
            <a:extLst>
              <a:ext uri="{FF2B5EF4-FFF2-40B4-BE49-F238E27FC236}">
                <a16:creationId xmlns:a16="http://schemas.microsoft.com/office/drawing/2014/main" id="{B425A560-FF61-42E2-8088-6874D276AB15}"/>
              </a:ext>
            </a:extLst>
          </p:cNvPr>
          <p:cNvSpPr>
            <a:spLocks noGrp="1"/>
          </p:cNvSpPr>
          <p:nvPr/>
        </p:nvSpPr>
        <p:spPr>
          <a:xfrm>
            <a:off x="7924800" y="22288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compat-title-3">
            <a:extLst>
              <a:ext uri="{FF2B5EF4-FFF2-40B4-BE49-F238E27FC236}">
                <a16:creationId xmlns:a16="http://schemas.microsoft.com/office/drawing/2014/main" id="{DE4D6871-BF98-4AEC-B845-AFDCEC1FCA89}"/>
              </a:ext>
            </a:extLst>
          </p:cNvPr>
          <p:cNvSpPr>
            <a:spLocks noGrp="1"/>
          </p:cNvSpPr>
          <p:nvPr/>
        </p:nvSpPr>
        <p:spPr>
          <a:xfrm>
            <a:off x="8153400" y="22479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ERP / CRM 录入</a:t>
            </a:r>
          </a:p>
        </p:txBody>
      </p:sp>
      <p:sp>
        <p:nvSpPr>
          <p:cNvPr id="48" name="compat-name-3">
            <a:extLst>
              <a:ext uri="{FF2B5EF4-FFF2-40B4-BE49-F238E27FC236}">
                <a16:creationId xmlns:a16="http://schemas.microsoft.com/office/drawing/2014/main" id="{DED0F3A4-98EC-4B28-99FD-5C1D27931BB8}"/>
              </a:ext>
            </a:extLst>
          </p:cNvPr>
          <p:cNvSpPr>
            <a:spLocks noGrp="1"/>
          </p:cNvSpPr>
          <p:nvPr/>
        </p:nvSpPr>
        <p:spPr>
          <a:xfrm>
            <a:off x="8153400" y="25336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旧系统表单</a:t>
            </a:r>
          </a:p>
        </p:txBody>
      </p:sp>
      <p:sp>
        <p:nvSpPr>
          <p:cNvPr id="49" name="compat-desc-3">
            <a:extLst>
              <a:ext uri="{FF2B5EF4-FFF2-40B4-BE49-F238E27FC236}">
                <a16:creationId xmlns:a16="http://schemas.microsoft.com/office/drawing/2014/main" id="{18FAF0F3-633A-440E-8341-7797379702B4}"/>
              </a:ext>
            </a:extLst>
          </p:cNvPr>
          <p:cNvSpPr>
            <a:spLocks noGrp="1"/>
          </p:cNvSpPr>
          <p:nvPr/>
        </p:nvSpPr>
        <p:spPr>
          <a:xfrm>
            <a:off x="8153400" y="29527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字段映射 / 校验 / 失败定位</a:t>
            </a:r>
          </a:p>
        </p:txBody>
      </p:sp>
      <p:sp>
        <p:nvSpPr>
          <p:cNvPr id="50" name="compat-card-fill-4-1">
            <a:extLst>
              <a:ext uri="{FF2B5EF4-FFF2-40B4-BE49-F238E27FC236}">
                <a16:creationId xmlns:a16="http://schemas.microsoft.com/office/drawing/2014/main" id="{E0562B3F-3B89-4B8F-A3C5-10385080D496}"/>
              </a:ext>
            </a:extLst>
          </p:cNvPr>
          <p:cNvSpPr>
            <a:spLocks noGrp="1"/>
          </p:cNvSpPr>
          <p:nvPr/>
        </p:nvSpPr>
        <p:spPr>
          <a:xfrm>
            <a:off x="895350" y="3695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compat-card-fill-4-2">
            <a:extLst>
              <a:ext uri="{FF2B5EF4-FFF2-40B4-BE49-F238E27FC236}">
                <a16:creationId xmlns:a16="http://schemas.microsoft.com/office/drawing/2014/main" id="{48C12C69-CFB1-4C46-BBD9-D4625CCBA581}"/>
              </a:ext>
            </a:extLst>
          </p:cNvPr>
          <p:cNvSpPr>
            <a:spLocks noGrp="1"/>
          </p:cNvSpPr>
          <p:nvPr/>
        </p:nvSpPr>
        <p:spPr>
          <a:xfrm>
            <a:off x="895350" y="4076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compat-card-fill-4-3">
            <a:extLst>
              <a:ext uri="{FF2B5EF4-FFF2-40B4-BE49-F238E27FC236}">
                <a16:creationId xmlns:a16="http://schemas.microsoft.com/office/drawing/2014/main" id="{B526D05E-C47D-49D2-A72B-7996334C26A3}"/>
              </a:ext>
            </a:extLst>
          </p:cNvPr>
          <p:cNvSpPr>
            <a:spLocks noGrp="1"/>
          </p:cNvSpPr>
          <p:nvPr/>
        </p:nvSpPr>
        <p:spPr>
          <a:xfrm>
            <a:off x="895350" y="44577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compat-card-4">
            <a:extLst>
              <a:ext uri="{FF2B5EF4-FFF2-40B4-BE49-F238E27FC236}">
                <a16:creationId xmlns:a16="http://schemas.microsoft.com/office/drawing/2014/main" id="{78665501-39CF-43AB-A709-09CE61C4A59E}"/>
              </a:ext>
            </a:extLst>
          </p:cNvPr>
          <p:cNvSpPr>
            <a:spLocks noGrp="1"/>
          </p:cNvSpPr>
          <p:nvPr/>
        </p:nvSpPr>
        <p:spPr>
          <a:xfrm>
            <a:off x="838200" y="36385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compat-accent-4">
            <a:extLst>
              <a:ext uri="{FF2B5EF4-FFF2-40B4-BE49-F238E27FC236}">
                <a16:creationId xmlns:a16="http://schemas.microsoft.com/office/drawing/2014/main" id="{49B9AA27-CD03-495D-9699-BB6DE584A024}"/>
              </a:ext>
            </a:extLst>
          </p:cNvPr>
          <p:cNvSpPr>
            <a:spLocks noGrp="1"/>
          </p:cNvSpPr>
          <p:nvPr/>
        </p:nvSpPr>
        <p:spPr>
          <a:xfrm>
            <a:off x="838200" y="37909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compat-title-4">
            <a:extLst>
              <a:ext uri="{FF2B5EF4-FFF2-40B4-BE49-F238E27FC236}">
                <a16:creationId xmlns:a16="http://schemas.microsoft.com/office/drawing/2014/main" id="{D90E428E-D28E-44FA-B3D2-A6261DEF9547}"/>
              </a:ext>
            </a:extLst>
          </p:cNvPr>
          <p:cNvSpPr>
            <a:spLocks noGrp="1"/>
          </p:cNvSpPr>
          <p:nvPr/>
        </p:nvSpPr>
        <p:spPr>
          <a:xfrm>
            <a:off x="1066800" y="38100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工单与客服协作</a:t>
            </a:r>
          </a:p>
        </p:txBody>
      </p:sp>
      <p:sp>
        <p:nvSpPr>
          <p:cNvPr id="56" name="compat-name-4">
            <a:extLst>
              <a:ext uri="{FF2B5EF4-FFF2-40B4-BE49-F238E27FC236}">
                <a16:creationId xmlns:a16="http://schemas.microsoft.com/office/drawing/2014/main" id="{D67341F5-F649-4091-824C-34F94796A6D1}"/>
              </a:ext>
            </a:extLst>
          </p:cNvPr>
          <p:cNvSpPr>
            <a:spLocks noGrp="1"/>
          </p:cNvSpPr>
          <p:nvPr/>
        </p:nvSpPr>
        <p:spPr>
          <a:xfrm>
            <a:off x="1066800" y="40957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知识 + 人工</a:t>
            </a:r>
          </a:p>
        </p:txBody>
      </p:sp>
      <p:sp>
        <p:nvSpPr>
          <p:cNvPr id="57" name="compat-desc-4">
            <a:extLst>
              <a:ext uri="{FF2B5EF4-FFF2-40B4-BE49-F238E27FC236}">
                <a16:creationId xmlns:a16="http://schemas.microsoft.com/office/drawing/2014/main" id="{47CDDB18-5D86-4CBA-8410-B9E666436D93}"/>
              </a:ext>
            </a:extLst>
          </p:cNvPr>
          <p:cNvSpPr>
            <a:spLocks noGrp="1"/>
          </p:cNvSpPr>
          <p:nvPr/>
        </p:nvSpPr>
        <p:spPr>
          <a:xfrm>
            <a:off x="1066800" y="4514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归类 / 回复草稿 / 升级处理</a:t>
            </a:r>
          </a:p>
        </p:txBody>
      </p:sp>
      <p:sp>
        <p:nvSpPr>
          <p:cNvPr id="58" name="compat-card-fill-5-1">
            <a:extLst>
              <a:ext uri="{FF2B5EF4-FFF2-40B4-BE49-F238E27FC236}">
                <a16:creationId xmlns:a16="http://schemas.microsoft.com/office/drawing/2014/main" id="{396A1AB6-3033-43F3-ACA5-9A38A7DB0437}"/>
              </a:ext>
            </a:extLst>
          </p:cNvPr>
          <p:cNvSpPr>
            <a:spLocks noGrp="1"/>
          </p:cNvSpPr>
          <p:nvPr/>
        </p:nvSpPr>
        <p:spPr>
          <a:xfrm>
            <a:off x="4438650" y="3695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compat-card-fill-5-2">
            <a:extLst>
              <a:ext uri="{FF2B5EF4-FFF2-40B4-BE49-F238E27FC236}">
                <a16:creationId xmlns:a16="http://schemas.microsoft.com/office/drawing/2014/main" id="{341658E3-D68B-4E28-80D8-EE43D6BFCBA3}"/>
              </a:ext>
            </a:extLst>
          </p:cNvPr>
          <p:cNvSpPr>
            <a:spLocks noGrp="1"/>
          </p:cNvSpPr>
          <p:nvPr/>
        </p:nvSpPr>
        <p:spPr>
          <a:xfrm>
            <a:off x="4438650" y="4076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compat-card-fill-5-3">
            <a:extLst>
              <a:ext uri="{FF2B5EF4-FFF2-40B4-BE49-F238E27FC236}">
                <a16:creationId xmlns:a16="http://schemas.microsoft.com/office/drawing/2014/main" id="{F78F7300-8212-4596-BBCE-56316A9D76A8}"/>
              </a:ext>
            </a:extLst>
          </p:cNvPr>
          <p:cNvSpPr>
            <a:spLocks noGrp="1"/>
          </p:cNvSpPr>
          <p:nvPr/>
        </p:nvSpPr>
        <p:spPr>
          <a:xfrm>
            <a:off x="4438650" y="44577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compat-card-5">
            <a:extLst>
              <a:ext uri="{FF2B5EF4-FFF2-40B4-BE49-F238E27FC236}">
                <a16:creationId xmlns:a16="http://schemas.microsoft.com/office/drawing/2014/main" id="{9ADA23D9-4B4A-410F-95B5-E660DEDA7FBD}"/>
              </a:ext>
            </a:extLst>
          </p:cNvPr>
          <p:cNvSpPr>
            <a:spLocks noGrp="1"/>
          </p:cNvSpPr>
          <p:nvPr/>
        </p:nvSpPr>
        <p:spPr>
          <a:xfrm>
            <a:off x="4381500" y="36385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compat-accent-5">
            <a:extLst>
              <a:ext uri="{FF2B5EF4-FFF2-40B4-BE49-F238E27FC236}">
                <a16:creationId xmlns:a16="http://schemas.microsoft.com/office/drawing/2014/main" id="{211650E4-8E44-4E1D-B760-CDAD74E7CEF5}"/>
              </a:ext>
            </a:extLst>
          </p:cNvPr>
          <p:cNvSpPr>
            <a:spLocks noGrp="1"/>
          </p:cNvSpPr>
          <p:nvPr/>
        </p:nvSpPr>
        <p:spPr>
          <a:xfrm>
            <a:off x="4381500" y="37909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compat-title-5">
            <a:extLst>
              <a:ext uri="{FF2B5EF4-FFF2-40B4-BE49-F238E27FC236}">
                <a16:creationId xmlns:a16="http://schemas.microsoft.com/office/drawing/2014/main" id="{8E1DBBC4-BF46-47E4-A7DB-7D88F6BF0B25}"/>
              </a:ext>
            </a:extLst>
          </p:cNvPr>
          <p:cNvSpPr>
            <a:spLocks noGrp="1"/>
          </p:cNvSpPr>
          <p:nvPr/>
        </p:nvSpPr>
        <p:spPr>
          <a:xfrm>
            <a:off x="4610100" y="38100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跨系统数据搬运</a:t>
            </a:r>
          </a:p>
        </p:txBody>
      </p:sp>
      <p:sp>
        <p:nvSpPr>
          <p:cNvPr id="64" name="compat-name-5">
            <a:extLst>
              <a:ext uri="{FF2B5EF4-FFF2-40B4-BE49-F238E27FC236}">
                <a16:creationId xmlns:a16="http://schemas.microsoft.com/office/drawing/2014/main" id="{B47D0A35-7660-433A-889E-BA518CAD734D}"/>
              </a:ext>
            </a:extLst>
          </p:cNvPr>
          <p:cNvSpPr>
            <a:spLocks noGrp="1"/>
          </p:cNvSpPr>
          <p:nvPr/>
        </p:nvSpPr>
        <p:spPr>
          <a:xfrm>
            <a:off x="4610100" y="40957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浏览器 ↔ 桌面</a:t>
            </a:r>
          </a:p>
        </p:txBody>
      </p:sp>
      <p:sp>
        <p:nvSpPr>
          <p:cNvPr id="65" name="compat-desc-5">
            <a:extLst>
              <a:ext uri="{FF2B5EF4-FFF2-40B4-BE49-F238E27FC236}">
                <a16:creationId xmlns:a16="http://schemas.microsoft.com/office/drawing/2014/main" id="{31B375FF-D546-47FA-A589-63E7B6D57B05}"/>
              </a:ext>
            </a:extLst>
          </p:cNvPr>
          <p:cNvSpPr>
            <a:spLocks noGrp="1"/>
          </p:cNvSpPr>
          <p:nvPr/>
        </p:nvSpPr>
        <p:spPr>
          <a:xfrm>
            <a:off x="4610100" y="4514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附件 / 表单 / 数据库</a:t>
            </a:r>
          </a:p>
        </p:txBody>
      </p:sp>
      <p:sp>
        <p:nvSpPr>
          <p:cNvPr id="66" name="compat-card-fill-6-1">
            <a:extLst>
              <a:ext uri="{FF2B5EF4-FFF2-40B4-BE49-F238E27FC236}">
                <a16:creationId xmlns:a16="http://schemas.microsoft.com/office/drawing/2014/main" id="{ECA9979D-C56C-4AA7-AA58-5B1AEACB7C9B}"/>
              </a:ext>
            </a:extLst>
          </p:cNvPr>
          <p:cNvSpPr>
            <a:spLocks noGrp="1"/>
          </p:cNvSpPr>
          <p:nvPr/>
        </p:nvSpPr>
        <p:spPr>
          <a:xfrm>
            <a:off x="7981950" y="3695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compat-card-fill-6-2">
            <a:extLst>
              <a:ext uri="{FF2B5EF4-FFF2-40B4-BE49-F238E27FC236}">
                <a16:creationId xmlns:a16="http://schemas.microsoft.com/office/drawing/2014/main" id="{64024621-3F06-4AC9-9FF2-CF3E3393C103}"/>
              </a:ext>
            </a:extLst>
          </p:cNvPr>
          <p:cNvSpPr>
            <a:spLocks noGrp="1"/>
          </p:cNvSpPr>
          <p:nvPr/>
        </p:nvSpPr>
        <p:spPr>
          <a:xfrm>
            <a:off x="7981950" y="4076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compat-card-fill-6-3">
            <a:extLst>
              <a:ext uri="{FF2B5EF4-FFF2-40B4-BE49-F238E27FC236}">
                <a16:creationId xmlns:a16="http://schemas.microsoft.com/office/drawing/2014/main" id="{DC1041DE-C570-4450-8E05-373C0B3D6B9A}"/>
              </a:ext>
            </a:extLst>
          </p:cNvPr>
          <p:cNvSpPr>
            <a:spLocks noGrp="1"/>
          </p:cNvSpPr>
          <p:nvPr/>
        </p:nvSpPr>
        <p:spPr>
          <a:xfrm>
            <a:off x="7981950" y="44577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compat-card-6">
            <a:extLst>
              <a:ext uri="{FF2B5EF4-FFF2-40B4-BE49-F238E27FC236}">
                <a16:creationId xmlns:a16="http://schemas.microsoft.com/office/drawing/2014/main" id="{A0845199-7DAE-4F90-B433-E53849F2B76F}"/>
              </a:ext>
            </a:extLst>
          </p:cNvPr>
          <p:cNvSpPr>
            <a:spLocks noGrp="1"/>
          </p:cNvSpPr>
          <p:nvPr/>
        </p:nvSpPr>
        <p:spPr>
          <a:xfrm>
            <a:off x="7924800" y="36385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compat-accent-6">
            <a:extLst>
              <a:ext uri="{FF2B5EF4-FFF2-40B4-BE49-F238E27FC236}">
                <a16:creationId xmlns:a16="http://schemas.microsoft.com/office/drawing/2014/main" id="{1EAA9EC5-B647-4985-93CD-2920FC7D0E2E}"/>
              </a:ext>
            </a:extLst>
          </p:cNvPr>
          <p:cNvSpPr>
            <a:spLocks noGrp="1"/>
          </p:cNvSpPr>
          <p:nvPr/>
        </p:nvSpPr>
        <p:spPr>
          <a:xfrm>
            <a:off x="7924800" y="37909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compat-title-6">
            <a:extLst>
              <a:ext uri="{FF2B5EF4-FFF2-40B4-BE49-F238E27FC236}">
                <a16:creationId xmlns:a16="http://schemas.microsoft.com/office/drawing/2014/main" id="{80C194AA-D60E-4C5B-BEA3-071A33ECE20D}"/>
              </a:ext>
            </a:extLst>
          </p:cNvPr>
          <p:cNvSpPr>
            <a:spLocks noGrp="1"/>
          </p:cNvSpPr>
          <p:nvPr/>
        </p:nvSpPr>
        <p:spPr>
          <a:xfrm>
            <a:off x="8153400" y="38100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财务对账与回填</a:t>
            </a:r>
          </a:p>
        </p:txBody>
      </p:sp>
      <p:sp>
        <p:nvSpPr>
          <p:cNvPr id="72" name="compat-name-6">
            <a:extLst>
              <a:ext uri="{FF2B5EF4-FFF2-40B4-BE49-F238E27FC236}">
                <a16:creationId xmlns:a16="http://schemas.microsoft.com/office/drawing/2014/main" id="{3405F951-01AF-4756-B8E9-74CA6384748F}"/>
              </a:ext>
            </a:extLst>
          </p:cNvPr>
          <p:cNvSpPr>
            <a:spLocks noGrp="1"/>
          </p:cNvSpPr>
          <p:nvPr/>
        </p:nvSpPr>
        <p:spPr>
          <a:xfrm>
            <a:off x="8153400" y="40957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规则 + Agent</a:t>
            </a:r>
          </a:p>
        </p:txBody>
      </p:sp>
      <p:sp>
        <p:nvSpPr>
          <p:cNvPr id="73" name="compat-desc-6">
            <a:extLst>
              <a:ext uri="{FF2B5EF4-FFF2-40B4-BE49-F238E27FC236}">
                <a16:creationId xmlns:a16="http://schemas.microsoft.com/office/drawing/2014/main" id="{2ECFBFFD-E59A-4A3A-8724-DE3549232001}"/>
              </a:ext>
            </a:extLst>
          </p:cNvPr>
          <p:cNvSpPr>
            <a:spLocks noGrp="1"/>
          </p:cNvSpPr>
          <p:nvPr/>
        </p:nvSpPr>
        <p:spPr>
          <a:xfrm>
            <a:off x="8153400" y="4514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差异解释 / 审批 / 复现</a:t>
            </a:r>
          </a:p>
        </p:txBody>
      </p:sp>
    </p:spTree>
    <p:extLst>
      <p:ext uri="{BB962C8B-B14F-4D97-AF65-F5344CB8AC3E}">
        <p14:creationId xmlns:p14="http://schemas.microsoft.com/office/powerpoint/2010/main" val="11520931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22387266-2A32-4DAA-B660-5E5EABCE394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创作与运行 · 目标形态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8F1EAF-E370-4FDB-93A0-A8A1C5371AAC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前端、积木、终端与运行轨迹，都回到一个可控工作台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308558F-8F1D-45F1-B8C2-D2DFAE8A730F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编辑事实、运行事实、用户终端和 Agent 进程各有边界，却共享稳定来源与关联标识。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341ACDB7-70DB-42B5-9BF7-1EC316D90871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5257800" cy="3886200"/>
          </a:xfrm>
          <a:prstGeom prst="roundRect">
            <a:avLst>
              <a:gd name="adj" fmla="val 5392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910B61B-741F-4A50-9E91-8504EE4D57AF}"/>
              </a:ext>
            </a:extLst>
          </p:cNvPr>
          <p:cNvSpPr>
            <a:spLocks noGrp="1"/>
          </p:cNvSpPr>
          <p:nvPr/>
        </p:nvSpPr>
        <p:spPr>
          <a:xfrm>
            <a:off x="933450" y="2152650"/>
            <a:ext cx="28575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1B3B13-0F03-4E53-89EB-30E7EAD81129}"/>
              </a:ext>
            </a:extLst>
          </p:cNvPr>
          <p:cNvSpPr>
            <a:spLocks noGrp="1"/>
          </p:cNvSpPr>
          <p:nvPr/>
        </p:nvSpPr>
        <p:spPr>
          <a:xfrm>
            <a:off x="1028700" y="2219325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rPr>
              <a:t>创作工作台 · 桌面端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C8F19B-7745-4186-8A85-EDA802BFDFAF}"/>
              </a:ext>
            </a:extLst>
          </p:cNvPr>
          <p:cNvSpPr>
            <a:spLocks noGrp="1"/>
          </p:cNvSpPr>
          <p:nvPr/>
        </p:nvSpPr>
        <p:spPr>
          <a:xfrm>
            <a:off x="990600" y="2724150"/>
            <a:ext cx="4648200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618"/>
          </a:bodyPr>
          <a:lstStyle/>
          <a:p>
            <a:r>
              <a:rPr dirty="0"/>
              <a:t>✓ </a:t>
            </a:r>
            <a:r>
              <a:rPr dirty="0" err="1"/>
              <a:t>顶部：项目标签</a:t>
            </a:r>
            <a:r>
              <a:rPr dirty="0"/>
              <a:t> / </a:t>
            </a:r>
            <a:r>
              <a:rPr dirty="0" err="1"/>
              <a:t>命令中心</a:t>
            </a:r>
            <a:r>
              <a:rPr dirty="0"/>
              <a:t> / </a:t>
            </a:r>
            <a:r>
              <a:rPr dirty="0" err="1"/>
              <a:t>运行</a:t>
            </a:r>
            <a:endParaRPr dirty="0"/>
          </a:p>
          <a:p>
            <a:r>
              <a:rPr dirty="0"/>
              <a:t>✓ 左侧：7→12 </a:t>
            </a:r>
            <a:r>
              <a:rPr dirty="0" err="1"/>
              <a:t>类积木</a:t>
            </a:r>
            <a:r>
              <a:rPr dirty="0"/>
              <a:t> / </a:t>
            </a:r>
            <a:r>
              <a:rPr dirty="0" err="1"/>
              <a:t>搜索</a:t>
            </a:r>
            <a:r>
              <a:rPr dirty="0"/>
              <a:t> / </a:t>
            </a:r>
            <a:r>
              <a:rPr dirty="0" err="1"/>
              <a:t>蓝图</a:t>
            </a:r>
            <a:endParaRPr dirty="0"/>
          </a:p>
          <a:p>
            <a:r>
              <a:rPr dirty="0"/>
              <a:t>✓ </a:t>
            </a:r>
            <a:r>
              <a:rPr dirty="0" err="1"/>
              <a:t>中间：多模块画布</a:t>
            </a:r>
            <a:r>
              <a:rPr dirty="0"/>
              <a:t> / </a:t>
            </a:r>
            <a:r>
              <a:rPr dirty="0" err="1"/>
              <a:t>浏览器预览</a:t>
            </a:r>
            <a:endParaRPr dirty="0"/>
          </a:p>
          <a:p>
            <a:r>
              <a:rPr dirty="0"/>
              <a:t>✓ </a:t>
            </a:r>
            <a:r>
              <a:rPr dirty="0" err="1"/>
              <a:t>右侧：构建助手</a:t>
            </a:r>
            <a:r>
              <a:rPr dirty="0"/>
              <a:t> / </a:t>
            </a:r>
            <a:r>
              <a:rPr dirty="0" err="1"/>
              <a:t>检查器</a:t>
            </a:r>
            <a:r>
              <a:rPr dirty="0"/>
              <a:t> / </a:t>
            </a:r>
            <a:r>
              <a:rPr dirty="0" err="1"/>
              <a:t>资源</a:t>
            </a:r>
            <a:endParaRPr dirty="0"/>
          </a:p>
          <a:p>
            <a:r>
              <a:rPr dirty="0"/>
              <a:t>✓ </a:t>
            </a:r>
            <a:r>
              <a:rPr dirty="0" err="1"/>
              <a:t>底部：问题</a:t>
            </a:r>
            <a:r>
              <a:rPr dirty="0"/>
              <a:t> / </a:t>
            </a:r>
            <a:r>
              <a:rPr dirty="0" err="1"/>
              <a:t>运行日志</a:t>
            </a:r>
            <a:r>
              <a:rPr dirty="0"/>
              <a:t> / </a:t>
            </a:r>
            <a:r>
              <a:rPr dirty="0" err="1"/>
              <a:t>终端</a:t>
            </a:r>
            <a:r>
              <a:rPr dirty="0"/>
              <a:t> / </a:t>
            </a:r>
            <a:r>
              <a:rPr dirty="0" err="1"/>
              <a:t>输出</a:t>
            </a:r>
            <a:endParaRPr dirty="0"/>
          </a:p>
          <a:p>
            <a:r>
              <a:rPr dirty="0"/>
              <a:t>✓ </a:t>
            </a:r>
            <a:r>
              <a:rPr dirty="0" err="1"/>
              <a:t>设置：应用</a:t>
            </a:r>
            <a:r>
              <a:rPr dirty="0"/>
              <a:t> / </a:t>
            </a:r>
            <a:r>
              <a:rPr dirty="0" err="1"/>
              <a:t>项目</a:t>
            </a:r>
            <a:r>
              <a:rPr dirty="0"/>
              <a:t> / </a:t>
            </a:r>
            <a:r>
              <a:rPr dirty="0" err="1"/>
              <a:t>资源</a:t>
            </a:r>
            <a:r>
              <a:rPr dirty="0"/>
              <a:t> / </a:t>
            </a:r>
            <a:r>
              <a:rPr dirty="0" err="1"/>
              <a:t>积木</a:t>
            </a:r>
            <a:endParaRPr dirty="0"/>
          </a:p>
          <a:p>
            <a:r>
              <a:rPr dirty="0"/>
              <a:t>✓ </a:t>
            </a:r>
            <a:r>
              <a:rPr dirty="0" err="1"/>
              <a:t>保存：Manifest</a:t>
            </a:r>
            <a:r>
              <a:rPr dirty="0"/>
              <a:t> + Workspace + </a:t>
            </a:r>
            <a:r>
              <a:rPr dirty="0" err="1"/>
              <a:t>AppSurface</a:t>
            </a:r>
            <a:endParaRPr dirty="0"/>
          </a:p>
          <a:p>
            <a:r>
              <a:rPr dirty="0"/>
              <a:t>✓ Semantic </a:t>
            </a:r>
            <a:r>
              <a:rPr dirty="0" err="1"/>
              <a:t>Patch：幽灵积木</a:t>
            </a:r>
            <a:r>
              <a:rPr dirty="0"/>
              <a:t> / </a:t>
            </a:r>
            <a:r>
              <a:rPr dirty="0" err="1"/>
              <a:t>接受</a:t>
            </a:r>
            <a:r>
              <a:rPr dirty="0"/>
              <a:t> / </a:t>
            </a:r>
            <a:r>
              <a:rPr dirty="0" err="1"/>
              <a:t>拒绝</a:t>
            </a:r>
            <a:r>
              <a:rPr dirty="0"/>
              <a:t> / </a:t>
            </a:r>
            <a:r>
              <a:rPr dirty="0" err="1"/>
              <a:t>撤销</a:t>
            </a:r>
            <a:endParaRPr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B65E33F-B2AF-4819-8F01-A9FD68E3AE32}"/>
              </a:ext>
            </a:extLst>
          </p:cNvPr>
          <p:cNvSpPr>
            <a:spLocks noGrp="1"/>
          </p:cNvSpPr>
          <p:nvPr/>
        </p:nvSpPr>
        <p:spPr>
          <a:xfrm>
            <a:off x="6248400" y="1924050"/>
            <a:ext cx="5257800" cy="3886200"/>
          </a:xfrm>
          <a:prstGeom prst="roundRect">
            <a:avLst>
              <a:gd name="adj" fmla="val 5392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E365F07-950A-4D07-A025-90EE487382F4}"/>
              </a:ext>
            </a:extLst>
          </p:cNvPr>
          <p:cNvSpPr>
            <a:spLocks noGrp="1"/>
          </p:cNvSpPr>
          <p:nvPr/>
        </p:nvSpPr>
        <p:spPr>
          <a:xfrm>
            <a:off x="6496050" y="2152650"/>
            <a:ext cx="28575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222E42-B3B5-4113-8A95-7228B5B7F097}"/>
              </a:ext>
            </a:extLst>
          </p:cNvPr>
          <p:cNvSpPr>
            <a:spLocks noGrp="1"/>
          </p:cNvSpPr>
          <p:nvPr/>
        </p:nvSpPr>
        <p:spPr>
          <a:xfrm>
            <a:off x="6591300" y="2219325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运行治理 · 同源可追踪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F7811E7-D896-4913-B268-3DD1943B29F5}"/>
              </a:ext>
            </a:extLst>
          </p:cNvPr>
          <p:cNvSpPr>
            <a:spLocks noGrp="1"/>
          </p:cNvSpPr>
          <p:nvPr/>
        </p:nvSpPr>
        <p:spPr>
          <a:xfrm>
            <a:off x="6553200" y="2724150"/>
            <a:ext cx="4648200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327"/>
          </a:bodyPr>
          <a:lstStyle/>
          <a:p>
            <a:r>
              <a:t>✓ 编译：Module IR / Project IR / SourceMap</a:t>
            </a:r>
          </a:p>
          <a:p>
            <a:r>
              <a:t>✓ 入口：InteractionManifest / ToolContract</a:t>
            </a:r>
          </a:p>
          <a:p>
            <a:r>
              <a:t>✓ 事件：RuntimeEvent / Diagnostic / LogEnvelope</a:t>
            </a:r>
          </a:p>
          <a:p>
            <a:r>
              <a:t>✓ 轨迹：步骤 / 状态 / 引用 / 权限 / 高亮</a:t>
            </a:r>
          </a:p>
          <a:p>
            <a:r>
              <a:t>✓ 隔离：用户终端 ≠ Agent 进程工具</a:t>
            </a:r>
          </a:p>
          <a:p>
            <a:r>
              <a:t>✓ Log Redaction：Normalizer → Redactor → Log Bus</a:t>
            </a:r>
          </a:p>
          <a:p>
            <a:r>
              <a:t>✓ 回收：Host / PTY / Sidecar / 预览服务</a:t>
            </a:r>
          </a:p>
          <a:p>
            <a:r>
              <a:t>✓ 审计：授权 / 拒绝 / 截断 / 恢复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236E84C-0488-46CA-AE0D-E70BA935F96B}"/>
              </a:ext>
            </a:extLst>
          </p:cNvPr>
          <p:cNvSpPr>
            <a:spLocks noGrp="1"/>
          </p:cNvSpPr>
          <p:nvPr/>
        </p:nvSpPr>
        <p:spPr>
          <a:xfrm>
            <a:off x="6553200" y="5219700"/>
            <a:ext cx="4648200" cy="32385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351F7CB-5C7D-4222-A237-0CBB7F6ED549}"/>
              </a:ext>
            </a:extLst>
          </p:cNvPr>
          <p:cNvSpPr>
            <a:spLocks noGrp="1"/>
          </p:cNvSpPr>
          <p:nvPr/>
        </p:nvSpPr>
        <p:spPr>
          <a:xfrm>
            <a:off x="6648450" y="5286375"/>
            <a:ext cx="4457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运行：状态同源、Log Redaction、终端不越权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128B773-2B04-44AF-B2B3-BA8929F4D09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CB40E5D-88E5-46E2-AEF4-2A8359C6C003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B7AF61F-E60E-4BA3-B5A8-4BF88AFAFDC8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21" name="Unified left evidence conclusion">
            <a:extLst>
              <a:ext uri="{FF2B5EF4-FFF2-40B4-BE49-F238E27FC236}">
                <a16:creationId xmlns:a16="http://schemas.microsoft.com/office/drawing/2014/main" id="{EFACA68A-A9A1-4F5A-99A6-DD4693702EF1}"/>
              </a:ext>
            </a:extLst>
          </p:cNvPr>
          <p:cNvSpPr>
            <a:spLocks noGrp="1"/>
          </p:cNvSpPr>
          <p:nvPr/>
        </p:nvSpPr>
        <p:spPr>
          <a:xfrm>
            <a:off x="990600" y="5219700"/>
            <a:ext cx="4648200" cy="323850"/>
          </a:xfrm>
          <a:prstGeom prst="roundRect">
            <a:avLst>
              <a:gd name="adj" fmla="val 35294"/>
            </a:avLst>
          </a:prstGeom>
          <a:solidFill>
            <a:srgbClr val="0B1220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创作：修改可见、权限可读、差异可撤销</a:t>
            </a:r>
          </a:p>
        </p:txBody>
      </p:sp>
    </p:spTree>
    <p:extLst>
      <p:ext uri="{BB962C8B-B14F-4D97-AF65-F5344CB8AC3E}">
        <p14:creationId xmlns:p14="http://schemas.microsoft.com/office/powerpoint/2010/main" val="8317505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A95339E4-F604-4D6A-86EF-DF2CD0929E1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六类兼容模板 · 目标形态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370CF98-9ECF-4290-B608-8ACEB1A04835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六类 Agent 生态，沉淀为可教学、可改造的积木结构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79087C1-24E9-4883-BB39-FFC3752BBE8C}"/>
              </a:ext>
            </a:extLst>
          </p:cNvPr>
          <p:cNvSpPr>
            <a:spLocks noGrp="1"/>
          </p:cNvSpPr>
          <p:nvPr/>
        </p:nvSpPr>
        <p:spPr>
          <a:xfrm>
            <a:off x="1714500" y="2019300"/>
            <a:ext cx="7905750" cy="3429000"/>
          </a:xfrm>
          <a:prstGeom prst="roundRect">
            <a:avLst>
              <a:gd name="adj" fmla="val 5556"/>
            </a:avLst>
          </a:prstGeom>
          <a:noFill/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AF039EF-8669-48E6-8355-B3E3CDD61D65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Pi、Codex、OpenClaw、Hermes、OpenCode、DeepSeek Harness 对应六类真实 Agent 架构。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252EBC-6654-4A56-A43D-04234BEB26AE}"/>
              </a:ext>
            </a:extLst>
          </p:cNvPr>
          <p:cNvSpPr>
            <a:spLocks noGrp="1"/>
          </p:cNvSpPr>
          <p:nvPr/>
        </p:nvSpPr>
        <p:spPr>
          <a:xfrm>
            <a:off x="876300" y="5105400"/>
            <a:ext cx="10439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1" i="0">
                <a:solidFill>
                  <a:srgbClr val="145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统一 Agent 语义 + 进程外原生运行时 + 版本化适配器 + 可逆积木投影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710F48B-9833-4CEA-96EC-F710C0DB08BB}"/>
              </a:ext>
            </a:extLst>
          </p:cNvPr>
          <p:cNvSpPr>
            <a:spLocks noGrp="1"/>
          </p:cNvSpPr>
          <p:nvPr/>
        </p:nvSpPr>
        <p:spPr>
          <a:xfrm>
            <a:off x="9906000" y="2076450"/>
            <a:ext cx="1600200" cy="3352800"/>
          </a:xfrm>
          <a:prstGeom prst="roundRect">
            <a:avLst>
              <a:gd name="adj" fmla="val 11905"/>
            </a:avLst>
          </a:prstGeom>
          <a:noFill/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ACF8F47-F459-4EE8-AFFB-431D2346A884}"/>
              </a:ext>
            </a:extLst>
          </p:cNvPr>
          <p:cNvSpPr>
            <a:spLocks noGrp="1"/>
          </p:cNvSpPr>
          <p:nvPr/>
        </p:nvSpPr>
        <p:spPr>
          <a:xfrm>
            <a:off x="685800" y="5600700"/>
            <a:ext cx="10820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教学价值：从六类真实架构学习角色、工具、权限、协作、会话与扩展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CA2238B-6981-4EEF-9644-CAB79A1ED2D3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EEEB512-B61D-4234-BF5B-E7FCE68FD363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36BBFE9-8C7C-4891-A36F-ED778245CE43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26" name="compat-card-fill-1-1">
            <a:extLst>
              <a:ext uri="{FF2B5EF4-FFF2-40B4-BE49-F238E27FC236}">
                <a16:creationId xmlns:a16="http://schemas.microsoft.com/office/drawing/2014/main" id="{F69DB481-5385-40C6-8BEA-8619F0A3E72B}"/>
              </a:ext>
            </a:extLst>
          </p:cNvPr>
          <p:cNvSpPr>
            <a:spLocks noGrp="1"/>
          </p:cNvSpPr>
          <p:nvPr/>
        </p:nvSpPr>
        <p:spPr>
          <a:xfrm>
            <a:off x="895350" y="2133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7" name="compat-card-fill-1-2">
            <a:extLst>
              <a:ext uri="{FF2B5EF4-FFF2-40B4-BE49-F238E27FC236}">
                <a16:creationId xmlns:a16="http://schemas.microsoft.com/office/drawing/2014/main" id="{E4EF5A44-61F6-43D8-A716-C98483ED0778}"/>
              </a:ext>
            </a:extLst>
          </p:cNvPr>
          <p:cNvSpPr>
            <a:spLocks noGrp="1"/>
          </p:cNvSpPr>
          <p:nvPr/>
        </p:nvSpPr>
        <p:spPr>
          <a:xfrm>
            <a:off x="895350" y="2514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8" name="compat-card-fill-1-3">
            <a:extLst>
              <a:ext uri="{FF2B5EF4-FFF2-40B4-BE49-F238E27FC236}">
                <a16:creationId xmlns:a16="http://schemas.microsoft.com/office/drawing/2014/main" id="{2D5C7F0A-2376-4FCC-B006-D475EB4611E7}"/>
              </a:ext>
            </a:extLst>
          </p:cNvPr>
          <p:cNvSpPr>
            <a:spLocks noGrp="1"/>
          </p:cNvSpPr>
          <p:nvPr/>
        </p:nvSpPr>
        <p:spPr>
          <a:xfrm>
            <a:off x="895350" y="28956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9" name="compat-card-1">
            <a:extLst>
              <a:ext uri="{FF2B5EF4-FFF2-40B4-BE49-F238E27FC236}">
                <a16:creationId xmlns:a16="http://schemas.microsoft.com/office/drawing/2014/main" id="{6C151DE4-71A9-4FA2-9A44-BC594719616F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30" name="compat-accent-1">
            <a:extLst>
              <a:ext uri="{FF2B5EF4-FFF2-40B4-BE49-F238E27FC236}">
                <a16:creationId xmlns:a16="http://schemas.microsoft.com/office/drawing/2014/main" id="{4A5AF1A7-B885-4B88-B017-97B67775F82B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31" name="compat-title-1">
            <a:extLst>
              <a:ext uri="{FF2B5EF4-FFF2-40B4-BE49-F238E27FC236}">
                <a16:creationId xmlns:a16="http://schemas.microsoft.com/office/drawing/2014/main" id="{34755EBE-93F0-4137-A1C0-A92B874AF4D1}"/>
              </a:ext>
            </a:extLst>
          </p:cNvPr>
          <p:cNvSpPr>
            <a:spLocks noGrp="1"/>
          </p:cNvSpPr>
          <p:nvPr/>
        </p:nvSpPr>
        <p:spPr>
          <a:xfrm>
            <a:off x="1066800" y="22479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轻量编码 Agent</a:t>
            </a:r>
          </a:p>
        </p:txBody>
      </p:sp>
      <p:sp>
        <p:nvSpPr>
          <p:cNvPr id="32" name="compat-name-1">
            <a:extLst>
              <a:ext uri="{FF2B5EF4-FFF2-40B4-BE49-F238E27FC236}">
                <a16:creationId xmlns:a16="http://schemas.microsoft.com/office/drawing/2014/main" id="{7B4D9A5C-E768-4DC4-A8BF-A0C0D3177F91}"/>
              </a:ext>
            </a:extLst>
          </p:cNvPr>
          <p:cNvSpPr>
            <a:spLocks noGrp="1"/>
          </p:cNvSpPr>
          <p:nvPr/>
        </p:nvSpPr>
        <p:spPr>
          <a:xfrm>
            <a:off x="1066800" y="25336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Pi</a:t>
            </a:r>
          </a:p>
        </p:txBody>
      </p:sp>
      <p:sp>
        <p:nvSpPr>
          <p:cNvPr id="33" name="compat-desc-1">
            <a:extLst>
              <a:ext uri="{FF2B5EF4-FFF2-40B4-BE49-F238E27FC236}">
                <a16:creationId xmlns:a16="http://schemas.microsoft.com/office/drawing/2014/main" id="{6EEF4EE7-6902-4F7D-979E-88501EA44802}"/>
              </a:ext>
            </a:extLst>
          </p:cNvPr>
          <p:cNvSpPr>
            <a:spLocks noGrp="1"/>
          </p:cNvSpPr>
          <p:nvPr/>
        </p:nvSpPr>
        <p:spPr>
          <a:xfrm>
            <a:off x="1066800" y="29527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工具调用｜read / write / edit / bash</a:t>
            </a:r>
          </a:p>
        </p:txBody>
      </p:sp>
      <p:sp>
        <p:nvSpPr>
          <p:cNvPr id="34" name="compat-card-fill-2-1">
            <a:extLst>
              <a:ext uri="{FF2B5EF4-FFF2-40B4-BE49-F238E27FC236}">
                <a16:creationId xmlns:a16="http://schemas.microsoft.com/office/drawing/2014/main" id="{6678D41D-B7A4-47ED-A705-BC8B0F76C6AB}"/>
              </a:ext>
            </a:extLst>
          </p:cNvPr>
          <p:cNvSpPr>
            <a:spLocks noGrp="1"/>
          </p:cNvSpPr>
          <p:nvPr/>
        </p:nvSpPr>
        <p:spPr>
          <a:xfrm>
            <a:off x="4438650" y="2133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5" name="compat-card-fill-2-2">
            <a:extLst>
              <a:ext uri="{FF2B5EF4-FFF2-40B4-BE49-F238E27FC236}">
                <a16:creationId xmlns:a16="http://schemas.microsoft.com/office/drawing/2014/main" id="{AF7B2C68-02AD-4AB9-9093-19F05DEF1A4B}"/>
              </a:ext>
            </a:extLst>
          </p:cNvPr>
          <p:cNvSpPr>
            <a:spLocks noGrp="1"/>
          </p:cNvSpPr>
          <p:nvPr/>
        </p:nvSpPr>
        <p:spPr>
          <a:xfrm>
            <a:off x="4438650" y="2514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6" name="compat-card-fill-2-3">
            <a:extLst>
              <a:ext uri="{FF2B5EF4-FFF2-40B4-BE49-F238E27FC236}">
                <a16:creationId xmlns:a16="http://schemas.microsoft.com/office/drawing/2014/main" id="{E3636D79-096C-47D6-B78F-E30DAF504A34}"/>
              </a:ext>
            </a:extLst>
          </p:cNvPr>
          <p:cNvSpPr>
            <a:spLocks noGrp="1"/>
          </p:cNvSpPr>
          <p:nvPr/>
        </p:nvSpPr>
        <p:spPr>
          <a:xfrm>
            <a:off x="4438650" y="28956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7" name="compat-card-2">
            <a:extLst>
              <a:ext uri="{FF2B5EF4-FFF2-40B4-BE49-F238E27FC236}">
                <a16:creationId xmlns:a16="http://schemas.microsoft.com/office/drawing/2014/main" id="{59DCAF35-0EEB-4DA4-B734-CCF9E9C4CFF7}"/>
              </a:ext>
            </a:extLst>
          </p:cNvPr>
          <p:cNvSpPr>
            <a:spLocks noGrp="1"/>
          </p:cNvSpPr>
          <p:nvPr/>
        </p:nvSpPr>
        <p:spPr>
          <a:xfrm>
            <a:off x="4381500" y="20764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38" name="compat-accent-2">
            <a:extLst>
              <a:ext uri="{FF2B5EF4-FFF2-40B4-BE49-F238E27FC236}">
                <a16:creationId xmlns:a16="http://schemas.microsoft.com/office/drawing/2014/main" id="{6D379EDB-817E-4F0B-91DB-DF83E8488E25}"/>
              </a:ext>
            </a:extLst>
          </p:cNvPr>
          <p:cNvSpPr>
            <a:spLocks noGrp="1"/>
          </p:cNvSpPr>
          <p:nvPr/>
        </p:nvSpPr>
        <p:spPr>
          <a:xfrm>
            <a:off x="4381500" y="22288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39" name="compat-title-2">
            <a:extLst>
              <a:ext uri="{FF2B5EF4-FFF2-40B4-BE49-F238E27FC236}">
                <a16:creationId xmlns:a16="http://schemas.microsoft.com/office/drawing/2014/main" id="{E6BC2108-034B-409A-ABE7-485519372F2C}"/>
              </a:ext>
            </a:extLst>
          </p:cNvPr>
          <p:cNvSpPr>
            <a:spLocks noGrp="1"/>
          </p:cNvSpPr>
          <p:nvPr/>
        </p:nvSpPr>
        <p:spPr>
          <a:xfrm>
            <a:off x="4610100" y="22479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专业编程 Agent</a:t>
            </a:r>
          </a:p>
        </p:txBody>
      </p:sp>
      <p:sp>
        <p:nvSpPr>
          <p:cNvPr id="40" name="compat-name-2">
            <a:extLst>
              <a:ext uri="{FF2B5EF4-FFF2-40B4-BE49-F238E27FC236}">
                <a16:creationId xmlns:a16="http://schemas.microsoft.com/office/drawing/2014/main" id="{53F45C2E-A901-407B-AAAB-6E9BA20F451C}"/>
              </a:ext>
            </a:extLst>
          </p:cNvPr>
          <p:cNvSpPr>
            <a:spLocks noGrp="1"/>
          </p:cNvSpPr>
          <p:nvPr/>
        </p:nvSpPr>
        <p:spPr>
          <a:xfrm>
            <a:off x="4610100" y="25336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Codex</a:t>
            </a:r>
          </a:p>
        </p:txBody>
      </p:sp>
      <p:sp>
        <p:nvSpPr>
          <p:cNvPr id="41" name="compat-desc-2">
            <a:extLst>
              <a:ext uri="{FF2B5EF4-FFF2-40B4-BE49-F238E27FC236}">
                <a16:creationId xmlns:a16="http://schemas.microsoft.com/office/drawing/2014/main" id="{7857053F-D439-4C53-B6DB-03E22CF16485}"/>
              </a:ext>
            </a:extLst>
          </p:cNvPr>
          <p:cNvSpPr>
            <a:spLocks noGrp="1"/>
          </p:cNvSpPr>
          <p:nvPr/>
        </p:nvSpPr>
        <p:spPr>
          <a:xfrm>
            <a:off x="4610100" y="29527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17" lnSpcReduction="10000"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工程规则｜AGENTS.md / Skills / MCP / 沙箱</a:t>
            </a:r>
          </a:p>
        </p:txBody>
      </p:sp>
      <p:sp>
        <p:nvSpPr>
          <p:cNvPr id="42" name="compat-card-fill-3-1">
            <a:extLst>
              <a:ext uri="{FF2B5EF4-FFF2-40B4-BE49-F238E27FC236}">
                <a16:creationId xmlns:a16="http://schemas.microsoft.com/office/drawing/2014/main" id="{D02C6BBE-B855-49E3-9FFF-F9AAB4710C1E}"/>
              </a:ext>
            </a:extLst>
          </p:cNvPr>
          <p:cNvSpPr>
            <a:spLocks noGrp="1"/>
          </p:cNvSpPr>
          <p:nvPr/>
        </p:nvSpPr>
        <p:spPr>
          <a:xfrm>
            <a:off x="7981950" y="2133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3" name="compat-card-fill-3-2">
            <a:extLst>
              <a:ext uri="{FF2B5EF4-FFF2-40B4-BE49-F238E27FC236}">
                <a16:creationId xmlns:a16="http://schemas.microsoft.com/office/drawing/2014/main" id="{777F7FB1-AD1C-4E78-AC1C-0C013DEA09DB}"/>
              </a:ext>
            </a:extLst>
          </p:cNvPr>
          <p:cNvSpPr>
            <a:spLocks noGrp="1"/>
          </p:cNvSpPr>
          <p:nvPr/>
        </p:nvSpPr>
        <p:spPr>
          <a:xfrm>
            <a:off x="7981950" y="2514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4" name="compat-card-fill-3-3">
            <a:extLst>
              <a:ext uri="{FF2B5EF4-FFF2-40B4-BE49-F238E27FC236}">
                <a16:creationId xmlns:a16="http://schemas.microsoft.com/office/drawing/2014/main" id="{45AFEE63-5A0B-450B-8AC2-1BF30F6BF4B6}"/>
              </a:ext>
            </a:extLst>
          </p:cNvPr>
          <p:cNvSpPr>
            <a:spLocks noGrp="1"/>
          </p:cNvSpPr>
          <p:nvPr/>
        </p:nvSpPr>
        <p:spPr>
          <a:xfrm>
            <a:off x="7981950" y="28956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5" name="compat-card-3">
            <a:extLst>
              <a:ext uri="{FF2B5EF4-FFF2-40B4-BE49-F238E27FC236}">
                <a16:creationId xmlns:a16="http://schemas.microsoft.com/office/drawing/2014/main" id="{EFD30262-A6C0-4D53-A7BF-1B52ACFE3797}"/>
              </a:ext>
            </a:extLst>
          </p:cNvPr>
          <p:cNvSpPr>
            <a:spLocks noGrp="1"/>
          </p:cNvSpPr>
          <p:nvPr/>
        </p:nvSpPr>
        <p:spPr>
          <a:xfrm>
            <a:off x="7924800" y="20764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46" name="compat-accent-3">
            <a:extLst>
              <a:ext uri="{FF2B5EF4-FFF2-40B4-BE49-F238E27FC236}">
                <a16:creationId xmlns:a16="http://schemas.microsoft.com/office/drawing/2014/main" id="{B425A560-FF61-42E2-8088-6874D276AB15}"/>
              </a:ext>
            </a:extLst>
          </p:cNvPr>
          <p:cNvSpPr>
            <a:spLocks noGrp="1"/>
          </p:cNvSpPr>
          <p:nvPr/>
        </p:nvSpPr>
        <p:spPr>
          <a:xfrm>
            <a:off x="7924800" y="22288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47" name="compat-title-3">
            <a:extLst>
              <a:ext uri="{FF2B5EF4-FFF2-40B4-BE49-F238E27FC236}">
                <a16:creationId xmlns:a16="http://schemas.microsoft.com/office/drawing/2014/main" id="{DE4D6871-BF98-4AEC-B845-AFDCEC1FCA89}"/>
              </a:ext>
            </a:extLst>
          </p:cNvPr>
          <p:cNvSpPr>
            <a:spLocks noGrp="1"/>
          </p:cNvSpPr>
          <p:nvPr/>
        </p:nvSpPr>
        <p:spPr>
          <a:xfrm>
            <a:off x="8153400" y="22479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个人助理 Agent</a:t>
            </a:r>
          </a:p>
        </p:txBody>
      </p:sp>
      <p:sp>
        <p:nvSpPr>
          <p:cNvPr id="48" name="compat-name-3">
            <a:extLst>
              <a:ext uri="{FF2B5EF4-FFF2-40B4-BE49-F238E27FC236}">
                <a16:creationId xmlns:a16="http://schemas.microsoft.com/office/drawing/2014/main" id="{DED0F3A4-98EC-4B28-99FD-5C1D27931BB8}"/>
              </a:ext>
            </a:extLst>
          </p:cNvPr>
          <p:cNvSpPr>
            <a:spLocks noGrp="1"/>
          </p:cNvSpPr>
          <p:nvPr/>
        </p:nvSpPr>
        <p:spPr>
          <a:xfrm>
            <a:off x="8153400" y="25336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OpenClaw</a:t>
            </a:r>
          </a:p>
        </p:txBody>
      </p:sp>
      <p:sp>
        <p:nvSpPr>
          <p:cNvPr id="49" name="compat-desc-3">
            <a:extLst>
              <a:ext uri="{FF2B5EF4-FFF2-40B4-BE49-F238E27FC236}">
                <a16:creationId xmlns:a16="http://schemas.microsoft.com/office/drawing/2014/main" id="{18FAF0F3-633A-440E-8341-7797379702B4}"/>
              </a:ext>
            </a:extLst>
          </p:cNvPr>
          <p:cNvSpPr>
            <a:spLocks noGrp="1"/>
          </p:cNvSpPr>
          <p:nvPr/>
        </p:nvSpPr>
        <p:spPr>
          <a:xfrm>
            <a:off x="8153400" y="29527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会话记忆｜Gateway / 会话 / 记忆 / 渠道</a:t>
            </a:r>
          </a:p>
        </p:txBody>
      </p:sp>
      <p:sp>
        <p:nvSpPr>
          <p:cNvPr id="50" name="compat-card-fill-4-1">
            <a:extLst>
              <a:ext uri="{FF2B5EF4-FFF2-40B4-BE49-F238E27FC236}">
                <a16:creationId xmlns:a16="http://schemas.microsoft.com/office/drawing/2014/main" id="{E0562B3F-3B89-4B8F-A3C5-10385080D496}"/>
              </a:ext>
            </a:extLst>
          </p:cNvPr>
          <p:cNvSpPr>
            <a:spLocks noGrp="1"/>
          </p:cNvSpPr>
          <p:nvPr/>
        </p:nvSpPr>
        <p:spPr>
          <a:xfrm>
            <a:off x="895350" y="3695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1" name="compat-card-fill-4-2">
            <a:extLst>
              <a:ext uri="{FF2B5EF4-FFF2-40B4-BE49-F238E27FC236}">
                <a16:creationId xmlns:a16="http://schemas.microsoft.com/office/drawing/2014/main" id="{48C12C69-CFB1-4C46-BBD9-D4625CCBA581}"/>
              </a:ext>
            </a:extLst>
          </p:cNvPr>
          <p:cNvSpPr>
            <a:spLocks noGrp="1"/>
          </p:cNvSpPr>
          <p:nvPr/>
        </p:nvSpPr>
        <p:spPr>
          <a:xfrm>
            <a:off x="895350" y="4076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2" name="compat-card-fill-4-3">
            <a:extLst>
              <a:ext uri="{FF2B5EF4-FFF2-40B4-BE49-F238E27FC236}">
                <a16:creationId xmlns:a16="http://schemas.microsoft.com/office/drawing/2014/main" id="{B526D05E-C47D-49D2-A72B-7996334C26A3}"/>
              </a:ext>
            </a:extLst>
          </p:cNvPr>
          <p:cNvSpPr>
            <a:spLocks noGrp="1"/>
          </p:cNvSpPr>
          <p:nvPr/>
        </p:nvSpPr>
        <p:spPr>
          <a:xfrm>
            <a:off x="895350" y="44577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3" name="compat-card-4">
            <a:extLst>
              <a:ext uri="{FF2B5EF4-FFF2-40B4-BE49-F238E27FC236}">
                <a16:creationId xmlns:a16="http://schemas.microsoft.com/office/drawing/2014/main" id="{78665501-39CF-43AB-A709-09CE61C4A59E}"/>
              </a:ext>
            </a:extLst>
          </p:cNvPr>
          <p:cNvSpPr>
            <a:spLocks noGrp="1"/>
          </p:cNvSpPr>
          <p:nvPr/>
        </p:nvSpPr>
        <p:spPr>
          <a:xfrm>
            <a:off x="838200" y="36385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54" name="compat-accent-4">
            <a:extLst>
              <a:ext uri="{FF2B5EF4-FFF2-40B4-BE49-F238E27FC236}">
                <a16:creationId xmlns:a16="http://schemas.microsoft.com/office/drawing/2014/main" id="{49B9AA27-CD03-495D-9699-BB6DE584A024}"/>
              </a:ext>
            </a:extLst>
          </p:cNvPr>
          <p:cNvSpPr>
            <a:spLocks noGrp="1"/>
          </p:cNvSpPr>
          <p:nvPr/>
        </p:nvSpPr>
        <p:spPr>
          <a:xfrm>
            <a:off x="838200" y="37909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55" name="compat-title-4">
            <a:extLst>
              <a:ext uri="{FF2B5EF4-FFF2-40B4-BE49-F238E27FC236}">
                <a16:creationId xmlns:a16="http://schemas.microsoft.com/office/drawing/2014/main" id="{D90E428E-D28E-44FA-B3D2-A6261DEF9547}"/>
              </a:ext>
            </a:extLst>
          </p:cNvPr>
          <p:cNvSpPr>
            <a:spLocks noGrp="1"/>
          </p:cNvSpPr>
          <p:nvPr/>
        </p:nvSpPr>
        <p:spPr>
          <a:xfrm>
            <a:off x="1066800" y="38100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团队协作 Agent</a:t>
            </a:r>
          </a:p>
        </p:txBody>
      </p:sp>
      <p:sp>
        <p:nvSpPr>
          <p:cNvPr id="56" name="compat-name-4">
            <a:extLst>
              <a:ext uri="{FF2B5EF4-FFF2-40B4-BE49-F238E27FC236}">
                <a16:creationId xmlns:a16="http://schemas.microsoft.com/office/drawing/2014/main" id="{D67341F5-F649-4091-824C-34F94796A6D1}"/>
              </a:ext>
            </a:extLst>
          </p:cNvPr>
          <p:cNvSpPr>
            <a:spLocks noGrp="1"/>
          </p:cNvSpPr>
          <p:nvPr/>
        </p:nvSpPr>
        <p:spPr>
          <a:xfrm>
            <a:off x="1066800" y="40957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Hermes</a:t>
            </a:r>
          </a:p>
        </p:txBody>
      </p:sp>
      <p:sp>
        <p:nvSpPr>
          <p:cNvPr id="57" name="compat-desc-4">
            <a:extLst>
              <a:ext uri="{FF2B5EF4-FFF2-40B4-BE49-F238E27FC236}">
                <a16:creationId xmlns:a16="http://schemas.microsoft.com/office/drawing/2014/main" id="{47CDDB18-5D86-4CBA-8410-B9E666436D93}"/>
              </a:ext>
            </a:extLst>
          </p:cNvPr>
          <p:cNvSpPr>
            <a:spLocks noGrp="1"/>
          </p:cNvSpPr>
          <p:nvPr/>
        </p:nvSpPr>
        <p:spPr>
          <a:xfrm>
            <a:off x="1066800" y="4514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团队协作｜消息 / 任务 / 扩展</a:t>
            </a:r>
          </a:p>
        </p:txBody>
      </p:sp>
      <p:sp>
        <p:nvSpPr>
          <p:cNvPr id="58" name="compat-card-fill-5-1">
            <a:extLst>
              <a:ext uri="{FF2B5EF4-FFF2-40B4-BE49-F238E27FC236}">
                <a16:creationId xmlns:a16="http://schemas.microsoft.com/office/drawing/2014/main" id="{396A1AB6-3033-43F3-ACA5-9A38A7DB0437}"/>
              </a:ext>
            </a:extLst>
          </p:cNvPr>
          <p:cNvSpPr>
            <a:spLocks noGrp="1"/>
          </p:cNvSpPr>
          <p:nvPr/>
        </p:nvSpPr>
        <p:spPr>
          <a:xfrm>
            <a:off x="4438650" y="3695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9" name="compat-card-fill-5-2">
            <a:extLst>
              <a:ext uri="{FF2B5EF4-FFF2-40B4-BE49-F238E27FC236}">
                <a16:creationId xmlns:a16="http://schemas.microsoft.com/office/drawing/2014/main" id="{341658E3-D68B-4E28-80D8-EE43D6BFCBA3}"/>
              </a:ext>
            </a:extLst>
          </p:cNvPr>
          <p:cNvSpPr>
            <a:spLocks noGrp="1"/>
          </p:cNvSpPr>
          <p:nvPr/>
        </p:nvSpPr>
        <p:spPr>
          <a:xfrm>
            <a:off x="4438650" y="4076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0" name="compat-card-fill-5-3">
            <a:extLst>
              <a:ext uri="{FF2B5EF4-FFF2-40B4-BE49-F238E27FC236}">
                <a16:creationId xmlns:a16="http://schemas.microsoft.com/office/drawing/2014/main" id="{F78F7300-8212-4596-BBCE-56316A9D76A8}"/>
              </a:ext>
            </a:extLst>
          </p:cNvPr>
          <p:cNvSpPr>
            <a:spLocks noGrp="1"/>
          </p:cNvSpPr>
          <p:nvPr/>
        </p:nvSpPr>
        <p:spPr>
          <a:xfrm>
            <a:off x="4438650" y="44577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1" name="compat-card-5">
            <a:extLst>
              <a:ext uri="{FF2B5EF4-FFF2-40B4-BE49-F238E27FC236}">
                <a16:creationId xmlns:a16="http://schemas.microsoft.com/office/drawing/2014/main" id="{9ADA23D9-4B4A-410F-95B5-E660DEDA7FBD}"/>
              </a:ext>
            </a:extLst>
          </p:cNvPr>
          <p:cNvSpPr>
            <a:spLocks noGrp="1"/>
          </p:cNvSpPr>
          <p:nvPr/>
        </p:nvSpPr>
        <p:spPr>
          <a:xfrm>
            <a:off x="4381500" y="36385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62" name="compat-accent-5">
            <a:extLst>
              <a:ext uri="{FF2B5EF4-FFF2-40B4-BE49-F238E27FC236}">
                <a16:creationId xmlns:a16="http://schemas.microsoft.com/office/drawing/2014/main" id="{211650E4-8E44-4E1D-B760-CDAD74E7CEF5}"/>
              </a:ext>
            </a:extLst>
          </p:cNvPr>
          <p:cNvSpPr>
            <a:spLocks noGrp="1"/>
          </p:cNvSpPr>
          <p:nvPr/>
        </p:nvSpPr>
        <p:spPr>
          <a:xfrm>
            <a:off x="4381500" y="37909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63" name="compat-title-5">
            <a:extLst>
              <a:ext uri="{FF2B5EF4-FFF2-40B4-BE49-F238E27FC236}">
                <a16:creationId xmlns:a16="http://schemas.microsoft.com/office/drawing/2014/main" id="{8E1DBBC4-BF46-47E4-A7DB-7D88F6BF0B25}"/>
              </a:ext>
            </a:extLst>
          </p:cNvPr>
          <p:cNvSpPr>
            <a:spLocks noGrp="1"/>
          </p:cNvSpPr>
          <p:nvPr/>
        </p:nvSpPr>
        <p:spPr>
          <a:xfrm>
            <a:off x="4610100" y="38100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工程开发 Agent</a:t>
            </a:r>
          </a:p>
        </p:txBody>
      </p:sp>
      <p:sp>
        <p:nvSpPr>
          <p:cNvPr id="64" name="compat-name-5">
            <a:extLst>
              <a:ext uri="{FF2B5EF4-FFF2-40B4-BE49-F238E27FC236}">
                <a16:creationId xmlns:a16="http://schemas.microsoft.com/office/drawing/2014/main" id="{B47D0A35-7660-433A-889E-BA518CAD734D}"/>
              </a:ext>
            </a:extLst>
          </p:cNvPr>
          <p:cNvSpPr>
            <a:spLocks noGrp="1"/>
          </p:cNvSpPr>
          <p:nvPr/>
        </p:nvSpPr>
        <p:spPr>
          <a:xfrm>
            <a:off x="4610100" y="40957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OpenCode</a:t>
            </a:r>
          </a:p>
        </p:txBody>
      </p:sp>
      <p:sp>
        <p:nvSpPr>
          <p:cNvPr id="65" name="compat-desc-5">
            <a:extLst>
              <a:ext uri="{FF2B5EF4-FFF2-40B4-BE49-F238E27FC236}">
                <a16:creationId xmlns:a16="http://schemas.microsoft.com/office/drawing/2014/main" id="{31B375FF-D546-47FA-A589-63E7B6D57B05}"/>
              </a:ext>
            </a:extLst>
          </p:cNvPr>
          <p:cNvSpPr>
            <a:spLocks noGrp="1"/>
          </p:cNvSpPr>
          <p:nvPr/>
        </p:nvSpPr>
        <p:spPr>
          <a:xfrm>
            <a:off x="4610100" y="4514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主子协作｜工具权限 / 插件</a:t>
            </a:r>
          </a:p>
        </p:txBody>
      </p:sp>
      <p:sp>
        <p:nvSpPr>
          <p:cNvPr id="66" name="compat-card-fill-6-1">
            <a:extLst>
              <a:ext uri="{FF2B5EF4-FFF2-40B4-BE49-F238E27FC236}">
                <a16:creationId xmlns:a16="http://schemas.microsoft.com/office/drawing/2014/main" id="{ECA9979D-C56C-4AA7-AA58-5B1AEACB7C9B}"/>
              </a:ext>
            </a:extLst>
          </p:cNvPr>
          <p:cNvSpPr>
            <a:spLocks noGrp="1"/>
          </p:cNvSpPr>
          <p:nvPr/>
        </p:nvSpPr>
        <p:spPr>
          <a:xfrm>
            <a:off x="7981950" y="3695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7" name="compat-card-fill-6-2">
            <a:extLst>
              <a:ext uri="{FF2B5EF4-FFF2-40B4-BE49-F238E27FC236}">
                <a16:creationId xmlns:a16="http://schemas.microsoft.com/office/drawing/2014/main" id="{64024621-3F06-4AC9-9FF2-CF3E3393C103}"/>
              </a:ext>
            </a:extLst>
          </p:cNvPr>
          <p:cNvSpPr>
            <a:spLocks noGrp="1"/>
          </p:cNvSpPr>
          <p:nvPr/>
        </p:nvSpPr>
        <p:spPr>
          <a:xfrm>
            <a:off x="7981950" y="4076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8" name="compat-card-fill-6-3">
            <a:extLst>
              <a:ext uri="{FF2B5EF4-FFF2-40B4-BE49-F238E27FC236}">
                <a16:creationId xmlns:a16="http://schemas.microsoft.com/office/drawing/2014/main" id="{DC1041DE-C570-4450-8E05-373C0B3D6B9A}"/>
              </a:ext>
            </a:extLst>
          </p:cNvPr>
          <p:cNvSpPr>
            <a:spLocks noGrp="1"/>
          </p:cNvSpPr>
          <p:nvPr/>
        </p:nvSpPr>
        <p:spPr>
          <a:xfrm>
            <a:off x="7981950" y="44577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9" name="compat-card-6">
            <a:extLst>
              <a:ext uri="{FF2B5EF4-FFF2-40B4-BE49-F238E27FC236}">
                <a16:creationId xmlns:a16="http://schemas.microsoft.com/office/drawing/2014/main" id="{A0845199-7DAE-4F90-B433-E53849F2B76F}"/>
              </a:ext>
            </a:extLst>
          </p:cNvPr>
          <p:cNvSpPr>
            <a:spLocks noGrp="1"/>
          </p:cNvSpPr>
          <p:nvPr/>
        </p:nvSpPr>
        <p:spPr>
          <a:xfrm>
            <a:off x="7924800" y="36385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70" name="compat-accent-6">
            <a:extLst>
              <a:ext uri="{FF2B5EF4-FFF2-40B4-BE49-F238E27FC236}">
                <a16:creationId xmlns:a16="http://schemas.microsoft.com/office/drawing/2014/main" id="{1EAA9EC5-B647-4985-93CD-2920FC7D0E2E}"/>
              </a:ext>
            </a:extLst>
          </p:cNvPr>
          <p:cNvSpPr>
            <a:spLocks noGrp="1"/>
          </p:cNvSpPr>
          <p:nvPr/>
        </p:nvSpPr>
        <p:spPr>
          <a:xfrm>
            <a:off x="7924800" y="37909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71" name="compat-title-6">
            <a:extLst>
              <a:ext uri="{FF2B5EF4-FFF2-40B4-BE49-F238E27FC236}">
                <a16:creationId xmlns:a16="http://schemas.microsoft.com/office/drawing/2014/main" id="{80C194AA-D60E-4C5B-BEA3-071A33ECE20D}"/>
              </a:ext>
            </a:extLst>
          </p:cNvPr>
          <p:cNvSpPr>
            <a:spLocks noGrp="1"/>
          </p:cNvSpPr>
          <p:nvPr/>
        </p:nvSpPr>
        <p:spPr>
          <a:xfrm>
            <a:off x="8153400" y="38100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组合研究 Agent</a:t>
            </a:r>
          </a:p>
        </p:txBody>
      </p:sp>
      <p:sp>
        <p:nvSpPr>
          <p:cNvPr id="72" name="compat-name-6">
            <a:extLst>
              <a:ext uri="{FF2B5EF4-FFF2-40B4-BE49-F238E27FC236}">
                <a16:creationId xmlns:a16="http://schemas.microsoft.com/office/drawing/2014/main" id="{3405F951-01AF-4756-B8E9-74CA6384748F}"/>
              </a:ext>
            </a:extLst>
          </p:cNvPr>
          <p:cNvSpPr>
            <a:spLocks noGrp="1"/>
          </p:cNvSpPr>
          <p:nvPr/>
        </p:nvSpPr>
        <p:spPr>
          <a:xfrm>
            <a:off x="8153400" y="40957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DeepSeek Harness</a:t>
            </a:r>
          </a:p>
        </p:txBody>
      </p:sp>
      <p:sp>
        <p:nvSpPr>
          <p:cNvPr id="73" name="compat-desc-6">
            <a:extLst>
              <a:ext uri="{FF2B5EF4-FFF2-40B4-BE49-F238E27FC236}">
                <a16:creationId xmlns:a16="http://schemas.microsoft.com/office/drawing/2014/main" id="{2ECFBFFD-E59A-4A3A-8724-DE3549232001}"/>
              </a:ext>
            </a:extLst>
          </p:cNvPr>
          <p:cNvSpPr>
            <a:spLocks noGrp="1"/>
          </p:cNvSpPr>
          <p:nvPr/>
        </p:nvSpPr>
        <p:spPr>
          <a:xfrm>
            <a:off x="8153400" y="4514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组合研究｜Profile / Bundle / Cordis / 审批</a:t>
            </a:r>
          </a:p>
        </p:txBody>
      </p:sp>
    </p:spTree>
    <p:extLst>
      <p:ext uri="{BB962C8B-B14F-4D97-AF65-F5344CB8AC3E}">
        <p14:creationId xmlns:p14="http://schemas.microsoft.com/office/powerpoint/2010/main" val="11520931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7DFB98D4-8A9E-4310-AC05-96F1315D6B3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项目积木化 · 目标形态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EB70E22-46A8-4D3F-A933-FA5CB30DFEE0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Blocky 构建助手把现有项目拆解为可编辑的积木资产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7B9416-8927-4FDD-917D-66714D817F13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基于源码证据识别边界、权限与行为，再生成可审查、可验证、可升级的 Blocky 产物。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B99917-4785-4FF2-9985-F6BA06501A99}"/>
              </a:ext>
            </a:extLst>
          </p:cNvPr>
          <p:cNvSpPr>
            <a:spLocks noGrp="1"/>
          </p:cNvSpPr>
          <p:nvPr/>
        </p:nvSpPr>
        <p:spPr>
          <a:xfrm>
            <a:off x="2343150" y="3095625"/>
            <a:ext cx="742950" cy="38100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B5AC8B-8B9F-4695-9A04-96E9C71C918E}"/>
              </a:ext>
            </a:extLst>
          </p:cNvPr>
          <p:cNvSpPr>
            <a:spLocks noGrp="1"/>
          </p:cNvSpPr>
          <p:nvPr/>
        </p:nvSpPr>
        <p:spPr>
          <a:xfrm>
            <a:off x="2543175" y="284797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3CCDC8-7024-494D-AA95-7BFAEFB3498F}"/>
              </a:ext>
            </a:extLst>
          </p:cNvPr>
          <p:cNvSpPr>
            <a:spLocks noGrp="1"/>
          </p:cNvSpPr>
          <p:nvPr/>
        </p:nvSpPr>
        <p:spPr>
          <a:xfrm>
            <a:off x="4495800" y="3095625"/>
            <a:ext cx="742950" cy="38100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58FE4A2-B622-4C5E-AFC6-49E01F515B67}"/>
              </a:ext>
            </a:extLst>
          </p:cNvPr>
          <p:cNvSpPr>
            <a:spLocks noGrp="1"/>
          </p:cNvSpPr>
          <p:nvPr/>
        </p:nvSpPr>
        <p:spPr>
          <a:xfrm>
            <a:off x="4695825" y="284797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05E4D1E-C2BE-43FE-97BC-475FE4A6E679}"/>
              </a:ext>
            </a:extLst>
          </p:cNvPr>
          <p:cNvSpPr>
            <a:spLocks noGrp="1"/>
          </p:cNvSpPr>
          <p:nvPr/>
        </p:nvSpPr>
        <p:spPr>
          <a:xfrm>
            <a:off x="6648450" y="3095625"/>
            <a:ext cx="742950" cy="38100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D9FA4B3-0E29-4B42-9E8B-B19439EE3E86}"/>
              </a:ext>
            </a:extLst>
          </p:cNvPr>
          <p:cNvSpPr>
            <a:spLocks noGrp="1"/>
          </p:cNvSpPr>
          <p:nvPr/>
        </p:nvSpPr>
        <p:spPr>
          <a:xfrm>
            <a:off x="6848475" y="284797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0E01B1A-FBF1-410D-A8FE-40496C9C23D5}"/>
              </a:ext>
            </a:extLst>
          </p:cNvPr>
          <p:cNvSpPr>
            <a:spLocks noGrp="1"/>
          </p:cNvSpPr>
          <p:nvPr/>
        </p:nvSpPr>
        <p:spPr>
          <a:xfrm>
            <a:off x="8801100" y="3095625"/>
            <a:ext cx="742950" cy="38100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4327299-7A47-4BD8-8DDF-623868A858F8}"/>
              </a:ext>
            </a:extLst>
          </p:cNvPr>
          <p:cNvSpPr>
            <a:spLocks noGrp="1"/>
          </p:cNvSpPr>
          <p:nvPr/>
        </p:nvSpPr>
        <p:spPr>
          <a:xfrm>
            <a:off x="9001125" y="284797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1809E88-4FD6-4362-9922-851886FF0330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4A020EA-0F76-4C5F-99C3-F8E787B2D439}"/>
              </a:ext>
            </a:extLst>
          </p:cNvPr>
          <p:cNvSpPr>
            <a:spLocks noGrp="1"/>
          </p:cNvSpPr>
          <p:nvPr/>
        </p:nvSpPr>
        <p:spPr>
          <a:xfrm>
            <a:off x="83820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r>
              <a:t>锁定来源</a:t>
            </a:r>
          </a:p>
          <a:p>
            <a:r>
              <a:t>建立证据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4209DFC-0DB0-4F03-997E-ED022F5387FD}"/>
              </a:ext>
            </a:extLst>
          </p:cNvPr>
          <p:cNvSpPr>
            <a:spLocks noGrp="1"/>
          </p:cNvSpPr>
          <p:nvPr/>
        </p:nvSpPr>
        <p:spPr>
          <a:xfrm>
            <a:off x="81915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59583" lnSpcReduction="10000"/>
          </a:bodyPr>
          <a:lstStyle/>
          <a:p>
            <a:r>
              <a:t>仓库 / commit / 许可</a:t>
            </a:r>
          </a:p>
          <a:p>
            <a:r>
              <a:t>源码 / 配置 / 测试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FE863CB-E606-406C-8E49-63E027468A18}"/>
              </a:ext>
            </a:extLst>
          </p:cNvPr>
          <p:cNvSpPr>
            <a:spLocks noGrp="1"/>
          </p:cNvSpPr>
          <p:nvPr/>
        </p:nvSpPr>
        <p:spPr>
          <a:xfrm>
            <a:off x="283845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7EBB333-8FEB-4A68-A6D7-A07BB5A5EF49}"/>
              </a:ext>
            </a:extLst>
          </p:cNvPr>
          <p:cNvSpPr>
            <a:spLocks noGrp="1"/>
          </p:cNvSpPr>
          <p:nvPr/>
        </p:nvSpPr>
        <p:spPr>
          <a:xfrm>
            <a:off x="299085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r>
              <a:t>只读理解</a:t>
            </a:r>
          </a:p>
          <a:p>
            <a:r>
              <a:t>识别边界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0CA3A16-F7D2-4375-AD05-98B39C160E7B}"/>
              </a:ext>
            </a:extLst>
          </p:cNvPr>
          <p:cNvSpPr>
            <a:spLocks noGrp="1"/>
          </p:cNvSpPr>
          <p:nvPr/>
        </p:nvSpPr>
        <p:spPr>
          <a:xfrm>
            <a:off x="297180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59583" lnSpcReduction="10000"/>
          </a:bodyPr>
          <a:lstStyle/>
          <a:p>
            <a:r>
              <a:t>入口 / 类型 / 状态</a:t>
            </a:r>
          </a:p>
          <a:p>
            <a:r>
              <a:t>副作用 / 性能热点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ABBCBCB-D598-47CF-A31D-DE2AFCFB5AD4}"/>
              </a:ext>
            </a:extLst>
          </p:cNvPr>
          <p:cNvSpPr>
            <a:spLocks noGrp="1"/>
          </p:cNvSpPr>
          <p:nvPr/>
        </p:nvSpPr>
        <p:spPr>
          <a:xfrm>
            <a:off x="499110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DB15EC2-77A0-44D3-961C-3C1B64DF7D93}"/>
              </a:ext>
            </a:extLst>
          </p:cNvPr>
          <p:cNvSpPr>
            <a:spLocks noGrp="1"/>
          </p:cNvSpPr>
          <p:nvPr/>
        </p:nvSpPr>
        <p:spPr>
          <a:xfrm>
            <a:off x="514350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r>
              <a:t>语义映射</a:t>
            </a:r>
          </a:p>
          <a:p>
            <a:r>
              <a:t>产物裁决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4BA4644-3DF6-4D5D-A39E-7633F3E10712}"/>
              </a:ext>
            </a:extLst>
          </p:cNvPr>
          <p:cNvSpPr>
            <a:spLocks noGrp="1"/>
          </p:cNvSpPr>
          <p:nvPr/>
        </p:nvSpPr>
        <p:spPr>
          <a:xfrm>
            <a:off x="512445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59583" lnSpcReduction="10000"/>
          </a:bodyPr>
          <a:lstStyle/>
          <a:p>
            <a:r>
              <a:t>积木 / 蓝图 / 模板</a:t>
            </a:r>
          </a:p>
          <a:p>
            <a:r>
              <a:t>原生保留报告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89DA042-F4B5-409E-A55D-9D81D4EE3ECA}"/>
              </a:ext>
            </a:extLst>
          </p:cNvPr>
          <p:cNvSpPr>
            <a:spLocks noGrp="1"/>
          </p:cNvSpPr>
          <p:nvPr/>
        </p:nvSpPr>
        <p:spPr>
          <a:xfrm>
            <a:off x="714375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5EA51D8-9E31-4734-9C09-B3CF40E059D5}"/>
              </a:ext>
            </a:extLst>
          </p:cNvPr>
          <p:cNvSpPr>
            <a:spLocks noGrp="1"/>
          </p:cNvSpPr>
          <p:nvPr/>
        </p:nvSpPr>
        <p:spPr>
          <a:xfrm>
            <a:off x="729615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r>
              <a:t>幽灵差异</a:t>
            </a:r>
          </a:p>
          <a:p>
            <a:r>
              <a:t>接受或拒绝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AE9A07E-9C57-41E0-98BE-FB36F1B3427A}"/>
              </a:ext>
            </a:extLst>
          </p:cNvPr>
          <p:cNvSpPr>
            <a:spLocks noGrp="1"/>
          </p:cNvSpPr>
          <p:nvPr/>
        </p:nvSpPr>
        <p:spPr>
          <a:xfrm>
            <a:off x="727710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59583" lnSpcReduction="10000"/>
          </a:bodyPr>
          <a:lstStyle/>
          <a:p>
            <a:r>
              <a:t>Build Spec / Patch</a:t>
            </a:r>
          </a:p>
          <a:p>
            <a:r>
              <a:t>权限 / 依赖 / 预算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7D7090C-B895-46C1-8E74-265295F9DE71}"/>
              </a:ext>
            </a:extLst>
          </p:cNvPr>
          <p:cNvSpPr>
            <a:spLocks noGrp="1"/>
          </p:cNvSpPr>
          <p:nvPr/>
        </p:nvSpPr>
        <p:spPr>
          <a:xfrm>
            <a:off x="929640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E1F2994-A241-41AC-A0A0-8832A0CF7358}"/>
              </a:ext>
            </a:extLst>
          </p:cNvPr>
          <p:cNvSpPr>
            <a:spLocks noGrp="1"/>
          </p:cNvSpPr>
          <p:nvPr/>
        </p:nvSpPr>
        <p:spPr>
          <a:xfrm>
            <a:off x="944880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r>
              <a:t>验证往返</a:t>
            </a:r>
          </a:p>
          <a:p>
            <a:r>
              <a:t>持续升级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C53ED7-2762-4673-B1D7-3AD8965A0DD8}"/>
              </a:ext>
            </a:extLst>
          </p:cNvPr>
          <p:cNvSpPr>
            <a:spLocks noGrp="1"/>
          </p:cNvSpPr>
          <p:nvPr/>
        </p:nvSpPr>
        <p:spPr>
          <a:xfrm>
            <a:off x="942975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59583" lnSpcReduction="10000"/>
          </a:bodyPr>
          <a:lstStyle/>
          <a:p>
            <a:r>
              <a:t>编译 / 测试 / Trace</a:t>
            </a:r>
          </a:p>
          <a:p>
            <a:r>
              <a:t>增量扫描 / rollback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9FD28F7F-9AB1-4D9F-9291-E09FBFEFEFBC}"/>
              </a:ext>
            </a:extLst>
          </p:cNvPr>
          <p:cNvSpPr>
            <a:spLocks noGrp="1"/>
          </p:cNvSpPr>
          <p:nvPr/>
        </p:nvSpPr>
        <p:spPr>
          <a:xfrm>
            <a:off x="1562100" y="4533900"/>
            <a:ext cx="9067800" cy="1066800"/>
          </a:xfrm>
          <a:prstGeom prst="roundRect">
            <a:avLst>
              <a:gd name="adj" fmla="val 17857"/>
            </a:avLst>
          </a:prstGeom>
          <a:solidFill>
            <a:srgbClr val="EAF2FF"/>
          </a:solidFill>
          <a:ln w="0">
            <a:noFill/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FBA31EE-5FD9-4E8B-B02A-C5D35D3ED247}"/>
              </a:ext>
            </a:extLst>
          </p:cNvPr>
          <p:cNvSpPr>
            <a:spLocks noGrp="1"/>
          </p:cNvSpPr>
          <p:nvPr/>
        </p:nvSpPr>
        <p:spPr>
          <a:xfrm>
            <a:off x="1828800" y="4762500"/>
            <a:ext cx="8534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75" b="1" i="0">
                <a:solidFill>
                  <a:srgbClr val="FF8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项目积木化，让外部能力持续进入 Blocky 语言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28A8729-2378-4A20-A1EE-2FBF3D7D7D34}"/>
              </a:ext>
            </a:extLst>
          </p:cNvPr>
          <p:cNvSpPr>
            <a:spLocks noGrp="1"/>
          </p:cNvSpPr>
          <p:nvPr/>
        </p:nvSpPr>
        <p:spPr>
          <a:xfrm>
            <a:off x="1828800" y="5143500"/>
            <a:ext cx="8534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源码、Agent、RAG、MCP、CLI 与业务流程都能沉淀为可复用资产</a:t>
            </a:r>
          </a:p>
          <a:p>
            <a:pPr algn="ctr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扩展空间不再受预装积木数量限制，用户可持续创造自己的能力目录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6E5C844-E2E1-463A-B081-124788438DC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98B031E-3513-477C-9387-EAA6713695DE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396D7D8-64FA-4C92-BE0C-FC36C84792DE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8501018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A95339E4-F604-4D6A-86EF-DF2CD0929E1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积木化输入 · 目标形态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370CF98-9ECF-4290-B608-8ACEB1A04835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一个入口连接代码、Agent、知识与业务流程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79087C1-24E9-4883-BB39-FFC3752BBE8C}"/>
              </a:ext>
            </a:extLst>
          </p:cNvPr>
          <p:cNvSpPr>
            <a:spLocks noGrp="1"/>
          </p:cNvSpPr>
          <p:nvPr/>
        </p:nvSpPr>
        <p:spPr>
          <a:xfrm>
            <a:off x="1714500" y="2019300"/>
            <a:ext cx="7905750" cy="3429000"/>
          </a:xfrm>
          <a:prstGeom prst="roundRect">
            <a:avLst>
              <a:gd name="adj" fmla="val 5556"/>
            </a:avLst>
          </a:prstGeom>
          <a:noFill/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AF039EF-8669-48E6-8355-B3E3CDD61D65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构建助手先判断输入类型，再选择最适合的可编辑结果；不同来源可以组合进入同一项目。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252EBC-6654-4A56-A43D-04234BEB26AE}"/>
              </a:ext>
            </a:extLst>
          </p:cNvPr>
          <p:cNvSpPr>
            <a:spLocks noGrp="1"/>
          </p:cNvSpPr>
          <p:nvPr/>
        </p:nvSpPr>
        <p:spPr>
          <a:xfrm>
            <a:off x="876300" y="5105400"/>
            <a:ext cx="10439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1" i="0">
                <a:solidFill>
                  <a:srgbClr val="145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同一项目可以吸收多种来源，不把复杂能力压成一个黑盒代码块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710F48B-9833-4CEA-96EC-F710C0DB08BB}"/>
              </a:ext>
            </a:extLst>
          </p:cNvPr>
          <p:cNvSpPr>
            <a:spLocks noGrp="1"/>
          </p:cNvSpPr>
          <p:nvPr/>
        </p:nvSpPr>
        <p:spPr>
          <a:xfrm>
            <a:off x="9906000" y="2076450"/>
            <a:ext cx="1600200" cy="3352800"/>
          </a:xfrm>
          <a:prstGeom prst="roundRect">
            <a:avLst>
              <a:gd name="adj" fmla="val 11905"/>
            </a:avLst>
          </a:prstGeom>
          <a:noFill/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ACF8F47-F459-4EE8-AFFB-431D2346A884}"/>
              </a:ext>
            </a:extLst>
          </p:cNvPr>
          <p:cNvSpPr>
            <a:spLocks noGrp="1"/>
          </p:cNvSpPr>
          <p:nvPr/>
        </p:nvSpPr>
        <p:spPr>
          <a:xfrm>
            <a:off x="685800" y="5600700"/>
            <a:ext cx="10820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输入越丰富，转换证据越清晰，可复用资产越多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CA2238B-6981-4EEF-9644-CAB79A1ED2D3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EEEB512-B61D-4234-BF5B-E7FCE68FD363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36BBFE9-8C7C-4891-A36F-ED778245CE43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26" name="compat-card-fill-1-1">
            <a:extLst>
              <a:ext uri="{FF2B5EF4-FFF2-40B4-BE49-F238E27FC236}">
                <a16:creationId xmlns:a16="http://schemas.microsoft.com/office/drawing/2014/main" id="{F69DB481-5385-40C6-8BEA-8619F0A3E72B}"/>
              </a:ext>
            </a:extLst>
          </p:cNvPr>
          <p:cNvSpPr>
            <a:spLocks noGrp="1"/>
          </p:cNvSpPr>
          <p:nvPr/>
        </p:nvSpPr>
        <p:spPr>
          <a:xfrm>
            <a:off x="895350" y="2133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7" name="compat-card-fill-1-2">
            <a:extLst>
              <a:ext uri="{FF2B5EF4-FFF2-40B4-BE49-F238E27FC236}">
                <a16:creationId xmlns:a16="http://schemas.microsoft.com/office/drawing/2014/main" id="{E4EF5A44-61F6-43D8-A716-C98483ED0778}"/>
              </a:ext>
            </a:extLst>
          </p:cNvPr>
          <p:cNvSpPr>
            <a:spLocks noGrp="1"/>
          </p:cNvSpPr>
          <p:nvPr/>
        </p:nvSpPr>
        <p:spPr>
          <a:xfrm>
            <a:off x="895350" y="2514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8" name="compat-card-fill-1-3">
            <a:extLst>
              <a:ext uri="{FF2B5EF4-FFF2-40B4-BE49-F238E27FC236}">
                <a16:creationId xmlns:a16="http://schemas.microsoft.com/office/drawing/2014/main" id="{2D5C7F0A-2376-4FCC-B006-D475EB4611E7}"/>
              </a:ext>
            </a:extLst>
          </p:cNvPr>
          <p:cNvSpPr>
            <a:spLocks noGrp="1"/>
          </p:cNvSpPr>
          <p:nvPr/>
        </p:nvSpPr>
        <p:spPr>
          <a:xfrm>
            <a:off x="895350" y="28956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9" name="compat-card-1">
            <a:extLst>
              <a:ext uri="{FF2B5EF4-FFF2-40B4-BE49-F238E27FC236}">
                <a16:creationId xmlns:a16="http://schemas.microsoft.com/office/drawing/2014/main" id="{6C151DE4-71A9-4FA2-9A44-BC594719616F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30" name="compat-accent-1">
            <a:extLst>
              <a:ext uri="{FF2B5EF4-FFF2-40B4-BE49-F238E27FC236}">
                <a16:creationId xmlns:a16="http://schemas.microsoft.com/office/drawing/2014/main" id="{4A5AF1A7-B885-4B88-B017-97B67775F82B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31" name="compat-title-1">
            <a:extLst>
              <a:ext uri="{FF2B5EF4-FFF2-40B4-BE49-F238E27FC236}">
                <a16:creationId xmlns:a16="http://schemas.microsoft.com/office/drawing/2014/main" id="{34755EBE-93F0-4137-A1C0-A92B874AF4D1}"/>
              </a:ext>
            </a:extLst>
          </p:cNvPr>
          <p:cNvSpPr>
            <a:spLocks noGrp="1"/>
          </p:cNvSpPr>
          <p:nvPr/>
        </p:nvSpPr>
        <p:spPr>
          <a:xfrm>
            <a:off x="1066800" y="22479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GitHub / 本地仓库</a:t>
            </a:r>
          </a:p>
        </p:txBody>
      </p:sp>
      <p:sp>
        <p:nvSpPr>
          <p:cNvPr id="32" name="compat-name-1">
            <a:extLst>
              <a:ext uri="{FF2B5EF4-FFF2-40B4-BE49-F238E27FC236}">
                <a16:creationId xmlns:a16="http://schemas.microsoft.com/office/drawing/2014/main" id="{7B4D9A5C-E768-4DC4-A8BF-A0C0D3177F91}"/>
              </a:ext>
            </a:extLst>
          </p:cNvPr>
          <p:cNvSpPr>
            <a:spLocks noGrp="1"/>
          </p:cNvSpPr>
          <p:nvPr/>
        </p:nvSpPr>
        <p:spPr>
          <a:xfrm>
            <a:off x="1066800" y="25336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库 · SDK · 应用</a:t>
            </a:r>
          </a:p>
        </p:txBody>
      </p:sp>
      <p:sp>
        <p:nvSpPr>
          <p:cNvPr id="33" name="compat-desc-1">
            <a:extLst>
              <a:ext uri="{FF2B5EF4-FFF2-40B4-BE49-F238E27FC236}">
                <a16:creationId xmlns:a16="http://schemas.microsoft.com/office/drawing/2014/main" id="{6EEF4EE7-6902-4F7D-979E-88501EA44802}"/>
              </a:ext>
            </a:extLst>
          </p:cNvPr>
          <p:cNvSpPr>
            <a:spLocks noGrp="1"/>
          </p:cNvSpPr>
          <p:nvPr/>
        </p:nvSpPr>
        <p:spPr>
          <a:xfrm>
            <a:off x="1066800" y="29527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API / 类型 / 依赖 / 测试</a:t>
            </a:r>
          </a:p>
        </p:txBody>
      </p:sp>
      <p:sp>
        <p:nvSpPr>
          <p:cNvPr id="34" name="compat-card-fill-2-1">
            <a:extLst>
              <a:ext uri="{FF2B5EF4-FFF2-40B4-BE49-F238E27FC236}">
                <a16:creationId xmlns:a16="http://schemas.microsoft.com/office/drawing/2014/main" id="{6678D41D-B7A4-47ED-A705-BC8B0F76C6AB}"/>
              </a:ext>
            </a:extLst>
          </p:cNvPr>
          <p:cNvSpPr>
            <a:spLocks noGrp="1"/>
          </p:cNvSpPr>
          <p:nvPr/>
        </p:nvSpPr>
        <p:spPr>
          <a:xfrm>
            <a:off x="4438650" y="2133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5" name="compat-card-fill-2-2">
            <a:extLst>
              <a:ext uri="{FF2B5EF4-FFF2-40B4-BE49-F238E27FC236}">
                <a16:creationId xmlns:a16="http://schemas.microsoft.com/office/drawing/2014/main" id="{AF7B2C68-02AD-4AB9-9093-19F05DEF1A4B}"/>
              </a:ext>
            </a:extLst>
          </p:cNvPr>
          <p:cNvSpPr>
            <a:spLocks noGrp="1"/>
          </p:cNvSpPr>
          <p:nvPr/>
        </p:nvSpPr>
        <p:spPr>
          <a:xfrm>
            <a:off x="4438650" y="2514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6" name="compat-card-fill-2-3">
            <a:extLst>
              <a:ext uri="{FF2B5EF4-FFF2-40B4-BE49-F238E27FC236}">
                <a16:creationId xmlns:a16="http://schemas.microsoft.com/office/drawing/2014/main" id="{E3636D79-096C-47D6-B78F-E30DAF504A34}"/>
              </a:ext>
            </a:extLst>
          </p:cNvPr>
          <p:cNvSpPr>
            <a:spLocks noGrp="1"/>
          </p:cNvSpPr>
          <p:nvPr/>
        </p:nvSpPr>
        <p:spPr>
          <a:xfrm>
            <a:off x="4438650" y="28956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7" name="compat-card-2">
            <a:extLst>
              <a:ext uri="{FF2B5EF4-FFF2-40B4-BE49-F238E27FC236}">
                <a16:creationId xmlns:a16="http://schemas.microsoft.com/office/drawing/2014/main" id="{59DCAF35-0EEB-4DA4-B734-CCF9E9C4CFF7}"/>
              </a:ext>
            </a:extLst>
          </p:cNvPr>
          <p:cNvSpPr>
            <a:spLocks noGrp="1"/>
          </p:cNvSpPr>
          <p:nvPr/>
        </p:nvSpPr>
        <p:spPr>
          <a:xfrm>
            <a:off x="4381500" y="20764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38" name="compat-accent-2">
            <a:extLst>
              <a:ext uri="{FF2B5EF4-FFF2-40B4-BE49-F238E27FC236}">
                <a16:creationId xmlns:a16="http://schemas.microsoft.com/office/drawing/2014/main" id="{6D379EDB-817E-4F0B-91DB-DF83E8488E25}"/>
              </a:ext>
            </a:extLst>
          </p:cNvPr>
          <p:cNvSpPr>
            <a:spLocks noGrp="1"/>
          </p:cNvSpPr>
          <p:nvPr/>
        </p:nvSpPr>
        <p:spPr>
          <a:xfrm>
            <a:off x="4381500" y="22288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39" name="compat-title-2">
            <a:extLst>
              <a:ext uri="{FF2B5EF4-FFF2-40B4-BE49-F238E27FC236}">
                <a16:creationId xmlns:a16="http://schemas.microsoft.com/office/drawing/2014/main" id="{E6BC2108-034B-409A-ABE7-485519372F2C}"/>
              </a:ext>
            </a:extLst>
          </p:cNvPr>
          <p:cNvSpPr>
            <a:spLocks noGrp="1"/>
          </p:cNvSpPr>
          <p:nvPr/>
        </p:nvSpPr>
        <p:spPr>
          <a:xfrm>
            <a:off x="4610100" y="22479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现有 Agent / Harness</a:t>
            </a:r>
          </a:p>
        </p:txBody>
      </p:sp>
      <p:sp>
        <p:nvSpPr>
          <p:cNvPr id="40" name="compat-name-2">
            <a:extLst>
              <a:ext uri="{FF2B5EF4-FFF2-40B4-BE49-F238E27FC236}">
                <a16:creationId xmlns:a16="http://schemas.microsoft.com/office/drawing/2014/main" id="{53F45C2E-A901-407B-AAAB-6E9BA20F451C}"/>
              </a:ext>
            </a:extLst>
          </p:cNvPr>
          <p:cNvSpPr>
            <a:spLocks noGrp="1"/>
          </p:cNvSpPr>
          <p:nvPr/>
        </p:nvSpPr>
        <p:spPr>
          <a:xfrm>
            <a:off x="4610100" y="25336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循环 · 工具 · 权限</a:t>
            </a:r>
          </a:p>
        </p:txBody>
      </p:sp>
      <p:sp>
        <p:nvSpPr>
          <p:cNvPr id="41" name="compat-desc-2">
            <a:extLst>
              <a:ext uri="{FF2B5EF4-FFF2-40B4-BE49-F238E27FC236}">
                <a16:creationId xmlns:a16="http://schemas.microsoft.com/office/drawing/2014/main" id="{7857053F-D439-4C53-B6DB-03E22CF16485}"/>
              </a:ext>
            </a:extLst>
          </p:cNvPr>
          <p:cNvSpPr>
            <a:spLocks noGrp="1"/>
          </p:cNvSpPr>
          <p:nvPr/>
        </p:nvSpPr>
        <p:spPr>
          <a:xfrm>
            <a:off x="4610100" y="29527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会话 / 事件 / 插件 / 配置</a:t>
            </a:r>
          </a:p>
        </p:txBody>
      </p:sp>
      <p:sp>
        <p:nvSpPr>
          <p:cNvPr id="42" name="compat-card-fill-3-1">
            <a:extLst>
              <a:ext uri="{FF2B5EF4-FFF2-40B4-BE49-F238E27FC236}">
                <a16:creationId xmlns:a16="http://schemas.microsoft.com/office/drawing/2014/main" id="{D02C6BBE-B855-49E3-9FFF-F9AAB4710C1E}"/>
              </a:ext>
            </a:extLst>
          </p:cNvPr>
          <p:cNvSpPr>
            <a:spLocks noGrp="1"/>
          </p:cNvSpPr>
          <p:nvPr/>
        </p:nvSpPr>
        <p:spPr>
          <a:xfrm>
            <a:off x="7981950" y="2133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3" name="compat-card-fill-3-2">
            <a:extLst>
              <a:ext uri="{FF2B5EF4-FFF2-40B4-BE49-F238E27FC236}">
                <a16:creationId xmlns:a16="http://schemas.microsoft.com/office/drawing/2014/main" id="{777F7FB1-AD1C-4E78-AC1C-0C013DEA09DB}"/>
              </a:ext>
            </a:extLst>
          </p:cNvPr>
          <p:cNvSpPr>
            <a:spLocks noGrp="1"/>
          </p:cNvSpPr>
          <p:nvPr/>
        </p:nvSpPr>
        <p:spPr>
          <a:xfrm>
            <a:off x="7981950" y="2514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4" name="compat-card-fill-3-3">
            <a:extLst>
              <a:ext uri="{FF2B5EF4-FFF2-40B4-BE49-F238E27FC236}">
                <a16:creationId xmlns:a16="http://schemas.microsoft.com/office/drawing/2014/main" id="{45AFEE63-5A0B-450B-8AC2-1BF30F6BF4B6}"/>
              </a:ext>
            </a:extLst>
          </p:cNvPr>
          <p:cNvSpPr>
            <a:spLocks noGrp="1"/>
          </p:cNvSpPr>
          <p:nvPr/>
        </p:nvSpPr>
        <p:spPr>
          <a:xfrm>
            <a:off x="7981950" y="28956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5" name="compat-card-3">
            <a:extLst>
              <a:ext uri="{FF2B5EF4-FFF2-40B4-BE49-F238E27FC236}">
                <a16:creationId xmlns:a16="http://schemas.microsoft.com/office/drawing/2014/main" id="{EFD30262-A6C0-4D53-A7BF-1B52ACFE3797}"/>
              </a:ext>
            </a:extLst>
          </p:cNvPr>
          <p:cNvSpPr>
            <a:spLocks noGrp="1"/>
          </p:cNvSpPr>
          <p:nvPr/>
        </p:nvSpPr>
        <p:spPr>
          <a:xfrm>
            <a:off x="7924800" y="20764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46" name="compat-accent-3">
            <a:extLst>
              <a:ext uri="{FF2B5EF4-FFF2-40B4-BE49-F238E27FC236}">
                <a16:creationId xmlns:a16="http://schemas.microsoft.com/office/drawing/2014/main" id="{B425A560-FF61-42E2-8088-6874D276AB15}"/>
              </a:ext>
            </a:extLst>
          </p:cNvPr>
          <p:cNvSpPr>
            <a:spLocks noGrp="1"/>
          </p:cNvSpPr>
          <p:nvPr/>
        </p:nvSpPr>
        <p:spPr>
          <a:xfrm>
            <a:off x="7924800" y="22288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47" name="compat-title-3">
            <a:extLst>
              <a:ext uri="{FF2B5EF4-FFF2-40B4-BE49-F238E27FC236}">
                <a16:creationId xmlns:a16="http://schemas.microsoft.com/office/drawing/2014/main" id="{DE4D6871-BF98-4AEC-B845-AFDCEC1FCA89}"/>
              </a:ext>
            </a:extLst>
          </p:cNvPr>
          <p:cNvSpPr>
            <a:spLocks noGrp="1"/>
          </p:cNvSpPr>
          <p:nvPr/>
        </p:nvSpPr>
        <p:spPr>
          <a:xfrm>
            <a:off x="8153400" y="22479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知识库与 RAG</a:t>
            </a:r>
          </a:p>
        </p:txBody>
      </p:sp>
      <p:sp>
        <p:nvSpPr>
          <p:cNvPr id="48" name="compat-name-3">
            <a:extLst>
              <a:ext uri="{FF2B5EF4-FFF2-40B4-BE49-F238E27FC236}">
                <a16:creationId xmlns:a16="http://schemas.microsoft.com/office/drawing/2014/main" id="{DED0F3A4-98EC-4B28-99FD-5C1D27931BB8}"/>
              </a:ext>
            </a:extLst>
          </p:cNvPr>
          <p:cNvSpPr>
            <a:spLocks noGrp="1"/>
          </p:cNvSpPr>
          <p:nvPr/>
        </p:nvSpPr>
        <p:spPr>
          <a:xfrm>
            <a:off x="8153400" y="25336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摄取 · 检索 · 引用</a:t>
            </a:r>
          </a:p>
        </p:txBody>
      </p:sp>
      <p:sp>
        <p:nvSpPr>
          <p:cNvPr id="49" name="compat-desc-3">
            <a:extLst>
              <a:ext uri="{FF2B5EF4-FFF2-40B4-BE49-F238E27FC236}">
                <a16:creationId xmlns:a16="http://schemas.microsoft.com/office/drawing/2014/main" id="{18FAF0F3-633A-440E-8341-7797379702B4}"/>
              </a:ext>
            </a:extLst>
          </p:cNvPr>
          <p:cNvSpPr>
            <a:spLocks noGrp="1"/>
          </p:cNvSpPr>
          <p:nvPr/>
        </p:nvSpPr>
        <p:spPr>
          <a:xfrm>
            <a:off x="8153400" y="29527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来源 / 索引 / 重排 / ACL</a:t>
            </a:r>
          </a:p>
        </p:txBody>
      </p:sp>
      <p:sp>
        <p:nvSpPr>
          <p:cNvPr id="50" name="compat-card-fill-4-1">
            <a:extLst>
              <a:ext uri="{FF2B5EF4-FFF2-40B4-BE49-F238E27FC236}">
                <a16:creationId xmlns:a16="http://schemas.microsoft.com/office/drawing/2014/main" id="{E0562B3F-3B89-4B8F-A3C5-10385080D496}"/>
              </a:ext>
            </a:extLst>
          </p:cNvPr>
          <p:cNvSpPr>
            <a:spLocks noGrp="1"/>
          </p:cNvSpPr>
          <p:nvPr/>
        </p:nvSpPr>
        <p:spPr>
          <a:xfrm>
            <a:off x="895350" y="3695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1" name="compat-card-fill-4-2">
            <a:extLst>
              <a:ext uri="{FF2B5EF4-FFF2-40B4-BE49-F238E27FC236}">
                <a16:creationId xmlns:a16="http://schemas.microsoft.com/office/drawing/2014/main" id="{48C12C69-CFB1-4C46-BBD9-D4625CCBA581}"/>
              </a:ext>
            </a:extLst>
          </p:cNvPr>
          <p:cNvSpPr>
            <a:spLocks noGrp="1"/>
          </p:cNvSpPr>
          <p:nvPr/>
        </p:nvSpPr>
        <p:spPr>
          <a:xfrm>
            <a:off x="895350" y="4076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2" name="compat-card-fill-4-3">
            <a:extLst>
              <a:ext uri="{FF2B5EF4-FFF2-40B4-BE49-F238E27FC236}">
                <a16:creationId xmlns:a16="http://schemas.microsoft.com/office/drawing/2014/main" id="{B526D05E-C47D-49D2-A72B-7996334C26A3}"/>
              </a:ext>
            </a:extLst>
          </p:cNvPr>
          <p:cNvSpPr>
            <a:spLocks noGrp="1"/>
          </p:cNvSpPr>
          <p:nvPr/>
        </p:nvSpPr>
        <p:spPr>
          <a:xfrm>
            <a:off x="895350" y="44577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3" name="compat-card-4">
            <a:extLst>
              <a:ext uri="{FF2B5EF4-FFF2-40B4-BE49-F238E27FC236}">
                <a16:creationId xmlns:a16="http://schemas.microsoft.com/office/drawing/2014/main" id="{78665501-39CF-43AB-A709-09CE61C4A59E}"/>
              </a:ext>
            </a:extLst>
          </p:cNvPr>
          <p:cNvSpPr>
            <a:spLocks noGrp="1"/>
          </p:cNvSpPr>
          <p:nvPr/>
        </p:nvSpPr>
        <p:spPr>
          <a:xfrm>
            <a:off x="838200" y="36385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54" name="compat-accent-4">
            <a:extLst>
              <a:ext uri="{FF2B5EF4-FFF2-40B4-BE49-F238E27FC236}">
                <a16:creationId xmlns:a16="http://schemas.microsoft.com/office/drawing/2014/main" id="{49B9AA27-CD03-495D-9699-BB6DE584A024}"/>
              </a:ext>
            </a:extLst>
          </p:cNvPr>
          <p:cNvSpPr>
            <a:spLocks noGrp="1"/>
          </p:cNvSpPr>
          <p:nvPr/>
        </p:nvSpPr>
        <p:spPr>
          <a:xfrm>
            <a:off x="838200" y="37909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55" name="compat-title-4">
            <a:extLst>
              <a:ext uri="{FF2B5EF4-FFF2-40B4-BE49-F238E27FC236}">
                <a16:creationId xmlns:a16="http://schemas.microsoft.com/office/drawing/2014/main" id="{D90E428E-D28E-44FA-B3D2-A6261DEF9547}"/>
              </a:ext>
            </a:extLst>
          </p:cNvPr>
          <p:cNvSpPr>
            <a:spLocks noGrp="1"/>
          </p:cNvSpPr>
          <p:nvPr/>
        </p:nvSpPr>
        <p:spPr>
          <a:xfrm>
            <a:off x="1066800" y="38100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MCP / CLI / API</a:t>
            </a:r>
          </a:p>
        </p:txBody>
      </p:sp>
      <p:sp>
        <p:nvSpPr>
          <p:cNvPr id="56" name="compat-name-4">
            <a:extLst>
              <a:ext uri="{FF2B5EF4-FFF2-40B4-BE49-F238E27FC236}">
                <a16:creationId xmlns:a16="http://schemas.microsoft.com/office/drawing/2014/main" id="{D67341F5-F649-4091-824C-34F94796A6D1}"/>
              </a:ext>
            </a:extLst>
          </p:cNvPr>
          <p:cNvSpPr>
            <a:spLocks noGrp="1"/>
          </p:cNvSpPr>
          <p:nvPr/>
        </p:nvSpPr>
        <p:spPr>
          <a:xfrm>
            <a:off x="1066800" y="40957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工具与连接器</a:t>
            </a:r>
          </a:p>
        </p:txBody>
      </p:sp>
      <p:sp>
        <p:nvSpPr>
          <p:cNvPr id="57" name="compat-desc-4">
            <a:extLst>
              <a:ext uri="{FF2B5EF4-FFF2-40B4-BE49-F238E27FC236}">
                <a16:creationId xmlns:a16="http://schemas.microsoft.com/office/drawing/2014/main" id="{47CDDB18-5D86-4CBA-8410-B9E666436D93}"/>
              </a:ext>
            </a:extLst>
          </p:cNvPr>
          <p:cNvSpPr>
            <a:spLocks noGrp="1"/>
          </p:cNvSpPr>
          <p:nvPr/>
        </p:nvSpPr>
        <p:spPr>
          <a:xfrm>
            <a:off x="1066800" y="4514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Contracts / Auth / Errors / Rate Limits</a:t>
            </a:r>
          </a:p>
        </p:txBody>
      </p:sp>
      <p:sp>
        <p:nvSpPr>
          <p:cNvPr id="58" name="compat-card-fill-5-1">
            <a:extLst>
              <a:ext uri="{FF2B5EF4-FFF2-40B4-BE49-F238E27FC236}">
                <a16:creationId xmlns:a16="http://schemas.microsoft.com/office/drawing/2014/main" id="{396A1AB6-3033-43F3-ACA5-9A38A7DB0437}"/>
              </a:ext>
            </a:extLst>
          </p:cNvPr>
          <p:cNvSpPr>
            <a:spLocks noGrp="1"/>
          </p:cNvSpPr>
          <p:nvPr/>
        </p:nvSpPr>
        <p:spPr>
          <a:xfrm>
            <a:off x="4438650" y="3695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9" name="compat-card-fill-5-2">
            <a:extLst>
              <a:ext uri="{FF2B5EF4-FFF2-40B4-BE49-F238E27FC236}">
                <a16:creationId xmlns:a16="http://schemas.microsoft.com/office/drawing/2014/main" id="{341658E3-D68B-4E28-80D8-EE43D6BFCBA3}"/>
              </a:ext>
            </a:extLst>
          </p:cNvPr>
          <p:cNvSpPr>
            <a:spLocks noGrp="1"/>
          </p:cNvSpPr>
          <p:nvPr/>
        </p:nvSpPr>
        <p:spPr>
          <a:xfrm>
            <a:off x="4438650" y="4076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0" name="compat-card-fill-5-3">
            <a:extLst>
              <a:ext uri="{FF2B5EF4-FFF2-40B4-BE49-F238E27FC236}">
                <a16:creationId xmlns:a16="http://schemas.microsoft.com/office/drawing/2014/main" id="{F78F7300-8212-4596-BBCE-56316A9D76A8}"/>
              </a:ext>
            </a:extLst>
          </p:cNvPr>
          <p:cNvSpPr>
            <a:spLocks noGrp="1"/>
          </p:cNvSpPr>
          <p:nvPr/>
        </p:nvSpPr>
        <p:spPr>
          <a:xfrm>
            <a:off x="4438650" y="44577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1" name="compat-card-5">
            <a:extLst>
              <a:ext uri="{FF2B5EF4-FFF2-40B4-BE49-F238E27FC236}">
                <a16:creationId xmlns:a16="http://schemas.microsoft.com/office/drawing/2014/main" id="{9ADA23D9-4B4A-410F-95B5-E660DEDA7FBD}"/>
              </a:ext>
            </a:extLst>
          </p:cNvPr>
          <p:cNvSpPr>
            <a:spLocks noGrp="1"/>
          </p:cNvSpPr>
          <p:nvPr/>
        </p:nvSpPr>
        <p:spPr>
          <a:xfrm>
            <a:off x="4381500" y="36385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62" name="compat-accent-5">
            <a:extLst>
              <a:ext uri="{FF2B5EF4-FFF2-40B4-BE49-F238E27FC236}">
                <a16:creationId xmlns:a16="http://schemas.microsoft.com/office/drawing/2014/main" id="{211650E4-8E44-4E1D-B760-CDAD74E7CEF5}"/>
              </a:ext>
            </a:extLst>
          </p:cNvPr>
          <p:cNvSpPr>
            <a:spLocks noGrp="1"/>
          </p:cNvSpPr>
          <p:nvPr/>
        </p:nvSpPr>
        <p:spPr>
          <a:xfrm>
            <a:off x="4381500" y="37909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63" name="compat-title-5">
            <a:extLst>
              <a:ext uri="{FF2B5EF4-FFF2-40B4-BE49-F238E27FC236}">
                <a16:creationId xmlns:a16="http://schemas.microsoft.com/office/drawing/2014/main" id="{8E1DBBC4-BF46-47E4-A7DB-7D88F6BF0B25}"/>
              </a:ext>
            </a:extLst>
          </p:cNvPr>
          <p:cNvSpPr>
            <a:spLocks noGrp="1"/>
          </p:cNvSpPr>
          <p:nvPr/>
        </p:nvSpPr>
        <p:spPr>
          <a:xfrm>
            <a:off x="4610100" y="38100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业务流程与 RPA</a:t>
            </a:r>
          </a:p>
        </p:txBody>
      </p:sp>
      <p:sp>
        <p:nvSpPr>
          <p:cNvPr id="64" name="compat-name-5">
            <a:extLst>
              <a:ext uri="{FF2B5EF4-FFF2-40B4-BE49-F238E27FC236}">
                <a16:creationId xmlns:a16="http://schemas.microsoft.com/office/drawing/2014/main" id="{B47D0A35-7660-433A-889E-BA518CAD734D}"/>
              </a:ext>
            </a:extLst>
          </p:cNvPr>
          <p:cNvSpPr>
            <a:spLocks noGrp="1"/>
          </p:cNvSpPr>
          <p:nvPr/>
        </p:nvSpPr>
        <p:spPr>
          <a:xfrm>
            <a:off x="4610100" y="40957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浏览器 ↔ 桌面</a:t>
            </a:r>
          </a:p>
        </p:txBody>
      </p:sp>
      <p:sp>
        <p:nvSpPr>
          <p:cNvPr id="65" name="compat-desc-5">
            <a:extLst>
              <a:ext uri="{FF2B5EF4-FFF2-40B4-BE49-F238E27FC236}">
                <a16:creationId xmlns:a16="http://schemas.microsoft.com/office/drawing/2014/main" id="{31B375FF-D546-47FA-A589-63E7B6D57B05}"/>
              </a:ext>
            </a:extLst>
          </p:cNvPr>
          <p:cNvSpPr>
            <a:spLocks noGrp="1"/>
          </p:cNvSpPr>
          <p:nvPr/>
        </p:nvSpPr>
        <p:spPr>
          <a:xfrm>
            <a:off x="4610100" y="4514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表单 / 文件 / 检查点 / 审批</a:t>
            </a:r>
          </a:p>
        </p:txBody>
      </p:sp>
      <p:sp>
        <p:nvSpPr>
          <p:cNvPr id="66" name="compat-card-fill-6-1">
            <a:extLst>
              <a:ext uri="{FF2B5EF4-FFF2-40B4-BE49-F238E27FC236}">
                <a16:creationId xmlns:a16="http://schemas.microsoft.com/office/drawing/2014/main" id="{ECA9979D-C56C-4AA7-AA58-5B1AEACB7C9B}"/>
              </a:ext>
            </a:extLst>
          </p:cNvPr>
          <p:cNvSpPr>
            <a:spLocks noGrp="1"/>
          </p:cNvSpPr>
          <p:nvPr/>
        </p:nvSpPr>
        <p:spPr>
          <a:xfrm>
            <a:off x="7981950" y="3695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7" name="compat-card-fill-6-2">
            <a:extLst>
              <a:ext uri="{FF2B5EF4-FFF2-40B4-BE49-F238E27FC236}">
                <a16:creationId xmlns:a16="http://schemas.microsoft.com/office/drawing/2014/main" id="{64024621-3F06-4AC9-9FF2-CF3E3393C103}"/>
              </a:ext>
            </a:extLst>
          </p:cNvPr>
          <p:cNvSpPr>
            <a:spLocks noGrp="1"/>
          </p:cNvSpPr>
          <p:nvPr/>
        </p:nvSpPr>
        <p:spPr>
          <a:xfrm>
            <a:off x="7981950" y="4076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8" name="compat-card-fill-6-3">
            <a:extLst>
              <a:ext uri="{FF2B5EF4-FFF2-40B4-BE49-F238E27FC236}">
                <a16:creationId xmlns:a16="http://schemas.microsoft.com/office/drawing/2014/main" id="{DC1041DE-C570-4450-8E05-373C0B3D6B9A}"/>
              </a:ext>
            </a:extLst>
          </p:cNvPr>
          <p:cNvSpPr>
            <a:spLocks noGrp="1"/>
          </p:cNvSpPr>
          <p:nvPr/>
        </p:nvSpPr>
        <p:spPr>
          <a:xfrm>
            <a:off x="7981950" y="44577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9" name="compat-card-6">
            <a:extLst>
              <a:ext uri="{FF2B5EF4-FFF2-40B4-BE49-F238E27FC236}">
                <a16:creationId xmlns:a16="http://schemas.microsoft.com/office/drawing/2014/main" id="{A0845199-7DAE-4F90-B433-E53849F2B76F}"/>
              </a:ext>
            </a:extLst>
          </p:cNvPr>
          <p:cNvSpPr>
            <a:spLocks noGrp="1"/>
          </p:cNvSpPr>
          <p:nvPr/>
        </p:nvSpPr>
        <p:spPr>
          <a:xfrm>
            <a:off x="7924800" y="36385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70" name="compat-accent-6">
            <a:extLst>
              <a:ext uri="{FF2B5EF4-FFF2-40B4-BE49-F238E27FC236}">
                <a16:creationId xmlns:a16="http://schemas.microsoft.com/office/drawing/2014/main" id="{1EAA9EC5-B647-4985-93CD-2920FC7D0E2E}"/>
              </a:ext>
            </a:extLst>
          </p:cNvPr>
          <p:cNvSpPr>
            <a:spLocks noGrp="1"/>
          </p:cNvSpPr>
          <p:nvPr/>
        </p:nvSpPr>
        <p:spPr>
          <a:xfrm>
            <a:off x="7924800" y="37909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71" name="compat-title-6">
            <a:extLst>
              <a:ext uri="{FF2B5EF4-FFF2-40B4-BE49-F238E27FC236}">
                <a16:creationId xmlns:a16="http://schemas.microsoft.com/office/drawing/2014/main" id="{80C194AA-D60E-4C5B-BEA3-071A33ECE20D}"/>
              </a:ext>
            </a:extLst>
          </p:cNvPr>
          <p:cNvSpPr>
            <a:spLocks noGrp="1"/>
          </p:cNvSpPr>
          <p:nvPr/>
        </p:nvSpPr>
        <p:spPr>
          <a:xfrm>
            <a:off x="8153400" y="38100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教学与组织资产</a:t>
            </a:r>
          </a:p>
        </p:txBody>
      </p:sp>
      <p:sp>
        <p:nvSpPr>
          <p:cNvPr id="72" name="compat-name-6">
            <a:extLst>
              <a:ext uri="{FF2B5EF4-FFF2-40B4-BE49-F238E27FC236}">
                <a16:creationId xmlns:a16="http://schemas.microsoft.com/office/drawing/2014/main" id="{3405F951-01AF-4756-B8E9-74CA6384748F}"/>
              </a:ext>
            </a:extLst>
          </p:cNvPr>
          <p:cNvSpPr>
            <a:spLocks noGrp="1"/>
          </p:cNvSpPr>
          <p:nvPr/>
        </p:nvSpPr>
        <p:spPr>
          <a:xfrm>
            <a:off x="8153400" y="40957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课程 · 文档 · 规则</a:t>
            </a:r>
          </a:p>
        </p:txBody>
      </p:sp>
      <p:sp>
        <p:nvSpPr>
          <p:cNvPr id="73" name="compat-desc-6">
            <a:extLst>
              <a:ext uri="{FF2B5EF4-FFF2-40B4-BE49-F238E27FC236}">
                <a16:creationId xmlns:a16="http://schemas.microsoft.com/office/drawing/2014/main" id="{2ECFBFFD-E59A-4A3A-8724-DE3549232001}"/>
              </a:ext>
            </a:extLst>
          </p:cNvPr>
          <p:cNvSpPr>
            <a:spLocks noGrp="1"/>
          </p:cNvSpPr>
          <p:nvPr/>
        </p:nvSpPr>
        <p:spPr>
          <a:xfrm>
            <a:off x="8153400" y="4514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教案 / SOP / 表格 / 旧系统</a:t>
            </a:r>
          </a:p>
        </p:txBody>
      </p:sp>
    </p:spTree>
    <p:extLst>
      <p:ext uri="{BB962C8B-B14F-4D97-AF65-F5344CB8AC3E}">
        <p14:creationId xmlns:p14="http://schemas.microsoft.com/office/powerpoint/2010/main" val="11520931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3F8F04E4-5685-46EC-B7BF-FF503FC092B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四类转换结果 · 目标形态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FCCFBD-EC4D-495B-9570-BB048A245D84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项目积木化既释放能力，也保留真实边界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F493F2-5172-4084-94AC-6144F45F7099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同一项目可以同时生成四类产物：能拆则拆、能复用则复用、必须原生则明确保留。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B084ED5-104D-4B3B-BA7D-6F35FC152F80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BE7AD9-2F88-4BEC-9E9A-6C8E2BE2CBCB}"/>
              </a:ext>
            </a:extLst>
          </p:cNvPr>
          <p:cNvSpPr>
            <a:spLocks noGrp="1"/>
          </p:cNvSpPr>
          <p:nvPr/>
        </p:nvSpPr>
        <p:spPr>
          <a:xfrm>
            <a:off x="8953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41301F-E876-4E53-B5B1-F226FE85931A}"/>
              </a:ext>
            </a:extLst>
          </p:cNvPr>
          <p:cNvSpPr>
            <a:spLocks noGrp="1"/>
          </p:cNvSpPr>
          <p:nvPr/>
        </p:nvSpPr>
        <p:spPr>
          <a:xfrm>
            <a:off x="8953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自定义积木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F20170A-1964-4746-B530-F4E1E4EF4D7E}"/>
              </a:ext>
            </a:extLst>
          </p:cNvPr>
          <p:cNvSpPr>
            <a:spLocks noGrp="1"/>
          </p:cNvSpPr>
          <p:nvPr/>
        </p:nvSpPr>
        <p:spPr>
          <a:xfrm>
            <a:off x="8953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适合｜稳定组件 / SDK</a:t>
            </a:r>
          </a:p>
          <a:p>
            <a:pPr algn="l"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结果｜类型化输入输出</a:t>
            </a:r>
          </a:p>
          <a:p>
            <a:pPr algn="l"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价值｜跨项目复用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262643C-E4A7-4144-849B-26D585C55746}"/>
              </a:ext>
            </a:extLst>
          </p:cNvPr>
          <p:cNvSpPr>
            <a:spLocks noGrp="1"/>
          </p:cNvSpPr>
          <p:nvPr/>
        </p:nvSpPr>
        <p:spPr>
          <a:xfrm>
            <a:off x="33909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841C02-BC0E-44C6-8C20-F2749EB78096}"/>
              </a:ext>
            </a:extLst>
          </p:cNvPr>
          <p:cNvSpPr>
            <a:spLocks noGrp="1"/>
          </p:cNvSpPr>
          <p:nvPr/>
        </p:nvSpPr>
        <p:spPr>
          <a:xfrm>
            <a:off x="36004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F212ABA-CC1D-4413-A11C-66EFF83035EB}"/>
              </a:ext>
            </a:extLst>
          </p:cNvPr>
          <p:cNvSpPr>
            <a:spLocks noGrp="1"/>
          </p:cNvSpPr>
          <p:nvPr/>
        </p:nvSpPr>
        <p:spPr>
          <a:xfrm>
            <a:off x="36004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可展开蓝图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917920F-5001-4FBE-B984-FF8CDE84CD9B}"/>
              </a:ext>
            </a:extLst>
          </p:cNvPr>
          <p:cNvSpPr>
            <a:spLocks noGrp="1"/>
          </p:cNvSpPr>
          <p:nvPr/>
        </p:nvSpPr>
        <p:spPr>
          <a:xfrm>
            <a:off x="36004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适合｜多步通用流程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结果｜可学习可改造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价值｜降低上手门槛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B39D476-BFC0-467D-953B-DAD47B6E173C}"/>
              </a:ext>
            </a:extLst>
          </p:cNvPr>
          <p:cNvSpPr>
            <a:spLocks noGrp="1"/>
          </p:cNvSpPr>
          <p:nvPr/>
        </p:nvSpPr>
        <p:spPr>
          <a:xfrm>
            <a:off x="60960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DBFFE6-3806-4E0B-B8B2-4849CEE10EDB}"/>
              </a:ext>
            </a:extLst>
          </p:cNvPr>
          <p:cNvSpPr>
            <a:spLocks noGrp="1"/>
          </p:cNvSpPr>
          <p:nvPr/>
        </p:nvSpPr>
        <p:spPr>
          <a:xfrm>
            <a:off x="63055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EA4E758-33B1-4B19-AC92-39FB3CD8E43C}"/>
              </a:ext>
            </a:extLst>
          </p:cNvPr>
          <p:cNvSpPr>
            <a:spLocks noGrp="1"/>
          </p:cNvSpPr>
          <p:nvPr/>
        </p:nvSpPr>
        <p:spPr>
          <a:xfrm>
            <a:off x="63055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兼容模板草案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63D6523-38D3-4000-876A-1730A7882E6A}"/>
              </a:ext>
            </a:extLst>
          </p:cNvPr>
          <p:cNvSpPr>
            <a:spLocks noGrp="1"/>
          </p:cNvSpPr>
          <p:nvPr/>
        </p:nvSpPr>
        <p:spPr>
          <a:xfrm>
            <a:off x="63055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适合｜完整 Agent Harness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结果｜运行时 + 可逆投影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价值｜保留行为与升级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8784C53-44C1-42A2-B33A-A95ACBEBF750}"/>
              </a:ext>
            </a:extLst>
          </p:cNvPr>
          <p:cNvSpPr>
            <a:spLocks noGrp="1"/>
          </p:cNvSpPr>
          <p:nvPr/>
        </p:nvSpPr>
        <p:spPr>
          <a:xfrm>
            <a:off x="88011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ED2EAD-8316-4D07-B9D2-EF0FD529EFE1}"/>
              </a:ext>
            </a:extLst>
          </p:cNvPr>
          <p:cNvSpPr>
            <a:spLocks noGrp="1"/>
          </p:cNvSpPr>
          <p:nvPr/>
        </p:nvSpPr>
        <p:spPr>
          <a:xfrm>
            <a:off x="90106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FE2529C-D364-4829-A0AC-71E3C7BE2542}"/>
              </a:ext>
            </a:extLst>
          </p:cNvPr>
          <p:cNvSpPr>
            <a:spLocks noGrp="1"/>
          </p:cNvSpPr>
          <p:nvPr/>
        </p:nvSpPr>
        <p:spPr>
          <a:xfrm>
            <a:off x="90106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原生保留报告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4EB2C4D-2107-42C6-974F-818DE79A7C15}"/>
              </a:ext>
            </a:extLst>
          </p:cNvPr>
          <p:cNvSpPr>
            <a:spLocks noGrp="1"/>
          </p:cNvSpPr>
          <p:nvPr/>
        </p:nvSpPr>
        <p:spPr>
          <a:xfrm>
            <a:off x="90106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适合｜许可 / 性能 / 动态边界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结果｜定位与兼容说明</a:t>
            </a:r>
          </a:p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价值｜不伪装转换成功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6CB4DB1-39DE-46AA-9842-ACA8ED2F9E1E}"/>
              </a:ext>
            </a:extLst>
          </p:cNvPr>
          <p:cNvSpPr>
            <a:spLocks noGrp="1"/>
          </p:cNvSpPr>
          <p:nvPr/>
        </p:nvSpPr>
        <p:spPr>
          <a:xfrm>
            <a:off x="1676400" y="5219700"/>
            <a:ext cx="8839200" cy="685800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0885AED-F686-45CE-BACD-85EAF9B1C6F7}"/>
              </a:ext>
            </a:extLst>
          </p:cNvPr>
          <p:cNvSpPr>
            <a:spLocks noGrp="1"/>
          </p:cNvSpPr>
          <p:nvPr/>
        </p:nvSpPr>
        <p:spPr>
          <a:xfrm>
            <a:off x="1905000" y="5410200"/>
            <a:ext cx="838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 i="0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一份源码可拆出积木、蓝图与模板；修改后仍可追溯来源、差异与权限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FF81F25-CA1D-42EA-95BF-4FA2DCB1B72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11AEA12-AB50-4D32-8FDF-96E4B5B4CC6F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15CDD87-5796-4A69-900F-7A9A60775B88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67875" y="228600"/>
            <a:ext cx="150495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8985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7DFB98D4-8A9E-4310-AC05-96F1315D6B3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CLI / SKILLS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EB70E22-46A8-4D3F-A933-FA5CB30DFEE0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图形页、构建助手、CLI 与四个 Skills 共用同一语义内核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7B9416-8927-4FDD-917D-66714D817F13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无论人或 Agent 操作，都通过 Build Spec、Semantic Patch、Compiler 和 Permission Contract 改变同一份项目。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B99917-4785-4FF2-9985-F6BA06501A99}"/>
              </a:ext>
            </a:extLst>
          </p:cNvPr>
          <p:cNvSpPr>
            <a:spLocks noGrp="1"/>
          </p:cNvSpPr>
          <p:nvPr/>
        </p:nvSpPr>
        <p:spPr>
          <a:xfrm>
            <a:off x="2343150" y="3095625"/>
            <a:ext cx="742950" cy="38100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B5AC8B-8B9F-4695-9A04-96E9C71C918E}"/>
              </a:ext>
            </a:extLst>
          </p:cNvPr>
          <p:cNvSpPr>
            <a:spLocks noGrp="1"/>
          </p:cNvSpPr>
          <p:nvPr/>
        </p:nvSpPr>
        <p:spPr>
          <a:xfrm>
            <a:off x="2543175" y="284797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3CCDC8-7024-494D-AA95-7BFAEFB3498F}"/>
              </a:ext>
            </a:extLst>
          </p:cNvPr>
          <p:cNvSpPr>
            <a:spLocks noGrp="1"/>
          </p:cNvSpPr>
          <p:nvPr/>
        </p:nvSpPr>
        <p:spPr>
          <a:xfrm>
            <a:off x="4495800" y="3095625"/>
            <a:ext cx="742950" cy="38100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58FE4A2-B622-4C5E-AFC6-49E01F515B67}"/>
              </a:ext>
            </a:extLst>
          </p:cNvPr>
          <p:cNvSpPr>
            <a:spLocks noGrp="1"/>
          </p:cNvSpPr>
          <p:nvPr/>
        </p:nvSpPr>
        <p:spPr>
          <a:xfrm>
            <a:off x="4695825" y="284797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05E4D1E-C2BE-43FE-97BC-475FE4A6E679}"/>
              </a:ext>
            </a:extLst>
          </p:cNvPr>
          <p:cNvSpPr>
            <a:spLocks noGrp="1"/>
          </p:cNvSpPr>
          <p:nvPr/>
        </p:nvSpPr>
        <p:spPr>
          <a:xfrm>
            <a:off x="6648450" y="3095625"/>
            <a:ext cx="742950" cy="38100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D9FA4B3-0E29-4B42-9E8B-B19439EE3E86}"/>
              </a:ext>
            </a:extLst>
          </p:cNvPr>
          <p:cNvSpPr>
            <a:spLocks noGrp="1"/>
          </p:cNvSpPr>
          <p:nvPr/>
        </p:nvSpPr>
        <p:spPr>
          <a:xfrm>
            <a:off x="6848475" y="284797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0E01B1A-FBF1-410D-A8FE-40496C9C23D5}"/>
              </a:ext>
            </a:extLst>
          </p:cNvPr>
          <p:cNvSpPr>
            <a:spLocks noGrp="1"/>
          </p:cNvSpPr>
          <p:nvPr/>
        </p:nvSpPr>
        <p:spPr>
          <a:xfrm>
            <a:off x="8801100" y="3095625"/>
            <a:ext cx="742950" cy="38100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4327299-7A47-4BD8-8DDF-623868A858F8}"/>
              </a:ext>
            </a:extLst>
          </p:cNvPr>
          <p:cNvSpPr>
            <a:spLocks noGrp="1"/>
          </p:cNvSpPr>
          <p:nvPr/>
        </p:nvSpPr>
        <p:spPr>
          <a:xfrm>
            <a:off x="9001125" y="284797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1809E88-4FD6-4362-9922-851886FF0330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4A020EA-0F76-4C5F-99C3-F8E787B2D439}"/>
              </a:ext>
            </a:extLst>
          </p:cNvPr>
          <p:cNvSpPr>
            <a:spLocks noGrp="1"/>
          </p:cNvSpPr>
          <p:nvPr/>
        </p:nvSpPr>
        <p:spPr>
          <a:xfrm>
            <a:off x="83820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r>
              <a:t>搭建 Agent</a:t>
            </a:r>
          </a:p>
          <a:p>
            <a:r>
              <a:t>$build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4209DFC-0DB0-4F03-997E-ED022F5387FD}"/>
              </a:ext>
            </a:extLst>
          </p:cNvPr>
          <p:cNvSpPr>
            <a:spLocks noGrp="1"/>
          </p:cNvSpPr>
          <p:nvPr/>
        </p:nvSpPr>
        <p:spPr>
          <a:xfrm>
            <a:off x="81915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59583" lnSpcReduction="10000"/>
          </a:bodyPr>
          <a:lstStyle/>
          <a:p>
            <a:r>
              <a:t>$build-blocky-agents</a:t>
            </a:r>
          </a:p>
          <a:p>
            <a:r>
              <a:t>创建 / 修改 / 解释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FE863CB-E606-406C-8E49-63E027468A18}"/>
              </a:ext>
            </a:extLst>
          </p:cNvPr>
          <p:cNvSpPr>
            <a:spLocks noGrp="1"/>
          </p:cNvSpPr>
          <p:nvPr/>
        </p:nvSpPr>
        <p:spPr>
          <a:xfrm>
            <a:off x="283845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7EBB333-8FEB-4A68-A6D7-A07BB5A5EF49}"/>
              </a:ext>
            </a:extLst>
          </p:cNvPr>
          <p:cNvSpPr>
            <a:spLocks noGrp="1"/>
          </p:cNvSpPr>
          <p:nvPr/>
        </p:nvSpPr>
        <p:spPr>
          <a:xfrm>
            <a:off x="299085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r>
              <a:t>创建积木</a:t>
            </a:r>
          </a:p>
          <a:p>
            <a:r>
              <a:t>$create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0CA3A16-F7D2-4375-AD05-98B39C160E7B}"/>
              </a:ext>
            </a:extLst>
          </p:cNvPr>
          <p:cNvSpPr>
            <a:spLocks noGrp="1"/>
          </p:cNvSpPr>
          <p:nvPr/>
        </p:nvSpPr>
        <p:spPr>
          <a:xfrm>
            <a:off x="297180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59583" lnSpcReduction="10000"/>
          </a:bodyPr>
          <a:lstStyle/>
          <a:p>
            <a:r>
              <a:t>$create-blocky-blocks</a:t>
            </a:r>
          </a:p>
          <a:p>
            <a:r>
              <a:t>可视 / 代码自定义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ABBCBCB-D598-47CF-A31D-DE2AFCFB5AD4}"/>
              </a:ext>
            </a:extLst>
          </p:cNvPr>
          <p:cNvSpPr>
            <a:spLocks noGrp="1"/>
          </p:cNvSpPr>
          <p:nvPr/>
        </p:nvSpPr>
        <p:spPr>
          <a:xfrm>
            <a:off x="499110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DB15EC2-77A0-44D3-961C-3C1B64DF7D93}"/>
              </a:ext>
            </a:extLst>
          </p:cNvPr>
          <p:cNvSpPr>
            <a:spLocks noGrp="1"/>
          </p:cNvSpPr>
          <p:nvPr/>
        </p:nvSpPr>
        <p:spPr>
          <a:xfrm>
            <a:off x="514350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r>
              <a:t>项目积木化</a:t>
            </a:r>
          </a:p>
          <a:p>
            <a:r>
              <a:t>$convert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4BA4644-3DF6-4D5D-A39E-7633F3E10712}"/>
              </a:ext>
            </a:extLst>
          </p:cNvPr>
          <p:cNvSpPr>
            <a:spLocks noGrp="1"/>
          </p:cNvSpPr>
          <p:nvPr/>
        </p:nvSpPr>
        <p:spPr>
          <a:xfrm>
            <a:off x="512445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59583" lnSpcReduction="10000"/>
          </a:bodyPr>
          <a:lstStyle/>
          <a:p>
            <a:r>
              <a:t>GitHub / 本地项目</a:t>
            </a:r>
          </a:p>
          <a:p>
            <a:r>
              <a:t>积木 / 蓝图 / 模板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89DA042-F4B5-409E-A55D-9D81D4EE3ECA}"/>
              </a:ext>
            </a:extLst>
          </p:cNvPr>
          <p:cNvSpPr>
            <a:spLocks noGrp="1"/>
          </p:cNvSpPr>
          <p:nvPr/>
        </p:nvSpPr>
        <p:spPr>
          <a:xfrm>
            <a:off x="714375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5EA51D8-9E31-4734-9C09-B3CF40E059D5}"/>
              </a:ext>
            </a:extLst>
          </p:cNvPr>
          <p:cNvSpPr>
            <a:spLocks noGrp="1"/>
          </p:cNvSpPr>
          <p:nvPr/>
        </p:nvSpPr>
        <p:spPr>
          <a:xfrm>
            <a:off x="729615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r>
              <a:t>逆向 Agent</a:t>
            </a:r>
          </a:p>
          <a:p>
            <a:r>
              <a:t>$reverse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AE9A07E-9C57-41E0-98BE-FB36F1B3427A}"/>
              </a:ext>
            </a:extLst>
          </p:cNvPr>
          <p:cNvSpPr>
            <a:spLocks noGrp="1"/>
          </p:cNvSpPr>
          <p:nvPr/>
        </p:nvSpPr>
        <p:spPr>
          <a:xfrm>
            <a:off x="727710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59583" lnSpcReduction="10000"/>
          </a:bodyPr>
          <a:lstStyle/>
          <a:p>
            <a:r>
              <a:t>结构 / 配置 / 行为</a:t>
            </a:r>
          </a:p>
          <a:p>
            <a:r>
              <a:t>证据 / 覆盖 / 保留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7D7090C-B895-46C1-8E74-265295F9DE71}"/>
              </a:ext>
            </a:extLst>
          </p:cNvPr>
          <p:cNvSpPr>
            <a:spLocks noGrp="1"/>
          </p:cNvSpPr>
          <p:nvPr/>
        </p:nvSpPr>
        <p:spPr>
          <a:xfrm>
            <a:off x="9296400" y="2286000"/>
            <a:ext cx="1676400" cy="1676400"/>
          </a:xfrm>
          <a:prstGeom prst="roundRect">
            <a:avLst>
              <a:gd name="adj" fmla="val 12500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E1F2994-A241-41AC-A0A0-8832A0CF7358}"/>
              </a:ext>
            </a:extLst>
          </p:cNvPr>
          <p:cNvSpPr>
            <a:spLocks noGrp="1"/>
          </p:cNvSpPr>
          <p:nvPr/>
        </p:nvSpPr>
        <p:spPr>
          <a:xfrm>
            <a:off x="9448800" y="2628900"/>
            <a:ext cx="1371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4556" lnSpcReduction="10000"/>
          </a:bodyPr>
          <a:lstStyle/>
          <a:p>
            <a:r>
              <a:t>CLI 验证</a:t>
            </a:r>
          </a:p>
          <a:p>
            <a:r>
              <a:t>Shared Contract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C53ED7-2762-4673-B1D7-3AD8965A0DD8}"/>
              </a:ext>
            </a:extLst>
          </p:cNvPr>
          <p:cNvSpPr>
            <a:spLocks noGrp="1"/>
          </p:cNvSpPr>
          <p:nvPr/>
        </p:nvSpPr>
        <p:spPr>
          <a:xfrm>
            <a:off x="9429750" y="33718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59583" lnSpcReduction="10000"/>
          </a:bodyPr>
          <a:lstStyle/>
          <a:p>
            <a:r>
              <a:t>validate / compile / test</a:t>
            </a:r>
          </a:p>
          <a:p>
            <a:r>
              <a:t>inspect / pack / apply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9FD28F7F-9AB1-4D9F-9291-E09FBFEFEFBC}"/>
              </a:ext>
            </a:extLst>
          </p:cNvPr>
          <p:cNvSpPr>
            <a:spLocks noGrp="1"/>
          </p:cNvSpPr>
          <p:nvPr/>
        </p:nvSpPr>
        <p:spPr>
          <a:xfrm>
            <a:off x="1562100" y="4533900"/>
            <a:ext cx="9067800" cy="1066800"/>
          </a:xfrm>
          <a:prstGeom prst="roundRect">
            <a:avLst>
              <a:gd name="adj" fmla="val 17857"/>
            </a:avLst>
          </a:prstGeom>
          <a:solidFill>
            <a:srgbClr val="EAF2FF"/>
          </a:solidFill>
          <a:ln w="0">
            <a:noFill/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FBA31EE-5FD9-4E8B-B02A-C5D35D3ED247}"/>
              </a:ext>
            </a:extLst>
          </p:cNvPr>
          <p:cNvSpPr>
            <a:spLocks noGrp="1"/>
          </p:cNvSpPr>
          <p:nvPr/>
        </p:nvSpPr>
        <p:spPr>
          <a:xfrm>
            <a:off x="1828800" y="4762500"/>
            <a:ext cx="8534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75" b="1" i="0">
                <a:solidFill>
                  <a:srgbClr val="FF8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同一 Project Manifest · Workspace · IR · RuntimeEvent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28A8729-2378-4A20-A1EE-2FBF3D7D7D34}"/>
              </a:ext>
            </a:extLst>
          </p:cNvPr>
          <p:cNvSpPr>
            <a:spLocks noGrp="1"/>
          </p:cNvSpPr>
          <p:nvPr/>
        </p:nvSpPr>
        <p:spPr>
          <a:xfrm>
            <a:off x="1828800" y="5143500"/>
            <a:ext cx="8534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四个 Skills 是专业入口，不是四套隐藏语言</a:t>
            </a:r>
          </a:p>
          <a:p>
            <a:pPr algn="ctr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$build-blocky-agents · $create-blocky-blocks · $convert-github-project-to-blocky · $reverse-agent-to-blocky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6E5C844-E2E1-463A-B081-124788438DC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98B031E-3513-477C-9387-EAA6713695DE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396D7D8-64FA-4C92-BE0C-FC36C84792DE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8501018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EF5900A0-923A-4E1C-846F-F3A5107244E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开放生态 · 目标形态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5AB7AA0-9727-4E4C-BBF2-EEFD311E9B4E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社区分发的是可审查能力，不是不可见的黑盒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B59B95-7AD1-45F7-BF1A-D167D669074D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纯模板、组合积木、代码扩展与原生兼容包分型；安装与更新都展示来源、许可、权限、依赖和差异。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9CFA51A-88FD-4410-B098-83E927B78C40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6572250" cy="3790950"/>
          </a:xfrm>
          <a:prstGeom prst="roundRect">
            <a:avLst>
              <a:gd name="adj" fmla="val 5528"/>
            </a:avLst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261A894-4ED3-4098-A787-A216B85C609B}"/>
              </a:ext>
            </a:extLst>
          </p:cNvPr>
          <p:cNvSpPr>
            <a:spLocks noGrp="1"/>
          </p:cNvSpPr>
          <p:nvPr/>
        </p:nvSpPr>
        <p:spPr>
          <a:xfrm>
            <a:off x="971550" y="5162550"/>
            <a:ext cx="2419350" cy="32385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9E048C9-2F90-43B2-9A6E-237B4222655B}"/>
              </a:ext>
            </a:extLst>
          </p:cNvPr>
          <p:cNvSpPr>
            <a:spLocks noGrp="1"/>
          </p:cNvSpPr>
          <p:nvPr/>
        </p:nvSpPr>
        <p:spPr>
          <a:xfrm>
            <a:off x="1066800" y="5229225"/>
            <a:ext cx="2228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6375" lnSpcReduction="20000"/>
          </a:bodyPr>
          <a:lstStyle/>
          <a:p>
            <a:pPr algn="ctr"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概念示意 · 来源、权限、版本与签名分层可见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55A2940-0D37-4B5C-88BF-0A81177F04BB}"/>
              </a:ext>
            </a:extLst>
          </p:cNvPr>
          <p:cNvSpPr>
            <a:spLocks noGrp="1"/>
          </p:cNvSpPr>
          <p:nvPr/>
        </p:nvSpPr>
        <p:spPr>
          <a:xfrm>
            <a:off x="7734300" y="19621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四类对象 + 三道治理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620E0F9-1BA2-45FA-A5DC-B1170BEE77DB}"/>
              </a:ext>
            </a:extLst>
          </p:cNvPr>
          <p:cNvSpPr>
            <a:spLocks noGrp="1"/>
          </p:cNvSpPr>
          <p:nvPr/>
        </p:nvSpPr>
        <p:spPr>
          <a:xfrm>
            <a:off x="7734300" y="251460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B6DA326-0AB4-44AA-B072-DC5B94BDB2DF}"/>
              </a:ext>
            </a:extLst>
          </p:cNvPr>
          <p:cNvSpPr>
            <a:spLocks noGrp="1"/>
          </p:cNvSpPr>
          <p:nvPr/>
        </p:nvSpPr>
        <p:spPr>
          <a:xfrm>
            <a:off x="7848600" y="26384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纯模板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74AD1FB-B3C4-4112-B08A-E37E65537F63}"/>
              </a:ext>
            </a:extLst>
          </p:cNvPr>
          <p:cNvSpPr>
            <a:spLocks noGrp="1"/>
          </p:cNvSpPr>
          <p:nvPr/>
        </p:nvSpPr>
        <p:spPr>
          <a:xfrm>
            <a:off x="9410700" y="251460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B8B38E6-C18D-4E35-B6A5-8AA91FDE5CB1}"/>
              </a:ext>
            </a:extLst>
          </p:cNvPr>
          <p:cNvSpPr>
            <a:spLocks noGrp="1"/>
          </p:cNvSpPr>
          <p:nvPr/>
        </p:nvSpPr>
        <p:spPr>
          <a:xfrm>
            <a:off x="9525000" y="26384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组合积木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E7209BE-AF05-4C3A-938C-A41B2F8E1AB8}"/>
              </a:ext>
            </a:extLst>
          </p:cNvPr>
          <p:cNvSpPr>
            <a:spLocks noGrp="1"/>
          </p:cNvSpPr>
          <p:nvPr/>
        </p:nvSpPr>
        <p:spPr>
          <a:xfrm>
            <a:off x="7734300" y="314325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DF6BB91-EC5F-4ABB-B3A5-5DF4EABB1CF9}"/>
              </a:ext>
            </a:extLst>
          </p:cNvPr>
          <p:cNvSpPr>
            <a:spLocks noGrp="1"/>
          </p:cNvSpPr>
          <p:nvPr/>
        </p:nvSpPr>
        <p:spPr>
          <a:xfrm>
            <a:off x="7848600" y="326707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代码扩展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34DC32F-04E8-4D1B-A6E1-CB7BAC03A0EB}"/>
              </a:ext>
            </a:extLst>
          </p:cNvPr>
          <p:cNvSpPr>
            <a:spLocks noGrp="1"/>
          </p:cNvSpPr>
          <p:nvPr/>
        </p:nvSpPr>
        <p:spPr>
          <a:xfrm>
            <a:off x="9410700" y="314325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F2E0D15-2836-4F23-99A8-0A64734DDA40}"/>
              </a:ext>
            </a:extLst>
          </p:cNvPr>
          <p:cNvSpPr>
            <a:spLocks noGrp="1"/>
          </p:cNvSpPr>
          <p:nvPr/>
        </p:nvSpPr>
        <p:spPr>
          <a:xfrm>
            <a:off x="9525000" y="326707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兼容包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7666679-9916-4127-93CF-54C50FC49DEA}"/>
              </a:ext>
            </a:extLst>
          </p:cNvPr>
          <p:cNvSpPr>
            <a:spLocks noGrp="1"/>
          </p:cNvSpPr>
          <p:nvPr/>
        </p:nvSpPr>
        <p:spPr>
          <a:xfrm>
            <a:off x="7734300" y="377190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E51C3D2-2DDE-40D5-91FD-9B30DF022013}"/>
              </a:ext>
            </a:extLst>
          </p:cNvPr>
          <p:cNvSpPr>
            <a:spLocks noGrp="1"/>
          </p:cNvSpPr>
          <p:nvPr/>
        </p:nvSpPr>
        <p:spPr>
          <a:xfrm>
            <a:off x="7848600" y="38957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版本锁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BDD0FF4-49F3-46E6-958D-DE773733879A}"/>
              </a:ext>
            </a:extLst>
          </p:cNvPr>
          <p:cNvSpPr>
            <a:spLocks noGrp="1"/>
          </p:cNvSpPr>
          <p:nvPr/>
        </p:nvSpPr>
        <p:spPr>
          <a:xfrm>
            <a:off x="9410700" y="377190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1D576F6-9BD2-41A0-8E5B-F4513EA728BD}"/>
              </a:ext>
            </a:extLst>
          </p:cNvPr>
          <p:cNvSpPr>
            <a:spLocks noGrp="1"/>
          </p:cNvSpPr>
          <p:nvPr/>
        </p:nvSpPr>
        <p:spPr>
          <a:xfrm>
            <a:off x="9525000" y="38957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权限审查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F5A1C88-A08D-4D68-8ED0-EF46CECCF404}"/>
              </a:ext>
            </a:extLst>
          </p:cNvPr>
          <p:cNvSpPr>
            <a:spLocks noGrp="1"/>
          </p:cNvSpPr>
          <p:nvPr/>
        </p:nvSpPr>
        <p:spPr>
          <a:xfrm>
            <a:off x="7734300" y="440055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B89A2F2-3DD2-4C06-A9F0-228B03F4ED01}"/>
              </a:ext>
            </a:extLst>
          </p:cNvPr>
          <p:cNvSpPr>
            <a:spLocks noGrp="1"/>
          </p:cNvSpPr>
          <p:nvPr/>
        </p:nvSpPr>
        <p:spPr>
          <a:xfrm>
            <a:off x="7848600" y="452437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签名撤回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C33F627-823A-489F-94C4-FC9D9CE71389}"/>
              </a:ext>
            </a:extLst>
          </p:cNvPr>
          <p:cNvSpPr>
            <a:spLocks noGrp="1"/>
          </p:cNvSpPr>
          <p:nvPr/>
        </p:nvSpPr>
        <p:spPr>
          <a:xfrm>
            <a:off x="7734300" y="5200650"/>
            <a:ext cx="3238500" cy="514350"/>
          </a:xfrm>
          <a:prstGeom prst="roundRect">
            <a:avLst>
              <a:gd name="adj" fmla="val 25926"/>
            </a:avLst>
          </a:prstGeom>
          <a:solidFill>
            <a:srgbClr val="EAF2FF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06272D5-C6B4-478C-9CFF-B9CFF8A839B0}"/>
              </a:ext>
            </a:extLst>
          </p:cNvPr>
          <p:cNvSpPr>
            <a:spLocks noGrp="1"/>
          </p:cNvSpPr>
          <p:nvPr/>
        </p:nvSpPr>
        <p:spPr>
          <a:xfrm>
            <a:off x="7867650" y="5229225"/>
            <a:ext cx="2971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统一 Agent 项目格式</a:t>
            </a:r>
          </a:p>
          <a:p>
            <a:pPr algn="ctr">
              <a:buNone/>
              <a:defRPr sz="1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共享 IR、Runtime Core、轨迹与权限模型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9A25289-91C1-4471-8AA3-88C75A96652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B7B57DB-12D0-452A-88EA-454AE1E72B99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99F2206-526C-4EC7-9D06-DFA927D68B68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3"/>
          <a:srcRect t="2671" b="2671"/>
          <a:stretch/>
        </p:blipFill>
        <p:spPr>
          <a:xfrm>
            <a:off x="819150" y="2076450"/>
            <a:ext cx="6305550" cy="30861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8880803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EF5900A0-923A-4E1C-846F-F3A5107244E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MOBILE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5AB7AA0-9727-4E4C-BBF2-EEFD311E9B4E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手机负责使用与操控 Agent，不把桌面画布硬塞进小屏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B59B95-7AD1-45F7-BF1A-D167D669074D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Android、HarmonyOS、iOS 读取交互清单，显示消息、附件、审批、进度与轨迹摘要。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9CFA51A-88FD-4410-B098-83E927B78C40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6572250" cy="3790950"/>
          </a:xfrm>
          <a:prstGeom prst="roundRect">
            <a:avLst>
              <a:gd name="adj" fmla="val 5528"/>
            </a:avLst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261A894-4ED3-4098-A787-A216B85C609B}"/>
              </a:ext>
            </a:extLst>
          </p:cNvPr>
          <p:cNvSpPr>
            <a:spLocks noGrp="1"/>
          </p:cNvSpPr>
          <p:nvPr/>
        </p:nvSpPr>
        <p:spPr>
          <a:xfrm>
            <a:off x="971550" y="5162550"/>
            <a:ext cx="2419350" cy="32385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9E048C9-2F90-43B2-9A6E-237B4222655B}"/>
              </a:ext>
            </a:extLst>
          </p:cNvPr>
          <p:cNvSpPr>
            <a:spLocks noGrp="1"/>
          </p:cNvSpPr>
          <p:nvPr/>
        </p:nvSpPr>
        <p:spPr>
          <a:xfrm>
            <a:off x="1066800" y="5229225"/>
            <a:ext cx="2228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5268" lnSpcReduction="20000"/>
          </a:bodyPr>
          <a:lstStyle/>
          <a:p>
            <a:pPr algn="ctr"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概念示意 · 本机 / 桌面 / 服务器运行目标协商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55A2940-0D37-4B5C-88BF-0A81177F04BB}"/>
              </a:ext>
            </a:extLst>
          </p:cNvPr>
          <p:cNvSpPr>
            <a:spLocks noGrp="1"/>
          </p:cNvSpPr>
          <p:nvPr/>
        </p:nvSpPr>
        <p:spPr>
          <a:xfrm>
            <a:off x="7734300" y="19621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移动端七项核心能力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620E0F9-1BA2-45FA-A5DC-B1170BEE77DB}"/>
              </a:ext>
            </a:extLst>
          </p:cNvPr>
          <p:cNvSpPr>
            <a:spLocks noGrp="1"/>
          </p:cNvSpPr>
          <p:nvPr/>
        </p:nvSpPr>
        <p:spPr>
          <a:xfrm>
            <a:off x="7734300" y="251460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B6DA326-0AB4-44AA-B072-DC5B94BDB2DF}"/>
              </a:ext>
            </a:extLst>
          </p:cNvPr>
          <p:cNvSpPr>
            <a:spLocks noGrp="1"/>
          </p:cNvSpPr>
          <p:nvPr/>
        </p:nvSpPr>
        <p:spPr>
          <a:xfrm>
            <a:off x="7848600" y="26384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 列表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74AD1FB-B3C4-4112-B08A-E37E65537F63}"/>
              </a:ext>
            </a:extLst>
          </p:cNvPr>
          <p:cNvSpPr>
            <a:spLocks noGrp="1"/>
          </p:cNvSpPr>
          <p:nvPr/>
        </p:nvSpPr>
        <p:spPr>
          <a:xfrm>
            <a:off x="9410700" y="251460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B8B38E6-C18D-4E35-B6A5-8AA91FDE5CB1}"/>
              </a:ext>
            </a:extLst>
          </p:cNvPr>
          <p:cNvSpPr>
            <a:spLocks noGrp="1"/>
          </p:cNvSpPr>
          <p:nvPr/>
        </p:nvSpPr>
        <p:spPr>
          <a:xfrm>
            <a:off x="9525000" y="26384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交互入口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E7209BE-AF05-4C3A-938C-A41B2F8E1AB8}"/>
              </a:ext>
            </a:extLst>
          </p:cNvPr>
          <p:cNvSpPr>
            <a:spLocks noGrp="1"/>
          </p:cNvSpPr>
          <p:nvPr/>
        </p:nvSpPr>
        <p:spPr>
          <a:xfrm>
            <a:off x="7734300" y="314325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DF6BB91-EC5F-4ABB-B3A5-5DF4EABB1CF9}"/>
              </a:ext>
            </a:extLst>
          </p:cNvPr>
          <p:cNvSpPr>
            <a:spLocks noGrp="1"/>
          </p:cNvSpPr>
          <p:nvPr/>
        </p:nvSpPr>
        <p:spPr>
          <a:xfrm>
            <a:off x="7848600" y="326707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附件输入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34DC32F-04E8-4D1B-A6E1-CB7BAC03A0EB}"/>
              </a:ext>
            </a:extLst>
          </p:cNvPr>
          <p:cNvSpPr>
            <a:spLocks noGrp="1"/>
          </p:cNvSpPr>
          <p:nvPr/>
        </p:nvSpPr>
        <p:spPr>
          <a:xfrm>
            <a:off x="9410700" y="314325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F2E0D15-2836-4F23-99A8-0A64734DDA40}"/>
              </a:ext>
            </a:extLst>
          </p:cNvPr>
          <p:cNvSpPr>
            <a:spLocks noGrp="1"/>
          </p:cNvSpPr>
          <p:nvPr/>
        </p:nvSpPr>
        <p:spPr>
          <a:xfrm>
            <a:off x="9525000" y="326707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工具进度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7666679-9916-4127-93CF-54C50FC49DEA}"/>
              </a:ext>
            </a:extLst>
          </p:cNvPr>
          <p:cNvSpPr>
            <a:spLocks noGrp="1"/>
          </p:cNvSpPr>
          <p:nvPr/>
        </p:nvSpPr>
        <p:spPr>
          <a:xfrm>
            <a:off x="7734300" y="377190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E51C3D2-2DDE-40D5-91FD-9B30DF022013}"/>
              </a:ext>
            </a:extLst>
          </p:cNvPr>
          <p:cNvSpPr>
            <a:spLocks noGrp="1"/>
          </p:cNvSpPr>
          <p:nvPr/>
        </p:nvSpPr>
        <p:spPr>
          <a:xfrm>
            <a:off x="7848600" y="38957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审批取消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BDD0FF4-49F3-46E6-958D-DE773733879A}"/>
              </a:ext>
            </a:extLst>
          </p:cNvPr>
          <p:cNvSpPr>
            <a:spLocks noGrp="1"/>
          </p:cNvSpPr>
          <p:nvPr/>
        </p:nvSpPr>
        <p:spPr>
          <a:xfrm>
            <a:off x="9410700" y="377190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1D576F6-9BD2-41A0-8E5B-F4513EA728BD}"/>
              </a:ext>
            </a:extLst>
          </p:cNvPr>
          <p:cNvSpPr>
            <a:spLocks noGrp="1"/>
          </p:cNvSpPr>
          <p:nvPr/>
        </p:nvSpPr>
        <p:spPr>
          <a:xfrm>
            <a:off x="9525000" y="38957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断线恢复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F5A1C88-A08D-4D68-8ED0-EF46CECCF404}"/>
              </a:ext>
            </a:extLst>
          </p:cNvPr>
          <p:cNvSpPr>
            <a:spLocks noGrp="1"/>
          </p:cNvSpPr>
          <p:nvPr/>
        </p:nvSpPr>
        <p:spPr>
          <a:xfrm>
            <a:off x="7734300" y="4400550"/>
            <a:ext cx="1466850" cy="457200"/>
          </a:xfrm>
          <a:prstGeom prst="roundRect">
            <a:avLst>
              <a:gd name="adj" fmla="val 29167"/>
            </a:avLst>
          </a:prstGeom>
          <a:solidFill>
            <a:srgbClr val="F4F7FB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B89A2F2-3DD2-4C06-A9F0-228B03F4ED01}"/>
              </a:ext>
            </a:extLst>
          </p:cNvPr>
          <p:cNvSpPr>
            <a:spLocks noGrp="1"/>
          </p:cNvSpPr>
          <p:nvPr/>
        </p:nvSpPr>
        <p:spPr>
          <a:xfrm>
            <a:off x="7848600" y="452437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目标协商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C33F627-823A-489F-94C4-FC9D9CE71389}"/>
              </a:ext>
            </a:extLst>
          </p:cNvPr>
          <p:cNvSpPr>
            <a:spLocks noGrp="1"/>
          </p:cNvSpPr>
          <p:nvPr/>
        </p:nvSpPr>
        <p:spPr>
          <a:xfrm>
            <a:off x="7734300" y="5200650"/>
            <a:ext cx="3238500" cy="514350"/>
          </a:xfrm>
          <a:prstGeom prst="roundRect">
            <a:avLst>
              <a:gd name="adj" fmla="val 25926"/>
            </a:avLst>
          </a:prstGeom>
          <a:solidFill>
            <a:srgbClr val="EAF2FF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06272D5-C6B4-478C-9CFF-B9CFF8A839B0}"/>
              </a:ext>
            </a:extLst>
          </p:cNvPr>
          <p:cNvSpPr>
            <a:spLocks noGrp="1"/>
          </p:cNvSpPr>
          <p:nvPr/>
        </p:nvSpPr>
        <p:spPr>
          <a:xfrm>
            <a:off x="7867650" y="5229225"/>
            <a:ext cx="2971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统一 Agent 项目格式</a:t>
            </a:r>
          </a:p>
          <a:p>
            <a:pPr algn="ctr">
              <a:buNone/>
              <a:defRPr sz="1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共享 IR、Runtime Core、轨迹与权限模型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9A25289-91C1-4471-8AA3-88C75A96652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B7B57DB-12D0-452A-88EA-454AE1E72B99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99F2206-526C-4EC7-9D06-DFA927D68B68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3"/>
          <a:srcRect t="2671" b="2671"/>
          <a:stretch/>
        </p:blipFill>
        <p:spPr>
          <a:xfrm>
            <a:off x="819150" y="2076450"/>
            <a:ext cx="6305550" cy="30861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8880803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A95339E4-F604-4D6A-86EF-DF2CD0929E1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场景化拓展 · 目标形态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370CF98-9ECF-4290-B608-8ACEB1A04835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从个人学习到组织生产，服务围绕同一产品底座展开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79087C1-24E9-4883-BB39-FFC3752BBE8C}"/>
              </a:ext>
            </a:extLst>
          </p:cNvPr>
          <p:cNvSpPr>
            <a:spLocks noGrp="1"/>
          </p:cNvSpPr>
          <p:nvPr/>
        </p:nvSpPr>
        <p:spPr>
          <a:xfrm>
            <a:off x="1714500" y="2019300"/>
            <a:ext cx="7905750" cy="3429000"/>
          </a:xfrm>
          <a:prstGeom prst="roundRect">
            <a:avLst>
              <a:gd name="adj" fmla="val 5556"/>
            </a:avLst>
          </a:prstGeom>
          <a:noFill/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AF039EF-8669-48E6-8355-B3E3CDD61D65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标准功能解决通用搭建，拓展服务把目标、课程、数据、系统和治理要求组合成可用方案。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252EBC-6654-4A56-A43D-04234BEB26AE}"/>
              </a:ext>
            </a:extLst>
          </p:cNvPr>
          <p:cNvSpPr>
            <a:spLocks noGrp="1"/>
          </p:cNvSpPr>
          <p:nvPr/>
        </p:nvSpPr>
        <p:spPr>
          <a:xfrm>
            <a:off x="876300" y="5105400"/>
            <a:ext cx="10439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1" i="0">
                <a:solidFill>
                  <a:srgbClr val="145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一套内核支撑个人订阅、机构方案与企业交付，作品格式与运行证据保持一致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710F48B-9833-4CEA-96EC-F710C0DB08BB}"/>
              </a:ext>
            </a:extLst>
          </p:cNvPr>
          <p:cNvSpPr>
            <a:spLocks noGrp="1"/>
          </p:cNvSpPr>
          <p:nvPr/>
        </p:nvSpPr>
        <p:spPr>
          <a:xfrm>
            <a:off x="9906000" y="2076450"/>
            <a:ext cx="1600200" cy="3352800"/>
          </a:xfrm>
          <a:prstGeom prst="roundRect">
            <a:avLst>
              <a:gd name="adj" fmla="val 11905"/>
            </a:avLst>
          </a:prstGeom>
          <a:noFill/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ACF8F47-F459-4EE8-AFFB-431D2346A884}"/>
              </a:ext>
            </a:extLst>
          </p:cNvPr>
          <p:cNvSpPr>
            <a:spLocks noGrp="1"/>
          </p:cNvSpPr>
          <p:nvPr/>
        </p:nvSpPr>
        <p:spPr>
          <a:xfrm>
            <a:off x="685800" y="5600700"/>
            <a:ext cx="10820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服务价值：缩短场景落地周期，让定制能力继续沉淀为可复用资产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CA2238B-6981-4EEF-9644-CAB79A1ED2D3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EEEB512-B61D-4234-BF5B-E7FCE68FD363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36BBFE9-8C7C-4891-A36F-ED778245CE43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26" name="compat-card-fill-1-1">
            <a:extLst>
              <a:ext uri="{FF2B5EF4-FFF2-40B4-BE49-F238E27FC236}">
                <a16:creationId xmlns:a16="http://schemas.microsoft.com/office/drawing/2014/main" id="{F69DB481-5385-40C6-8BEA-8619F0A3E72B}"/>
              </a:ext>
            </a:extLst>
          </p:cNvPr>
          <p:cNvSpPr>
            <a:spLocks noGrp="1"/>
          </p:cNvSpPr>
          <p:nvPr/>
        </p:nvSpPr>
        <p:spPr>
          <a:xfrm>
            <a:off x="895350" y="2133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7" name="compat-card-fill-1-2">
            <a:extLst>
              <a:ext uri="{FF2B5EF4-FFF2-40B4-BE49-F238E27FC236}">
                <a16:creationId xmlns:a16="http://schemas.microsoft.com/office/drawing/2014/main" id="{E4EF5A44-61F6-43D8-A716-C98483ED0778}"/>
              </a:ext>
            </a:extLst>
          </p:cNvPr>
          <p:cNvSpPr>
            <a:spLocks noGrp="1"/>
          </p:cNvSpPr>
          <p:nvPr/>
        </p:nvSpPr>
        <p:spPr>
          <a:xfrm>
            <a:off x="895350" y="2514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8" name="compat-card-fill-1-3">
            <a:extLst>
              <a:ext uri="{FF2B5EF4-FFF2-40B4-BE49-F238E27FC236}">
                <a16:creationId xmlns:a16="http://schemas.microsoft.com/office/drawing/2014/main" id="{2D5C7F0A-2376-4FCC-B006-D475EB4611E7}"/>
              </a:ext>
            </a:extLst>
          </p:cNvPr>
          <p:cNvSpPr>
            <a:spLocks noGrp="1"/>
          </p:cNvSpPr>
          <p:nvPr/>
        </p:nvSpPr>
        <p:spPr>
          <a:xfrm>
            <a:off x="895350" y="28956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9" name="compat-card-1">
            <a:extLst>
              <a:ext uri="{FF2B5EF4-FFF2-40B4-BE49-F238E27FC236}">
                <a16:creationId xmlns:a16="http://schemas.microsoft.com/office/drawing/2014/main" id="{6C151DE4-71A9-4FA2-9A44-BC594719616F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30" name="compat-accent-1">
            <a:extLst>
              <a:ext uri="{FF2B5EF4-FFF2-40B4-BE49-F238E27FC236}">
                <a16:creationId xmlns:a16="http://schemas.microsoft.com/office/drawing/2014/main" id="{4A5AF1A7-B885-4B88-B017-97B67775F82B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31" name="compat-title-1">
            <a:extLst>
              <a:ext uri="{FF2B5EF4-FFF2-40B4-BE49-F238E27FC236}">
                <a16:creationId xmlns:a16="http://schemas.microsoft.com/office/drawing/2014/main" id="{34755EBE-93F0-4137-A1C0-A92B874AF4D1}"/>
              </a:ext>
            </a:extLst>
          </p:cNvPr>
          <p:cNvSpPr>
            <a:spLocks noGrp="1"/>
          </p:cNvSpPr>
          <p:nvPr/>
        </p:nvSpPr>
        <p:spPr>
          <a:xfrm>
            <a:off x="1066800" y="22479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个人学习进阶</a:t>
            </a:r>
          </a:p>
        </p:txBody>
      </p:sp>
      <p:sp>
        <p:nvSpPr>
          <p:cNvPr id="32" name="compat-name-1">
            <a:extLst>
              <a:ext uri="{FF2B5EF4-FFF2-40B4-BE49-F238E27FC236}">
                <a16:creationId xmlns:a16="http://schemas.microsoft.com/office/drawing/2014/main" id="{7B4D9A5C-E768-4DC4-A8BF-A0C0D3177F91}"/>
              </a:ext>
            </a:extLst>
          </p:cNvPr>
          <p:cNvSpPr>
            <a:spLocks noGrp="1"/>
          </p:cNvSpPr>
          <p:nvPr/>
        </p:nvSpPr>
        <p:spPr>
          <a:xfrm>
            <a:off x="1066800" y="25336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路径与项目包</a:t>
            </a:r>
          </a:p>
        </p:txBody>
      </p:sp>
      <p:sp>
        <p:nvSpPr>
          <p:cNvPr id="33" name="compat-desc-1">
            <a:extLst>
              <a:ext uri="{FF2B5EF4-FFF2-40B4-BE49-F238E27FC236}">
                <a16:creationId xmlns:a16="http://schemas.microsoft.com/office/drawing/2014/main" id="{6EEF4EE7-6902-4F7D-979E-88501EA44802}"/>
              </a:ext>
            </a:extLst>
          </p:cNvPr>
          <p:cNvSpPr>
            <a:spLocks noGrp="1"/>
          </p:cNvSpPr>
          <p:nvPr/>
        </p:nvSpPr>
        <p:spPr>
          <a:xfrm>
            <a:off x="1066800" y="29527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课程 / 挑战 / 作品集 / 反馈</a:t>
            </a:r>
          </a:p>
        </p:txBody>
      </p:sp>
      <p:sp>
        <p:nvSpPr>
          <p:cNvPr id="34" name="compat-card-fill-2-1">
            <a:extLst>
              <a:ext uri="{FF2B5EF4-FFF2-40B4-BE49-F238E27FC236}">
                <a16:creationId xmlns:a16="http://schemas.microsoft.com/office/drawing/2014/main" id="{6678D41D-B7A4-47ED-A705-BC8B0F76C6AB}"/>
              </a:ext>
            </a:extLst>
          </p:cNvPr>
          <p:cNvSpPr>
            <a:spLocks noGrp="1"/>
          </p:cNvSpPr>
          <p:nvPr/>
        </p:nvSpPr>
        <p:spPr>
          <a:xfrm>
            <a:off x="4438650" y="2133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5" name="compat-card-fill-2-2">
            <a:extLst>
              <a:ext uri="{FF2B5EF4-FFF2-40B4-BE49-F238E27FC236}">
                <a16:creationId xmlns:a16="http://schemas.microsoft.com/office/drawing/2014/main" id="{AF7B2C68-02AD-4AB9-9093-19F05DEF1A4B}"/>
              </a:ext>
            </a:extLst>
          </p:cNvPr>
          <p:cNvSpPr>
            <a:spLocks noGrp="1"/>
          </p:cNvSpPr>
          <p:nvPr/>
        </p:nvSpPr>
        <p:spPr>
          <a:xfrm>
            <a:off x="4438650" y="2514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6" name="compat-card-fill-2-3">
            <a:extLst>
              <a:ext uri="{FF2B5EF4-FFF2-40B4-BE49-F238E27FC236}">
                <a16:creationId xmlns:a16="http://schemas.microsoft.com/office/drawing/2014/main" id="{E3636D79-096C-47D6-B78F-E30DAF504A34}"/>
              </a:ext>
            </a:extLst>
          </p:cNvPr>
          <p:cNvSpPr>
            <a:spLocks noGrp="1"/>
          </p:cNvSpPr>
          <p:nvPr/>
        </p:nvSpPr>
        <p:spPr>
          <a:xfrm>
            <a:off x="4438650" y="28956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7" name="compat-card-2">
            <a:extLst>
              <a:ext uri="{FF2B5EF4-FFF2-40B4-BE49-F238E27FC236}">
                <a16:creationId xmlns:a16="http://schemas.microsoft.com/office/drawing/2014/main" id="{59DCAF35-0EEB-4DA4-B734-CCF9E9C4CFF7}"/>
              </a:ext>
            </a:extLst>
          </p:cNvPr>
          <p:cNvSpPr>
            <a:spLocks noGrp="1"/>
          </p:cNvSpPr>
          <p:nvPr/>
        </p:nvSpPr>
        <p:spPr>
          <a:xfrm>
            <a:off x="4381500" y="20764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38" name="compat-accent-2">
            <a:extLst>
              <a:ext uri="{FF2B5EF4-FFF2-40B4-BE49-F238E27FC236}">
                <a16:creationId xmlns:a16="http://schemas.microsoft.com/office/drawing/2014/main" id="{6D379EDB-817E-4F0B-91DB-DF83E8488E25}"/>
              </a:ext>
            </a:extLst>
          </p:cNvPr>
          <p:cNvSpPr>
            <a:spLocks noGrp="1"/>
          </p:cNvSpPr>
          <p:nvPr/>
        </p:nvSpPr>
        <p:spPr>
          <a:xfrm>
            <a:off x="4381500" y="22288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39" name="compat-title-2">
            <a:extLst>
              <a:ext uri="{FF2B5EF4-FFF2-40B4-BE49-F238E27FC236}">
                <a16:creationId xmlns:a16="http://schemas.microsoft.com/office/drawing/2014/main" id="{E6BC2108-034B-409A-ABE7-485519372F2C}"/>
              </a:ext>
            </a:extLst>
          </p:cNvPr>
          <p:cNvSpPr>
            <a:spLocks noGrp="1"/>
          </p:cNvSpPr>
          <p:nvPr/>
        </p:nvSpPr>
        <p:spPr>
          <a:xfrm>
            <a:off x="4610100" y="22479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个人创作拓展</a:t>
            </a:r>
          </a:p>
        </p:txBody>
      </p:sp>
      <p:sp>
        <p:nvSpPr>
          <p:cNvPr id="40" name="compat-name-2">
            <a:extLst>
              <a:ext uri="{FF2B5EF4-FFF2-40B4-BE49-F238E27FC236}">
                <a16:creationId xmlns:a16="http://schemas.microsoft.com/office/drawing/2014/main" id="{53F45C2E-A901-407B-AAAB-6E9BA20F451C}"/>
              </a:ext>
            </a:extLst>
          </p:cNvPr>
          <p:cNvSpPr>
            <a:spLocks noGrp="1"/>
          </p:cNvSpPr>
          <p:nvPr/>
        </p:nvSpPr>
        <p:spPr>
          <a:xfrm>
            <a:off x="4610100" y="25336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场景蓝图与能力包</a:t>
            </a:r>
          </a:p>
        </p:txBody>
      </p:sp>
      <p:sp>
        <p:nvSpPr>
          <p:cNvPr id="41" name="compat-desc-2">
            <a:extLst>
              <a:ext uri="{FF2B5EF4-FFF2-40B4-BE49-F238E27FC236}">
                <a16:creationId xmlns:a16="http://schemas.microsoft.com/office/drawing/2014/main" id="{7857053F-D439-4C53-B6DB-03E22CF16485}"/>
              </a:ext>
            </a:extLst>
          </p:cNvPr>
          <p:cNvSpPr>
            <a:spLocks noGrp="1"/>
          </p:cNvSpPr>
          <p:nvPr/>
        </p:nvSpPr>
        <p:spPr>
          <a:xfrm>
            <a:off x="4610100" y="29527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知识 / 工具 / 模型 / 发布指导</a:t>
            </a:r>
          </a:p>
        </p:txBody>
      </p:sp>
      <p:sp>
        <p:nvSpPr>
          <p:cNvPr id="42" name="compat-card-fill-3-1">
            <a:extLst>
              <a:ext uri="{FF2B5EF4-FFF2-40B4-BE49-F238E27FC236}">
                <a16:creationId xmlns:a16="http://schemas.microsoft.com/office/drawing/2014/main" id="{D02C6BBE-B855-49E3-9FFF-F9AAB4710C1E}"/>
              </a:ext>
            </a:extLst>
          </p:cNvPr>
          <p:cNvSpPr>
            <a:spLocks noGrp="1"/>
          </p:cNvSpPr>
          <p:nvPr/>
        </p:nvSpPr>
        <p:spPr>
          <a:xfrm>
            <a:off x="7981950" y="2133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3" name="compat-card-fill-3-2">
            <a:extLst>
              <a:ext uri="{FF2B5EF4-FFF2-40B4-BE49-F238E27FC236}">
                <a16:creationId xmlns:a16="http://schemas.microsoft.com/office/drawing/2014/main" id="{777F7FB1-AD1C-4E78-AC1C-0C013DEA09DB}"/>
              </a:ext>
            </a:extLst>
          </p:cNvPr>
          <p:cNvSpPr>
            <a:spLocks noGrp="1"/>
          </p:cNvSpPr>
          <p:nvPr/>
        </p:nvSpPr>
        <p:spPr>
          <a:xfrm>
            <a:off x="7981950" y="2514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4" name="compat-card-fill-3-3">
            <a:extLst>
              <a:ext uri="{FF2B5EF4-FFF2-40B4-BE49-F238E27FC236}">
                <a16:creationId xmlns:a16="http://schemas.microsoft.com/office/drawing/2014/main" id="{45AFEE63-5A0B-450B-8AC2-1BF30F6BF4B6}"/>
              </a:ext>
            </a:extLst>
          </p:cNvPr>
          <p:cNvSpPr>
            <a:spLocks noGrp="1"/>
          </p:cNvSpPr>
          <p:nvPr/>
        </p:nvSpPr>
        <p:spPr>
          <a:xfrm>
            <a:off x="7981950" y="28956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5" name="compat-card-3">
            <a:extLst>
              <a:ext uri="{FF2B5EF4-FFF2-40B4-BE49-F238E27FC236}">
                <a16:creationId xmlns:a16="http://schemas.microsoft.com/office/drawing/2014/main" id="{EFD30262-A6C0-4D53-A7BF-1B52ACFE3797}"/>
              </a:ext>
            </a:extLst>
          </p:cNvPr>
          <p:cNvSpPr>
            <a:spLocks noGrp="1"/>
          </p:cNvSpPr>
          <p:nvPr/>
        </p:nvSpPr>
        <p:spPr>
          <a:xfrm>
            <a:off x="7924800" y="20764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46" name="compat-accent-3">
            <a:extLst>
              <a:ext uri="{FF2B5EF4-FFF2-40B4-BE49-F238E27FC236}">
                <a16:creationId xmlns:a16="http://schemas.microsoft.com/office/drawing/2014/main" id="{B425A560-FF61-42E2-8088-6874D276AB15}"/>
              </a:ext>
            </a:extLst>
          </p:cNvPr>
          <p:cNvSpPr>
            <a:spLocks noGrp="1"/>
          </p:cNvSpPr>
          <p:nvPr/>
        </p:nvSpPr>
        <p:spPr>
          <a:xfrm>
            <a:off x="7924800" y="22288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47" name="compat-title-3">
            <a:extLst>
              <a:ext uri="{FF2B5EF4-FFF2-40B4-BE49-F238E27FC236}">
                <a16:creationId xmlns:a16="http://schemas.microsoft.com/office/drawing/2014/main" id="{DE4D6871-BF98-4AEC-B845-AFDCEC1FCA89}"/>
              </a:ext>
            </a:extLst>
          </p:cNvPr>
          <p:cNvSpPr>
            <a:spLocks noGrp="1"/>
          </p:cNvSpPr>
          <p:nvPr/>
        </p:nvSpPr>
        <p:spPr>
          <a:xfrm>
            <a:off x="8153400" y="22479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学校课程方案</a:t>
            </a:r>
          </a:p>
        </p:txBody>
      </p:sp>
      <p:sp>
        <p:nvSpPr>
          <p:cNvPr id="48" name="compat-name-3">
            <a:extLst>
              <a:ext uri="{FF2B5EF4-FFF2-40B4-BE49-F238E27FC236}">
                <a16:creationId xmlns:a16="http://schemas.microsoft.com/office/drawing/2014/main" id="{DED0F3A4-98EC-4B28-99FD-5C1D27931BB8}"/>
              </a:ext>
            </a:extLst>
          </p:cNvPr>
          <p:cNvSpPr>
            <a:spLocks noGrp="1"/>
          </p:cNvSpPr>
          <p:nvPr/>
        </p:nvSpPr>
        <p:spPr>
          <a:xfrm>
            <a:off x="8153400" y="25336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课程与蓝图共创</a:t>
            </a:r>
          </a:p>
        </p:txBody>
      </p:sp>
      <p:sp>
        <p:nvSpPr>
          <p:cNvPr id="49" name="compat-desc-3">
            <a:extLst>
              <a:ext uri="{FF2B5EF4-FFF2-40B4-BE49-F238E27FC236}">
                <a16:creationId xmlns:a16="http://schemas.microsoft.com/office/drawing/2014/main" id="{18FAF0F3-633A-440E-8341-7797379702B4}"/>
              </a:ext>
            </a:extLst>
          </p:cNvPr>
          <p:cNvSpPr>
            <a:spLocks noGrp="1"/>
          </p:cNvSpPr>
          <p:nvPr/>
        </p:nvSpPr>
        <p:spPr>
          <a:xfrm>
            <a:off x="8153400" y="29527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教案 / 任务 / 评价 / 版本锁定</a:t>
            </a:r>
          </a:p>
        </p:txBody>
      </p:sp>
      <p:sp>
        <p:nvSpPr>
          <p:cNvPr id="50" name="compat-card-fill-4-1">
            <a:extLst>
              <a:ext uri="{FF2B5EF4-FFF2-40B4-BE49-F238E27FC236}">
                <a16:creationId xmlns:a16="http://schemas.microsoft.com/office/drawing/2014/main" id="{E0562B3F-3B89-4B8F-A3C5-10385080D496}"/>
              </a:ext>
            </a:extLst>
          </p:cNvPr>
          <p:cNvSpPr>
            <a:spLocks noGrp="1"/>
          </p:cNvSpPr>
          <p:nvPr/>
        </p:nvSpPr>
        <p:spPr>
          <a:xfrm>
            <a:off x="895350" y="3695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1" name="compat-card-fill-4-2">
            <a:extLst>
              <a:ext uri="{FF2B5EF4-FFF2-40B4-BE49-F238E27FC236}">
                <a16:creationId xmlns:a16="http://schemas.microsoft.com/office/drawing/2014/main" id="{48C12C69-CFB1-4C46-BBD9-D4625CCBA581}"/>
              </a:ext>
            </a:extLst>
          </p:cNvPr>
          <p:cNvSpPr>
            <a:spLocks noGrp="1"/>
          </p:cNvSpPr>
          <p:nvPr/>
        </p:nvSpPr>
        <p:spPr>
          <a:xfrm>
            <a:off x="895350" y="4076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2" name="compat-card-fill-4-3">
            <a:extLst>
              <a:ext uri="{FF2B5EF4-FFF2-40B4-BE49-F238E27FC236}">
                <a16:creationId xmlns:a16="http://schemas.microsoft.com/office/drawing/2014/main" id="{B526D05E-C47D-49D2-A72B-7996334C26A3}"/>
              </a:ext>
            </a:extLst>
          </p:cNvPr>
          <p:cNvSpPr>
            <a:spLocks noGrp="1"/>
          </p:cNvSpPr>
          <p:nvPr/>
        </p:nvSpPr>
        <p:spPr>
          <a:xfrm>
            <a:off x="895350" y="44577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3" name="compat-card-4">
            <a:extLst>
              <a:ext uri="{FF2B5EF4-FFF2-40B4-BE49-F238E27FC236}">
                <a16:creationId xmlns:a16="http://schemas.microsoft.com/office/drawing/2014/main" id="{78665501-39CF-43AB-A709-09CE61C4A59E}"/>
              </a:ext>
            </a:extLst>
          </p:cNvPr>
          <p:cNvSpPr>
            <a:spLocks noGrp="1"/>
          </p:cNvSpPr>
          <p:nvPr/>
        </p:nvSpPr>
        <p:spPr>
          <a:xfrm>
            <a:off x="838200" y="36385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54" name="compat-accent-4">
            <a:extLst>
              <a:ext uri="{FF2B5EF4-FFF2-40B4-BE49-F238E27FC236}">
                <a16:creationId xmlns:a16="http://schemas.microsoft.com/office/drawing/2014/main" id="{49B9AA27-CD03-495D-9699-BB6DE584A024}"/>
              </a:ext>
            </a:extLst>
          </p:cNvPr>
          <p:cNvSpPr>
            <a:spLocks noGrp="1"/>
          </p:cNvSpPr>
          <p:nvPr/>
        </p:nvSpPr>
        <p:spPr>
          <a:xfrm>
            <a:off x="838200" y="37909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55" name="compat-title-4">
            <a:extLst>
              <a:ext uri="{FF2B5EF4-FFF2-40B4-BE49-F238E27FC236}">
                <a16:creationId xmlns:a16="http://schemas.microsoft.com/office/drawing/2014/main" id="{D90E428E-D28E-44FA-B3D2-A6261DEF9547}"/>
              </a:ext>
            </a:extLst>
          </p:cNvPr>
          <p:cNvSpPr>
            <a:spLocks noGrp="1"/>
          </p:cNvSpPr>
          <p:nvPr/>
        </p:nvSpPr>
        <p:spPr>
          <a:xfrm>
            <a:off x="1066800" y="38100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教育机构运营</a:t>
            </a:r>
          </a:p>
        </p:txBody>
      </p:sp>
      <p:sp>
        <p:nvSpPr>
          <p:cNvPr id="56" name="compat-name-4">
            <a:extLst>
              <a:ext uri="{FF2B5EF4-FFF2-40B4-BE49-F238E27FC236}">
                <a16:creationId xmlns:a16="http://schemas.microsoft.com/office/drawing/2014/main" id="{D67341F5-F649-4091-824C-34F94796A6D1}"/>
              </a:ext>
            </a:extLst>
          </p:cNvPr>
          <p:cNvSpPr>
            <a:spLocks noGrp="1"/>
          </p:cNvSpPr>
          <p:nvPr/>
        </p:nvSpPr>
        <p:spPr>
          <a:xfrm>
            <a:off x="1066800" y="40957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班级与教师服务</a:t>
            </a:r>
          </a:p>
        </p:txBody>
      </p:sp>
      <p:sp>
        <p:nvSpPr>
          <p:cNvPr id="57" name="compat-desc-4">
            <a:extLst>
              <a:ext uri="{FF2B5EF4-FFF2-40B4-BE49-F238E27FC236}">
                <a16:creationId xmlns:a16="http://schemas.microsoft.com/office/drawing/2014/main" id="{47CDDB18-5D86-4CBA-8410-B9E666436D93}"/>
              </a:ext>
            </a:extLst>
          </p:cNvPr>
          <p:cNvSpPr>
            <a:spLocks noGrp="1"/>
          </p:cNvSpPr>
          <p:nvPr/>
        </p:nvSpPr>
        <p:spPr>
          <a:xfrm>
            <a:off x="1066800" y="4514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培训 / 分发 / 提交 / 本地资源</a:t>
            </a:r>
          </a:p>
        </p:txBody>
      </p:sp>
      <p:sp>
        <p:nvSpPr>
          <p:cNvPr id="58" name="compat-card-fill-5-1">
            <a:extLst>
              <a:ext uri="{FF2B5EF4-FFF2-40B4-BE49-F238E27FC236}">
                <a16:creationId xmlns:a16="http://schemas.microsoft.com/office/drawing/2014/main" id="{396A1AB6-3033-43F3-ACA5-9A38A7DB0437}"/>
              </a:ext>
            </a:extLst>
          </p:cNvPr>
          <p:cNvSpPr>
            <a:spLocks noGrp="1"/>
          </p:cNvSpPr>
          <p:nvPr/>
        </p:nvSpPr>
        <p:spPr>
          <a:xfrm>
            <a:off x="4438650" y="3695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9" name="compat-card-fill-5-2">
            <a:extLst>
              <a:ext uri="{FF2B5EF4-FFF2-40B4-BE49-F238E27FC236}">
                <a16:creationId xmlns:a16="http://schemas.microsoft.com/office/drawing/2014/main" id="{341658E3-D68B-4E28-80D8-EE43D6BFCBA3}"/>
              </a:ext>
            </a:extLst>
          </p:cNvPr>
          <p:cNvSpPr>
            <a:spLocks noGrp="1"/>
          </p:cNvSpPr>
          <p:nvPr/>
        </p:nvSpPr>
        <p:spPr>
          <a:xfrm>
            <a:off x="4438650" y="4076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0" name="compat-card-fill-5-3">
            <a:extLst>
              <a:ext uri="{FF2B5EF4-FFF2-40B4-BE49-F238E27FC236}">
                <a16:creationId xmlns:a16="http://schemas.microsoft.com/office/drawing/2014/main" id="{F78F7300-8212-4596-BBCE-56316A9D76A8}"/>
              </a:ext>
            </a:extLst>
          </p:cNvPr>
          <p:cNvSpPr>
            <a:spLocks noGrp="1"/>
          </p:cNvSpPr>
          <p:nvPr/>
        </p:nvSpPr>
        <p:spPr>
          <a:xfrm>
            <a:off x="4438650" y="44577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1" name="compat-card-5">
            <a:extLst>
              <a:ext uri="{FF2B5EF4-FFF2-40B4-BE49-F238E27FC236}">
                <a16:creationId xmlns:a16="http://schemas.microsoft.com/office/drawing/2014/main" id="{9ADA23D9-4B4A-410F-95B5-E660DEDA7FBD}"/>
              </a:ext>
            </a:extLst>
          </p:cNvPr>
          <p:cNvSpPr>
            <a:spLocks noGrp="1"/>
          </p:cNvSpPr>
          <p:nvPr/>
        </p:nvSpPr>
        <p:spPr>
          <a:xfrm>
            <a:off x="4381500" y="36385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62" name="compat-accent-5">
            <a:extLst>
              <a:ext uri="{FF2B5EF4-FFF2-40B4-BE49-F238E27FC236}">
                <a16:creationId xmlns:a16="http://schemas.microsoft.com/office/drawing/2014/main" id="{211650E4-8E44-4E1D-B760-CDAD74E7CEF5}"/>
              </a:ext>
            </a:extLst>
          </p:cNvPr>
          <p:cNvSpPr>
            <a:spLocks noGrp="1"/>
          </p:cNvSpPr>
          <p:nvPr/>
        </p:nvSpPr>
        <p:spPr>
          <a:xfrm>
            <a:off x="4381500" y="37909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63" name="compat-title-5">
            <a:extLst>
              <a:ext uri="{FF2B5EF4-FFF2-40B4-BE49-F238E27FC236}">
                <a16:creationId xmlns:a16="http://schemas.microsoft.com/office/drawing/2014/main" id="{8E1DBBC4-BF46-47E4-A7DB-7D88F6BF0B25}"/>
              </a:ext>
            </a:extLst>
          </p:cNvPr>
          <p:cNvSpPr>
            <a:spLocks noGrp="1"/>
          </p:cNvSpPr>
          <p:nvPr/>
        </p:nvSpPr>
        <p:spPr>
          <a:xfrm>
            <a:off x="4610100" y="38100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企业场景共创</a:t>
            </a:r>
          </a:p>
        </p:txBody>
      </p:sp>
      <p:sp>
        <p:nvSpPr>
          <p:cNvPr id="64" name="compat-name-5">
            <a:extLst>
              <a:ext uri="{FF2B5EF4-FFF2-40B4-BE49-F238E27FC236}">
                <a16:creationId xmlns:a16="http://schemas.microsoft.com/office/drawing/2014/main" id="{B47D0A35-7660-433A-889E-BA518CAD734D}"/>
              </a:ext>
            </a:extLst>
          </p:cNvPr>
          <p:cNvSpPr>
            <a:spLocks noGrp="1"/>
          </p:cNvSpPr>
          <p:nvPr/>
        </p:nvSpPr>
        <p:spPr>
          <a:xfrm>
            <a:off x="4610100" y="40957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流程诊断与方案</a:t>
            </a:r>
          </a:p>
        </p:txBody>
      </p:sp>
      <p:sp>
        <p:nvSpPr>
          <p:cNvPr id="65" name="compat-desc-5">
            <a:extLst>
              <a:ext uri="{FF2B5EF4-FFF2-40B4-BE49-F238E27FC236}">
                <a16:creationId xmlns:a16="http://schemas.microsoft.com/office/drawing/2014/main" id="{31B375FF-D546-47FA-A589-63E7B6D57B05}"/>
              </a:ext>
            </a:extLst>
          </p:cNvPr>
          <p:cNvSpPr>
            <a:spLocks noGrp="1"/>
          </p:cNvSpPr>
          <p:nvPr/>
        </p:nvSpPr>
        <p:spPr>
          <a:xfrm>
            <a:off x="4610100" y="4514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角色 / 数据 / 系统 / 风险边界</a:t>
            </a:r>
          </a:p>
        </p:txBody>
      </p:sp>
      <p:sp>
        <p:nvSpPr>
          <p:cNvPr id="66" name="compat-card-fill-6-1">
            <a:extLst>
              <a:ext uri="{FF2B5EF4-FFF2-40B4-BE49-F238E27FC236}">
                <a16:creationId xmlns:a16="http://schemas.microsoft.com/office/drawing/2014/main" id="{ECA9979D-C56C-4AA7-AA58-5B1AEACB7C9B}"/>
              </a:ext>
            </a:extLst>
          </p:cNvPr>
          <p:cNvSpPr>
            <a:spLocks noGrp="1"/>
          </p:cNvSpPr>
          <p:nvPr/>
        </p:nvSpPr>
        <p:spPr>
          <a:xfrm>
            <a:off x="7981950" y="3695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7" name="compat-card-fill-6-2">
            <a:extLst>
              <a:ext uri="{FF2B5EF4-FFF2-40B4-BE49-F238E27FC236}">
                <a16:creationId xmlns:a16="http://schemas.microsoft.com/office/drawing/2014/main" id="{64024621-3F06-4AC9-9FF2-CF3E3393C103}"/>
              </a:ext>
            </a:extLst>
          </p:cNvPr>
          <p:cNvSpPr>
            <a:spLocks noGrp="1"/>
          </p:cNvSpPr>
          <p:nvPr/>
        </p:nvSpPr>
        <p:spPr>
          <a:xfrm>
            <a:off x="7981950" y="4076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8" name="compat-card-fill-6-3">
            <a:extLst>
              <a:ext uri="{FF2B5EF4-FFF2-40B4-BE49-F238E27FC236}">
                <a16:creationId xmlns:a16="http://schemas.microsoft.com/office/drawing/2014/main" id="{DC1041DE-C570-4450-8E05-373C0B3D6B9A}"/>
              </a:ext>
            </a:extLst>
          </p:cNvPr>
          <p:cNvSpPr>
            <a:spLocks noGrp="1"/>
          </p:cNvSpPr>
          <p:nvPr/>
        </p:nvSpPr>
        <p:spPr>
          <a:xfrm>
            <a:off x="7981950" y="44577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9" name="compat-card-6">
            <a:extLst>
              <a:ext uri="{FF2B5EF4-FFF2-40B4-BE49-F238E27FC236}">
                <a16:creationId xmlns:a16="http://schemas.microsoft.com/office/drawing/2014/main" id="{A0845199-7DAE-4F90-B433-E53849F2B76F}"/>
              </a:ext>
            </a:extLst>
          </p:cNvPr>
          <p:cNvSpPr>
            <a:spLocks noGrp="1"/>
          </p:cNvSpPr>
          <p:nvPr/>
        </p:nvSpPr>
        <p:spPr>
          <a:xfrm>
            <a:off x="7924800" y="36385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70" name="compat-accent-6">
            <a:extLst>
              <a:ext uri="{FF2B5EF4-FFF2-40B4-BE49-F238E27FC236}">
                <a16:creationId xmlns:a16="http://schemas.microsoft.com/office/drawing/2014/main" id="{1EAA9EC5-B647-4985-93CD-2920FC7D0E2E}"/>
              </a:ext>
            </a:extLst>
          </p:cNvPr>
          <p:cNvSpPr>
            <a:spLocks noGrp="1"/>
          </p:cNvSpPr>
          <p:nvPr/>
        </p:nvSpPr>
        <p:spPr>
          <a:xfrm>
            <a:off x="7924800" y="37909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71" name="compat-title-6">
            <a:extLst>
              <a:ext uri="{FF2B5EF4-FFF2-40B4-BE49-F238E27FC236}">
                <a16:creationId xmlns:a16="http://schemas.microsoft.com/office/drawing/2014/main" id="{80C194AA-D60E-4C5B-BEA3-071A33ECE20D}"/>
              </a:ext>
            </a:extLst>
          </p:cNvPr>
          <p:cNvSpPr>
            <a:spLocks noGrp="1"/>
          </p:cNvSpPr>
          <p:nvPr/>
        </p:nvSpPr>
        <p:spPr>
          <a:xfrm>
            <a:off x="8153400" y="38100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企业定制交付</a:t>
            </a:r>
          </a:p>
        </p:txBody>
      </p:sp>
      <p:sp>
        <p:nvSpPr>
          <p:cNvPr id="72" name="compat-name-6">
            <a:extLst>
              <a:ext uri="{FF2B5EF4-FFF2-40B4-BE49-F238E27FC236}">
                <a16:creationId xmlns:a16="http://schemas.microsoft.com/office/drawing/2014/main" id="{3405F951-01AF-4756-B8E9-74CA6384748F}"/>
              </a:ext>
            </a:extLst>
          </p:cNvPr>
          <p:cNvSpPr>
            <a:spLocks noGrp="1"/>
          </p:cNvSpPr>
          <p:nvPr/>
        </p:nvSpPr>
        <p:spPr>
          <a:xfrm>
            <a:off x="8153400" y="40957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 + App + RPA</a:t>
            </a:r>
          </a:p>
        </p:txBody>
      </p:sp>
      <p:sp>
        <p:nvSpPr>
          <p:cNvPr id="73" name="compat-desc-6">
            <a:extLst>
              <a:ext uri="{FF2B5EF4-FFF2-40B4-BE49-F238E27FC236}">
                <a16:creationId xmlns:a16="http://schemas.microsoft.com/office/drawing/2014/main" id="{2ECFBFFD-E59A-4A3A-8724-DE3549232001}"/>
              </a:ext>
            </a:extLst>
          </p:cNvPr>
          <p:cNvSpPr>
            <a:spLocks noGrp="1"/>
          </p:cNvSpPr>
          <p:nvPr/>
        </p:nvSpPr>
        <p:spPr>
          <a:xfrm>
            <a:off x="8153400" y="4514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集成 / 私有化 / 审计 / 运维</a:t>
            </a:r>
          </a:p>
        </p:txBody>
      </p:sp>
    </p:spTree>
    <p:extLst>
      <p:ext uri="{BB962C8B-B14F-4D97-AF65-F5344CB8AC3E}">
        <p14:creationId xmlns:p14="http://schemas.microsoft.com/office/powerpoint/2010/main" val="11520931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A95339E4-F604-4D6A-86EF-DF2CD0929E1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定制服务体系 · 目标形态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370CF98-9ECF-4290-B608-8ACEB1A04835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定制不是一次性交付，而是可复用的产品化链路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79087C1-24E9-4883-BB39-FFC3752BBE8C}"/>
              </a:ext>
            </a:extLst>
          </p:cNvPr>
          <p:cNvSpPr>
            <a:spLocks noGrp="1"/>
          </p:cNvSpPr>
          <p:nvPr/>
        </p:nvSpPr>
        <p:spPr>
          <a:xfrm>
            <a:off x="1714500" y="2019300"/>
            <a:ext cx="7905750" cy="3429000"/>
          </a:xfrm>
          <a:prstGeom prst="roundRect">
            <a:avLst>
              <a:gd name="adj" fmla="val 5556"/>
            </a:avLst>
          </a:prstGeom>
          <a:noFill/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AF039EF-8669-48E6-8355-B3E3CDD61D65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每次场景共创都沿统一步骤落地，并把成果沉淀为组织蓝图、私有积木与版本化解决方案。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252EBC-6654-4A56-A43D-04234BEB26AE}"/>
              </a:ext>
            </a:extLst>
          </p:cNvPr>
          <p:cNvSpPr>
            <a:spLocks noGrp="1"/>
          </p:cNvSpPr>
          <p:nvPr/>
        </p:nvSpPr>
        <p:spPr>
          <a:xfrm>
            <a:off x="876300" y="5105400"/>
            <a:ext cx="10439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1" i="0">
                <a:solidFill>
                  <a:srgbClr val="145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标准积木优先，自定义能力有 Contract，原生能力有保留区；交付可升级、可 Rollback、可复用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710F48B-9833-4CEA-96EC-F710C0DB08BB}"/>
              </a:ext>
            </a:extLst>
          </p:cNvPr>
          <p:cNvSpPr>
            <a:spLocks noGrp="1"/>
          </p:cNvSpPr>
          <p:nvPr/>
        </p:nvSpPr>
        <p:spPr>
          <a:xfrm>
            <a:off x="9906000" y="2076450"/>
            <a:ext cx="1600200" cy="3352800"/>
          </a:xfrm>
          <a:prstGeom prst="roundRect">
            <a:avLst>
              <a:gd name="adj" fmla="val 11905"/>
            </a:avLst>
          </a:prstGeom>
          <a:noFill/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ACF8F47-F459-4EE8-AFFB-431D2346A884}"/>
              </a:ext>
            </a:extLst>
          </p:cNvPr>
          <p:cNvSpPr>
            <a:spLocks noGrp="1"/>
          </p:cNvSpPr>
          <p:nvPr/>
        </p:nvSpPr>
        <p:spPr>
          <a:xfrm>
            <a:off x="685800" y="5600700"/>
            <a:ext cx="10820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交付闭环：诊断 → 设计 → 共创 → 验证 → 部署 → 运营 → 资产回流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CA2238B-6981-4EEF-9644-CAB79A1ED2D3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EEEB512-B61D-4234-BF5B-E7FCE68FD363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36BBFE9-8C7C-4891-A36F-ED778245CE43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26" name="compat-card-fill-1-1">
            <a:extLst>
              <a:ext uri="{FF2B5EF4-FFF2-40B4-BE49-F238E27FC236}">
                <a16:creationId xmlns:a16="http://schemas.microsoft.com/office/drawing/2014/main" id="{F69DB481-5385-40C6-8BEA-8619F0A3E72B}"/>
              </a:ext>
            </a:extLst>
          </p:cNvPr>
          <p:cNvSpPr>
            <a:spLocks noGrp="1"/>
          </p:cNvSpPr>
          <p:nvPr/>
        </p:nvSpPr>
        <p:spPr>
          <a:xfrm>
            <a:off x="895350" y="2133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7" name="compat-card-fill-1-2">
            <a:extLst>
              <a:ext uri="{FF2B5EF4-FFF2-40B4-BE49-F238E27FC236}">
                <a16:creationId xmlns:a16="http://schemas.microsoft.com/office/drawing/2014/main" id="{E4EF5A44-61F6-43D8-A716-C98483ED0778}"/>
              </a:ext>
            </a:extLst>
          </p:cNvPr>
          <p:cNvSpPr>
            <a:spLocks noGrp="1"/>
          </p:cNvSpPr>
          <p:nvPr/>
        </p:nvSpPr>
        <p:spPr>
          <a:xfrm>
            <a:off x="895350" y="2514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8" name="compat-card-fill-1-3">
            <a:extLst>
              <a:ext uri="{FF2B5EF4-FFF2-40B4-BE49-F238E27FC236}">
                <a16:creationId xmlns:a16="http://schemas.microsoft.com/office/drawing/2014/main" id="{2D5C7F0A-2376-4FCC-B006-D475EB4611E7}"/>
              </a:ext>
            </a:extLst>
          </p:cNvPr>
          <p:cNvSpPr>
            <a:spLocks noGrp="1"/>
          </p:cNvSpPr>
          <p:nvPr/>
        </p:nvSpPr>
        <p:spPr>
          <a:xfrm>
            <a:off x="895350" y="28956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9" name="compat-card-1">
            <a:extLst>
              <a:ext uri="{FF2B5EF4-FFF2-40B4-BE49-F238E27FC236}">
                <a16:creationId xmlns:a16="http://schemas.microsoft.com/office/drawing/2014/main" id="{6C151DE4-71A9-4FA2-9A44-BC594719616F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30" name="compat-accent-1">
            <a:extLst>
              <a:ext uri="{FF2B5EF4-FFF2-40B4-BE49-F238E27FC236}">
                <a16:creationId xmlns:a16="http://schemas.microsoft.com/office/drawing/2014/main" id="{4A5AF1A7-B885-4B88-B017-97B67775F82B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31" name="compat-title-1">
            <a:extLst>
              <a:ext uri="{FF2B5EF4-FFF2-40B4-BE49-F238E27FC236}">
                <a16:creationId xmlns:a16="http://schemas.microsoft.com/office/drawing/2014/main" id="{34755EBE-93F0-4137-A1C0-A92B874AF4D1}"/>
              </a:ext>
            </a:extLst>
          </p:cNvPr>
          <p:cNvSpPr>
            <a:spLocks noGrp="1"/>
          </p:cNvSpPr>
          <p:nvPr/>
        </p:nvSpPr>
        <p:spPr>
          <a:xfrm>
            <a:off x="1066800" y="22479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场景诊断</a:t>
            </a:r>
          </a:p>
        </p:txBody>
      </p:sp>
      <p:sp>
        <p:nvSpPr>
          <p:cNvPr id="32" name="compat-name-1">
            <a:extLst>
              <a:ext uri="{FF2B5EF4-FFF2-40B4-BE49-F238E27FC236}">
                <a16:creationId xmlns:a16="http://schemas.microsoft.com/office/drawing/2014/main" id="{7B4D9A5C-E768-4DC4-A8BF-A0C0D3177F91}"/>
              </a:ext>
            </a:extLst>
          </p:cNvPr>
          <p:cNvSpPr>
            <a:spLocks noGrp="1"/>
          </p:cNvSpPr>
          <p:nvPr/>
        </p:nvSpPr>
        <p:spPr>
          <a:xfrm>
            <a:off x="1066800" y="25336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目标与流程建模</a:t>
            </a:r>
          </a:p>
        </p:txBody>
      </p:sp>
      <p:sp>
        <p:nvSpPr>
          <p:cNvPr id="33" name="compat-desc-1">
            <a:extLst>
              <a:ext uri="{FF2B5EF4-FFF2-40B4-BE49-F238E27FC236}">
                <a16:creationId xmlns:a16="http://schemas.microsoft.com/office/drawing/2014/main" id="{6EEF4EE7-6902-4F7D-979E-88501EA44802}"/>
              </a:ext>
            </a:extLst>
          </p:cNvPr>
          <p:cNvSpPr>
            <a:spLocks noGrp="1"/>
          </p:cNvSpPr>
          <p:nvPr/>
        </p:nvSpPr>
        <p:spPr>
          <a:xfrm>
            <a:off x="1066800" y="29527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用户 / 任务 / KPI / 责任边界</a:t>
            </a:r>
          </a:p>
        </p:txBody>
      </p:sp>
      <p:sp>
        <p:nvSpPr>
          <p:cNvPr id="34" name="compat-card-fill-2-1">
            <a:extLst>
              <a:ext uri="{FF2B5EF4-FFF2-40B4-BE49-F238E27FC236}">
                <a16:creationId xmlns:a16="http://schemas.microsoft.com/office/drawing/2014/main" id="{6678D41D-B7A4-47ED-A705-BC8B0F76C6AB}"/>
              </a:ext>
            </a:extLst>
          </p:cNvPr>
          <p:cNvSpPr>
            <a:spLocks noGrp="1"/>
          </p:cNvSpPr>
          <p:nvPr/>
        </p:nvSpPr>
        <p:spPr>
          <a:xfrm>
            <a:off x="4438650" y="2133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5" name="compat-card-fill-2-2">
            <a:extLst>
              <a:ext uri="{FF2B5EF4-FFF2-40B4-BE49-F238E27FC236}">
                <a16:creationId xmlns:a16="http://schemas.microsoft.com/office/drawing/2014/main" id="{AF7B2C68-02AD-4AB9-9093-19F05DEF1A4B}"/>
              </a:ext>
            </a:extLst>
          </p:cNvPr>
          <p:cNvSpPr>
            <a:spLocks noGrp="1"/>
          </p:cNvSpPr>
          <p:nvPr/>
        </p:nvSpPr>
        <p:spPr>
          <a:xfrm>
            <a:off x="4438650" y="2514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6" name="compat-card-fill-2-3">
            <a:extLst>
              <a:ext uri="{FF2B5EF4-FFF2-40B4-BE49-F238E27FC236}">
                <a16:creationId xmlns:a16="http://schemas.microsoft.com/office/drawing/2014/main" id="{E3636D79-096C-47D6-B78F-E30DAF504A34}"/>
              </a:ext>
            </a:extLst>
          </p:cNvPr>
          <p:cNvSpPr>
            <a:spLocks noGrp="1"/>
          </p:cNvSpPr>
          <p:nvPr/>
        </p:nvSpPr>
        <p:spPr>
          <a:xfrm>
            <a:off x="4438650" y="28956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7" name="compat-card-2">
            <a:extLst>
              <a:ext uri="{FF2B5EF4-FFF2-40B4-BE49-F238E27FC236}">
                <a16:creationId xmlns:a16="http://schemas.microsoft.com/office/drawing/2014/main" id="{59DCAF35-0EEB-4DA4-B734-CCF9E9C4CFF7}"/>
              </a:ext>
            </a:extLst>
          </p:cNvPr>
          <p:cNvSpPr>
            <a:spLocks noGrp="1"/>
          </p:cNvSpPr>
          <p:nvPr/>
        </p:nvSpPr>
        <p:spPr>
          <a:xfrm>
            <a:off x="4381500" y="20764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38" name="compat-accent-2">
            <a:extLst>
              <a:ext uri="{FF2B5EF4-FFF2-40B4-BE49-F238E27FC236}">
                <a16:creationId xmlns:a16="http://schemas.microsoft.com/office/drawing/2014/main" id="{6D379EDB-817E-4F0B-91DB-DF83E8488E25}"/>
              </a:ext>
            </a:extLst>
          </p:cNvPr>
          <p:cNvSpPr>
            <a:spLocks noGrp="1"/>
          </p:cNvSpPr>
          <p:nvPr/>
        </p:nvSpPr>
        <p:spPr>
          <a:xfrm>
            <a:off x="4381500" y="22288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39" name="compat-title-2">
            <a:extLst>
              <a:ext uri="{FF2B5EF4-FFF2-40B4-BE49-F238E27FC236}">
                <a16:creationId xmlns:a16="http://schemas.microsoft.com/office/drawing/2014/main" id="{E6BC2108-034B-409A-ABE7-485519372F2C}"/>
              </a:ext>
            </a:extLst>
          </p:cNvPr>
          <p:cNvSpPr>
            <a:spLocks noGrp="1"/>
          </p:cNvSpPr>
          <p:nvPr/>
        </p:nvSpPr>
        <p:spPr>
          <a:xfrm>
            <a:off x="4610100" y="22479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40" name="compat-name-2">
            <a:extLst>
              <a:ext uri="{FF2B5EF4-FFF2-40B4-BE49-F238E27FC236}">
                <a16:creationId xmlns:a16="http://schemas.microsoft.com/office/drawing/2014/main" id="{53F45C2E-A901-407B-AAAB-6E9BA20F451C}"/>
              </a:ext>
            </a:extLst>
          </p:cNvPr>
          <p:cNvSpPr>
            <a:spLocks noGrp="1"/>
          </p:cNvSpPr>
          <p:nvPr/>
        </p:nvSpPr>
        <p:spPr>
          <a:xfrm>
            <a:off x="4610100" y="25336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 与模块蓝图</a:t>
            </a:r>
          </a:p>
        </p:txBody>
      </p:sp>
      <p:sp>
        <p:nvSpPr>
          <p:cNvPr id="41" name="compat-desc-2">
            <a:extLst>
              <a:ext uri="{FF2B5EF4-FFF2-40B4-BE49-F238E27FC236}">
                <a16:creationId xmlns:a16="http://schemas.microsoft.com/office/drawing/2014/main" id="{7857053F-D439-4C53-B6DB-03E22CF16485}"/>
              </a:ext>
            </a:extLst>
          </p:cNvPr>
          <p:cNvSpPr>
            <a:spLocks noGrp="1"/>
          </p:cNvSpPr>
          <p:nvPr/>
        </p:nvSpPr>
        <p:spPr>
          <a:xfrm>
            <a:off x="4610100" y="29527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知识 / 工具 / 权限 / 人工节点</a:t>
            </a:r>
          </a:p>
        </p:txBody>
      </p:sp>
      <p:sp>
        <p:nvSpPr>
          <p:cNvPr id="42" name="compat-card-fill-3-1">
            <a:extLst>
              <a:ext uri="{FF2B5EF4-FFF2-40B4-BE49-F238E27FC236}">
                <a16:creationId xmlns:a16="http://schemas.microsoft.com/office/drawing/2014/main" id="{D02C6BBE-B855-49E3-9FFF-F9AAB4710C1E}"/>
              </a:ext>
            </a:extLst>
          </p:cNvPr>
          <p:cNvSpPr>
            <a:spLocks noGrp="1"/>
          </p:cNvSpPr>
          <p:nvPr/>
        </p:nvSpPr>
        <p:spPr>
          <a:xfrm>
            <a:off x="7981950" y="2133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3" name="compat-card-fill-3-2">
            <a:extLst>
              <a:ext uri="{FF2B5EF4-FFF2-40B4-BE49-F238E27FC236}">
                <a16:creationId xmlns:a16="http://schemas.microsoft.com/office/drawing/2014/main" id="{777F7FB1-AD1C-4E78-AC1C-0C013DEA09DB}"/>
              </a:ext>
            </a:extLst>
          </p:cNvPr>
          <p:cNvSpPr>
            <a:spLocks noGrp="1"/>
          </p:cNvSpPr>
          <p:nvPr/>
        </p:nvSpPr>
        <p:spPr>
          <a:xfrm>
            <a:off x="7981950" y="25146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4" name="compat-card-fill-3-3">
            <a:extLst>
              <a:ext uri="{FF2B5EF4-FFF2-40B4-BE49-F238E27FC236}">
                <a16:creationId xmlns:a16="http://schemas.microsoft.com/office/drawing/2014/main" id="{45AFEE63-5A0B-450B-8AC2-1BF30F6BF4B6}"/>
              </a:ext>
            </a:extLst>
          </p:cNvPr>
          <p:cNvSpPr>
            <a:spLocks noGrp="1"/>
          </p:cNvSpPr>
          <p:nvPr/>
        </p:nvSpPr>
        <p:spPr>
          <a:xfrm>
            <a:off x="7981950" y="28956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5" name="compat-card-3">
            <a:extLst>
              <a:ext uri="{FF2B5EF4-FFF2-40B4-BE49-F238E27FC236}">
                <a16:creationId xmlns:a16="http://schemas.microsoft.com/office/drawing/2014/main" id="{EFD30262-A6C0-4D53-A7BF-1B52ACFE3797}"/>
              </a:ext>
            </a:extLst>
          </p:cNvPr>
          <p:cNvSpPr>
            <a:spLocks noGrp="1"/>
          </p:cNvSpPr>
          <p:nvPr/>
        </p:nvSpPr>
        <p:spPr>
          <a:xfrm>
            <a:off x="7924800" y="20764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46" name="compat-accent-3">
            <a:extLst>
              <a:ext uri="{FF2B5EF4-FFF2-40B4-BE49-F238E27FC236}">
                <a16:creationId xmlns:a16="http://schemas.microsoft.com/office/drawing/2014/main" id="{B425A560-FF61-42E2-8088-6874D276AB15}"/>
              </a:ext>
            </a:extLst>
          </p:cNvPr>
          <p:cNvSpPr>
            <a:spLocks noGrp="1"/>
          </p:cNvSpPr>
          <p:nvPr/>
        </p:nvSpPr>
        <p:spPr>
          <a:xfrm>
            <a:off x="7924800" y="22288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47" name="compat-title-3">
            <a:extLst>
              <a:ext uri="{FF2B5EF4-FFF2-40B4-BE49-F238E27FC236}">
                <a16:creationId xmlns:a16="http://schemas.microsoft.com/office/drawing/2014/main" id="{DE4D6871-BF98-4AEC-B845-AFDCEC1FCA89}"/>
              </a:ext>
            </a:extLst>
          </p:cNvPr>
          <p:cNvSpPr>
            <a:spLocks noGrp="1"/>
          </p:cNvSpPr>
          <p:nvPr/>
        </p:nvSpPr>
        <p:spPr>
          <a:xfrm>
            <a:off x="8153400" y="22479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内容与数据</a:t>
            </a:r>
          </a:p>
        </p:txBody>
      </p:sp>
      <p:sp>
        <p:nvSpPr>
          <p:cNvPr id="48" name="compat-name-3">
            <a:extLst>
              <a:ext uri="{FF2B5EF4-FFF2-40B4-BE49-F238E27FC236}">
                <a16:creationId xmlns:a16="http://schemas.microsoft.com/office/drawing/2014/main" id="{DED0F3A4-98EC-4B28-99FD-5C1D27931BB8}"/>
              </a:ext>
            </a:extLst>
          </p:cNvPr>
          <p:cNvSpPr>
            <a:spLocks noGrp="1"/>
          </p:cNvSpPr>
          <p:nvPr/>
        </p:nvSpPr>
        <p:spPr>
          <a:xfrm>
            <a:off x="8153400" y="25336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课程 / 知识 / 规则</a:t>
            </a:r>
          </a:p>
        </p:txBody>
      </p:sp>
      <p:sp>
        <p:nvSpPr>
          <p:cNvPr id="49" name="compat-desc-3">
            <a:extLst>
              <a:ext uri="{FF2B5EF4-FFF2-40B4-BE49-F238E27FC236}">
                <a16:creationId xmlns:a16="http://schemas.microsoft.com/office/drawing/2014/main" id="{18FAF0F3-633A-440E-8341-7797379702B4}"/>
              </a:ext>
            </a:extLst>
          </p:cNvPr>
          <p:cNvSpPr>
            <a:spLocks noGrp="1"/>
          </p:cNvSpPr>
          <p:nvPr/>
        </p:nvSpPr>
        <p:spPr>
          <a:xfrm>
            <a:off x="8153400" y="29527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来源 / ACL / 更新 / 引用</a:t>
            </a:r>
          </a:p>
        </p:txBody>
      </p:sp>
      <p:sp>
        <p:nvSpPr>
          <p:cNvPr id="50" name="compat-card-fill-4-1">
            <a:extLst>
              <a:ext uri="{FF2B5EF4-FFF2-40B4-BE49-F238E27FC236}">
                <a16:creationId xmlns:a16="http://schemas.microsoft.com/office/drawing/2014/main" id="{E0562B3F-3B89-4B8F-A3C5-10385080D496}"/>
              </a:ext>
            </a:extLst>
          </p:cNvPr>
          <p:cNvSpPr>
            <a:spLocks noGrp="1"/>
          </p:cNvSpPr>
          <p:nvPr/>
        </p:nvSpPr>
        <p:spPr>
          <a:xfrm>
            <a:off x="895350" y="3695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1" name="compat-card-fill-4-2">
            <a:extLst>
              <a:ext uri="{FF2B5EF4-FFF2-40B4-BE49-F238E27FC236}">
                <a16:creationId xmlns:a16="http://schemas.microsoft.com/office/drawing/2014/main" id="{48C12C69-CFB1-4C46-BBD9-D4625CCBA581}"/>
              </a:ext>
            </a:extLst>
          </p:cNvPr>
          <p:cNvSpPr>
            <a:spLocks noGrp="1"/>
          </p:cNvSpPr>
          <p:nvPr/>
        </p:nvSpPr>
        <p:spPr>
          <a:xfrm>
            <a:off x="895350" y="4076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2" name="compat-card-fill-4-3">
            <a:extLst>
              <a:ext uri="{FF2B5EF4-FFF2-40B4-BE49-F238E27FC236}">
                <a16:creationId xmlns:a16="http://schemas.microsoft.com/office/drawing/2014/main" id="{B526D05E-C47D-49D2-A72B-7996334C26A3}"/>
              </a:ext>
            </a:extLst>
          </p:cNvPr>
          <p:cNvSpPr>
            <a:spLocks noGrp="1"/>
          </p:cNvSpPr>
          <p:nvPr/>
        </p:nvSpPr>
        <p:spPr>
          <a:xfrm>
            <a:off x="895350" y="44577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3" name="compat-card-4">
            <a:extLst>
              <a:ext uri="{FF2B5EF4-FFF2-40B4-BE49-F238E27FC236}">
                <a16:creationId xmlns:a16="http://schemas.microsoft.com/office/drawing/2014/main" id="{78665501-39CF-43AB-A709-09CE61C4A59E}"/>
              </a:ext>
            </a:extLst>
          </p:cNvPr>
          <p:cNvSpPr>
            <a:spLocks noGrp="1"/>
          </p:cNvSpPr>
          <p:nvPr/>
        </p:nvSpPr>
        <p:spPr>
          <a:xfrm>
            <a:off x="838200" y="36385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54" name="compat-accent-4">
            <a:extLst>
              <a:ext uri="{FF2B5EF4-FFF2-40B4-BE49-F238E27FC236}">
                <a16:creationId xmlns:a16="http://schemas.microsoft.com/office/drawing/2014/main" id="{49B9AA27-CD03-495D-9699-BB6DE584A024}"/>
              </a:ext>
            </a:extLst>
          </p:cNvPr>
          <p:cNvSpPr>
            <a:spLocks noGrp="1"/>
          </p:cNvSpPr>
          <p:nvPr/>
        </p:nvSpPr>
        <p:spPr>
          <a:xfrm>
            <a:off x="838200" y="37909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55" name="compat-title-4">
            <a:extLst>
              <a:ext uri="{FF2B5EF4-FFF2-40B4-BE49-F238E27FC236}">
                <a16:creationId xmlns:a16="http://schemas.microsoft.com/office/drawing/2014/main" id="{D90E428E-D28E-44FA-B3D2-A6261DEF9547}"/>
              </a:ext>
            </a:extLst>
          </p:cNvPr>
          <p:cNvSpPr>
            <a:spLocks noGrp="1"/>
          </p:cNvSpPr>
          <p:nvPr/>
        </p:nvSpPr>
        <p:spPr>
          <a:xfrm>
            <a:off x="1066800" y="38100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连接与开发</a:t>
            </a:r>
          </a:p>
        </p:txBody>
      </p:sp>
      <p:sp>
        <p:nvSpPr>
          <p:cNvPr id="56" name="compat-name-4">
            <a:extLst>
              <a:ext uri="{FF2B5EF4-FFF2-40B4-BE49-F238E27FC236}">
                <a16:creationId xmlns:a16="http://schemas.microsoft.com/office/drawing/2014/main" id="{D67341F5-F649-4091-824C-34F94796A6D1}"/>
              </a:ext>
            </a:extLst>
          </p:cNvPr>
          <p:cNvSpPr>
            <a:spLocks noGrp="1"/>
          </p:cNvSpPr>
          <p:nvPr/>
        </p:nvSpPr>
        <p:spPr>
          <a:xfrm>
            <a:off x="1066800" y="40957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积木 / MCP / API</a:t>
            </a:r>
          </a:p>
        </p:txBody>
      </p:sp>
      <p:sp>
        <p:nvSpPr>
          <p:cNvPr id="57" name="compat-desc-4">
            <a:extLst>
              <a:ext uri="{FF2B5EF4-FFF2-40B4-BE49-F238E27FC236}">
                <a16:creationId xmlns:a16="http://schemas.microsoft.com/office/drawing/2014/main" id="{47CDDB18-5D86-4CBA-8410-B9E666436D93}"/>
              </a:ext>
            </a:extLst>
          </p:cNvPr>
          <p:cNvSpPr>
            <a:spLocks noGrp="1"/>
          </p:cNvSpPr>
          <p:nvPr/>
        </p:nvSpPr>
        <p:spPr>
          <a:xfrm>
            <a:off x="1066800" y="4514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AppSurface / RPA / 旧系统适配</a:t>
            </a:r>
          </a:p>
        </p:txBody>
      </p:sp>
      <p:sp>
        <p:nvSpPr>
          <p:cNvPr id="58" name="compat-card-fill-5-1">
            <a:extLst>
              <a:ext uri="{FF2B5EF4-FFF2-40B4-BE49-F238E27FC236}">
                <a16:creationId xmlns:a16="http://schemas.microsoft.com/office/drawing/2014/main" id="{396A1AB6-3033-43F3-ACA5-9A38A7DB0437}"/>
              </a:ext>
            </a:extLst>
          </p:cNvPr>
          <p:cNvSpPr>
            <a:spLocks noGrp="1"/>
          </p:cNvSpPr>
          <p:nvPr/>
        </p:nvSpPr>
        <p:spPr>
          <a:xfrm>
            <a:off x="4438650" y="3695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9" name="compat-card-fill-5-2">
            <a:extLst>
              <a:ext uri="{FF2B5EF4-FFF2-40B4-BE49-F238E27FC236}">
                <a16:creationId xmlns:a16="http://schemas.microsoft.com/office/drawing/2014/main" id="{341658E3-D68B-4E28-80D8-EE43D6BFCBA3}"/>
              </a:ext>
            </a:extLst>
          </p:cNvPr>
          <p:cNvSpPr>
            <a:spLocks noGrp="1"/>
          </p:cNvSpPr>
          <p:nvPr/>
        </p:nvSpPr>
        <p:spPr>
          <a:xfrm>
            <a:off x="4438650" y="4076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0" name="compat-card-fill-5-3">
            <a:extLst>
              <a:ext uri="{FF2B5EF4-FFF2-40B4-BE49-F238E27FC236}">
                <a16:creationId xmlns:a16="http://schemas.microsoft.com/office/drawing/2014/main" id="{F78F7300-8212-4596-BBCE-56316A9D76A8}"/>
              </a:ext>
            </a:extLst>
          </p:cNvPr>
          <p:cNvSpPr>
            <a:spLocks noGrp="1"/>
          </p:cNvSpPr>
          <p:nvPr/>
        </p:nvSpPr>
        <p:spPr>
          <a:xfrm>
            <a:off x="4438650" y="44577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1" name="compat-card-5">
            <a:extLst>
              <a:ext uri="{FF2B5EF4-FFF2-40B4-BE49-F238E27FC236}">
                <a16:creationId xmlns:a16="http://schemas.microsoft.com/office/drawing/2014/main" id="{9ADA23D9-4B4A-410F-95B5-E660DEDA7FBD}"/>
              </a:ext>
            </a:extLst>
          </p:cNvPr>
          <p:cNvSpPr>
            <a:spLocks noGrp="1"/>
          </p:cNvSpPr>
          <p:nvPr/>
        </p:nvSpPr>
        <p:spPr>
          <a:xfrm>
            <a:off x="4381500" y="36385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62" name="compat-accent-5">
            <a:extLst>
              <a:ext uri="{FF2B5EF4-FFF2-40B4-BE49-F238E27FC236}">
                <a16:creationId xmlns:a16="http://schemas.microsoft.com/office/drawing/2014/main" id="{211650E4-8E44-4E1D-B760-CDAD74E7CEF5}"/>
              </a:ext>
            </a:extLst>
          </p:cNvPr>
          <p:cNvSpPr>
            <a:spLocks noGrp="1"/>
          </p:cNvSpPr>
          <p:nvPr/>
        </p:nvSpPr>
        <p:spPr>
          <a:xfrm>
            <a:off x="4381500" y="37909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63" name="compat-title-5">
            <a:extLst>
              <a:ext uri="{FF2B5EF4-FFF2-40B4-BE49-F238E27FC236}">
                <a16:creationId xmlns:a16="http://schemas.microsoft.com/office/drawing/2014/main" id="{8E1DBBC4-BF46-47E4-A7DB-7D88F6BF0B25}"/>
              </a:ext>
            </a:extLst>
          </p:cNvPr>
          <p:cNvSpPr>
            <a:spLocks noGrp="1"/>
          </p:cNvSpPr>
          <p:nvPr/>
        </p:nvSpPr>
        <p:spPr>
          <a:xfrm>
            <a:off x="4610100" y="38100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部署与治理</a:t>
            </a:r>
          </a:p>
        </p:txBody>
      </p:sp>
      <p:sp>
        <p:nvSpPr>
          <p:cNvPr id="64" name="compat-name-5">
            <a:extLst>
              <a:ext uri="{FF2B5EF4-FFF2-40B4-BE49-F238E27FC236}">
                <a16:creationId xmlns:a16="http://schemas.microsoft.com/office/drawing/2014/main" id="{B47D0A35-7660-433A-889E-BA518CAD734D}"/>
              </a:ext>
            </a:extLst>
          </p:cNvPr>
          <p:cNvSpPr>
            <a:spLocks noGrp="1"/>
          </p:cNvSpPr>
          <p:nvPr/>
        </p:nvSpPr>
        <p:spPr>
          <a:xfrm>
            <a:off x="4610100" y="40957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环境 / Secrets / 审计</a:t>
            </a:r>
          </a:p>
        </p:txBody>
      </p:sp>
      <p:sp>
        <p:nvSpPr>
          <p:cNvPr id="65" name="compat-desc-5">
            <a:extLst>
              <a:ext uri="{FF2B5EF4-FFF2-40B4-BE49-F238E27FC236}">
                <a16:creationId xmlns:a16="http://schemas.microsoft.com/office/drawing/2014/main" id="{31B375FF-D546-47FA-A589-63E7B6D57B05}"/>
              </a:ext>
            </a:extLst>
          </p:cNvPr>
          <p:cNvSpPr>
            <a:spLocks noGrp="1"/>
          </p:cNvSpPr>
          <p:nvPr/>
        </p:nvSpPr>
        <p:spPr>
          <a:xfrm>
            <a:off x="4610100" y="4514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权限 / Rollback / 成本 / 可用性</a:t>
            </a:r>
          </a:p>
        </p:txBody>
      </p:sp>
      <p:sp>
        <p:nvSpPr>
          <p:cNvPr id="66" name="compat-card-fill-6-1">
            <a:extLst>
              <a:ext uri="{FF2B5EF4-FFF2-40B4-BE49-F238E27FC236}">
                <a16:creationId xmlns:a16="http://schemas.microsoft.com/office/drawing/2014/main" id="{ECA9979D-C56C-4AA7-AA58-5B1AEACB7C9B}"/>
              </a:ext>
            </a:extLst>
          </p:cNvPr>
          <p:cNvSpPr>
            <a:spLocks noGrp="1"/>
          </p:cNvSpPr>
          <p:nvPr/>
        </p:nvSpPr>
        <p:spPr>
          <a:xfrm>
            <a:off x="7981950" y="3695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7" name="compat-card-fill-6-2">
            <a:extLst>
              <a:ext uri="{FF2B5EF4-FFF2-40B4-BE49-F238E27FC236}">
                <a16:creationId xmlns:a16="http://schemas.microsoft.com/office/drawing/2014/main" id="{64024621-3F06-4AC9-9FF2-CF3E3393C103}"/>
              </a:ext>
            </a:extLst>
          </p:cNvPr>
          <p:cNvSpPr>
            <a:spLocks noGrp="1"/>
          </p:cNvSpPr>
          <p:nvPr/>
        </p:nvSpPr>
        <p:spPr>
          <a:xfrm>
            <a:off x="7981950" y="4076700"/>
            <a:ext cx="3162300" cy="381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8" name="compat-card-fill-6-3">
            <a:extLst>
              <a:ext uri="{FF2B5EF4-FFF2-40B4-BE49-F238E27FC236}">
                <a16:creationId xmlns:a16="http://schemas.microsoft.com/office/drawing/2014/main" id="{DC1041DE-C570-4450-8E05-373C0B3D6B9A}"/>
              </a:ext>
            </a:extLst>
          </p:cNvPr>
          <p:cNvSpPr>
            <a:spLocks noGrp="1"/>
          </p:cNvSpPr>
          <p:nvPr/>
        </p:nvSpPr>
        <p:spPr>
          <a:xfrm>
            <a:off x="7981950" y="4457700"/>
            <a:ext cx="3162300" cy="4762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9" name="compat-card-6">
            <a:extLst>
              <a:ext uri="{FF2B5EF4-FFF2-40B4-BE49-F238E27FC236}">
                <a16:creationId xmlns:a16="http://schemas.microsoft.com/office/drawing/2014/main" id="{A0845199-7DAE-4F90-B433-E53849F2B76F}"/>
              </a:ext>
            </a:extLst>
          </p:cNvPr>
          <p:cNvSpPr>
            <a:spLocks noGrp="1"/>
          </p:cNvSpPr>
          <p:nvPr/>
        </p:nvSpPr>
        <p:spPr>
          <a:xfrm>
            <a:off x="7924800" y="3638550"/>
            <a:ext cx="3276600" cy="1352550"/>
          </a:xfrm>
          <a:prstGeom prst="roundRect">
            <a:avLst>
              <a:gd name="adj" fmla="val 5634"/>
            </a:avLst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70" name="compat-accent-6">
            <a:extLst>
              <a:ext uri="{FF2B5EF4-FFF2-40B4-BE49-F238E27FC236}">
                <a16:creationId xmlns:a16="http://schemas.microsoft.com/office/drawing/2014/main" id="{1EAA9EC5-B647-4985-93CD-2920FC7D0E2E}"/>
              </a:ext>
            </a:extLst>
          </p:cNvPr>
          <p:cNvSpPr>
            <a:spLocks noGrp="1"/>
          </p:cNvSpPr>
          <p:nvPr/>
        </p:nvSpPr>
        <p:spPr>
          <a:xfrm>
            <a:off x="7924800" y="3790950"/>
            <a:ext cx="47625" cy="1047750"/>
          </a:xfrm>
          <a:prstGeom prst="rect">
            <a:avLst/>
          </a:prstGeom>
          <a:solidFill>
            <a:srgbClr val="176BFF"/>
          </a:solidFill>
          <a:ln w="0">
            <a:noFill/>
            <a:prstDash val="solid"/>
          </a:ln>
        </p:spPr>
      </p:sp>
      <p:sp>
        <p:nvSpPr>
          <p:cNvPr id="71" name="compat-title-6">
            <a:extLst>
              <a:ext uri="{FF2B5EF4-FFF2-40B4-BE49-F238E27FC236}">
                <a16:creationId xmlns:a16="http://schemas.microsoft.com/office/drawing/2014/main" id="{80C194AA-D60E-4C5B-BEA3-071A33ECE20D}"/>
              </a:ext>
            </a:extLst>
          </p:cNvPr>
          <p:cNvSpPr>
            <a:spLocks noGrp="1"/>
          </p:cNvSpPr>
          <p:nvPr/>
        </p:nvSpPr>
        <p:spPr>
          <a:xfrm>
            <a:off x="8153400" y="381000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培训与运营</a:t>
            </a:r>
          </a:p>
        </p:txBody>
      </p:sp>
      <p:sp>
        <p:nvSpPr>
          <p:cNvPr id="72" name="compat-name-6">
            <a:extLst>
              <a:ext uri="{FF2B5EF4-FFF2-40B4-BE49-F238E27FC236}">
                <a16:creationId xmlns:a16="http://schemas.microsoft.com/office/drawing/2014/main" id="{3405F951-01AF-4756-B8E9-74CA6384748F}"/>
              </a:ext>
            </a:extLst>
          </p:cNvPr>
          <p:cNvSpPr>
            <a:spLocks noGrp="1"/>
          </p:cNvSpPr>
          <p:nvPr/>
        </p:nvSpPr>
        <p:spPr>
          <a:xfrm>
            <a:off x="8153400" y="40957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教师 / 员工 / 管理员</a:t>
            </a:r>
          </a:p>
        </p:txBody>
      </p:sp>
      <p:sp>
        <p:nvSpPr>
          <p:cNvPr id="73" name="compat-desc-6">
            <a:extLst>
              <a:ext uri="{FF2B5EF4-FFF2-40B4-BE49-F238E27FC236}">
                <a16:creationId xmlns:a16="http://schemas.microsoft.com/office/drawing/2014/main" id="{2ECFBFFD-E59A-4A3A-8724-DE3549232001}"/>
              </a:ext>
            </a:extLst>
          </p:cNvPr>
          <p:cNvSpPr>
            <a:spLocks noGrp="1"/>
          </p:cNvSpPr>
          <p:nvPr/>
        </p:nvSpPr>
        <p:spPr>
          <a:xfrm>
            <a:off x="8153400" y="4514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上线 / 支持 / 评测 / 版本升级</a:t>
            </a:r>
          </a:p>
        </p:txBody>
      </p:sp>
    </p:spTree>
    <p:extLst>
      <p:ext uri="{BB962C8B-B14F-4D97-AF65-F5344CB8AC3E}">
        <p14:creationId xmlns:p14="http://schemas.microsoft.com/office/powerpoint/2010/main" val="11520931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3F8F04E4-5685-46EC-B7BF-FF503FC092B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ROADMAP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FCCFBD-EC4D-495B-9570-BB048A245D84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产品、解决方案与生态按四个阶段共同扩张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F493F2-5172-4084-94AC-6144F45F7099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底层能力稳定后，再扩大服务目录、组织交付与多端运行；所有场景共享同一项目格式。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B084ED5-104D-4B3B-BA7D-6F35FC152F80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BE7AD9-2F88-4BEC-9E9A-6C8E2BE2CBCB}"/>
              </a:ext>
            </a:extLst>
          </p:cNvPr>
          <p:cNvSpPr>
            <a:spLocks noGrp="1"/>
          </p:cNvSpPr>
          <p:nvPr/>
        </p:nvSpPr>
        <p:spPr>
          <a:xfrm>
            <a:off x="8953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R0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41301F-E876-4E53-B5B1-F226FE85931A}"/>
              </a:ext>
            </a:extLst>
          </p:cNvPr>
          <p:cNvSpPr>
            <a:spLocks noGrp="1"/>
          </p:cNvSpPr>
          <p:nvPr/>
        </p:nvSpPr>
        <p:spPr>
          <a:xfrm>
            <a:off x="8953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正式地基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F20170A-1964-4746-B530-F4E1E4EF4D7E}"/>
              </a:ext>
            </a:extLst>
          </p:cNvPr>
          <p:cNvSpPr>
            <a:spLocks noGrp="1"/>
          </p:cNvSpPr>
          <p:nvPr/>
        </p:nvSpPr>
        <p:spPr>
          <a:xfrm>
            <a:off x="8953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65833" lnSpcReduction="10000"/>
          </a:bodyPr>
          <a:lstStyle/>
          <a:p>
            <a:r>
              <a:t>阶段 0–2｜Contract Baseline / 多模块</a:t>
            </a:r>
          </a:p>
          <a:p>
            <a:r>
              <a:t>桌面｜面板 / 终端 / 日志</a:t>
            </a:r>
          </a:p>
          <a:p>
            <a:r>
              <a:t>地基｜设置 / 资源 / 权限</a:t>
            </a:r>
          </a:p>
          <a:p>
            <a:r>
              <a:t>闭环｜保存 / 窗口 / 回收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262643C-E4A7-4144-849B-26D585C55746}"/>
              </a:ext>
            </a:extLst>
          </p:cNvPr>
          <p:cNvSpPr>
            <a:spLocks noGrp="1"/>
          </p:cNvSpPr>
          <p:nvPr/>
        </p:nvSpPr>
        <p:spPr>
          <a:xfrm>
            <a:off x="33909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841C02-BC0E-44C6-8C20-F2749EB78096}"/>
              </a:ext>
            </a:extLst>
          </p:cNvPr>
          <p:cNvSpPr>
            <a:spLocks noGrp="1"/>
          </p:cNvSpPr>
          <p:nvPr/>
        </p:nvSpPr>
        <p:spPr>
          <a:xfrm>
            <a:off x="36004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R1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F212ABA-CC1D-4413-A11C-66EFF83035EB}"/>
              </a:ext>
            </a:extLst>
          </p:cNvPr>
          <p:cNvSpPr>
            <a:spLocks noGrp="1"/>
          </p:cNvSpPr>
          <p:nvPr/>
        </p:nvSpPr>
        <p:spPr>
          <a:xfrm>
            <a:off x="36004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产品闭环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917920F-5001-4FBE-B984-FF8CDE84CD9B}"/>
              </a:ext>
            </a:extLst>
          </p:cNvPr>
          <p:cNvSpPr>
            <a:spLocks noGrp="1"/>
          </p:cNvSpPr>
          <p:nvPr/>
        </p:nvSpPr>
        <p:spPr>
          <a:xfrm>
            <a:off x="36004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4531" lnSpcReduction="10000"/>
          </a:bodyPr>
          <a:lstStyle/>
          <a:p>
            <a:r>
              <a:t>阶段 3–7｜RAG / 项目积木化</a:t>
            </a:r>
          </a:p>
          <a:p>
            <a:r>
              <a:t>产品｜蓝图 / Agent / 构建助手</a:t>
            </a:r>
          </a:p>
          <a:p>
            <a:r>
              <a:t>交付｜Trace / AppSurface</a:t>
            </a:r>
          </a:p>
          <a:p>
            <a:r>
              <a:t>办公｜有人值守 RPA / 多架构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B39D476-BFC0-467D-953B-DAD47B6E173C}"/>
              </a:ext>
            </a:extLst>
          </p:cNvPr>
          <p:cNvSpPr>
            <a:spLocks noGrp="1"/>
          </p:cNvSpPr>
          <p:nvPr/>
        </p:nvSpPr>
        <p:spPr>
          <a:xfrm>
            <a:off x="60960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DBFFE6-3806-4E0B-B8B2-4849CEE10EDB}"/>
              </a:ext>
            </a:extLst>
          </p:cNvPr>
          <p:cNvSpPr>
            <a:spLocks noGrp="1"/>
          </p:cNvSpPr>
          <p:nvPr/>
        </p:nvSpPr>
        <p:spPr>
          <a:xfrm>
            <a:off x="63055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R2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EA4E758-33B1-4B19-AC92-39FB3CD8E43C}"/>
              </a:ext>
            </a:extLst>
          </p:cNvPr>
          <p:cNvSpPr>
            <a:spLocks noGrp="1"/>
          </p:cNvSpPr>
          <p:nvPr/>
        </p:nvSpPr>
        <p:spPr>
          <a:xfrm>
            <a:off x="63055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规模化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63D6523-38D3-4000-876A-1730A7882E6A}"/>
              </a:ext>
            </a:extLst>
          </p:cNvPr>
          <p:cNvSpPr>
            <a:spLocks noGrp="1"/>
          </p:cNvSpPr>
          <p:nvPr/>
        </p:nvSpPr>
        <p:spPr>
          <a:xfrm>
            <a:off x="63055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60348" lnSpcReduction="10000"/>
          </a:bodyPr>
          <a:lstStyle/>
          <a:p>
            <a:r>
              <a:t>阶段 8–11｜6 模板 / CLI / 4 Skills</a:t>
            </a:r>
          </a:p>
          <a:p>
            <a:r>
              <a:t>教育｜工作区 / 机构方案</a:t>
            </a:r>
          </a:p>
          <a:p>
            <a:r>
              <a:t>企业｜团队 / 部署 / 无人值守 RPA</a:t>
            </a:r>
          </a:p>
          <a:p>
            <a:r>
              <a:t>服务｜定制方案 / 私有资产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8784C53-44C1-42A2-B33A-A95ACBEBF750}"/>
              </a:ext>
            </a:extLst>
          </p:cNvPr>
          <p:cNvSpPr>
            <a:spLocks noGrp="1"/>
          </p:cNvSpPr>
          <p:nvPr/>
        </p:nvSpPr>
        <p:spPr>
          <a:xfrm>
            <a:off x="8801100" y="2076450"/>
            <a:ext cx="2419350" cy="2781300"/>
          </a:xfrm>
          <a:prstGeom prst="roundRect">
            <a:avLst>
              <a:gd name="adj" fmla="val 8661"/>
            </a:avLst>
          </a:prstGeom>
          <a:solidFill>
            <a:srgbClr val="F7F9FC"/>
          </a:solidFill>
          <a:ln w="9525">
            <a:solidFill>
              <a:srgbClr val="DCE6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ED2EAD-8316-4D07-B9D2-EF0FD529EFE1}"/>
              </a:ext>
            </a:extLst>
          </p:cNvPr>
          <p:cNvSpPr>
            <a:spLocks noGrp="1"/>
          </p:cNvSpPr>
          <p:nvPr/>
        </p:nvSpPr>
        <p:spPr>
          <a:xfrm>
            <a:off x="9010650" y="22860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R3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FE2529C-D364-4829-A0AC-71E3C7BE2542}"/>
              </a:ext>
            </a:extLst>
          </p:cNvPr>
          <p:cNvSpPr>
            <a:spLocks noGrp="1"/>
          </p:cNvSpPr>
          <p:nvPr/>
        </p:nvSpPr>
        <p:spPr>
          <a:xfrm>
            <a:off x="9010650" y="27813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生态与多端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4EB2C4D-2107-42C6-974F-818DE79A7C15}"/>
              </a:ext>
            </a:extLst>
          </p:cNvPr>
          <p:cNvSpPr>
            <a:spLocks noGrp="1"/>
          </p:cNvSpPr>
          <p:nvPr/>
        </p:nvSpPr>
        <p:spPr>
          <a:xfrm>
            <a:off x="9010650" y="3562350"/>
            <a:ext cx="200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6615" lnSpcReduction="10000"/>
          </a:bodyPr>
          <a:lstStyle/>
          <a:p>
            <a:r>
              <a:t>阶段 12–14｜社区供应链</a:t>
            </a:r>
          </a:p>
          <a:p>
            <a:r>
              <a:t>桌面｜macOS + 移动使用器</a:t>
            </a:r>
          </a:p>
          <a:p>
            <a:r>
              <a:t>商业｜权益 / 订阅 / 服务目录</a:t>
            </a:r>
          </a:p>
          <a:p>
            <a:r>
              <a:t>生态｜多端分发 / 国际化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6CB4DB1-39DE-46AA-9842-ACA8ED2F9E1E}"/>
              </a:ext>
            </a:extLst>
          </p:cNvPr>
          <p:cNvSpPr>
            <a:spLocks noGrp="1"/>
          </p:cNvSpPr>
          <p:nvPr/>
        </p:nvSpPr>
        <p:spPr>
          <a:xfrm>
            <a:off x="1676400" y="5219700"/>
            <a:ext cx="8839200" cy="685800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0885AED-F686-45CE-BACD-85EAF9B1C6F7}"/>
              </a:ext>
            </a:extLst>
          </p:cNvPr>
          <p:cNvSpPr>
            <a:spLocks noGrp="1"/>
          </p:cNvSpPr>
          <p:nvPr/>
        </p:nvSpPr>
        <p:spPr>
          <a:xfrm>
            <a:off x="1905000" y="5410200"/>
            <a:ext cx="838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 i="0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每个服务方案都回流为蓝图、积木、适配器或私有资产包，形成复用飞轮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FF81F25-CA1D-42EA-95BF-4FA2DCB1B72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CE3EC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11AEA12-AB50-4D32-8FDF-96E4B5B4CC6F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15CDD87-5796-4A69-900F-7A9A60775B88}"/>
              </a:ext>
            </a:extLst>
          </p:cNvPr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67875" y="228600"/>
            <a:ext cx="150495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8985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45A5DFD-C6BE-4653-B54F-904DF01C84B1}">
  <we:reference id="wa200010215" version="2.0.0.0" store="en-US" storeType="OMEX"/>
  <we:alternateReferences>
    <we:reference id="WA200010215" version="2.0.0.0" store="" storeType="OMEX"/>
  </we:alternateReferences>
  <we:properties>
    <we:property name="bps.codex_control.document_id" value="&quot;8fd79d6f-96b9-4d1b-bcbb-e68a2dc4a01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5857</Words>
  <Application>Microsoft Office PowerPoint</Application>
  <DocSecurity>0</DocSecurity>
  <PresentationFormat>宽屏</PresentationFormat>
  <Paragraphs>1040</Paragraphs>
  <Slides>36</Slides>
  <Notes>36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39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俊杰 范</cp:lastModifiedBy>
  <cp:revision>1</cp:revision>
  <dcterms:created xsi:type="dcterms:W3CDTF">2026-08-26T16:03:27Z</dcterms:created>
  <dcterms:modified xsi:type="dcterms:W3CDTF">2026-08-26T16:36:27Z</dcterms:modified>
</cp:coreProperties>
</file>
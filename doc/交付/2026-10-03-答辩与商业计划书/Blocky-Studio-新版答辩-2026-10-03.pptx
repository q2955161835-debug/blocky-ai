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4c82c515bb472f" /><Relationship Type="http://schemas.openxmlformats.org/officeDocument/2006/relationships/extended-properties" Target="/docProps/app.xml" Id="R8ae6d9d9c4bb44ae" /><Relationship Type="http://schemas.openxmlformats.org/officeDocument/2006/relationships/officeDocument" Target="/ppt/presentation.xml" Id="Rd7397445666e4a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fb3f4d66874ce0"/>
  </p:sldMasterIdLst>
  <p:notesMasterIdLst>
    <p:notesMasterId xmlns:r="http://schemas.openxmlformats.org/officeDocument/2006/relationships" r:id="R64444897374f4155"/>
  </p:notesMasterIdLst>
  <p:sldIdLst>
    <p:sldId xmlns:r="http://schemas.openxmlformats.org/officeDocument/2006/relationships" id="256" r:id="R226786854c73476d"/>
    <p:sldId xmlns:r="http://schemas.openxmlformats.org/officeDocument/2006/relationships" id="257" r:id="Rd4576ee740144ac7"/>
    <p:sldId xmlns:r="http://schemas.openxmlformats.org/officeDocument/2006/relationships" id="258" r:id="R8572110e15684601"/>
    <p:sldId xmlns:r="http://schemas.openxmlformats.org/officeDocument/2006/relationships" id="259" r:id="Rb7afcab68fe249b1"/>
    <p:sldId xmlns:r="http://schemas.openxmlformats.org/officeDocument/2006/relationships" id="260" r:id="Rdbd933681d954191"/>
    <p:sldId xmlns:r="http://schemas.openxmlformats.org/officeDocument/2006/relationships" id="261" r:id="R82c4e8da72f94cde"/>
    <p:sldId xmlns:r="http://schemas.openxmlformats.org/officeDocument/2006/relationships" id="262" r:id="Reb069593f8394227"/>
    <p:sldId xmlns:r="http://schemas.openxmlformats.org/officeDocument/2006/relationships" id="263" r:id="R5938af47298f45ff"/>
    <p:sldId xmlns:r="http://schemas.openxmlformats.org/officeDocument/2006/relationships" id="264" r:id="Re6f9f40bf6f24a9a"/>
    <p:sldId xmlns:r="http://schemas.openxmlformats.org/officeDocument/2006/relationships" id="265" r:id="Rca1b8a32fce947df"/>
    <p:sldId xmlns:r="http://schemas.openxmlformats.org/officeDocument/2006/relationships" id="266" r:id="R0aa4ccdc94674274"/>
    <p:sldId xmlns:r="http://schemas.openxmlformats.org/officeDocument/2006/relationships" id="267" r:id="R0aec744cd0c24db9"/>
    <p:sldId xmlns:r="http://schemas.openxmlformats.org/officeDocument/2006/relationships" id="268" r:id="Rc0e6acc4b271449a"/>
    <p:sldId xmlns:r="http://schemas.openxmlformats.org/officeDocument/2006/relationships" id="269" r:id="R79e42c22da49434c"/>
    <p:sldId xmlns:r="http://schemas.openxmlformats.org/officeDocument/2006/relationships" id="270" r:id="Rbb0a4aa176ae42b8"/>
    <p:sldId xmlns:r="http://schemas.openxmlformats.org/officeDocument/2006/relationships" id="271" r:id="Rfe4a5461f1e844c4"/>
    <p:sldId xmlns:r="http://schemas.openxmlformats.org/officeDocument/2006/relationships" id="272" r:id="Rac193e7a5a1a48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5ccfb305e74e04" /><Relationship Type="http://schemas.openxmlformats.org/officeDocument/2006/relationships/slideMaster" Target="/ppt/slideMasters/slideMaster1.xml" Id="R1afb3f4d66874ce0" /><Relationship Type="http://schemas.openxmlformats.org/officeDocument/2006/relationships/notesMaster" Target="/ppt/notesMasters/notesMaster1.xml" Id="R64444897374f4155" /><Relationship Type="http://schemas.openxmlformats.org/officeDocument/2006/relationships/presProps" Target="/ppt/presProps.xml" Id="R6e672bf6c15549e2" /><Relationship Type="http://schemas.openxmlformats.org/officeDocument/2006/relationships/tableStyles" Target="/ppt/tableStyles.xml" Id="R27da2d844bc840d9" /><Relationship Type="http://schemas.openxmlformats.org/officeDocument/2006/relationships/slide" Target="/ppt/slides/slide1.xml" Id="R226786854c73476d" /><Relationship Type="http://schemas.openxmlformats.org/officeDocument/2006/relationships/slide" Target="/ppt/slides/slide2.xml" Id="Rd4576ee740144ac7" /><Relationship Type="http://schemas.openxmlformats.org/officeDocument/2006/relationships/slide" Target="/ppt/slides/slide3.xml" Id="R8572110e15684601" /><Relationship Type="http://schemas.openxmlformats.org/officeDocument/2006/relationships/slide" Target="/ppt/slides/slide4.xml" Id="Rb7afcab68fe249b1" /><Relationship Type="http://schemas.openxmlformats.org/officeDocument/2006/relationships/slide" Target="/ppt/slides/slide5.xml" Id="Rdbd933681d954191" /><Relationship Type="http://schemas.openxmlformats.org/officeDocument/2006/relationships/slide" Target="/ppt/slides/slide6.xml" Id="R82c4e8da72f94cde" /><Relationship Type="http://schemas.openxmlformats.org/officeDocument/2006/relationships/slide" Target="/ppt/slides/slide7.xml" Id="Reb069593f8394227" /><Relationship Type="http://schemas.openxmlformats.org/officeDocument/2006/relationships/slide" Target="/ppt/slides/slide8.xml" Id="R5938af47298f45ff" /><Relationship Type="http://schemas.openxmlformats.org/officeDocument/2006/relationships/slide" Target="/ppt/slides/slide9.xml" Id="Re6f9f40bf6f24a9a" /><Relationship Type="http://schemas.openxmlformats.org/officeDocument/2006/relationships/slide" Target="/ppt/slides/slide10.xml" Id="Rca1b8a32fce947df" /><Relationship Type="http://schemas.openxmlformats.org/officeDocument/2006/relationships/slide" Target="/ppt/slides/slide11.xml" Id="R0aa4ccdc94674274" /><Relationship Type="http://schemas.openxmlformats.org/officeDocument/2006/relationships/slide" Target="/ppt/slides/slide12.xml" Id="R0aec744cd0c24db9" /><Relationship Type="http://schemas.openxmlformats.org/officeDocument/2006/relationships/slide" Target="/ppt/slides/slide13.xml" Id="Rc0e6acc4b271449a" /><Relationship Type="http://schemas.openxmlformats.org/officeDocument/2006/relationships/slide" Target="/ppt/slides/slide14.xml" Id="R79e42c22da49434c" /><Relationship Type="http://schemas.openxmlformats.org/officeDocument/2006/relationships/slide" Target="/ppt/slides/slide15.xml" Id="Rbb0a4aa176ae42b8" /><Relationship Type="http://schemas.openxmlformats.org/officeDocument/2006/relationships/slide" Target="/ppt/slides/slide16.xml" Id="Rfe4a5461f1e844c4" /><Relationship Type="http://schemas.openxmlformats.org/officeDocument/2006/relationships/slide" Target="/ppt/slides/slide17.xml" Id="Rac193e7a5a1a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d9fde61387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064ee18c6f447e" /><Relationship Type="http://schemas.openxmlformats.org/officeDocument/2006/relationships/notesMaster" Target="/ppt/notesMasters/notesMaster1.xml" Id="R703b85960f56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e54da382f4333" /><Relationship Type="http://schemas.openxmlformats.org/officeDocument/2006/relationships/notesMaster" Target="/ppt/notesMasters/notesMaster1.xml" Id="Re00e60fcb4a4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56de207724e60" /><Relationship Type="http://schemas.openxmlformats.org/officeDocument/2006/relationships/notesMaster" Target="/ppt/notesMasters/notesMaster1.xml" Id="R85533be9b0f040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2083206104644" /><Relationship Type="http://schemas.openxmlformats.org/officeDocument/2006/relationships/notesMaster" Target="/ppt/notesMasters/notesMaster1.xml" Id="R4ca73378b25e42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0b712ecb324772" /><Relationship Type="http://schemas.openxmlformats.org/officeDocument/2006/relationships/notesMaster" Target="/ppt/notesMasters/notesMaster1.xml" Id="Rad163aceaf64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e67628932471b" /><Relationship Type="http://schemas.openxmlformats.org/officeDocument/2006/relationships/notesMaster" Target="/ppt/notesMasters/notesMaster1.xml" Id="R7855115c95da43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0cd3adafb4467f" /><Relationship Type="http://schemas.openxmlformats.org/officeDocument/2006/relationships/notesMaster" Target="/ppt/notesMasters/notesMaster1.xml" Id="Ra23e00005e9543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c4ee8f1bca42db" /><Relationship Type="http://schemas.openxmlformats.org/officeDocument/2006/relationships/notesMaster" Target="/ppt/notesMasters/notesMaster1.xml" Id="R479d1771bef24f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2b02d035704f1f" /><Relationship Type="http://schemas.openxmlformats.org/officeDocument/2006/relationships/notesMaster" Target="/ppt/notesMasters/notesMaster1.xml" Id="R9236a640608049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9ada767d2b4951" /><Relationship Type="http://schemas.openxmlformats.org/officeDocument/2006/relationships/notesMaster" Target="/ppt/notesMasters/notesMaster1.xml" Id="R7fe44779f18c4f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b3a2bb49ca4d3a" /><Relationship Type="http://schemas.openxmlformats.org/officeDocument/2006/relationships/notesMaster" Target="/ppt/notesMasters/notesMaster1.xml" Id="R68e9e1a304fa4e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4a782be7a34fb9" /><Relationship Type="http://schemas.openxmlformats.org/officeDocument/2006/relationships/notesMaster" Target="/ppt/notesMasters/notesMaster1.xml" Id="R0a1e60a8dced4d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74edfd186a41b8" /><Relationship Type="http://schemas.openxmlformats.org/officeDocument/2006/relationships/notesMaster" Target="/ppt/notesMasters/notesMaster1.xml" Id="R939838df81eb44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326ac60f54233" /><Relationship Type="http://schemas.openxmlformats.org/officeDocument/2006/relationships/notesMaster" Target="/ppt/notesMasters/notesMaster1.xml" Id="Rf5d7cb5053fa45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783b358372433e" /><Relationship Type="http://schemas.openxmlformats.org/officeDocument/2006/relationships/notesMaster" Target="/ppt/notesMasters/notesMaster1.xml" Id="R69e0a3373a444d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8b9b8ad3024ae4" /><Relationship Type="http://schemas.openxmlformats.org/officeDocument/2006/relationships/notesMaster" Target="/ppt/notesMasters/notesMaster1.xml" Id="R703843a8b2404f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f5ae3ef15a4578" /><Relationship Type="http://schemas.openxmlformats.org/officeDocument/2006/relationships/notesMaster" Target="/ppt/notesMasters/notesMaster1.xml" Id="R7f78e1d702a44d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秒。</a:t>
            </a:r>
          </a:p>
          <a:p xmlns:a="http://schemas.openxmlformats.org/drawingml/2006/main">
            <a:r>
              <a:t>大家好，我们是TB快重置就队。Blocky Studio是一款面向教育的积木AI创作软件。我们希望学生不只拿到一个答案，还能搭出作品，看到它用了什么资料、经过哪些步骤，并知道怎样修改。今天先展示当前产品，再说明怎么验证课堂价值和机构服务。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秒。</a:t>
            </a:r>
          </a:p>
          <a:p xmlns:a="http://schemas.openxmlformats.org/drawingml/2006/main">
            <a:r>
              <a:t>我们先把需求拆成三个角色。学生需要完成作品，并解释哪些部分由自己决定。教师需要组织任务、检查资料和过程。机构则要考虑设备、支持和长期费用。我们现在把这些作为需要验证的需求，不把团队演示当成课堂成效。下一阶段会逐项观察任务完成、教师复用和采购条件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秒。</a:t>
            </a:r>
          </a:p>
          <a:p xmlns:a="http://schemas.openxmlformats.org/drawingml/2006/main">
            <a:r>
              <a:t>交互上，我们借鉴Scratch的积木创作方式。学生把角色、资料、模型、工具与输出放在一个作品里。运行后可以查看过程，定位问题，再修改作品。产品的教学价值还需要检验，但现在这些创作、运行、保存和查看过程的能力已经可以实际演示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秒。</a:t>
            </a:r>
          </a:p>
          <a:p xmlns:a="http://schemas.openxmlformats.org/drawingml/2006/main">
            <a:r>
              <a:t>这张图来自本轮实际启动的新版Blocky。画布上的角色要求按课程资料回答并提供出处，下方依次是收到问题、查找资料、组织回答和输出。我们导入了合成的水循环资料，再提问水循环有哪些过程。这一步使用本地原文整理器，目的是展示真实资料检索与作品结构，不将它说成外部模型生成的问答。下一页把结果与过程放大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秒。</a:t>
            </a:r>
          </a:p>
          <a:p xmlns:a="http://schemas.openxmlformats.org/drawingml/2006/main">
            <a:r>
              <a:t>左边是实际输出，能看到课程文件和行号，界面保留了原文摘录的提示，资料里没有的信息保持待核实。右边是同一次运行的彩色事件，可以回到对应积木。这里没有宣称模型永不出错。我们想让教师和学生有材料讨论：这句话从哪里来，哪一步需要修改。黄色选框表示当前定位选中，不是运行成功的颜色证明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>这是独立的构建助手流程。本次它通过息壤deepseek-v4-pro真实读取课程文件，创建了水循环学习卡。结果包括过程解释、资料出处和缺失信息的待核实项。界面能看到实际文件变更和撤回入口。它支持教师准备材料，但材料仍需教师审阅。这次是合成资料演示，没有真实学生试用，也没有把该文件流程说成上一页画布的生成式回答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>这个方向并不是空白市场。Scratch提供成熟的积木学习方式。Blocks Builder AI已经公开提供积木AI、个人免费和教育机构洽谈。Dify也有教育计划。因此免费不能成为我们的主要差异。Blocky要证明的是，桌面作品、资料出处和可查看过程能否帮助教师反复组织课程。我们不会因为有这些功能就宣称已经超过竞品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https://dify.ai/education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>我们选择完整软件免费，机构联系报价。首批收入来自范围明确的课程准备、教师培训、安装配置、支持和约定模型额度。报价按规模和工作量核定，而不是统一给每所学校一个价格。个人使用软件免费也不代表外部模型调用没有成本。统一机构账户、额度和计费尚待建设，早期合同只承诺已经具备且可以履约的服务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>接下来90天，我们的目标是至少十次教师访谈、两次完整课程试用和一位教师独立复用。试用初步以约定课时完成任务、理解资料出处以及教师愿意再次使用作为判断。具体样本和帮助程度都要记录。它们是下一步目标，不是已经完成的成绩。如果两轮修改后仍不能复用，就收缩任务与投入，而不是继续堆功能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>我们把财务做成逐月模型。基准假设三年交付四、十、十八份合同，每份均价一万八千元，首年收入七万二千元。计入人工、模型、支持、固定运营与设备折旧后，前两年亏损，第三年单年转正，但三年累计仍亏损。假设两万元自有资金后，峰值缺口八万三千元，加两万元储备，追加资金预算十万三千元。所有这些都未承诺，资金不到位就缩小支出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秒。</a:t>
            </a:r>
          </a:p>
          <a:p xmlns:a="http://schemas.openxmlformats.org/drawingml/2006/main">
            <a:r>
              <a:t>团队目前两人，建议按产品技术和教学运营分工。技术侧负责产品、环境与恢复，运营侧负责教师访谈、组织、报价与回访。工时预算也设了上限，超出能力需要改期或按项目增援。我们当前更需要能组织真实课程的教师、反馈和采购指导，还没有经过确认的顾问团队或机构客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>总结来说，Blocky已经可以展示积木创作、资料出处、运行过程和构建助手文件生成。接下来最重要的不是把功能列表做得更长，而是让一位教师带学生完成一件作品，并能够独立复用。我们希望获得课程试点和教师指导，用真实反馈决定扩展顺序与投入。谢谢各位，接下来可以继续展示产品细节或回答商业与成本问题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本页用于回答“现在到底做到了哪一步”。工程实现不等于教育有效，合成演示不等于学校落地。不要把后续机构功能说成当前产品已经提供。当前平台为Windows，其他平台和完整兼容模板不在本轮承诺中。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情景来自可编辑的36个月财务模型。悲观假设合同更少、均价更低、支持工时与模型费用更高，且当月只收30%款；积极假设更高成交与效率，但同时增加固定支出与外部增援。税费按收入比例预留，只是管理预算，不是法定税率。三年累计损益仍为负的情景不能表述成已盈利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积木适合解释、修改与复用流程，并不意味着所有任务都优于聊天。资料引用不保证答案正确。文件和工具操作遵循当前Host权限边界，具体机构仍需结合资料与设备要求核实。不要承诺绝对安全、零幻觉或未经验证的教学提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演示前先准备同一合成课程资料、正确作品和可用模型配置。画布示例展示资料检索与原文引用，构建助手示例展示文件读写与生成。真实模型请求耗时与网络有关，不在现场临时承诺固定等待时长。若条件不足，按真实截图和结果说明，不伪装现场实时运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外部产品以公开页面描述为依据，不将公开功能推断为教学效果或营收。Blocky截图来自2026年10月3日的当前Windows版本实际运行，全部使用合成教学资料。经营数字来自配套财务模型，全部为假设。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https://dify.ai/education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b67c953f844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164f14a0394af3" /><Relationship Type="http://schemas.openxmlformats.org/officeDocument/2006/relationships/slideLayout" Target="/ppt/slideLayouts/slideLayout1.xml" Id="R9a12df417896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12df417896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7a8ebb46448fe" /><Relationship Type="http://schemas.openxmlformats.org/officeDocument/2006/relationships/image" Target="/ppt/media/image.png" Id="R7099417540754405" /><Relationship Type="http://schemas.openxmlformats.org/officeDocument/2006/relationships/notesSlide" Target="/ppt/notesSlides/notesSlide1.xml" Id="R2ea41881f734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b326c8eb34dde" /><Relationship Type="http://schemas.openxmlformats.org/officeDocument/2006/relationships/image" Target="/ppt/media/image2.png" Id="R45dea7cb5cfa4d64" /><Relationship Type="http://schemas.openxmlformats.org/officeDocument/2006/relationships/notesSlide" Target="/ppt/notesSlides/notesSlide2.xml" Id="R5f38322fd9a8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8d5c3dd464d24" /><Relationship Type="http://schemas.openxmlformats.org/officeDocument/2006/relationships/image" Target="/ppt/media/image3.png" Id="R8ac43669be88401a" /><Relationship Type="http://schemas.openxmlformats.org/officeDocument/2006/relationships/notesSlide" Target="/ppt/notesSlides/notesSlide3.xml" Id="R23c2792c78e740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9849353784978" /><Relationship Type="http://schemas.openxmlformats.org/officeDocument/2006/relationships/image" Target="/ppt/media/image4.png" Id="R425df90dc02a4e61" /><Relationship Type="http://schemas.openxmlformats.org/officeDocument/2006/relationships/notesSlide" Target="/ppt/notesSlides/notesSlide4.xml" Id="R04e69a881844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31175af4e4928" /><Relationship Type="http://schemas.openxmlformats.org/officeDocument/2006/relationships/image" Target="/ppt/media/image5.png" Id="R1c928e37610f4c16" /><Relationship Type="http://schemas.openxmlformats.org/officeDocument/2006/relationships/image" Target="/ppt/media/image6.png" Id="R3080c1b8a4854310" /><Relationship Type="http://schemas.openxmlformats.org/officeDocument/2006/relationships/notesSlide" Target="/ppt/notesSlides/notesSlide5.xml" Id="Re041c7d2012444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9a978b1764089" /><Relationship Type="http://schemas.openxmlformats.org/officeDocument/2006/relationships/image" Target="/ppt/media/image7.png" Id="Rbc961af576574d61" /><Relationship Type="http://schemas.openxmlformats.org/officeDocument/2006/relationships/notesSlide" Target="/ppt/notesSlides/notesSlide6.xml" Id="R7687a8e75a7940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f87379294430" /><Relationship Type="http://schemas.openxmlformats.org/officeDocument/2006/relationships/notesSlide" Target="/ppt/notesSlides/notesSlide7.xml" Id="R1c900b5ed7ed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3cd68d8ac49ef" /><Relationship Type="http://schemas.openxmlformats.org/officeDocument/2006/relationships/image" Target="/ppt/media/image8.png" Id="R00445a6e71a74ff1" /><Relationship Type="http://schemas.openxmlformats.org/officeDocument/2006/relationships/notesSlide" Target="/ppt/notesSlides/notesSlide8.xml" Id="Rd87b807a1c794d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c6366075143fd" /><Relationship Type="http://schemas.openxmlformats.org/officeDocument/2006/relationships/image" Target="/ppt/media/image9.png" Id="R7142063126af4fcb" /><Relationship Type="http://schemas.openxmlformats.org/officeDocument/2006/relationships/notesSlide" Target="/ppt/notesSlides/notesSlide9.xml" Id="R5335339851d340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3660380e64a63" /><Relationship Type="http://schemas.openxmlformats.org/officeDocument/2006/relationships/chart" Target="/ppt/slides/charts/chart1.xml" Id="Raa8fccf160b645c2" /><Relationship Type="http://schemas.openxmlformats.org/officeDocument/2006/relationships/notesSlide" Target="/ppt/notesSlides/notesSlide10.xml" Id="R3046d417b2c8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ef2d4d9314b89" /><Relationship Type="http://schemas.openxmlformats.org/officeDocument/2006/relationships/image" Target="/ppt/media/image10.png" Id="R38614ac7da6e4fb1" /><Relationship Type="http://schemas.openxmlformats.org/officeDocument/2006/relationships/notesSlide" Target="/ppt/notesSlides/notesSlide11.xml" Id="R46df3ad4216145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7ad81f3674abb" /><Relationship Type="http://schemas.openxmlformats.org/officeDocument/2006/relationships/image" Target="/ppt/media/image11.png" Id="R1ea36715052c4aa8" /><Relationship Type="http://schemas.openxmlformats.org/officeDocument/2006/relationships/notesSlide" Target="/ppt/notesSlides/notesSlide12.xml" Id="R18a98b5e7dfc40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0292452f14333" /><Relationship Type="http://schemas.openxmlformats.org/officeDocument/2006/relationships/notesSlide" Target="/ppt/notesSlides/notesSlide13.xml" Id="Rf1ac49a9ea1e45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0d8fc00a74928" /><Relationship Type="http://schemas.openxmlformats.org/officeDocument/2006/relationships/notesSlide" Target="/ppt/notesSlides/notesSlide14.xml" Id="R222922a265ae4e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76062140a4733" /><Relationship Type="http://schemas.openxmlformats.org/officeDocument/2006/relationships/notesSlide" Target="/ppt/notesSlides/notesSlide15.xml" Id="Rd999c2fd5fab4f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c63cd714545b6" /><Relationship Type="http://schemas.openxmlformats.org/officeDocument/2006/relationships/image" Target="/ppt/media/image12.png" Id="R8468da27794f4d77" /><Relationship Type="http://schemas.openxmlformats.org/officeDocument/2006/relationships/notesSlide" Target="/ppt/notesSlides/notesSlide16.xml" Id="Ra902395087224b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02f60bd704843" /><Relationship Type="http://schemas.openxmlformats.org/officeDocument/2006/relationships/notesSlide" Target="/ppt/notesSlides/notesSlide17.xml" Id="Rd331dabff54b47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</c:v>
          </c:tx>
          <c:spPr>
            <a:solidFill xmlns:a="http://schemas.openxmlformats.org/drawingml/2006/main">
              <a:srgbClr val="007C73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7.2</c:v>
                </c:pt>
                <c:pt idx="1">
                  <c:v>18</c:v>
                </c:pt>
                <c:pt idx="2">
                  <c:v>32.4</c:v>
                </c:pt>
              </c:numCache>
            </c:numRef>
          </c:val>
        </c:ser>
        <c:ser>
          <c:idx val="1"/>
          <c:order val="1"/>
          <c:tx>
            <c:v>费用</c:v>
          </c:tx>
          <c:spPr>
            <a:solidFill xmlns:a="http://schemas.openxmlformats.org/drawingml/2006/main">
              <a:srgbClr val="7050B5"/>
            </a:solidFill>
          </c:spPr>
          <c:cat>
            <c:numRef>
              <c:f>'Chart Data'!$C$2:$C$4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13.264</c:v>
                </c:pt>
                <c:pt idx="1">
                  <c:v>18.84</c:v>
                </c:pt>
                <c:pt idx="2">
                  <c:v>26.968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3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CD5D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7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52326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7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94175407544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-0">
            <a:extLst xmlns:a="http://schemas.openxmlformats.org/drawingml/2006/main">
              <a:ext uri="{FF2B5EF4-FFF2-40B4-BE49-F238E27FC236}">
                <a16:creationId xmlns:a16="http://schemas.microsoft.com/office/drawing/2014/main" id="{225D0853-9767-49DD-9D6B-6470F13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rPr>
              <a:t>教育 AI 创作 · 项目答辩</a:t>
            </a:r>
          </a:p>
        </p:txBody>
      </p:sp>
      <p:sp>
        <p:nvSpPr>
          <p:cNvPr id="3" name="text-1-1">
            <a:extLst xmlns:a="http://schemas.openxmlformats.org/drawingml/2006/main">
              <a:ext uri="{FF2B5EF4-FFF2-40B4-BE49-F238E27FC236}">
                <a16:creationId xmlns:a16="http://schemas.microsoft.com/office/drawing/2014/main" id="{618F2F73-1D6C-4802-AD98-CCF0D329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4" name="text-1-2">
            <a:extLst xmlns:a="http://schemas.openxmlformats.org/drawingml/2006/main">
              <a:ext uri="{FF2B5EF4-FFF2-40B4-BE49-F238E27FC236}">
                <a16:creationId xmlns:a16="http://schemas.microsoft.com/office/drawing/2014/main" id="{8F12C45E-F221-4C9C-873A-98830D8E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-3">
            <a:extLst xmlns:a="http://schemas.openxmlformats.org/drawingml/2006/main">
              <a:ext uri="{FF2B5EF4-FFF2-40B4-BE49-F238E27FC236}">
                <a16:creationId xmlns:a16="http://schemas.microsoft.com/office/drawing/2014/main" id="{8EEAFA04-DD6B-4DD2-A903-57DBBDB7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-4">
            <a:extLst xmlns:a="http://schemas.openxmlformats.org/drawingml/2006/main">
              <a:ext uri="{FF2B5EF4-FFF2-40B4-BE49-F238E27FC236}">
                <a16:creationId xmlns:a16="http://schemas.microsoft.com/office/drawing/2014/main" id="{28C658B9-387C-4987-B237-C011B375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572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让学生把 AI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搭成看得懂的作品</a:t>
            </a:r>
          </a:p>
        </p:txBody>
      </p:sp>
      <p:sp>
        <p:nvSpPr>
          <p:cNvPr id="7" name="text-1-5">
            <a:extLst xmlns:a="http://schemas.openxmlformats.org/drawingml/2006/main">
              <a:ext uri="{FF2B5EF4-FFF2-40B4-BE49-F238E27FC236}">
                <a16:creationId xmlns:a16="http://schemas.microsoft.com/office/drawing/2014/main" id="{7771896F-075A-4262-9DAF-039B267C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rPr>
              <a:t>积木创作  /  资料出处  /  运行过程</a:t>
            </a:r>
          </a:p>
        </p:txBody>
      </p:sp>
      <p:sp>
        <p:nvSpPr>
          <p:cNvPr id="8" name="text-1-6">
            <a:extLst xmlns:a="http://schemas.openxmlformats.org/drawingml/2006/main">
              <a:ext uri="{FF2B5EF4-FFF2-40B4-BE49-F238E27FC236}">
                <a16:creationId xmlns:a16="http://schemas.microsoft.com/office/drawing/2014/main" id="{D126C35B-112E-423A-93AB-185A0D98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191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rPr>
              <a:t>TB快重置就队</a:t>
            </a:r>
          </a:p>
          <a:p xmlns:a="http://schemas.openxmlformats.org/drawingml/2006/main">
            <a:pPr algn="l">
              <a:def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520949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-0">
            <a:extLst xmlns:a="http://schemas.openxmlformats.org/drawingml/2006/main">
              <a:ext uri="{FF2B5EF4-FFF2-40B4-BE49-F238E27FC236}">
                <a16:creationId xmlns:a16="http://schemas.microsoft.com/office/drawing/2014/main" id="{F4069DEB-2633-4B9A-BE29-C8915C5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01 / 教学问题</a:t>
            </a:r>
          </a:p>
        </p:txBody>
      </p:sp>
      <p:sp>
        <p:nvSpPr>
          <p:cNvPr id="2" name="text-2-1">
            <a:extLst xmlns:a="http://schemas.openxmlformats.org/drawingml/2006/main">
              <a:ext uri="{FF2B5EF4-FFF2-40B4-BE49-F238E27FC236}">
                <a16:creationId xmlns:a16="http://schemas.microsoft.com/office/drawing/2014/main" id="{9EEE69B3-0BAE-40C1-A050-F5DEAE18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课堂需要看到“怎么做出来”</a:t>
            </a:r>
          </a:p>
        </p:txBody>
      </p:sp>
      <p:sp>
        <p:nvSpPr>
          <p:cNvPr id="3" name="text-2-2">
            <a:extLst xmlns:a="http://schemas.openxmlformats.org/drawingml/2006/main">
              <a:ext uri="{FF2B5EF4-FFF2-40B4-BE49-F238E27FC236}">
                <a16:creationId xmlns:a16="http://schemas.microsoft.com/office/drawing/2014/main" id="{359491E9-CDB7-4B2C-8461-DE881C6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这是我们要通过真实教师试用验证的需求。</a:t>
            </a:r>
          </a:p>
        </p:txBody>
      </p:sp>
      <p:sp>
        <p:nvSpPr>
          <p:cNvPr id="4" name="text-2-3">
            <a:extLst xmlns:a="http://schemas.openxmlformats.org/drawingml/2006/main">
              <a:ext uri="{FF2B5EF4-FFF2-40B4-BE49-F238E27FC236}">
                <a16:creationId xmlns:a16="http://schemas.microsoft.com/office/drawing/2014/main" id="{4598290C-7932-47E7-BB2E-AFB8418E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2-4">
            <a:extLst xmlns:a="http://schemas.openxmlformats.org/drawingml/2006/main">
              <a:ext uri="{FF2B5EF4-FFF2-40B4-BE49-F238E27FC236}">
                <a16:creationId xmlns:a16="http://schemas.microsoft.com/office/drawing/2014/main" id="{EAF1BBB8-8069-47A0-AD96-2131322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ea7cb5cfa4d64"/>
          <ns0:srcRect xmlns:ns0="http://schemas.openxmlformats.org/drawingml/2006/main" l="0" t="19500" r="0" b="6000"/>
          <a:stretch xmlns:a="http://schemas.openxmlformats.org/drawingml/2006/main"/>
        </p:blipFill>
        <p:spPr>
          <a:xfrm xmlns:a="http://schemas.openxmlformats.org/drawingml/2006/main">
            <a:off x="2359016" y="2390775"/>
            <a:ext cx="7473968" cy="3133725"/>
          </a:xfrm>
          <a:prstGeom xmlns:a="http://schemas.openxmlformats.org/drawingml/2006/main" prst="rect">
            <a:avLst/>
          </a:prstGeom>
        </p:spPr>
      </p:pic>
      <p:sp>
        <p:nvSpPr>
          <p:cNvPr id="7" name="text-2-5">
            <a:extLst xmlns:a="http://schemas.openxmlformats.org/drawingml/2006/main">
              <a:ext uri="{FF2B5EF4-FFF2-40B4-BE49-F238E27FC236}">
                <a16:creationId xmlns:a16="http://schemas.microsoft.com/office/drawing/2014/main" id="{1D1519B1-2745-437C-A5C7-7364DBA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0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8" name="text-2-6">
            <a:extLst xmlns:a="http://schemas.openxmlformats.org/drawingml/2006/main">
              <a:ext uri="{FF2B5EF4-FFF2-40B4-BE49-F238E27FC236}">
                <a16:creationId xmlns:a16="http://schemas.microsoft.com/office/drawing/2014/main" id="{1F14CFCF-8D77-43DD-B865-1E61CD0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1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能修改、能解释作品</a:t>
            </a:r>
          </a:p>
        </p:txBody>
      </p:sp>
      <p:sp>
        <p:nvSpPr>
          <p:cNvPr id="9" name="text-2-7">
            <a:extLst xmlns:a="http://schemas.openxmlformats.org/drawingml/2006/main">
              <a:ext uri="{FF2B5EF4-FFF2-40B4-BE49-F238E27FC236}">
                <a16:creationId xmlns:a16="http://schemas.microsoft.com/office/drawing/2014/main" id="{4603095A-3EE2-432A-A0A1-C335DC4F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0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0" name="text-2-8">
            <a:extLst xmlns:a="http://schemas.openxmlformats.org/drawingml/2006/main">
              <a:ext uri="{FF2B5EF4-FFF2-40B4-BE49-F238E27FC236}">
                <a16:creationId xmlns:a16="http://schemas.microsoft.com/office/drawing/2014/main" id="{A599D30B-0C8F-4104-B56F-1F836A39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1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能检查资料与过程</a:t>
            </a:r>
          </a:p>
        </p:txBody>
      </p:sp>
      <p:sp>
        <p:nvSpPr>
          <p:cNvPr id="11" name="text-2-9">
            <a:extLst xmlns:a="http://schemas.openxmlformats.org/drawingml/2006/main">
              <a:ext uri="{FF2B5EF4-FFF2-40B4-BE49-F238E27FC236}">
                <a16:creationId xmlns:a16="http://schemas.microsoft.com/office/drawing/2014/main" id="{74E74B6C-1F53-4AED-985C-79F18DB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10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机构</a:t>
            </a:r>
          </a:p>
        </p:txBody>
      </p:sp>
      <p:sp>
        <p:nvSpPr>
          <p:cNvPr id="12" name="text-2-10">
            <a:extLst xmlns:a="http://schemas.openxmlformats.org/drawingml/2006/main">
              <a:ext uri="{FF2B5EF4-FFF2-40B4-BE49-F238E27FC236}">
                <a16:creationId xmlns:a16="http://schemas.microsoft.com/office/drawing/2014/main" id="{2DDB4DBE-FF83-45A0-A230-C003E239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1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能控制部署与使用成本</a:t>
            </a:r>
          </a:p>
        </p:txBody>
      </p:sp>
    </p:spTree>
    <p:extLst>
      <p:ext uri="{BB962C8B-B14F-4D97-AF65-F5344CB8AC3E}">
        <p14:creationId xmlns:p14="http://schemas.microsoft.com/office/powerpoint/2010/main" val="847195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3-0">
            <a:extLst xmlns:a="http://schemas.openxmlformats.org/drawingml/2006/main">
              <a:ext uri="{FF2B5EF4-FFF2-40B4-BE49-F238E27FC236}">
                <a16:creationId xmlns:a16="http://schemas.microsoft.com/office/drawing/2014/main" id="{5CFFD114-5336-4636-949E-82093A5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02 / 产品方式</a:t>
            </a:r>
          </a:p>
        </p:txBody>
      </p:sp>
      <p:sp>
        <p:nvSpPr>
          <p:cNvPr id="2" name="text-3-1">
            <a:extLst xmlns:a="http://schemas.openxmlformats.org/drawingml/2006/main">
              <a:ext uri="{FF2B5EF4-FFF2-40B4-BE49-F238E27FC236}">
                <a16:creationId xmlns:a16="http://schemas.microsoft.com/office/drawing/2014/main" id="{377D7081-FD17-4D90-8BF1-FE9FCE3E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把一次 AI 任务拆成可修改的积木</a:t>
            </a:r>
          </a:p>
        </p:txBody>
      </p:sp>
      <p:sp>
        <p:nvSpPr>
          <p:cNvPr id="3" name="text-3-2">
            <a:extLst xmlns:a="http://schemas.openxmlformats.org/drawingml/2006/main">
              <a:ext uri="{FF2B5EF4-FFF2-40B4-BE49-F238E27FC236}">
                <a16:creationId xmlns:a16="http://schemas.microsoft.com/office/drawing/2014/main" id="{93B910B1-39ED-4CEE-8117-343F0AE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4" name="text-3-3">
            <a:extLst xmlns:a="http://schemas.openxmlformats.org/drawingml/2006/main">
              <a:ext uri="{FF2B5EF4-FFF2-40B4-BE49-F238E27FC236}">
                <a16:creationId xmlns:a16="http://schemas.microsoft.com/office/drawing/2014/main" id="{A6D250A5-B978-4443-A6EA-55B5A739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-3-4">
            <a:extLst xmlns:a="http://schemas.openxmlformats.org/drawingml/2006/main">
              <a:ext uri="{FF2B5EF4-FFF2-40B4-BE49-F238E27FC236}">
                <a16:creationId xmlns:a16="http://schemas.microsoft.com/office/drawing/2014/main" id="{65A50154-5627-4EE4-A726-5522669B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同一个作品承载角色、资料、模型、工具和输出。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43669be88401a"/>
          <ns0:srcRect xmlns:ns0="http://schemas.openxmlformats.org/drawingml/2006/main" l="0" t="24000" r="0" b="13000"/>
          <a:stretch xmlns:a="http://schemas.openxmlformats.org/drawingml/2006/main"/>
        </p:blipFill>
        <p:spPr>
          <a:xfrm xmlns:a="http://schemas.openxmlformats.org/drawingml/2006/main">
            <a:off x="1220179" y="2057400"/>
            <a:ext cx="9751641" cy="3457575"/>
          </a:xfrm>
          <a:prstGeom xmlns:a="http://schemas.openxmlformats.org/drawingml/2006/main" prst="rect">
            <a:avLst/>
          </a:prstGeom>
        </p:spPr>
      </p:pic>
      <p:sp>
        <p:nvSpPr>
          <p:cNvPr id="7" name="text-3-5">
            <a:extLst xmlns:a="http://schemas.openxmlformats.org/drawingml/2006/main">
              <a:ext uri="{FF2B5EF4-FFF2-40B4-BE49-F238E27FC236}">
                <a16:creationId xmlns:a16="http://schemas.microsoft.com/office/drawing/2014/main" id="{F8A3C923-1CA2-4F74-A93D-626DA74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62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8" name="text-3-6">
            <a:extLst xmlns:a="http://schemas.openxmlformats.org/drawingml/2006/main">
              <a:ext uri="{FF2B5EF4-FFF2-40B4-BE49-F238E27FC236}">
                <a16:creationId xmlns:a16="http://schemas.microsoft.com/office/drawing/2014/main" id="{0A5B9D36-9274-45D0-984E-6B090A0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9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决定步骤，保存作品</a:t>
            </a:r>
          </a:p>
        </p:txBody>
      </p:sp>
      <p:sp>
        <p:nvSpPr>
          <p:cNvPr id="9" name="text-3-7">
            <a:extLst xmlns:a="http://schemas.openxmlformats.org/drawingml/2006/main">
              <a:ext uri="{FF2B5EF4-FFF2-40B4-BE49-F238E27FC236}">
                <a16:creationId xmlns:a16="http://schemas.microsoft.com/office/drawing/2014/main" id="{BF19D7C8-36F3-4B0B-93CE-3973983C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62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0" name="text-3-8">
            <a:extLst xmlns:a="http://schemas.openxmlformats.org/drawingml/2006/main">
              <a:ext uri="{FF2B5EF4-FFF2-40B4-BE49-F238E27FC236}">
                <a16:creationId xmlns:a16="http://schemas.microsoft.com/office/drawing/2014/main" id="{1E50FCF7-B3D4-4D86-9A3C-06E38C4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9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查看过程，定位问题</a:t>
            </a:r>
          </a:p>
        </p:txBody>
      </p:sp>
      <p:sp>
        <p:nvSpPr>
          <p:cNvPr id="11" name="text-3-9">
            <a:extLst xmlns:a="http://schemas.openxmlformats.org/drawingml/2006/main">
              <a:ext uri="{FF2B5EF4-FFF2-40B4-BE49-F238E27FC236}">
                <a16:creationId xmlns:a16="http://schemas.microsoft.com/office/drawing/2014/main" id="{FCD1DE6D-C1BE-4573-92ED-EEC8BBC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62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sp>
        <p:nvSpPr>
          <p:cNvPr id="12" name="text-3-10">
            <a:extLst xmlns:a="http://schemas.openxmlformats.org/drawingml/2006/main">
              <a:ext uri="{FF2B5EF4-FFF2-40B4-BE49-F238E27FC236}">
                <a16:creationId xmlns:a16="http://schemas.microsoft.com/office/drawing/2014/main" id="{3666E2D0-443C-4010-B823-9089B21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9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检查结果，再次运行</a:t>
            </a:r>
          </a:p>
        </p:txBody>
      </p:sp>
    </p:spTree>
    <p:extLst>
      <p:ext uri="{BB962C8B-B14F-4D97-AF65-F5344CB8AC3E}">
        <p14:creationId xmlns:p14="http://schemas.microsoft.com/office/powerpoint/2010/main" val="1131085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4-0">
            <a:extLst xmlns:a="http://schemas.openxmlformats.org/drawingml/2006/main">
              <a:ext uri="{FF2B5EF4-FFF2-40B4-BE49-F238E27FC236}">
                <a16:creationId xmlns:a16="http://schemas.microsoft.com/office/drawing/2014/main" id="{9BCD30C1-CB35-47BE-8F33-C4F072E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03 / 当前产品</a:t>
            </a:r>
          </a:p>
        </p:txBody>
      </p:sp>
      <p:sp>
        <p:nvSpPr>
          <p:cNvPr id="2" name="text-4-1">
            <a:extLst xmlns:a="http://schemas.openxmlformats.org/drawingml/2006/main">
              <a:ext uri="{FF2B5EF4-FFF2-40B4-BE49-F238E27FC236}">
                <a16:creationId xmlns:a16="http://schemas.microsoft.com/office/drawing/2014/main" id="{FAD67858-B27F-46DD-8755-6EEF109C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一个自然科学课程资料作品</a:t>
            </a:r>
          </a:p>
        </p:txBody>
      </p:sp>
      <p:sp>
        <p:nvSpPr>
          <p:cNvPr id="3" name="text-4-2">
            <a:extLst xmlns:a="http://schemas.openxmlformats.org/drawingml/2006/main">
              <a:ext uri="{FF2B5EF4-FFF2-40B4-BE49-F238E27FC236}">
                <a16:creationId xmlns:a16="http://schemas.microsoft.com/office/drawing/2014/main" id="{877799C9-A08D-4EB1-BC75-F6FB59C6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新版 Windows 普通包 · 本轮实际运行 · 合成教学资料</a:t>
            </a:r>
          </a:p>
        </p:txBody>
      </p:sp>
      <p:sp>
        <p:nvSpPr>
          <p:cNvPr id="4" name="text-4-3">
            <a:extLst xmlns:a="http://schemas.openxmlformats.org/drawingml/2006/main">
              <a:ext uri="{FF2B5EF4-FFF2-40B4-BE49-F238E27FC236}">
                <a16:creationId xmlns:a16="http://schemas.microsoft.com/office/drawing/2014/main" id="{CC9857CF-7E87-4B0E-9AFD-58725CD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4-4">
            <a:extLst xmlns:a="http://schemas.openxmlformats.org/drawingml/2006/main">
              <a:ext uri="{FF2B5EF4-FFF2-40B4-BE49-F238E27FC236}">
                <a16:creationId xmlns:a16="http://schemas.microsoft.com/office/drawing/2014/main" id="{7CCBA6F6-0746-4637-A931-500A7958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df90dc02a4e61"/>
          <a:stretch xmlns:a="http://schemas.openxmlformats.org/drawingml/2006/main"/>
        </p:blipFill>
        <p:spPr>
          <a:xfrm xmlns:a="http://schemas.openxmlformats.org/drawingml/2006/main">
            <a:off x="4154264" y="2257425"/>
            <a:ext cx="6550473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text-4-5">
            <a:extLst xmlns:a="http://schemas.openxmlformats.org/drawingml/2006/main">
              <a:ext uri="{FF2B5EF4-FFF2-40B4-BE49-F238E27FC236}">
                <a16:creationId xmlns:a16="http://schemas.microsoft.com/office/drawing/2014/main" id="{D963DCC6-0090-4048-A254-810B5FA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设置角色</a:t>
            </a:r>
          </a:p>
        </p:txBody>
      </p:sp>
      <p:sp>
        <p:nvSpPr>
          <p:cNvPr id="8" name="text-4-6">
            <a:extLst xmlns:a="http://schemas.openxmlformats.org/drawingml/2006/main">
              <a:ext uri="{FF2B5EF4-FFF2-40B4-BE49-F238E27FC236}">
                <a16:creationId xmlns:a16="http://schemas.microsoft.com/office/drawing/2014/main" id="{F355117D-588C-4A0B-AB7C-D09D42DC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收到问题</a:t>
            </a:r>
          </a:p>
          <a:p xmlns:a="http://schemas.openxmlformats.org/drawingml/2006/main">
            <a:pPr algn="l">
              <a:def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查找课程资料</a:t>
            </a:r>
          </a:p>
          <a:p xmlns:a="http://schemas.openxmlformats.org/drawingml/2006/main">
            <a:pPr algn="l">
              <a:def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组织与输出</a:t>
            </a:r>
          </a:p>
        </p:txBody>
      </p:sp>
      <p:sp>
        <p:nvSpPr>
          <p:cNvPr id="9" name="text-4-7">
            <a:extLst xmlns:a="http://schemas.openxmlformats.org/drawingml/2006/main">
              <a:ext uri="{FF2B5EF4-FFF2-40B4-BE49-F238E27FC236}">
                <a16:creationId xmlns:a16="http://schemas.microsoft.com/office/drawing/2014/main" id="{A205B917-635A-4293-BE5D-0088535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2476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运行与编辑</a:t>
            </a:r>
          </a:p>
          <a:p xmlns:a="http://schemas.openxmlformats.org/drawingml/2006/main">
            <a:pPr algn="l">
              <a:def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在同一工作区</a:t>
            </a:r>
          </a:p>
        </p:txBody>
      </p:sp>
    </p:spTree>
    <p:extLst>
      <p:ext uri="{BB962C8B-B14F-4D97-AF65-F5344CB8AC3E}">
        <p14:creationId xmlns:p14="http://schemas.microsoft.com/office/powerpoint/2010/main" val="570077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-0">
            <a:extLst xmlns:a="http://schemas.openxmlformats.org/drawingml/2006/main">
              <a:ext uri="{FF2B5EF4-FFF2-40B4-BE49-F238E27FC236}">
                <a16:creationId xmlns:a16="http://schemas.microsoft.com/office/drawing/2014/main" id="{1560E7C6-75B3-4928-8EE2-ADA851AF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04 / 过程可检查</a:t>
            </a:r>
          </a:p>
        </p:txBody>
      </p:sp>
      <p:sp>
        <p:nvSpPr>
          <p:cNvPr id="2" name="text-5-1">
            <a:extLst xmlns:a="http://schemas.openxmlformats.org/drawingml/2006/main">
              <a:ext uri="{FF2B5EF4-FFF2-40B4-BE49-F238E27FC236}">
                <a16:creationId xmlns:a16="http://schemas.microsoft.com/office/drawing/2014/main" id="{47CF69AC-450A-429A-BD34-20BBE210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看出处，也能回到产生结果的步骤</a:t>
            </a:r>
          </a:p>
        </p:txBody>
      </p:sp>
      <p:sp>
        <p:nvSpPr>
          <p:cNvPr id="3" name="text-5-2">
            <a:extLst xmlns:a="http://schemas.openxmlformats.org/drawingml/2006/main">
              <a:ext uri="{FF2B5EF4-FFF2-40B4-BE49-F238E27FC236}">
                <a16:creationId xmlns:a16="http://schemas.microsoft.com/office/drawing/2014/main" id="{EAB9B818-5BD4-46F8-BFAE-2B3C5295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当前案例：检索真实导入的合成资料，以原文摘录方式输出。</a:t>
            </a:r>
          </a:p>
        </p:txBody>
      </p:sp>
      <p:sp>
        <p:nvSpPr>
          <p:cNvPr id="4" name="text-5-3">
            <a:extLst xmlns:a="http://schemas.openxmlformats.org/drawingml/2006/main">
              <a:ext uri="{FF2B5EF4-FFF2-40B4-BE49-F238E27FC236}">
                <a16:creationId xmlns:a16="http://schemas.microsoft.com/office/drawing/2014/main" id="{11E42A5D-9816-4200-8BBA-4DEAEDF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5-4">
            <a:extLst xmlns:a="http://schemas.openxmlformats.org/drawingml/2006/main">
              <a:ext uri="{FF2B5EF4-FFF2-40B4-BE49-F238E27FC236}">
                <a16:creationId xmlns:a16="http://schemas.microsoft.com/office/drawing/2014/main" id="{23D08C7D-06F5-487C-8B52-0F08AEF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28e37610f4c16"/>
          <ns0:srcRect xmlns:ns0="http://schemas.openxmlformats.org/drawingml/2006/main" l="75300" t="23500" r="1000" b="38000"/>
          <a:stretch xmlns:a="http://schemas.openxmlformats.org/drawingml/2006/main"/>
        </p:blipFill>
        <p:spPr>
          <a:xfrm xmlns:a="http://schemas.openxmlformats.org/drawingml/2006/main">
            <a:off x="1387575" y="2524125"/>
            <a:ext cx="3244650" cy="32956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0c1b8a4854310"/>
          <ns0:srcRect xmlns:ns0="http://schemas.openxmlformats.org/drawingml/2006/main" l="75900" t="29200" r="1600" b="34000"/>
          <a:stretch xmlns:a="http://schemas.openxmlformats.org/drawingml/2006/main"/>
        </p:blipFill>
        <p:spPr>
          <a:xfrm xmlns:a="http://schemas.openxmlformats.org/drawingml/2006/main">
            <a:off x="7208818" y="2524125"/>
            <a:ext cx="3222664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text-5-5">
            <a:extLst xmlns:a="http://schemas.openxmlformats.org/drawingml/2006/main">
              <a:ext uri="{FF2B5EF4-FFF2-40B4-BE49-F238E27FC236}">
                <a16:creationId xmlns:a16="http://schemas.microsoft.com/office/drawing/2014/main" id="{7C334744-1DC7-407A-AFAD-C20808F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两条资料来源，保留未知提示</a:t>
            </a:r>
          </a:p>
        </p:txBody>
      </p:sp>
      <p:sp>
        <p:nvSpPr>
          <p:cNvPr id="9" name="text-5-6">
            <a:extLst xmlns:a="http://schemas.openxmlformats.org/drawingml/2006/main">
              <a:ext uri="{FF2B5EF4-FFF2-40B4-BE49-F238E27FC236}">
                <a16:creationId xmlns:a16="http://schemas.microsoft.com/office/drawing/2014/main" id="{2999CC10-36FE-416A-8FAE-3688E7F2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905500"/>
            <a:ext cx="527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点击运行事件，定位对应积木</a:t>
            </a:r>
          </a:p>
        </p:txBody>
      </p:sp>
    </p:spTree>
    <p:extLst>
      <p:ext uri="{BB962C8B-B14F-4D97-AF65-F5344CB8AC3E}">
        <p14:creationId xmlns:p14="http://schemas.microsoft.com/office/powerpoint/2010/main" val="1069984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-0">
            <a:extLst xmlns:a="http://schemas.openxmlformats.org/drawingml/2006/main">
              <a:ext uri="{FF2B5EF4-FFF2-40B4-BE49-F238E27FC236}">
                <a16:creationId xmlns:a16="http://schemas.microsoft.com/office/drawing/2014/main" id="{6AA01B19-90C5-4AC4-A254-7A03572A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05 / 构建助手</a:t>
            </a:r>
          </a:p>
        </p:txBody>
      </p:sp>
      <p:sp>
        <p:nvSpPr>
          <p:cNvPr id="2" name="text-6-1">
            <a:extLst xmlns:a="http://schemas.openxmlformats.org/drawingml/2006/main">
              <a:ext uri="{FF2B5EF4-FFF2-40B4-BE49-F238E27FC236}">
                <a16:creationId xmlns:a16="http://schemas.microsoft.com/office/drawing/2014/main" id="{E6F37D2C-DC31-4018-9669-67452466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用自然语言，把课程资料变成学习卡</a:t>
            </a:r>
          </a:p>
        </p:txBody>
      </p:sp>
      <p:sp>
        <p:nvSpPr>
          <p:cNvPr id="3" name="text-6-2">
            <a:extLst xmlns:a="http://schemas.openxmlformats.org/drawingml/2006/main">
              <a:ext uri="{FF2B5EF4-FFF2-40B4-BE49-F238E27FC236}">
                <a16:creationId xmlns:a16="http://schemas.microsoft.com/office/drawing/2014/main" id="{0137E8C3-98EA-46B4-9D5A-0DDF0630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真实模型演示 · 读取课程文件 → 生成文件 → 可查看变更与撤回</a:t>
            </a:r>
          </a:p>
        </p:txBody>
      </p:sp>
      <p:sp>
        <p:nvSpPr>
          <p:cNvPr id="4" name="text-6-3">
            <a:extLst xmlns:a="http://schemas.openxmlformats.org/drawingml/2006/main">
              <a:ext uri="{FF2B5EF4-FFF2-40B4-BE49-F238E27FC236}">
                <a16:creationId xmlns:a16="http://schemas.microsoft.com/office/drawing/2014/main" id="{9E7A3BB5-43A7-4C15-9EE1-37D7D916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6-4">
            <a:extLst xmlns:a="http://schemas.openxmlformats.org/drawingml/2006/main">
              <a:ext uri="{FF2B5EF4-FFF2-40B4-BE49-F238E27FC236}">
                <a16:creationId xmlns:a16="http://schemas.microsoft.com/office/drawing/2014/main" id="{99601EA6-060A-48C1-BEDB-1479DC96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6-5">
            <a:extLst xmlns:a="http://schemas.openxmlformats.org/drawingml/2006/main">
              <a:ext uri="{FF2B5EF4-FFF2-40B4-BE49-F238E27FC236}">
                <a16:creationId xmlns:a16="http://schemas.microsoft.com/office/drawing/2014/main" id="{07E3359B-4AF2-4F65-BCD6-CCE30C7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6197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“请整理一张水循环学习卡，</a:t>
            </a:r>
          </a:p>
          <a:p xmlns:a="http://schemas.openxmlformats.org/drawingml/2006/main">
            <a:pPr algn="l">
              <a:def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标明出处，把资料缺少的</a:t>
            </a:r>
          </a:p>
          <a:p xmlns:a="http://schemas.openxmlformats.org/drawingml/2006/main">
            <a:pPr algn="l">
              <a:def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具体降雨量列为待核实。”</a:t>
            </a:r>
          </a:p>
        </p:txBody>
      </p:sp>
      <p:sp>
        <p:nvSpPr>
          <p:cNvPr id="7" name="text-6-6">
            <a:extLst xmlns:a="http://schemas.openxmlformats.org/drawingml/2006/main">
              <a:ext uri="{FF2B5EF4-FFF2-40B4-BE49-F238E27FC236}">
                <a16:creationId xmlns:a16="http://schemas.microsoft.com/office/drawing/2014/main" id="{5EA350F0-1870-4B9F-9B74-B40AE46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已生成：水循环学习卡.md</a:t>
            </a:r>
          </a:p>
        </p:txBody>
      </p:sp>
      <p:sp>
        <p:nvSpPr>
          <p:cNvPr id="8" name="text-6-7">
            <a:extLst xmlns:a="http://schemas.openxmlformats.org/drawingml/2006/main">
              <a:ext uri="{FF2B5EF4-FFF2-40B4-BE49-F238E27FC236}">
                <a16:creationId xmlns:a16="http://schemas.microsoft.com/office/drawing/2014/main" id="{878465BA-CB90-487E-955D-FCE3ECE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用于备课材料创作的辅助流程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61af576574d61"/>
          <ns0:srcRect xmlns:ns0="http://schemas.openxmlformats.org/drawingml/2006/main" l="75500" t="29600" r="1000" b="22000"/>
          <a:stretch xmlns:a="http://schemas.openxmlformats.org/drawingml/2006/main"/>
        </p:blipFill>
        <p:spPr>
          <a:xfrm xmlns:a="http://schemas.openxmlformats.org/drawingml/2006/main">
            <a:off x="7648336" y="2324100"/>
            <a:ext cx="3010378" cy="3876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923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-0">
            <a:extLst xmlns:a="http://schemas.openxmlformats.org/drawingml/2006/main">
              <a:ext uri="{FF2B5EF4-FFF2-40B4-BE49-F238E27FC236}">
                <a16:creationId xmlns:a16="http://schemas.microsoft.com/office/drawing/2014/main" id="{8C6D91AA-6557-448E-8E6A-76A408E3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06 / 竞争位置</a:t>
            </a:r>
          </a:p>
        </p:txBody>
      </p:sp>
      <p:sp>
        <p:nvSpPr>
          <p:cNvPr id="2" name="text-7-1">
            <a:extLst xmlns:a="http://schemas.openxmlformats.org/drawingml/2006/main">
              <a:ext uri="{FF2B5EF4-FFF2-40B4-BE49-F238E27FC236}">
                <a16:creationId xmlns:a16="http://schemas.microsoft.com/office/drawing/2014/main" id="{714C606F-822E-4A07-AE78-125C7E41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免费之外，要证明课堂复用价值</a:t>
            </a:r>
          </a:p>
        </p:txBody>
      </p:sp>
      <p:sp>
        <p:nvSpPr>
          <p:cNvPr id="3" name="text-7-2">
            <a:extLst xmlns:a="http://schemas.openxmlformats.org/drawingml/2006/main">
              <a:ext uri="{FF2B5EF4-FFF2-40B4-BE49-F238E27FC236}">
                <a16:creationId xmlns:a16="http://schemas.microsoft.com/office/drawing/2014/main" id="{EAA11507-3CA9-4B42-BEF5-974C3C91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Scratch 是交互参照；Blocks Builder AI 是直接教育竞品。</a:t>
            </a:r>
          </a:p>
        </p:txBody>
      </p:sp>
      <p:sp>
        <p:nvSpPr>
          <p:cNvPr id="4" name="text-7-3">
            <a:extLst xmlns:a="http://schemas.openxmlformats.org/drawingml/2006/main">
              <a:ext uri="{FF2B5EF4-FFF2-40B4-BE49-F238E27FC236}">
                <a16:creationId xmlns:a16="http://schemas.microsoft.com/office/drawing/2014/main" id="{707276FB-4826-4478-81C7-33F76240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7-4">
            <a:extLst xmlns:a="http://schemas.openxmlformats.org/drawingml/2006/main">
              <a:ext uri="{FF2B5EF4-FFF2-40B4-BE49-F238E27FC236}">
                <a16:creationId xmlns:a16="http://schemas.microsoft.com/office/drawing/2014/main" id="{3092EDF3-28DD-4506-B7F4-9521CC2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190750"/>
                <a:gridCol w="3476625"/>
                <a:gridCol w="5305425"/>
              </a:tblGrid>
              <a:tr h="6357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公开重点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 需要证明的价值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积木创作与学习资源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把创作方式扩展到 AI 任务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 AI；个人免费、机构洽谈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桌面作品、资料与过程的教学价值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Dify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应用构建与教育计划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让课程组织与学生创作更易开展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text-7-5">
            <a:extLst xmlns:a="http://schemas.openxmlformats.org/drawingml/2006/main">
              <a:ext uri="{FF2B5EF4-FFF2-40B4-BE49-F238E27FC236}">
                <a16:creationId xmlns:a16="http://schemas.microsoft.com/office/drawing/2014/main" id="{BDA8481A-4EEE-4C86-9F05-18FDDD0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我们的验证重点：教师能否独立复用一套课程作品。</a:t>
            </a:r>
          </a:p>
        </p:txBody>
      </p:sp>
    </p:spTree>
    <p:extLst>
      <p:ext uri="{BB962C8B-B14F-4D97-AF65-F5344CB8AC3E}">
        <p14:creationId xmlns:p14="http://schemas.microsoft.com/office/powerpoint/2010/main" val="1787189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-0">
            <a:extLst xmlns:a="http://schemas.openxmlformats.org/drawingml/2006/main">
              <a:ext uri="{FF2B5EF4-FFF2-40B4-BE49-F238E27FC236}">
                <a16:creationId xmlns:a16="http://schemas.microsoft.com/office/drawing/2014/main" id="{3D55B6CD-18C6-4AE2-A22D-16A99FE9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07 / 商业模式</a:t>
            </a:r>
          </a:p>
        </p:txBody>
      </p:sp>
      <p:sp>
        <p:nvSpPr>
          <p:cNvPr id="2" name="text-8-1">
            <a:extLst xmlns:a="http://schemas.openxmlformats.org/drawingml/2006/main">
              <a:ext uri="{FF2B5EF4-FFF2-40B4-BE49-F238E27FC236}">
                <a16:creationId xmlns:a16="http://schemas.microsoft.com/office/drawing/2014/main" id="{F7E404D4-9792-48E5-AA28-A9C13D2E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完整软件免费，机构按需求报价</a:t>
            </a:r>
          </a:p>
        </p:txBody>
      </p:sp>
      <p:sp>
        <p:nvSpPr>
          <p:cNvPr id="3" name="text-8-2">
            <a:extLst xmlns:a="http://schemas.openxmlformats.org/drawingml/2006/main">
              <a:ext uri="{FF2B5EF4-FFF2-40B4-BE49-F238E27FC236}">
                <a16:creationId xmlns:a16="http://schemas.microsoft.com/office/drawing/2014/main" id="{B68321A8-5D6D-4D19-90C8-AE603BC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学生使用，教师组织，学校与教育机构购买约定服务。</a:t>
            </a:r>
          </a:p>
        </p:txBody>
      </p:sp>
      <p:sp>
        <p:nvSpPr>
          <p:cNvPr id="4" name="text-8-3">
            <a:extLst xmlns:a="http://schemas.openxmlformats.org/drawingml/2006/main">
              <a:ext uri="{FF2B5EF4-FFF2-40B4-BE49-F238E27FC236}">
                <a16:creationId xmlns:a16="http://schemas.microsoft.com/office/drawing/2014/main" id="{BB7EB4A6-316C-403E-A081-27D3BC1F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8-4">
            <a:extLst xmlns:a="http://schemas.openxmlformats.org/drawingml/2006/main">
              <a:ext uri="{FF2B5EF4-FFF2-40B4-BE49-F238E27FC236}">
                <a16:creationId xmlns:a16="http://schemas.microsoft.com/office/drawing/2014/main" id="{305AE8F5-ECCD-4F79-A2AB-E3C021B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text-8-5">
            <a:extLst xmlns:a="http://schemas.openxmlformats.org/drawingml/2006/main">
              <a:ext uri="{FF2B5EF4-FFF2-40B4-BE49-F238E27FC236}">
                <a16:creationId xmlns:a16="http://schemas.microsoft.com/office/drawing/2014/main" id="{AD975C8E-6248-4DC1-840E-3B6620D7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431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完整功能免费</a:t>
            </a:r>
          </a:p>
        </p:txBody>
      </p:sp>
      <p:sp>
        <p:nvSpPr>
          <p:cNvPr id="7" name="text-8-6">
            <a:extLst xmlns:a="http://schemas.openxmlformats.org/drawingml/2006/main">
              <a:ext uri="{FF2B5EF4-FFF2-40B4-BE49-F238E27FC236}">
                <a16:creationId xmlns:a16="http://schemas.microsoft.com/office/drawing/2014/main" id="{CDD56FAD-42DF-46CE-9A6F-2925072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431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机构联系报价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45a6e71a74ff1"/>
          <ns0:srcRect xmlns:ns0="http://schemas.openxmlformats.org/drawingml/2006/main" l="0" t="28000" r="0" b="13500"/>
          <a:stretch xmlns:a="http://schemas.openxmlformats.org/drawingml/2006/main"/>
        </p:blipFill>
        <p:spPr>
          <a:xfrm xmlns:a="http://schemas.openxmlformats.org/drawingml/2006/main">
            <a:off x="2262710" y="3190875"/>
            <a:ext cx="7666579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text-8-7">
            <a:extLst xmlns:a="http://schemas.openxmlformats.org/drawingml/2006/main">
              <a:ext uri="{FF2B5EF4-FFF2-40B4-BE49-F238E27FC236}">
                <a16:creationId xmlns:a16="http://schemas.microsoft.com/office/drawing/2014/main" id="{7968563E-60BE-43A2-9D8F-FA756990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753100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外部模型费用按约承担</a:t>
            </a:r>
          </a:p>
        </p:txBody>
      </p:sp>
      <p:sp>
        <p:nvSpPr>
          <p:cNvPr id="10" name="text-8-8">
            <a:extLst xmlns:a="http://schemas.openxmlformats.org/drawingml/2006/main">
              <a:ext uri="{FF2B5EF4-FFF2-40B4-BE49-F238E27FC236}">
                <a16:creationId xmlns:a16="http://schemas.microsoft.com/office/drawing/2014/main" id="{A5C98E61-90E8-4AF9-86DF-772BE2D9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753100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课程、部署、培训与支持</a:t>
            </a:r>
          </a:p>
        </p:txBody>
      </p:sp>
      <p:sp>
        <p:nvSpPr>
          <p:cNvPr id="11" name="text-8-9">
            <a:extLst xmlns:a="http://schemas.openxmlformats.org/drawingml/2006/main">
              <a:ext uri="{FF2B5EF4-FFF2-40B4-BE49-F238E27FC236}">
                <a16:creationId xmlns:a16="http://schemas.microsoft.com/office/drawing/2014/main" id="{1FA39A97-C461-44A9-B4F5-2CBFBCA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69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机构账户、额度管理与计费尚待建设；早期服务只承诺当前可交付范围。</a:t>
            </a:r>
          </a:p>
        </p:txBody>
      </p:sp>
    </p:spTree>
    <p:extLst>
      <p:ext uri="{BB962C8B-B14F-4D97-AF65-F5344CB8AC3E}">
        <p14:creationId xmlns:p14="http://schemas.microsoft.com/office/powerpoint/2010/main" val="4740224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-0">
            <a:extLst xmlns:a="http://schemas.openxmlformats.org/drawingml/2006/main">
              <a:ext uri="{FF2B5EF4-FFF2-40B4-BE49-F238E27FC236}">
                <a16:creationId xmlns:a16="http://schemas.microsoft.com/office/drawing/2014/main" id="{3918F748-BCD8-476C-B9D5-61F8F5E0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08 / 验证计划</a:t>
            </a:r>
          </a:p>
        </p:txBody>
      </p:sp>
      <p:sp>
        <p:nvSpPr>
          <p:cNvPr id="2" name="text-9-1">
            <a:extLst xmlns:a="http://schemas.openxmlformats.org/drawingml/2006/main">
              <a:ext uri="{FF2B5EF4-FFF2-40B4-BE49-F238E27FC236}">
                <a16:creationId xmlns:a16="http://schemas.microsoft.com/office/drawing/2014/main" id="{4F6FAA39-AC7B-49FF-A47A-3B44C2F6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先验证一套课程，再扩大机构服务</a:t>
            </a:r>
          </a:p>
        </p:txBody>
      </p:sp>
      <p:sp>
        <p:nvSpPr>
          <p:cNvPr id="3" name="text-9-2">
            <a:extLst xmlns:a="http://schemas.openxmlformats.org/drawingml/2006/main">
              <a:ext uri="{FF2B5EF4-FFF2-40B4-BE49-F238E27FC236}">
                <a16:creationId xmlns:a16="http://schemas.microsoft.com/office/drawing/2014/main" id="{E4AC2735-D341-4119-9D68-1620DF80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未来90天的目标；目前没有确认的学校合同或课堂效果数据。</a:t>
            </a:r>
          </a:p>
        </p:txBody>
      </p:sp>
      <p:sp>
        <p:nvSpPr>
          <p:cNvPr id="4" name="text-9-3">
            <a:extLst xmlns:a="http://schemas.openxmlformats.org/drawingml/2006/main">
              <a:ext uri="{FF2B5EF4-FFF2-40B4-BE49-F238E27FC236}">
                <a16:creationId xmlns:a16="http://schemas.microsoft.com/office/drawing/2014/main" id="{4CD8496C-58EB-4534-89D2-45D1DA8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9-4">
            <a:extLst xmlns:a="http://schemas.openxmlformats.org/drawingml/2006/main">
              <a:ext uri="{FF2B5EF4-FFF2-40B4-BE49-F238E27FC236}">
                <a16:creationId xmlns:a16="http://schemas.microsoft.com/office/drawing/2014/main" id="{17D51920-A9A3-4125-A4B4-D65A194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2063126af4fcb"/>
          <ns0:srcRect xmlns:ns0="http://schemas.openxmlformats.org/drawingml/2006/main" l="0" t="38800" r="0" b="6700"/>
          <a:stretch xmlns:a="http://schemas.openxmlformats.org/drawingml/2006/main"/>
        </p:blipFill>
        <p:spPr>
          <a:xfrm xmlns:a="http://schemas.openxmlformats.org/drawingml/2006/main">
            <a:off x="1872680" y="2514600"/>
            <a:ext cx="8446641" cy="2590800"/>
          </a:xfrm>
          <a:prstGeom xmlns:a="http://schemas.openxmlformats.org/drawingml/2006/main" prst="rect">
            <a:avLst/>
          </a:prstGeom>
        </p:spPr>
      </p:pic>
      <p:sp>
        <p:nvSpPr>
          <p:cNvPr id="7" name="text-9-5">
            <a:extLst xmlns:a="http://schemas.openxmlformats.org/drawingml/2006/main">
              <a:ext uri="{FF2B5EF4-FFF2-40B4-BE49-F238E27FC236}">
                <a16:creationId xmlns:a16="http://schemas.microsoft.com/office/drawing/2014/main" id="{0B2FEFD1-AE64-49E3-89B9-F9753C6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266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10次</a:t>
            </a:r>
          </a:p>
        </p:txBody>
      </p:sp>
      <p:sp>
        <p:nvSpPr>
          <p:cNvPr id="8" name="text-9-6">
            <a:extLst xmlns:a="http://schemas.openxmlformats.org/drawingml/2006/main">
              <a:ext uri="{FF2B5EF4-FFF2-40B4-BE49-F238E27FC236}">
                <a16:creationId xmlns:a16="http://schemas.microsoft.com/office/drawing/2014/main" id="{50DE59A7-288F-4647-A40B-BF8EA01D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721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教师访谈</a:t>
            </a:r>
          </a:p>
        </p:txBody>
      </p:sp>
      <p:sp>
        <p:nvSpPr>
          <p:cNvPr id="9" name="text-9-7">
            <a:extLst xmlns:a="http://schemas.openxmlformats.org/drawingml/2006/main">
              <a:ext uri="{FF2B5EF4-FFF2-40B4-BE49-F238E27FC236}">
                <a16:creationId xmlns:a16="http://schemas.microsoft.com/office/drawing/2014/main" id="{83CF76F7-0FEC-4541-9A4F-DC2A0EE8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72075"/>
            <a:ext cx="266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2次</a:t>
            </a:r>
          </a:p>
        </p:txBody>
      </p:sp>
      <p:sp>
        <p:nvSpPr>
          <p:cNvPr id="10" name="text-9-8">
            <a:extLst xmlns:a="http://schemas.openxmlformats.org/drawingml/2006/main">
              <a:ext uri="{FF2B5EF4-FFF2-40B4-BE49-F238E27FC236}">
                <a16:creationId xmlns:a16="http://schemas.microsoft.com/office/drawing/2014/main" id="{CE8D1DB5-3D2E-43B9-8414-405DF6C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721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完整课程试用</a:t>
            </a:r>
          </a:p>
        </p:txBody>
      </p:sp>
      <p:sp>
        <p:nvSpPr>
          <p:cNvPr id="11" name="text-9-9">
            <a:extLst xmlns:a="http://schemas.openxmlformats.org/drawingml/2006/main">
              <a:ext uri="{FF2B5EF4-FFF2-40B4-BE49-F238E27FC236}">
                <a16:creationId xmlns:a16="http://schemas.microsoft.com/office/drawing/2014/main" id="{B4D55F42-5649-48B1-A112-4A36955A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266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1位</a:t>
            </a:r>
          </a:p>
        </p:txBody>
      </p:sp>
      <p:sp>
        <p:nvSpPr>
          <p:cNvPr id="12" name="text-9-10">
            <a:extLst xmlns:a="http://schemas.openxmlformats.org/drawingml/2006/main">
              <a:ext uri="{FF2B5EF4-FFF2-40B4-BE49-F238E27FC236}">
                <a16:creationId xmlns:a16="http://schemas.microsoft.com/office/drawing/2014/main" id="{3F8A8FE5-A895-414F-BB13-FA365C0B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教师独立复用</a:t>
            </a:r>
          </a:p>
        </p:txBody>
      </p:sp>
      <p:sp>
        <p:nvSpPr>
          <p:cNvPr id="13" name="text-9-11">
            <a:extLst xmlns:a="http://schemas.openxmlformats.org/drawingml/2006/main">
              <a:ext uri="{FF2B5EF4-FFF2-40B4-BE49-F238E27FC236}">
                <a16:creationId xmlns:a16="http://schemas.microsoft.com/office/drawing/2014/main" id="{44829996-6CE8-48E4-A687-2AA46DA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007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两轮仍无法复用，就收缩场景与投入。</a:t>
            </a:r>
          </a:p>
        </p:txBody>
      </p:sp>
    </p:spTree>
    <p:extLst>
      <p:ext uri="{BB962C8B-B14F-4D97-AF65-F5344CB8AC3E}">
        <p14:creationId xmlns:p14="http://schemas.microsoft.com/office/powerpoint/2010/main" val="905382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0-0">
            <a:extLst xmlns:a="http://schemas.openxmlformats.org/drawingml/2006/main">
              <a:ext uri="{FF2B5EF4-FFF2-40B4-BE49-F238E27FC236}">
                <a16:creationId xmlns:a16="http://schemas.microsoft.com/office/drawing/2014/main" id="{A25C064B-8071-4A96-A472-5EB68AD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09 / 经营测算</a:t>
            </a:r>
          </a:p>
        </p:txBody>
      </p:sp>
      <p:sp>
        <p:nvSpPr>
          <p:cNvPr id="2" name="text-10-1">
            <a:extLst xmlns:a="http://schemas.openxmlformats.org/drawingml/2006/main">
              <a:ext uri="{FF2B5EF4-FFF2-40B4-BE49-F238E27FC236}">
                <a16:creationId xmlns:a16="http://schemas.microsoft.com/office/drawing/2014/main" id="{F3764E90-10E7-4F25-B18F-C42D0AC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基准情景前两年亏损，先控制现金</a:t>
            </a:r>
          </a:p>
        </p:txBody>
      </p:sp>
      <p:sp>
        <p:nvSpPr>
          <p:cNvPr id="3" name="text-10-2">
            <a:extLst xmlns:a="http://schemas.openxmlformats.org/drawingml/2006/main">
              <a:ext uri="{FF2B5EF4-FFF2-40B4-BE49-F238E27FC236}">
                <a16:creationId xmlns:a16="http://schemas.microsoft.com/office/drawing/2014/main" id="{0C56ED07-D294-49E6-B92C-F370460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2027–2029规划假设 · 人民币万元 · 尚无实际合同、收入或资金承诺</a:t>
            </a:r>
          </a:p>
        </p:txBody>
      </p:sp>
      <p:sp>
        <p:nvSpPr>
          <p:cNvPr id="4" name="text-10-3">
            <a:extLst xmlns:a="http://schemas.openxmlformats.org/drawingml/2006/main">
              <a:ext uri="{FF2B5EF4-FFF2-40B4-BE49-F238E27FC236}">
                <a16:creationId xmlns:a16="http://schemas.microsoft.com/office/drawing/2014/main" id="{C30FC17A-67F4-42DE-8342-228305E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0-4">
            <a:extLst xmlns:a="http://schemas.openxmlformats.org/drawingml/2006/main">
              <a:ext uri="{FF2B5EF4-FFF2-40B4-BE49-F238E27FC236}">
                <a16:creationId xmlns:a16="http://schemas.microsoft.com/office/drawing/2014/main" id="{F4F6308D-82D6-4E10-B93B-179B1F1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438400"/>
          <a:ext xmlns:a="http://schemas.openxmlformats.org/drawingml/2006/main" cx="74485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8fccf160b645c2"/>
          </a:graphicData>
        </a:graphic>
      </p:graphicFrame>
      <p:sp>
        <p:nvSpPr>
          <p:cNvPr id="7" name="text-10-5">
            <a:extLst xmlns:a="http://schemas.openxmlformats.org/drawingml/2006/main">
              <a:ext uri="{FF2B5EF4-FFF2-40B4-BE49-F238E27FC236}">
                <a16:creationId xmlns:a16="http://schemas.microsoft.com/office/drawing/2014/main" id="{4C46FAA5-0FC5-405A-96F9-8530568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10.30万元</a:t>
            </a:r>
          </a:p>
        </p:txBody>
      </p:sp>
      <p:sp>
        <p:nvSpPr>
          <p:cNvPr id="8" name="text-10-6">
            <a:extLst xmlns:a="http://schemas.openxmlformats.org/drawingml/2006/main">
              <a:ext uri="{FF2B5EF4-FFF2-40B4-BE49-F238E27FC236}">
                <a16:creationId xmlns:a16="http://schemas.microsoft.com/office/drawing/2014/main" id="{F1C04A23-8572-422E-9AB1-C2DC75A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基准追加资金预算</a:t>
            </a:r>
          </a:p>
        </p:txBody>
      </p:sp>
      <p:sp>
        <p:nvSpPr>
          <p:cNvPr id="9" name="text-10-7">
            <a:extLst xmlns:a="http://schemas.openxmlformats.org/drawingml/2006/main">
              <a:ext uri="{FF2B5EF4-FFF2-40B4-BE49-F238E27FC236}">
                <a16:creationId xmlns:a16="http://schemas.microsoft.com/office/drawing/2014/main" id="{C3A36770-F796-494D-BDDC-8B6FF1B7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809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峰值缺口 8.30万</a:t>
            </a:r>
          </a:p>
          <a:p xmlns:a="http://schemas.openxmlformats.org/drawingml/2006/main">
            <a:pPr algn="l">
              <a:def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最低储备 2.00万</a:t>
            </a:r>
          </a:p>
        </p:txBody>
      </p:sp>
      <p:sp>
        <p:nvSpPr>
          <p:cNvPr id="10" name="text-10-8">
            <a:extLst xmlns:a="http://schemas.openxmlformats.org/drawingml/2006/main">
              <a:ext uri="{FF2B5EF4-FFF2-40B4-BE49-F238E27FC236}">
                <a16:creationId xmlns:a16="http://schemas.microsoft.com/office/drawing/2014/main" id="{F10F8707-C284-4ED1-9B07-41F0A6D1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944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合同目标：4 / 10 / 18 份；每份均价 1.8 万元为假设。</a:t>
            </a:r>
          </a:p>
        </p:txBody>
      </p:sp>
      <p:sp>
        <p:nvSpPr>
          <p:cNvPr id="11" name="text-10-9">
            <a:extLst xmlns:a="http://schemas.openxmlformats.org/drawingml/2006/main">
              <a:ext uri="{FF2B5EF4-FFF2-40B4-BE49-F238E27FC236}">
                <a16:creationId xmlns:a16="http://schemas.microsoft.com/office/drawing/2014/main" id="{BB6CCD44-6401-4862-83E0-BDBC137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944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2029单年转正，三年累计仍亏1.472万元。</a:t>
            </a:r>
          </a:p>
        </p:txBody>
      </p:sp>
    </p:spTree>
    <p:extLst>
      <p:ext uri="{BB962C8B-B14F-4D97-AF65-F5344CB8AC3E}">
        <p14:creationId xmlns:p14="http://schemas.microsoft.com/office/powerpoint/2010/main" val="520356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1-0">
            <a:extLst xmlns:a="http://schemas.openxmlformats.org/drawingml/2006/main">
              <a:ext uri="{FF2B5EF4-FFF2-40B4-BE49-F238E27FC236}">
                <a16:creationId xmlns:a16="http://schemas.microsoft.com/office/drawing/2014/main" id="{2288F2BD-3F03-4034-84B4-5D5F5FA1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10 / 执行安排</a:t>
            </a:r>
          </a:p>
        </p:txBody>
      </p:sp>
      <p:sp>
        <p:nvSpPr>
          <p:cNvPr id="2" name="text-11-1">
            <a:extLst xmlns:a="http://schemas.openxmlformats.org/drawingml/2006/main">
              <a:ext uri="{FF2B5EF4-FFF2-40B4-BE49-F238E27FC236}">
                <a16:creationId xmlns:a16="http://schemas.microsoft.com/office/drawing/2014/main" id="{56434195-D469-4C7A-AFAD-DCBC04D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两人团队，先把职责与交付做实</a:t>
            </a:r>
          </a:p>
        </p:txBody>
      </p:sp>
      <p:sp>
        <p:nvSpPr>
          <p:cNvPr id="3" name="text-11-2">
            <a:extLst xmlns:a="http://schemas.openxmlformats.org/drawingml/2006/main">
              <a:ext uri="{FF2B5EF4-FFF2-40B4-BE49-F238E27FC236}">
                <a16:creationId xmlns:a16="http://schemas.microsoft.com/office/drawing/2014/main" id="{968773B8-CADB-4405-A751-261BC55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正式分工与可投入时长在首个机构合作前确认。</a:t>
            </a:r>
          </a:p>
        </p:txBody>
      </p:sp>
      <p:sp>
        <p:nvSpPr>
          <p:cNvPr id="4" name="text-11-3">
            <a:extLst xmlns:a="http://schemas.openxmlformats.org/drawingml/2006/main">
              <a:ext uri="{FF2B5EF4-FFF2-40B4-BE49-F238E27FC236}">
                <a16:creationId xmlns:a16="http://schemas.microsoft.com/office/drawing/2014/main" id="{966CE8F8-FEF8-483C-9C00-536B96A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1-4">
            <a:extLst xmlns:a="http://schemas.openxmlformats.org/drawingml/2006/main">
              <a:ext uri="{FF2B5EF4-FFF2-40B4-BE49-F238E27FC236}">
                <a16:creationId xmlns:a16="http://schemas.microsoft.com/office/drawing/2014/main" id="{F2FE0F2B-98A6-4D41-9983-9C6018C3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11-5">
            <a:extLst xmlns:a="http://schemas.openxmlformats.org/drawingml/2006/main">
              <a:ext uri="{FF2B5EF4-FFF2-40B4-BE49-F238E27FC236}">
                <a16:creationId xmlns:a16="http://schemas.microsoft.com/office/drawing/2014/main" id="{9DAAC072-0FC6-43FC-9A34-3A00CB53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产品技术</a:t>
            </a:r>
          </a:p>
        </p:txBody>
      </p:sp>
      <p:sp>
        <p:nvSpPr>
          <p:cNvPr id="7" name="text-11-6">
            <a:extLst xmlns:a="http://schemas.openxmlformats.org/drawingml/2006/main">
              <a:ext uri="{FF2B5EF4-FFF2-40B4-BE49-F238E27FC236}">
                <a16:creationId xmlns:a16="http://schemas.microsoft.com/office/drawing/2014/main" id="{57FAE24D-235B-4F8B-8046-619A2BE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4762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产品维护与项目恢复</a:t>
            </a:r>
          </a:p>
          <a:p xmlns:a="http://schemas.openxmlformats.org/drawingml/2006/main">
            <a:pPr algn="l">
              <a:def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安装、模型配置与问题定位</a:t>
            </a:r>
          </a:p>
        </p:txBody>
      </p:sp>
      <p:sp>
        <p:nvSpPr>
          <p:cNvPr id="8" name="text-11-7">
            <a:extLst xmlns:a="http://schemas.openxmlformats.org/drawingml/2006/main">
              <a:ext uri="{FF2B5EF4-FFF2-40B4-BE49-F238E27FC236}">
                <a16:creationId xmlns:a16="http://schemas.microsoft.com/office/drawing/2014/main" id="{3A2DE793-0290-4BA9-AEA2-861BBC70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教学运营</a:t>
            </a:r>
          </a:p>
        </p:txBody>
      </p:sp>
      <p:sp>
        <p:nvSpPr>
          <p:cNvPr id="9" name="text-11-8">
            <a:extLst xmlns:a="http://schemas.openxmlformats.org/drawingml/2006/main">
              <a:ext uri="{FF2B5EF4-FFF2-40B4-BE49-F238E27FC236}">
                <a16:creationId xmlns:a16="http://schemas.microsoft.com/office/drawing/2014/main" id="{904F19E0-DE23-48D6-9F08-67B53DA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教师访谈与课程组织</a:t>
            </a:r>
          </a:p>
          <a:p xmlns:a="http://schemas.openxmlformats.org/drawingml/2006/main">
            <a:pPr algn="l">
              <a:def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报价、回访与工时记录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14ac7da6e4fb1"/>
          <ns0:srcRect xmlns:ns0="http://schemas.openxmlformats.org/drawingml/2006/main" l="39300" t="7500" r="0" b="6800"/>
          <a:stretch xmlns:a="http://schemas.openxmlformats.org/drawingml/2006/main"/>
        </p:blipFill>
        <p:spPr>
          <a:xfrm xmlns:a="http://schemas.openxmlformats.org/drawingml/2006/main">
            <a:off x="6395259" y="2447925"/>
            <a:ext cx="4459256" cy="3543300"/>
          </a:xfrm>
          <a:prstGeom xmlns:a="http://schemas.openxmlformats.org/drawingml/2006/main" prst="rect">
            <a:avLst/>
          </a:prstGeom>
        </p:spPr>
      </p:pic>
      <p:sp>
        <p:nvSpPr>
          <p:cNvPr id="11" name="text-11-9">
            <a:extLst xmlns:a="http://schemas.openxmlformats.org/drawingml/2006/main">
              <a:ext uri="{FF2B5EF4-FFF2-40B4-BE49-F238E27FC236}">
                <a16:creationId xmlns:a16="http://schemas.microsoft.com/office/drawing/2014/main" id="{99156210-D450-46E9-8B44-625FE8A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82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当前需要：课程组织者、试用反馈、采购与合同指导。</a:t>
            </a:r>
          </a:p>
        </p:txBody>
      </p:sp>
    </p:spTree>
    <p:extLst>
      <p:ext uri="{BB962C8B-B14F-4D97-AF65-F5344CB8AC3E}">
        <p14:creationId xmlns:p14="http://schemas.microsoft.com/office/powerpoint/2010/main" val="1245514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36715052c4aa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2-0">
            <a:extLst xmlns:a="http://schemas.openxmlformats.org/drawingml/2006/main">
              <a:ext uri="{FF2B5EF4-FFF2-40B4-BE49-F238E27FC236}">
                <a16:creationId xmlns:a16="http://schemas.microsoft.com/office/drawing/2014/main" id="{78CDDC9F-42B4-42E5-84D1-F88A08C4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rPr>
              <a:t>11 / 下一步</a:t>
            </a:r>
          </a:p>
        </p:txBody>
      </p:sp>
      <p:sp>
        <p:nvSpPr>
          <p:cNvPr id="3" name="text-12-1">
            <a:extLst xmlns:a="http://schemas.openxmlformats.org/drawingml/2006/main">
              <a:ext uri="{FF2B5EF4-FFF2-40B4-BE49-F238E27FC236}">
                <a16:creationId xmlns:a16="http://schemas.microsoft.com/office/drawing/2014/main" id="{E3DD6A96-F6A0-447E-BA82-EDC51354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让一位教师，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带学生完成一件作品</a:t>
            </a:r>
          </a:p>
        </p:txBody>
      </p:sp>
      <p:sp>
        <p:nvSpPr>
          <p:cNvPr id="4" name="text-12-2">
            <a:extLst xmlns:a="http://schemas.openxmlformats.org/drawingml/2006/main">
              <a:ext uri="{FF2B5EF4-FFF2-40B4-BE49-F238E27FC236}">
                <a16:creationId xmlns:a16="http://schemas.microsoft.com/office/drawing/2014/main" id="{4B2DF0CC-390D-432C-8A80-E3360919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2-3">
            <a:extLst xmlns:a="http://schemas.openxmlformats.org/drawingml/2006/main">
              <a:ext uri="{FF2B5EF4-FFF2-40B4-BE49-F238E27FC236}">
                <a16:creationId xmlns:a16="http://schemas.microsoft.com/office/drawing/2014/main" id="{A93F882F-BE03-42F0-810F-EB09AE38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text-12-4">
            <a:extLst xmlns:a="http://schemas.openxmlformats.org/drawingml/2006/main">
              <a:ext uri="{FF2B5EF4-FFF2-40B4-BE49-F238E27FC236}">
                <a16:creationId xmlns:a16="http://schemas.microsoft.com/office/drawing/2014/main" id="{8B8A9845-7D67-4C2C-A489-2750C84D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8102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从资料到作品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从结果到过程</a:t>
            </a:r>
          </a:p>
        </p:txBody>
      </p:sp>
      <p:sp>
        <p:nvSpPr>
          <p:cNvPr id="7" name="text-12-5">
            <a:extLst xmlns:a="http://schemas.openxmlformats.org/drawingml/2006/main">
              <a:ext uri="{FF2B5EF4-FFF2-40B4-BE49-F238E27FC236}">
                <a16:creationId xmlns:a16="http://schemas.microsoft.com/office/drawing/2014/main" id="{D3064A31-F24C-40DD-A35F-139E5C1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91075"/>
            <a:ext cx="542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rPr>
              <a:t>希望获得课程试点</a:t>
            </a:r>
          </a:p>
          <a:p xmlns:a="http://schemas.openxmlformats.org/drawingml/2006/main">
            <a:pPr algn="l">
              <a:defRPr sz="2400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rPr>
              <a:t>与教师指导</a:t>
            </a:r>
          </a:p>
        </p:txBody>
      </p:sp>
      <p:sp>
        <p:nvSpPr>
          <p:cNvPr id="8" name="text-12-6">
            <a:extLst xmlns:a="http://schemas.openxmlformats.org/drawingml/2006/main">
              <a:ext uri="{FF2B5EF4-FFF2-40B4-BE49-F238E27FC236}">
                <a16:creationId xmlns:a16="http://schemas.microsoft.com/office/drawing/2014/main" id="{61B023F8-61C2-40B8-97ED-455BFA92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rPr>
              <a:t>先验证独立复用，再决定扩展。</a:t>
            </a:r>
          </a:p>
        </p:txBody>
      </p:sp>
    </p:spTree>
    <p:extLst>
      <p:ext uri="{BB962C8B-B14F-4D97-AF65-F5344CB8AC3E}">
        <p14:creationId xmlns:p14="http://schemas.microsoft.com/office/powerpoint/2010/main" val="17719635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3-0">
            <a:extLst xmlns:a="http://schemas.openxmlformats.org/drawingml/2006/main">
              <a:ext uri="{FF2B5EF4-FFF2-40B4-BE49-F238E27FC236}">
                <a16:creationId xmlns:a16="http://schemas.microsoft.com/office/drawing/2014/main" id="{FE130DC6-6091-45F5-8670-CCF8A0E5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能力边界</a:t>
            </a:r>
          </a:p>
        </p:txBody>
      </p:sp>
      <p:sp>
        <p:nvSpPr>
          <p:cNvPr id="2" name="text-13-1">
            <a:extLst xmlns:a="http://schemas.openxmlformats.org/drawingml/2006/main">
              <a:ext uri="{FF2B5EF4-FFF2-40B4-BE49-F238E27FC236}">
                <a16:creationId xmlns:a16="http://schemas.microsoft.com/office/drawing/2014/main" id="{9F67C625-345B-4878-B6F1-C1E8CC21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当前能演示什么，接下来验证什么</a:t>
            </a:r>
          </a:p>
        </p:txBody>
      </p:sp>
      <p:sp>
        <p:nvSpPr>
          <p:cNvPr id="3" name="text-13-2">
            <a:extLst xmlns:a="http://schemas.openxmlformats.org/drawingml/2006/main">
              <a:ext uri="{FF2B5EF4-FFF2-40B4-BE49-F238E27FC236}">
                <a16:creationId xmlns:a16="http://schemas.microsoft.com/office/drawing/2014/main" id="{438CEB20-0A8E-460A-959D-FD5E3E8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产品工程、教学效果与商业落地分别判断。</a:t>
            </a:r>
          </a:p>
        </p:txBody>
      </p:sp>
      <p:sp>
        <p:nvSpPr>
          <p:cNvPr id="4" name="text-13-3">
            <a:extLst xmlns:a="http://schemas.openxmlformats.org/drawingml/2006/main">
              <a:ext uri="{FF2B5EF4-FFF2-40B4-BE49-F238E27FC236}">
                <a16:creationId xmlns:a16="http://schemas.microsoft.com/office/drawing/2014/main" id="{271F3A45-123C-4D3A-94A0-EF759AB4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3-4">
            <a:extLst xmlns:a="http://schemas.openxmlformats.org/drawingml/2006/main">
              <a:ext uri="{FF2B5EF4-FFF2-40B4-BE49-F238E27FC236}">
                <a16:creationId xmlns:a16="http://schemas.microsoft.com/office/drawing/2014/main" id="{BF9FC8BE-A834-4435-B1E6-B95DD0AA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124075"/>
                <a:gridCol w="4362450"/>
                <a:gridCol w="4486275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创作与资料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Windows积木、多画布、资料引用与轨迹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围绕同一课程降低教师准备成本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自然语言助手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实际读取资料并生成可撤回文件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验证教师材料复用与检查流程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机构运营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账户、额度、计费尚待建设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由试点共同需求决定开发顺序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课堂与业务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没有确认课堂效果与机构合同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真实试用、报价反馈与回款记录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4793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-0">
            <a:extLst xmlns:a="http://schemas.openxmlformats.org/drawingml/2006/main">
              <a:ext uri="{FF2B5EF4-FFF2-40B4-BE49-F238E27FC236}">
                <a16:creationId xmlns:a16="http://schemas.microsoft.com/office/drawing/2014/main" id="{A4339ED7-21B4-4BF2-B909-A38907E5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成本与情景</a:t>
            </a:r>
          </a:p>
        </p:txBody>
      </p:sp>
      <p:sp>
        <p:nvSpPr>
          <p:cNvPr id="2" name="text-14-1">
            <a:extLst xmlns:a="http://schemas.openxmlformats.org/drawingml/2006/main">
              <a:ext uri="{FF2B5EF4-FFF2-40B4-BE49-F238E27FC236}">
                <a16:creationId xmlns:a16="http://schemas.microsoft.com/office/drawing/2014/main" id="{707B09AE-E199-4AED-B712-7092FFCD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合同量和支持成本，比市场大数字更关键</a:t>
            </a:r>
          </a:p>
        </p:txBody>
      </p:sp>
      <p:sp>
        <p:nvSpPr>
          <p:cNvPr id="3" name="text-14-2">
            <a:extLst xmlns:a="http://schemas.openxmlformats.org/drawingml/2006/main">
              <a:ext uri="{FF2B5EF4-FFF2-40B4-BE49-F238E27FC236}">
                <a16:creationId xmlns:a16="http://schemas.microsoft.com/office/drawing/2014/main" id="{8DCD6FFC-C764-4C14-9B2F-C75FCB6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全部为规划情景，非客户报价或已实现业绩。</a:t>
            </a:r>
          </a:p>
        </p:txBody>
      </p:sp>
      <p:sp>
        <p:nvSpPr>
          <p:cNvPr id="4" name="text-14-3">
            <a:extLst xmlns:a="http://schemas.openxmlformats.org/drawingml/2006/main">
              <a:ext uri="{FF2B5EF4-FFF2-40B4-BE49-F238E27FC236}">
                <a16:creationId xmlns:a16="http://schemas.microsoft.com/office/drawing/2014/main" id="{2EB03102-65FC-4D39-8501-FC8D766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4-4">
            <a:extLst xmlns:a="http://schemas.openxmlformats.org/drawingml/2006/main">
              <a:ext uri="{FF2B5EF4-FFF2-40B4-BE49-F238E27FC236}">
                <a16:creationId xmlns:a16="http://schemas.microsoft.com/office/drawing/2014/main" id="{D86558D9-F11E-4347-B7EA-205ACFF5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562225"/>
          <a:ext xmlns:a="http://schemas.openxmlformats.org/drawingml/2006/main" cx="10972800" cy="23050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1905000"/>
                <a:gridCol w="3095625"/>
                <a:gridCol w="3095625"/>
                <a:gridCol w="2876550"/>
              </a:tblGrid>
              <a:tr h="576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三年收入（万元）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三年损益（万元）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追加资金（万元）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悲观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-27.840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28.110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57.60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-1.472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积极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96.80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18.044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7.543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text-14-5">
            <a:extLst xmlns:a="http://schemas.openxmlformats.org/drawingml/2006/main">
              <a:ext uri="{FF2B5EF4-FFF2-40B4-BE49-F238E27FC236}">
                <a16:creationId xmlns:a16="http://schemas.microsoft.com/office/drawing/2014/main" id="{9358E567-B699-4757-87F7-E1BB159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10896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基准单份：1.8万元收入，80小时交付，1400元模型额度预算。</a:t>
            </a:r>
          </a:p>
        </p:txBody>
      </p:sp>
      <p:sp>
        <p:nvSpPr>
          <p:cNvPr id="8" name="text-14-6">
            <a:extLst xmlns:a="http://schemas.openxmlformats.org/drawingml/2006/main">
              <a:ext uri="{FF2B5EF4-FFF2-40B4-BE49-F238E27FC236}">
                <a16:creationId xmlns:a16="http://schemas.microsoft.com/office/drawing/2014/main" id="{DE7A171A-54DF-441E-82D4-F8D38FB2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低迷情景不能只补基准资金；必须收缩费用、调整任务或暂停扩张。</a:t>
            </a:r>
          </a:p>
        </p:txBody>
      </p:sp>
    </p:spTree>
    <p:extLst>
      <p:ext uri="{BB962C8B-B14F-4D97-AF65-F5344CB8AC3E}">
        <p14:creationId xmlns:p14="http://schemas.microsoft.com/office/powerpoint/2010/main" val="11554378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5-0">
            <a:extLst xmlns:a="http://schemas.openxmlformats.org/drawingml/2006/main">
              <a:ext uri="{FF2B5EF4-FFF2-40B4-BE49-F238E27FC236}">
                <a16:creationId xmlns:a16="http://schemas.microsoft.com/office/drawing/2014/main" id="{73AE7278-155A-4EE0-8F16-B0D4821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评委追问</a:t>
            </a:r>
          </a:p>
        </p:txBody>
      </p:sp>
      <p:sp>
        <p:nvSpPr>
          <p:cNvPr id="2" name="text-15-1">
            <a:extLst xmlns:a="http://schemas.openxmlformats.org/drawingml/2006/main">
              <a:ext uri="{FF2B5EF4-FFF2-40B4-BE49-F238E27FC236}">
                <a16:creationId xmlns:a16="http://schemas.microsoft.com/office/drawing/2014/main" id="{8C444B1F-078C-403C-B2D2-CEAA3D83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为什么还需要积木，怎样面对错误？</a:t>
            </a:r>
          </a:p>
        </p:txBody>
      </p:sp>
      <p:sp>
        <p:nvSpPr>
          <p:cNvPr id="3" name="text-15-2">
            <a:extLst xmlns:a="http://schemas.openxmlformats.org/drawingml/2006/main">
              <a:ext uri="{FF2B5EF4-FFF2-40B4-BE49-F238E27FC236}">
                <a16:creationId xmlns:a16="http://schemas.microsoft.com/office/drawing/2014/main" id="{5940DA96-2A65-4C98-A179-481F607D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用当前能力回答，并把未知留给验证。</a:t>
            </a:r>
          </a:p>
        </p:txBody>
      </p:sp>
      <p:sp>
        <p:nvSpPr>
          <p:cNvPr id="4" name="text-15-3">
            <a:extLst xmlns:a="http://schemas.openxmlformats.org/drawingml/2006/main">
              <a:ext uri="{FF2B5EF4-FFF2-40B4-BE49-F238E27FC236}">
                <a16:creationId xmlns:a16="http://schemas.microsoft.com/office/drawing/2014/main" id="{6B165E46-2145-4E91-B527-9DE475C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5-4">
            <a:extLst xmlns:a="http://schemas.openxmlformats.org/drawingml/2006/main">
              <a:ext uri="{FF2B5EF4-FFF2-40B4-BE49-F238E27FC236}">
                <a16:creationId xmlns:a16="http://schemas.microsoft.com/office/drawing/2014/main" id="{EFFC85BE-A174-4DEE-8A36-B9FBF38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15-5">
            <a:extLst xmlns:a="http://schemas.openxmlformats.org/drawingml/2006/main">
              <a:ext uri="{FF2B5EF4-FFF2-40B4-BE49-F238E27FC236}">
                <a16:creationId xmlns:a16="http://schemas.microsoft.com/office/drawing/2014/main" id="{67497032-6B8A-4663-AC88-9788A32A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已有聊天工具，为什么用积木？</a:t>
            </a:r>
          </a:p>
        </p:txBody>
      </p:sp>
      <p:sp>
        <p:nvSpPr>
          <p:cNvPr id="7" name="text-15-6">
            <a:extLst xmlns:a="http://schemas.openxmlformats.org/drawingml/2006/main">
              <a:ext uri="{FF2B5EF4-FFF2-40B4-BE49-F238E27FC236}">
                <a16:creationId xmlns:a16="http://schemas.microsoft.com/office/drawing/2014/main" id="{8EEFD0CC-F626-44F6-A887-1D0AA549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用于需要保存、修改、解释步骤的课程任务；价值需看教师能否复用。</a:t>
            </a:r>
          </a:p>
        </p:txBody>
      </p:sp>
      <p:sp>
        <p:nvSpPr>
          <p:cNvPr id="8" name="text-15-7">
            <a:extLst xmlns:a="http://schemas.openxmlformats.org/drawingml/2006/main">
              <a:ext uri="{FF2B5EF4-FFF2-40B4-BE49-F238E27FC236}">
                <a16:creationId xmlns:a16="http://schemas.microsoft.com/office/drawing/2014/main" id="{14A92802-AE4F-43FD-BB01-939407F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有引用就不会错吗？</a:t>
            </a:r>
          </a:p>
        </p:txBody>
      </p:sp>
      <p:sp>
        <p:nvSpPr>
          <p:cNvPr id="9" name="text-15-8">
            <a:extLst xmlns:a="http://schemas.openxmlformats.org/drawingml/2006/main">
              <a:ext uri="{FF2B5EF4-FFF2-40B4-BE49-F238E27FC236}">
                <a16:creationId xmlns:a16="http://schemas.microsoft.com/office/drawing/2014/main" id="{1AB838A5-BBB9-41ED-9303-3528D730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引用提供核查入口；教师仍需检查内容、资料范围与模型输出。</a:t>
            </a:r>
          </a:p>
        </p:txBody>
      </p:sp>
      <p:sp>
        <p:nvSpPr>
          <p:cNvPr id="10" name="text-15-9">
            <a:extLst xmlns:a="http://schemas.openxmlformats.org/drawingml/2006/main">
              <a:ext uri="{FF2B5EF4-FFF2-40B4-BE49-F238E27FC236}">
                <a16:creationId xmlns:a16="http://schemas.microsoft.com/office/drawing/2014/main" id="{C7E45A44-B4CA-454E-B38A-AD3F21A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谁能改文件或调用工具？</a:t>
            </a:r>
          </a:p>
        </p:txBody>
      </p:sp>
      <p:sp>
        <p:nvSpPr>
          <p:cNvPr id="11" name="text-15-10">
            <a:extLst xmlns:a="http://schemas.openxmlformats.org/drawingml/2006/main">
              <a:ext uri="{FF2B5EF4-FFF2-40B4-BE49-F238E27FC236}">
                <a16:creationId xmlns:a16="http://schemas.microsoft.com/office/drawing/2014/main" id="{39CB2336-7079-458A-A380-A5CCEE5F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当前由Host控制工具权限，变更可查看和撤回；不承诺所有工具都安全。</a:t>
            </a:r>
          </a:p>
        </p:txBody>
      </p:sp>
    </p:spTree>
    <p:extLst>
      <p:ext uri="{BB962C8B-B14F-4D97-AF65-F5344CB8AC3E}">
        <p14:creationId xmlns:p14="http://schemas.microsoft.com/office/powerpoint/2010/main" val="20578265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-0">
            <a:extLst xmlns:a="http://schemas.openxmlformats.org/drawingml/2006/main">
              <a:ext uri="{FF2B5EF4-FFF2-40B4-BE49-F238E27FC236}">
                <a16:creationId xmlns:a16="http://schemas.microsoft.com/office/drawing/2014/main" id="{EC766158-3E02-4F74-A56E-E35B7D9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演示顺序</a:t>
            </a:r>
          </a:p>
        </p:txBody>
      </p:sp>
      <p:sp>
        <p:nvSpPr>
          <p:cNvPr id="2" name="text-16-1">
            <a:extLst xmlns:a="http://schemas.openxmlformats.org/drawingml/2006/main">
              <a:ext uri="{FF2B5EF4-FFF2-40B4-BE49-F238E27FC236}">
                <a16:creationId xmlns:a16="http://schemas.microsoft.com/office/drawing/2014/main" id="{D228BC44-5F87-460A-A374-5C93A0C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两条实际流程，保持结果与来源一致</a:t>
            </a:r>
          </a:p>
        </p:txBody>
      </p:sp>
      <p:sp>
        <p:nvSpPr>
          <p:cNvPr id="3" name="text-16-2">
            <a:extLst xmlns:a="http://schemas.openxmlformats.org/drawingml/2006/main">
              <a:ext uri="{FF2B5EF4-FFF2-40B4-BE49-F238E27FC236}">
                <a16:creationId xmlns:a16="http://schemas.microsoft.com/office/drawing/2014/main" id="{283373E6-7701-431C-B9B7-3D207125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合成水循环资料 · 现场条件不足时使用本版截图</a:t>
            </a:r>
          </a:p>
        </p:txBody>
      </p:sp>
      <p:sp>
        <p:nvSpPr>
          <p:cNvPr id="4" name="text-16-3">
            <a:extLst xmlns:a="http://schemas.openxmlformats.org/drawingml/2006/main">
              <a:ext uri="{FF2B5EF4-FFF2-40B4-BE49-F238E27FC236}">
                <a16:creationId xmlns:a16="http://schemas.microsoft.com/office/drawing/2014/main" id="{1A7C67AF-45A5-4F29-BAE6-9425E91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6-4">
            <a:extLst xmlns:a="http://schemas.openxmlformats.org/drawingml/2006/main">
              <a:ext uri="{FF2B5EF4-FFF2-40B4-BE49-F238E27FC236}">
                <a16:creationId xmlns:a16="http://schemas.microsoft.com/office/drawing/2014/main" id="{6CF32775-1650-439C-B18D-6FC63F55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-16-5">
            <a:extLst xmlns:a="http://schemas.openxmlformats.org/drawingml/2006/main">
              <a:ext uri="{FF2B5EF4-FFF2-40B4-BE49-F238E27FC236}">
                <a16:creationId xmlns:a16="http://schemas.microsoft.com/office/drawing/2014/main" id="{740871F0-635C-4F47-9844-266A4AD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画布作品</a:t>
            </a:r>
          </a:p>
        </p:txBody>
      </p:sp>
      <p:sp>
        <p:nvSpPr>
          <p:cNvPr id="7" name="text-16-6">
            <a:extLst xmlns:a="http://schemas.openxmlformats.org/drawingml/2006/main">
              <a:ext uri="{FF2B5EF4-FFF2-40B4-BE49-F238E27FC236}">
                <a16:creationId xmlns:a16="http://schemas.microsoft.com/office/drawing/2014/main" id="{F407E333-4268-4557-A92F-701C5CC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提问 → 出处 → 轨迹</a:t>
            </a:r>
          </a:p>
        </p:txBody>
      </p:sp>
      <p:sp>
        <p:nvSpPr>
          <p:cNvPr id="8" name="text-16-7">
            <a:extLst xmlns:a="http://schemas.openxmlformats.org/drawingml/2006/main">
              <a:ext uri="{FF2B5EF4-FFF2-40B4-BE49-F238E27FC236}">
                <a16:creationId xmlns:a16="http://schemas.microsoft.com/office/drawing/2014/main" id="{28EB922D-0DFC-4F91-843F-593A29B4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9" name="text-16-8">
            <a:extLst xmlns:a="http://schemas.openxmlformats.org/drawingml/2006/main">
              <a:ext uri="{FF2B5EF4-FFF2-40B4-BE49-F238E27FC236}">
                <a16:creationId xmlns:a16="http://schemas.microsoft.com/office/drawing/2014/main" id="{966FA126-3404-4D56-B5E4-28420724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选资料 → 任务 → 文件</a:t>
            </a:r>
          </a:p>
        </p:txBody>
      </p:sp>
      <p:sp>
        <p:nvSpPr>
          <p:cNvPr id="10" name="text-16-9">
            <a:extLst xmlns:a="http://schemas.openxmlformats.org/drawingml/2006/main">
              <a:ext uri="{FF2B5EF4-FFF2-40B4-BE49-F238E27FC236}">
                <a16:creationId xmlns:a16="http://schemas.microsoft.com/office/drawing/2014/main" id="{EBDE9FA2-96B4-4A20-8B5D-08BA45FC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模型边界</a:t>
            </a:r>
          </a:p>
        </p:txBody>
      </p:sp>
      <p:sp>
        <p:nvSpPr>
          <p:cNvPr id="11" name="text-16-10">
            <a:extLst xmlns:a="http://schemas.openxmlformats.org/drawingml/2006/main">
              <a:ext uri="{FF2B5EF4-FFF2-40B4-BE49-F238E27FC236}">
                <a16:creationId xmlns:a16="http://schemas.microsoft.com/office/drawing/2014/main" id="{17327159-17E1-4069-9F2F-34316BF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原文摘录 / 外部生成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da27794f4d77"/>
          <a:stretch xmlns:a="http://schemas.openxmlformats.org/drawingml/2006/main"/>
        </p:blipFill>
        <p:spPr>
          <a:xfrm xmlns:a="http://schemas.openxmlformats.org/drawingml/2006/main">
            <a:off x="5052357" y="2457450"/>
            <a:ext cx="6002061" cy="3752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872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7-0">
            <a:extLst xmlns:a="http://schemas.openxmlformats.org/drawingml/2006/main">
              <a:ext uri="{FF2B5EF4-FFF2-40B4-BE49-F238E27FC236}">
                <a16:creationId xmlns:a16="http://schemas.microsoft.com/office/drawing/2014/main" id="{0759C1D6-462B-4E7B-8AC0-19A6DAC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资料来源</a:t>
            </a:r>
          </a:p>
        </p:txBody>
      </p:sp>
      <p:sp>
        <p:nvSpPr>
          <p:cNvPr id="2" name="text-17-1">
            <a:extLst xmlns:a="http://schemas.openxmlformats.org/drawingml/2006/main">
              <a:ext uri="{FF2B5EF4-FFF2-40B4-BE49-F238E27FC236}">
                <a16:creationId xmlns:a16="http://schemas.microsoft.com/office/drawing/2014/main" id="{4335EE83-2C04-4399-97C9-2FC6A700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外部比较与数字都有可回溯来源</a:t>
            </a:r>
          </a:p>
        </p:txBody>
      </p:sp>
      <p:sp>
        <p:nvSpPr>
          <p:cNvPr id="3" name="text-17-2">
            <a:extLst xmlns:a="http://schemas.openxmlformats.org/drawingml/2006/main">
              <a:ext uri="{FF2B5EF4-FFF2-40B4-BE49-F238E27FC236}">
                <a16:creationId xmlns:a16="http://schemas.microsoft.com/office/drawing/2014/main" id="{735C873B-FD1D-476F-AAFA-CFD745FB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公开页面访问日期：2026年10月3日</a:t>
            </a:r>
          </a:p>
        </p:txBody>
      </p:sp>
      <p:sp>
        <p:nvSpPr>
          <p:cNvPr id="4" name="text-17-3">
            <a:extLst xmlns:a="http://schemas.openxmlformats.org/drawingml/2006/main">
              <a:ext uri="{FF2B5EF4-FFF2-40B4-BE49-F238E27FC236}">
                <a16:creationId xmlns:a16="http://schemas.microsoft.com/office/drawing/2014/main" id="{8EB8515F-AACB-4AEC-B9A6-DB639FA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7-4">
            <a:extLst xmlns:a="http://schemas.openxmlformats.org/drawingml/2006/main">
              <a:ext uri="{FF2B5EF4-FFF2-40B4-BE49-F238E27FC236}">
                <a16:creationId xmlns:a16="http://schemas.microsoft.com/office/drawing/2014/main" id="{D4223025-E5F7-4B3E-85BD-455DAAE0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-17-5">
            <a:extLst xmlns:a="http://schemas.openxmlformats.org/drawingml/2006/main">
              <a:ext uri="{FF2B5EF4-FFF2-40B4-BE49-F238E27FC236}">
                <a16:creationId xmlns:a16="http://schemas.microsoft.com/office/drawing/2014/main" id="{26FAD72D-0FE2-4F66-B136-3DDB34FF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Scratch Foundation</a:t>
            </a:r>
          </a:p>
        </p:txBody>
      </p:sp>
      <p:sp>
        <p:nvSpPr>
          <p:cNvPr id="7" name="text-17-6">
            <a:extLst xmlns:a="http://schemas.openxmlformats.org/drawingml/2006/main">
              <a:ext uri="{FF2B5EF4-FFF2-40B4-BE49-F238E27FC236}">
                <a16:creationId xmlns:a16="http://schemas.microsoft.com/office/drawing/2014/main" id="{403CA0D8-93C5-4495-A58D-04DAE937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Starter Projects · 学习与积木创作参照</a:t>
            </a:r>
          </a:p>
        </p:txBody>
      </p:sp>
      <p:sp>
        <p:nvSpPr>
          <p:cNvPr id="8" name="text-17-7">
            <a:extLst xmlns:a="http://schemas.openxmlformats.org/drawingml/2006/main">
              <a:ext uri="{FF2B5EF4-FFF2-40B4-BE49-F238E27FC236}">
                <a16:creationId xmlns:a16="http://schemas.microsoft.com/office/drawing/2014/main" id="{7B85F0E4-08AC-4E6D-8833-C52311F2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Blocks Builder AI</a:t>
            </a:r>
          </a:p>
        </p:txBody>
      </p:sp>
      <p:sp>
        <p:nvSpPr>
          <p:cNvPr id="9" name="text-17-8">
            <a:extLst xmlns:a="http://schemas.openxmlformats.org/drawingml/2006/main">
              <a:ext uri="{FF2B5EF4-FFF2-40B4-BE49-F238E27FC236}">
                <a16:creationId xmlns:a16="http://schemas.microsoft.com/office/drawing/2014/main" id="{B18E33AD-12AD-4736-813E-5FBAE46B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Features / Pricing · 功能、个人免费与教育洽谈</a:t>
            </a:r>
          </a:p>
        </p:txBody>
      </p:sp>
      <p:sp>
        <p:nvSpPr>
          <p:cNvPr id="10" name="text-17-9">
            <a:extLst xmlns:a="http://schemas.openxmlformats.org/drawingml/2006/main">
              <a:ext uri="{FF2B5EF4-FFF2-40B4-BE49-F238E27FC236}">
                <a16:creationId xmlns:a16="http://schemas.microsoft.com/office/drawing/2014/main" id="{5D83193B-CCB0-4D5E-B824-B52407D6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Dify</a:t>
            </a:r>
          </a:p>
        </p:txBody>
      </p:sp>
      <p:sp>
        <p:nvSpPr>
          <p:cNvPr id="11" name="text-17-10">
            <a:extLst xmlns:a="http://schemas.openxmlformats.org/drawingml/2006/main">
              <a:ext uri="{FF2B5EF4-FFF2-40B4-BE49-F238E27FC236}">
                <a16:creationId xmlns:a16="http://schemas.microsoft.com/office/drawing/2014/main" id="{09CA1E64-11EA-4943-BAAC-4C11E82B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Dify for Education · 专业AI应用构建的教育路径</a:t>
            </a:r>
          </a:p>
        </p:txBody>
      </p:sp>
    </p:spTree>
    <p:extLst>
      <p:ext uri="{BB962C8B-B14F-4D97-AF65-F5344CB8AC3E}">
        <p14:creationId xmlns:p14="http://schemas.microsoft.com/office/powerpoint/2010/main" val="1931814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Blocky Studio</dc:creator>
  <lastModifiedBy>Blocky Studio</lastModifiedBy>
  <dc:title>Blocky Studio 新版答辩</dc:title>
  <dcterms:created xsi:type="dcterms:W3CDTF">2026-10-02T17:16:31.1540000Z</dcterms:created>
  <dcterms:modified xsi:type="dcterms:W3CDTF">2026-10-02T17:16:31.1540000Z</dcterms:modified>
  <dc:subject>教育 AI 创作与机构服务</dc:subject>
</coreProperties>
</file>
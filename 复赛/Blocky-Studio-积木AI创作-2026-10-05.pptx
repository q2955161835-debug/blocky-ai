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51616e32374558" /><Relationship Type="http://schemas.openxmlformats.org/officeDocument/2006/relationships/extended-properties" Target="/docProps/app.xml" Id="R7c910c5503544218" /><Relationship Type="http://schemas.openxmlformats.org/officeDocument/2006/relationships/officeDocument" Target="/ppt/presentation.xml" Id="R4b765a9db1e84c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f9153088034c95"/>
  </p:sldMasterIdLst>
  <p:notesMasterIdLst>
    <p:notesMasterId xmlns:r="http://schemas.openxmlformats.org/officeDocument/2006/relationships" r:id="R6bfbf7b722764571"/>
  </p:notesMasterIdLst>
  <p:sldIdLst>
    <p:sldId xmlns:r="http://schemas.openxmlformats.org/officeDocument/2006/relationships" id="256" r:id="R00b211755b764b88"/>
    <p:sldId xmlns:r="http://schemas.openxmlformats.org/officeDocument/2006/relationships" id="257" r:id="R14fc58d3aa4240f6"/>
    <p:sldId xmlns:r="http://schemas.openxmlformats.org/officeDocument/2006/relationships" id="258" r:id="R4d0b193a2a544743"/>
    <p:sldId xmlns:r="http://schemas.openxmlformats.org/officeDocument/2006/relationships" id="259" r:id="R2211a3d5541544bc"/>
    <p:sldId xmlns:r="http://schemas.openxmlformats.org/officeDocument/2006/relationships" id="260" r:id="Rf3a15636c0f64d6d"/>
    <p:sldId xmlns:r="http://schemas.openxmlformats.org/officeDocument/2006/relationships" id="261" r:id="Raef6ca132c45418b"/>
    <p:sldId xmlns:r="http://schemas.openxmlformats.org/officeDocument/2006/relationships" id="262" r:id="Rde2488ac97e44d8b"/>
    <p:sldId xmlns:r="http://schemas.openxmlformats.org/officeDocument/2006/relationships" id="263" r:id="Rb1f7bac443fd48f7"/>
    <p:sldId xmlns:r="http://schemas.openxmlformats.org/officeDocument/2006/relationships" id="264" r:id="Rbbd10061cd2e4629"/>
    <p:sldId xmlns:r="http://schemas.openxmlformats.org/officeDocument/2006/relationships" id="265" r:id="R471a8903ef6340f0"/>
    <p:sldId xmlns:r="http://schemas.openxmlformats.org/officeDocument/2006/relationships" id="266" r:id="R62d1ece067ef42f0"/>
    <p:sldId xmlns:r="http://schemas.openxmlformats.org/officeDocument/2006/relationships" id="267" r:id="R31e9aeb02fe04bf9"/>
    <p:sldId xmlns:r="http://schemas.openxmlformats.org/officeDocument/2006/relationships" id="268" r:id="R7d75f8cf313a4a23"/>
    <p:sldId xmlns:r="http://schemas.openxmlformats.org/officeDocument/2006/relationships" id="269" r:id="R79fa9d0bfa07411f"/>
    <p:sldId xmlns:r="http://schemas.openxmlformats.org/officeDocument/2006/relationships" id="270" r:id="R028598f5a6574be2"/>
    <p:sldId xmlns:r="http://schemas.openxmlformats.org/officeDocument/2006/relationships" id="271" r:id="R8092d0553c1b431f"/>
    <p:sldId xmlns:r="http://schemas.openxmlformats.org/officeDocument/2006/relationships" id="272" r:id="Rb40a2c50b61c4e70"/>
    <p:sldId xmlns:r="http://schemas.openxmlformats.org/officeDocument/2006/relationships" id="273" r:id="R016d974d60224b42"/>
    <p:sldId xmlns:r="http://schemas.openxmlformats.org/officeDocument/2006/relationships" id="274" r:id="Rbc1654b4a5f54ecd"/>
    <p:sldId xmlns:r="http://schemas.openxmlformats.org/officeDocument/2006/relationships" id="275" r:id="Rbde2d1fe96cc45df"/>
    <p:sldId xmlns:r="http://schemas.openxmlformats.org/officeDocument/2006/relationships" id="276" r:id="R2dfb4a3288254ef5"/>
    <p:sldId xmlns:r="http://schemas.openxmlformats.org/officeDocument/2006/relationships" id="277" r:id="Rbb612700ebee40ea"/>
    <p:sldId xmlns:r="http://schemas.openxmlformats.org/officeDocument/2006/relationships" id="278" r:id="R419e34ab2bd647ba"/>
    <p:sldId xmlns:r="http://schemas.openxmlformats.org/officeDocument/2006/relationships" id="279" r:id="Rb429aebbbd1c4052"/>
    <p:sldId xmlns:r="http://schemas.openxmlformats.org/officeDocument/2006/relationships" id="280" r:id="R47dc130b7866427a"/>
    <p:sldId xmlns:r="http://schemas.openxmlformats.org/officeDocument/2006/relationships" id="281" r:id="R266a83c14a654f3b"/>
    <p:sldId xmlns:r="http://schemas.openxmlformats.org/officeDocument/2006/relationships" id="282" r:id="Re6b8d84d9d904c50"/>
    <p:sldId xmlns:r="http://schemas.openxmlformats.org/officeDocument/2006/relationships" id="283" r:id="R84797b9e10584c2c"/>
    <p:sldId xmlns:r="http://schemas.openxmlformats.org/officeDocument/2006/relationships" id="284" r:id="R68ce2cb8d7ce41ba"/>
    <p:sldId xmlns:r="http://schemas.openxmlformats.org/officeDocument/2006/relationships" id="285" r:id="R7502806cad154e76"/>
    <p:sldId xmlns:r="http://schemas.openxmlformats.org/officeDocument/2006/relationships" id="286" r:id="R79e4b6c19efe4934"/>
    <p:sldId xmlns:r="http://schemas.openxmlformats.org/officeDocument/2006/relationships" id="287" r:id="R10eb67d0f72b45c5"/>
    <p:sldId xmlns:r="http://schemas.openxmlformats.org/officeDocument/2006/relationships" id="288" r:id="R9d687e0ce2cc4386"/>
    <p:sldId xmlns:r="http://schemas.openxmlformats.org/officeDocument/2006/relationships" id="289" r:id="R4bb367e55fc946a5"/>
    <p:sldId xmlns:r="http://schemas.openxmlformats.org/officeDocument/2006/relationships" id="290" r:id="R5dc9109611d94ad2"/>
    <p:sldId xmlns:r="http://schemas.openxmlformats.org/officeDocument/2006/relationships" id="291" r:id="R57875c16bed2429d"/>
    <p:sldId xmlns:r="http://schemas.openxmlformats.org/officeDocument/2006/relationships" id="292" r:id="R28c1bea3e22b448b"/>
    <p:sldId xmlns:r="http://schemas.openxmlformats.org/officeDocument/2006/relationships" id="293" r:id="R818e70cd321141de"/>
    <p:sldId xmlns:r="http://schemas.openxmlformats.org/officeDocument/2006/relationships" id="294" r:id="R45748a60d4074d9c"/>
    <p:sldId xmlns:r="http://schemas.openxmlformats.org/officeDocument/2006/relationships" id="295" r:id="Rd3a043070cc0468e"/>
    <p:sldId xmlns:r="http://schemas.openxmlformats.org/officeDocument/2006/relationships" id="296" r:id="R7a7d8d56e18b4c91"/>
    <p:sldId xmlns:r="http://schemas.openxmlformats.org/officeDocument/2006/relationships" id="297" r:id="R69638f5d36b44604"/>
    <p:sldId xmlns:r="http://schemas.openxmlformats.org/officeDocument/2006/relationships" id="298" r:id="Rda733bcfcce644a5"/>
    <p:sldId xmlns:r="http://schemas.openxmlformats.org/officeDocument/2006/relationships" id="299" r:id="Rfecd16911fbb4903"/>
    <p:sldId xmlns:r="http://schemas.openxmlformats.org/officeDocument/2006/relationships" id="300" r:id="Rf5678c0cef1e43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f297678aac4321" /><Relationship Type="http://schemas.openxmlformats.org/officeDocument/2006/relationships/slideMaster" Target="/ppt/slideMasters/slideMaster1.xml" Id="R39f9153088034c95" /><Relationship Type="http://schemas.openxmlformats.org/officeDocument/2006/relationships/notesMaster" Target="/ppt/notesMasters/notesMaster1.xml" Id="R6bfbf7b722764571" /><Relationship Type="http://schemas.openxmlformats.org/officeDocument/2006/relationships/presProps" Target="/ppt/presProps.xml" Id="Re6ec3d5f8d384dce" /><Relationship Type="http://schemas.openxmlformats.org/officeDocument/2006/relationships/tableStyles" Target="/ppt/tableStyles.xml" Id="R55add04ff43f4452" /><Relationship Type="http://schemas.openxmlformats.org/officeDocument/2006/relationships/slide" Target="/ppt/slides/slide1.xml" Id="R00b211755b764b88" /><Relationship Type="http://schemas.openxmlformats.org/officeDocument/2006/relationships/slide" Target="/ppt/slides/slide2.xml" Id="R14fc58d3aa4240f6" /><Relationship Type="http://schemas.openxmlformats.org/officeDocument/2006/relationships/slide" Target="/ppt/slides/slide3.xml" Id="R4d0b193a2a544743" /><Relationship Type="http://schemas.openxmlformats.org/officeDocument/2006/relationships/slide" Target="/ppt/slides/slide4.xml" Id="R2211a3d5541544bc" /><Relationship Type="http://schemas.openxmlformats.org/officeDocument/2006/relationships/slide" Target="/ppt/slides/slide5.xml" Id="Rf3a15636c0f64d6d" /><Relationship Type="http://schemas.openxmlformats.org/officeDocument/2006/relationships/slide" Target="/ppt/slides/slide6.xml" Id="Raef6ca132c45418b" /><Relationship Type="http://schemas.openxmlformats.org/officeDocument/2006/relationships/slide" Target="/ppt/slides/slide7.xml" Id="Rde2488ac97e44d8b" /><Relationship Type="http://schemas.openxmlformats.org/officeDocument/2006/relationships/slide" Target="/ppt/slides/slide8.xml" Id="Rb1f7bac443fd48f7" /><Relationship Type="http://schemas.openxmlformats.org/officeDocument/2006/relationships/slide" Target="/ppt/slides/slide9.xml" Id="Rbbd10061cd2e4629" /><Relationship Type="http://schemas.openxmlformats.org/officeDocument/2006/relationships/slide" Target="/ppt/slides/slide10.xml" Id="R471a8903ef6340f0" /><Relationship Type="http://schemas.openxmlformats.org/officeDocument/2006/relationships/slide" Target="/ppt/slides/slide11.xml" Id="R62d1ece067ef42f0" /><Relationship Type="http://schemas.openxmlformats.org/officeDocument/2006/relationships/slide" Target="/ppt/slides/slide12.xml" Id="R31e9aeb02fe04bf9" /><Relationship Type="http://schemas.openxmlformats.org/officeDocument/2006/relationships/slide" Target="/ppt/slides/slide13.xml" Id="R7d75f8cf313a4a23" /><Relationship Type="http://schemas.openxmlformats.org/officeDocument/2006/relationships/slide" Target="/ppt/slides/slide14.xml" Id="R79fa9d0bfa07411f" /><Relationship Type="http://schemas.openxmlformats.org/officeDocument/2006/relationships/slide" Target="/ppt/slides/slide15.xml" Id="R028598f5a6574be2" /><Relationship Type="http://schemas.openxmlformats.org/officeDocument/2006/relationships/slide" Target="/ppt/slides/slide16.xml" Id="R8092d0553c1b431f" /><Relationship Type="http://schemas.openxmlformats.org/officeDocument/2006/relationships/slide" Target="/ppt/slides/slide17.xml" Id="Rb40a2c50b61c4e70" /><Relationship Type="http://schemas.openxmlformats.org/officeDocument/2006/relationships/slide" Target="/ppt/slides/slide18.xml" Id="R016d974d60224b42" /><Relationship Type="http://schemas.openxmlformats.org/officeDocument/2006/relationships/slide" Target="/ppt/slides/slide19.xml" Id="Rbc1654b4a5f54ecd" /><Relationship Type="http://schemas.openxmlformats.org/officeDocument/2006/relationships/slide" Target="/ppt/slides/slide20.xml" Id="Rbde2d1fe96cc45df" /><Relationship Type="http://schemas.openxmlformats.org/officeDocument/2006/relationships/slide" Target="/ppt/slides/slide21.xml" Id="R2dfb4a3288254ef5" /><Relationship Type="http://schemas.openxmlformats.org/officeDocument/2006/relationships/slide" Target="/ppt/slides/slide22.xml" Id="Rbb612700ebee40ea" /><Relationship Type="http://schemas.openxmlformats.org/officeDocument/2006/relationships/slide" Target="/ppt/slides/slide23.xml" Id="R419e34ab2bd647ba" /><Relationship Type="http://schemas.openxmlformats.org/officeDocument/2006/relationships/slide" Target="/ppt/slides/slide24.xml" Id="Rb429aebbbd1c4052" /><Relationship Type="http://schemas.openxmlformats.org/officeDocument/2006/relationships/slide" Target="/ppt/slides/slide25.xml" Id="R47dc130b7866427a" /><Relationship Type="http://schemas.openxmlformats.org/officeDocument/2006/relationships/slide" Target="/ppt/slides/slide26.xml" Id="R266a83c14a654f3b" /><Relationship Type="http://schemas.openxmlformats.org/officeDocument/2006/relationships/slide" Target="/ppt/slides/slide27.xml" Id="Re6b8d84d9d904c50" /><Relationship Type="http://schemas.openxmlformats.org/officeDocument/2006/relationships/slide" Target="/ppt/slides/slide28.xml" Id="R84797b9e10584c2c" /><Relationship Type="http://schemas.openxmlformats.org/officeDocument/2006/relationships/slide" Target="/ppt/slides/slide29.xml" Id="R68ce2cb8d7ce41ba" /><Relationship Type="http://schemas.openxmlformats.org/officeDocument/2006/relationships/slide" Target="/ppt/slides/slide30.xml" Id="R7502806cad154e76" /><Relationship Type="http://schemas.openxmlformats.org/officeDocument/2006/relationships/slide" Target="/ppt/slides/slide31.xml" Id="R79e4b6c19efe4934" /><Relationship Type="http://schemas.openxmlformats.org/officeDocument/2006/relationships/slide" Target="/ppt/slides/slide32.xml" Id="R10eb67d0f72b45c5" /><Relationship Type="http://schemas.openxmlformats.org/officeDocument/2006/relationships/slide" Target="/ppt/slides/slide33.xml" Id="R9d687e0ce2cc4386" /><Relationship Type="http://schemas.openxmlformats.org/officeDocument/2006/relationships/slide" Target="/ppt/slides/slide34.xml" Id="R4bb367e55fc946a5" /><Relationship Type="http://schemas.openxmlformats.org/officeDocument/2006/relationships/slide" Target="/ppt/slides/slide35.xml" Id="R5dc9109611d94ad2" /><Relationship Type="http://schemas.openxmlformats.org/officeDocument/2006/relationships/slide" Target="/ppt/slides/slide36.xml" Id="R57875c16bed2429d" /><Relationship Type="http://schemas.openxmlformats.org/officeDocument/2006/relationships/slide" Target="/ppt/slides/slide37.xml" Id="R28c1bea3e22b448b" /><Relationship Type="http://schemas.openxmlformats.org/officeDocument/2006/relationships/slide" Target="/ppt/slides/slide38.xml" Id="R818e70cd321141de" /><Relationship Type="http://schemas.openxmlformats.org/officeDocument/2006/relationships/slide" Target="/ppt/slides/slide39.xml" Id="R45748a60d4074d9c" /><Relationship Type="http://schemas.openxmlformats.org/officeDocument/2006/relationships/slide" Target="/ppt/slides/slide40.xml" Id="Rd3a043070cc0468e" /><Relationship Type="http://schemas.openxmlformats.org/officeDocument/2006/relationships/slide" Target="/ppt/slides/slide41.xml" Id="R7a7d8d56e18b4c91" /><Relationship Type="http://schemas.openxmlformats.org/officeDocument/2006/relationships/slide" Target="/ppt/slides/slide42.xml" Id="R69638f5d36b44604" /><Relationship Type="http://schemas.openxmlformats.org/officeDocument/2006/relationships/slide" Target="/ppt/slides/slide43.xml" Id="Rda733bcfcce644a5" /><Relationship Type="http://schemas.openxmlformats.org/officeDocument/2006/relationships/slide" Target="/ppt/slides/slide44.xml" Id="Rfecd16911fbb4903" /><Relationship Type="http://schemas.openxmlformats.org/officeDocument/2006/relationships/slide" Target="/ppt/slides/slide45.xml" Id="Rf5678c0cef1e43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97b8cb7e2a4e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locky Editorial">
      <a:dk1>
        <a:srgbClr val="112A26"/>
      </a:dk1>
      <a:lt1>
        <a:srgbClr val="FFFFFF"/>
      </a:lt1>
      <a:dk2>
        <a:srgbClr val="172E2B"/>
      </a:dk2>
      <a:lt2>
        <a:srgbClr val="F8FAF2"/>
      </a:lt2>
      <a:accent1>
        <a:srgbClr val="087B6E"/>
      </a:accent1>
      <a:accent2>
        <a:srgbClr val="D9F07A"/>
      </a:accent2>
      <a:accent3>
        <a:srgbClr val="9E6527"/>
      </a:accent3>
      <a:accent4>
        <a:srgbClr val="3465A1"/>
      </a:accent4>
      <a:accent5>
        <a:srgbClr val="7963A3"/>
      </a:accent5>
      <a:accent6>
        <a:srgbClr val="90B95E"/>
      </a:accent6>
      <a:hlink>
        <a:srgbClr val="D9F07A"/>
      </a:hlink>
      <a:folHlink>
        <a:srgbClr val="D9F07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ocky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a1f27a06714d0a" /><Relationship Type="http://schemas.openxmlformats.org/officeDocument/2006/relationships/notesMaster" Target="/ppt/notesMasters/notesMaster1.xml" Id="R0d0ffda8b84047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0742a819c3499c" /><Relationship Type="http://schemas.openxmlformats.org/officeDocument/2006/relationships/notesMaster" Target="/ppt/notesMasters/notesMaster1.xml" Id="Rffe237dc49e240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c14a627fbd490c" /><Relationship Type="http://schemas.openxmlformats.org/officeDocument/2006/relationships/notesMaster" Target="/ppt/notesMasters/notesMaster1.xml" Id="R1ac4ab66bb7246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fe7737afa844bb" /><Relationship Type="http://schemas.openxmlformats.org/officeDocument/2006/relationships/notesMaster" Target="/ppt/notesMasters/notesMaster1.xml" Id="Ra3063b56addf45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30016946294dc5" /><Relationship Type="http://schemas.openxmlformats.org/officeDocument/2006/relationships/notesMaster" Target="/ppt/notesMasters/notesMaster1.xml" Id="R0acf66dad8f345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728e3b704d4b50" /><Relationship Type="http://schemas.openxmlformats.org/officeDocument/2006/relationships/notesMaster" Target="/ppt/notesMasters/notesMaster1.xml" Id="Ra096e218ef5d44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906030fe774ff1" /><Relationship Type="http://schemas.openxmlformats.org/officeDocument/2006/relationships/notesMaster" Target="/ppt/notesMasters/notesMaster1.xml" Id="Rd80553889e3f47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cee571e61644c1" /><Relationship Type="http://schemas.openxmlformats.org/officeDocument/2006/relationships/notesMaster" Target="/ppt/notesMasters/notesMaster1.xml" Id="R1e94818185ea44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0ab454d4e649f4" /><Relationship Type="http://schemas.openxmlformats.org/officeDocument/2006/relationships/notesMaster" Target="/ppt/notesMasters/notesMaster1.xml" Id="R8adffcda645743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c304fc20d74eef" /><Relationship Type="http://schemas.openxmlformats.org/officeDocument/2006/relationships/notesMaster" Target="/ppt/notesMasters/notesMaster1.xml" Id="R772312169b7449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9d2ffe57604296" /><Relationship Type="http://schemas.openxmlformats.org/officeDocument/2006/relationships/notesMaster" Target="/ppt/notesMasters/notesMaster1.xml" Id="R87d6b6ae99d04a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62c30fc48a49d5" /><Relationship Type="http://schemas.openxmlformats.org/officeDocument/2006/relationships/notesMaster" Target="/ppt/notesMasters/notesMaster1.xml" Id="R1dcfb632253140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ce9a30c97442b1" /><Relationship Type="http://schemas.openxmlformats.org/officeDocument/2006/relationships/notesMaster" Target="/ppt/notesMasters/notesMaster1.xml" Id="Rdda2b3f848944c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029f69ee87423b" /><Relationship Type="http://schemas.openxmlformats.org/officeDocument/2006/relationships/notesMaster" Target="/ppt/notesMasters/notesMaster1.xml" Id="R8a4a27b74dd545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adda8a75f8436f" /><Relationship Type="http://schemas.openxmlformats.org/officeDocument/2006/relationships/notesMaster" Target="/ppt/notesMasters/notesMaster1.xml" Id="R311b01486f994a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9d5cdf0c614c14" /><Relationship Type="http://schemas.openxmlformats.org/officeDocument/2006/relationships/notesMaster" Target="/ppt/notesMasters/notesMaster1.xml" Id="R393c9c48cfa74e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19d1a133fe490b" /><Relationship Type="http://schemas.openxmlformats.org/officeDocument/2006/relationships/notesMaster" Target="/ppt/notesMasters/notesMaster1.xml" Id="R41e2c302516347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afac1343854553" /><Relationship Type="http://schemas.openxmlformats.org/officeDocument/2006/relationships/notesMaster" Target="/ppt/notesMasters/notesMaster1.xml" Id="R254f0b06444941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13a3067bf241ff" /><Relationship Type="http://schemas.openxmlformats.org/officeDocument/2006/relationships/notesMaster" Target="/ppt/notesMasters/notesMaster1.xml" Id="R187c829406bb44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df45b7c8114e99" /><Relationship Type="http://schemas.openxmlformats.org/officeDocument/2006/relationships/notesMaster" Target="/ppt/notesMasters/notesMaster1.xml" Id="R01ecb188ebf5423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bb254f776c46a5" /><Relationship Type="http://schemas.openxmlformats.org/officeDocument/2006/relationships/notesMaster" Target="/ppt/notesMasters/notesMaster1.xml" Id="R3431a5cee83b426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9eb17feabf44ce9" /><Relationship Type="http://schemas.openxmlformats.org/officeDocument/2006/relationships/notesMaster" Target="/ppt/notesMasters/notesMaster1.xml" Id="R6b5e3c00a1db4a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03610228719459b" /><Relationship Type="http://schemas.openxmlformats.org/officeDocument/2006/relationships/notesMaster" Target="/ppt/notesMasters/notesMaster1.xml" Id="R8e5878f3f0754ab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7c58f3f3cc94e72" /><Relationship Type="http://schemas.openxmlformats.org/officeDocument/2006/relationships/notesMaster" Target="/ppt/notesMasters/notesMaster1.xml" Id="R63adbed27617427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6996e0c62e84642" /><Relationship Type="http://schemas.openxmlformats.org/officeDocument/2006/relationships/notesMaster" Target="/ppt/notesMasters/notesMaster1.xml" Id="R7a7a5a26f55f4a3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8ac652932ec4171" /><Relationship Type="http://schemas.openxmlformats.org/officeDocument/2006/relationships/notesMaster" Target="/ppt/notesMasters/notesMaster1.xml" Id="Rc3dd2c930b7842b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c9b43a168f8482e" /><Relationship Type="http://schemas.openxmlformats.org/officeDocument/2006/relationships/notesMaster" Target="/ppt/notesMasters/notesMaster1.xml" Id="R31d40a16920d4aa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77c071ce7a642fb" /><Relationship Type="http://schemas.openxmlformats.org/officeDocument/2006/relationships/notesMaster" Target="/ppt/notesMasters/notesMaster1.xml" Id="R5783698d224e4c3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8bcb7981f264beb" /><Relationship Type="http://schemas.openxmlformats.org/officeDocument/2006/relationships/notesMaster" Target="/ppt/notesMasters/notesMaster1.xml" Id="R28b6de6fa32840b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c094fd0725f4ba0" /><Relationship Type="http://schemas.openxmlformats.org/officeDocument/2006/relationships/notesMaster" Target="/ppt/notesMasters/notesMaster1.xml" Id="Rcaa8e6c2e3ad4df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53c069fa7e642f0" /><Relationship Type="http://schemas.openxmlformats.org/officeDocument/2006/relationships/notesMaster" Target="/ppt/notesMasters/notesMaster1.xml" Id="Rda9edacf7ab64f1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705f77c730d47ad" /><Relationship Type="http://schemas.openxmlformats.org/officeDocument/2006/relationships/notesMaster" Target="/ppt/notesMasters/notesMaster1.xml" Id="R37551c2fe6a6494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1676f5daa9f494c" /><Relationship Type="http://schemas.openxmlformats.org/officeDocument/2006/relationships/notesMaster" Target="/ppt/notesMasters/notesMaster1.xml" Id="Rba044fcc3f7147f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9d7cc78356b4796" /><Relationship Type="http://schemas.openxmlformats.org/officeDocument/2006/relationships/notesMaster" Target="/ppt/notesMasters/notesMaster1.xml" Id="R666b28e6de6f45a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67fd6bd15484eb1" /><Relationship Type="http://schemas.openxmlformats.org/officeDocument/2006/relationships/notesMaster" Target="/ppt/notesMasters/notesMaster1.xml" Id="Re2a99e00ce2141f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9262c13a1c24de4" /><Relationship Type="http://schemas.openxmlformats.org/officeDocument/2006/relationships/notesMaster" Target="/ppt/notesMasters/notesMaster1.xml" Id="Re02d9b395b91498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c7b836170c6456d" /><Relationship Type="http://schemas.openxmlformats.org/officeDocument/2006/relationships/notesMaster" Target="/ppt/notesMasters/notesMaster1.xml" Id="Re7b1f70562c949e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c5c7f1307f84654" /><Relationship Type="http://schemas.openxmlformats.org/officeDocument/2006/relationships/notesMaster" Target="/ppt/notesMasters/notesMaster1.xml" Id="R10f17f12be764a5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0b93c1fdaed4417" /><Relationship Type="http://schemas.openxmlformats.org/officeDocument/2006/relationships/notesMaster" Target="/ppt/notesMasters/notesMaster1.xml" Id="R3059b0223f04402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8dfbaf9943c415a" /><Relationship Type="http://schemas.openxmlformats.org/officeDocument/2006/relationships/notesMaster" Target="/ppt/notesMasters/notesMaster1.xml" Id="R2de25c1dae9b4d8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3c9710b3ff047ad" /><Relationship Type="http://schemas.openxmlformats.org/officeDocument/2006/relationships/notesMaster" Target="/ppt/notesMasters/notesMaster1.xml" Id="Rb3ff60c17dfa490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f4c16c0f0574612" /><Relationship Type="http://schemas.openxmlformats.org/officeDocument/2006/relationships/notesMaster" Target="/ppt/notesMasters/notesMaster1.xml" Id="R69da78d09ba5462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bba8b5eb43343c1" /><Relationship Type="http://schemas.openxmlformats.org/officeDocument/2006/relationships/notesMaster" Target="/ppt/notesMasters/notesMaster1.xml" Id="R37ff763ce17641e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8fbe0f27a6940e3" /><Relationship Type="http://schemas.openxmlformats.org/officeDocument/2006/relationships/notesMaster" Target="/ppt/notesMasters/notesMaster1.xml" Id="R54c22f3039ed4bd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ec8e38927a54fe7" /><Relationship Type="http://schemas.openxmlformats.org/officeDocument/2006/relationships/notesMaster" Target="/ppt/notesMasters/notesMaster1.xml" Id="R542892562d8c41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Blocky面向普通创作者与学校教育，用嵌套积木组合智能体。教育是优先验证场景，专业创作共享同一底座。官网已经开放产品介绍与预设在线体验，Windows桌面产品仍在持续完善。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  <a:p xmlns:a="http://schemas.openxmlformats.org/drawingml/2006/main">
            <a:r>
              <a:t>封面使用ImageGen品牌概念插画，不是官网截图或软件界面。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这是项目要验证的研发命题，教育价值由产品能力和后续真实场景共同验证。Scratch是创作学习方式参照，Agent部件引入模型、记忆和工具。当前工程成果为结构表达、修改审阅和运行映射提供基础，下一阶段先完成专业模板和后续产品开发。</a:t>
            </a:r>
          </a:p>
          <a:p xmlns:a="http://schemas.openxmlformats.org/drawingml/2006/main">
            <a:r>
              <a:t>转场：专业模板与后续开发先行，真实场景随后进入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成果包括Windows创作工作台及四类起始蓝图。后续重点是创作接口、教育组织、专业部署、开源社区和目标端，不再采用六框架模板依次交付的旧路线。真实课堂、合同和用户用量需要在相关产品准备完成后验证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图来自已交付0.8.0-chat普通包，合成水循环资料作品。左侧选择部件，中间保存编辑结构，右侧在构建助手与作品Agent间切换，底部有问题、日志和输出。此页介绍产品全貌，不将这个资料作品当作故事课程或真实学生作品。</a:t>
            </a:r>
          </a:p>
          <a:p xmlns:a="http://schemas.openxmlformats.org/drawingml/2006/main">
            <a:r>
              <a:t>转场：开源底座之上，连接作品语义与实际运行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Blockly、Tauri和Pi提供开源组件基础，Blocky围绕项目格式、语义编译、运行映射、Host隔离和受控修改组织产品。界面、CLI和构建助手共用领域能力。持续研发将这些工程资产发展为可改造模板、入门任务和可交付应用。</a:t>
            </a:r>
          </a:p>
          <a:p xmlns:a="http://schemas.openxmlformats.org/drawingml/2006/main">
            <a:r>
              <a:t>转场：角色、模型、记忆和工具，成为可改造部件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这些部件属于现有领域和运行能力。入门活动先用少量积木，教师预选模型、资料和权限，逐步增加记忆或工具。地图解释学生动作与观察点，不能当作全部小学教学活动已运行。专业能力和入门任务视图共用项目格式。</a:t>
            </a:r>
          </a:p>
          <a:p xmlns:a="http://schemas.openxmlformats.org/drawingml/2006/main">
            <a:r>
              <a:t>转场：从代码审阅，到积木审阅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关键价值是非专业用户可以审阅Agent行为。作品结构显示设计，候选差异支持审阅修改，运行事件把实际步骤带回积木。轨迹不展示模型内部推理，也不保证模型内容正确，师生需要结合任务和资料核对。OPC后续方向在发展章节简述，小学学习保持主线。</a:t>
            </a:r>
          </a:p>
          <a:p xmlns:a="http://schemas.openxmlformats.org/drawingml/2006/main">
            <a:r>
              <a:t>转场：从准备资料到运行作品，保留可回查过程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画面展示Blocky构建助手处理合成水循环资料并生成学习卡。它读取资料、写入文件并展示修改差异，已有模型记录为息壤deepseek-v4-pro三次响应共7717Token。后续本地故事规则对照单独展示结构改造，课堂故事生成则属于未来教学设计。</a:t>
            </a:r>
          </a:p>
          <a:p xmlns:a="http://schemas.openxmlformats.org/drawingml/2006/main">
            <a:r>
              <a:t>转场：继续完善四类蓝图与创作产品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四类起始蓝图是可展开、可修改的项目，不是四个封闭聊天功能。Pi Agent来源于真实上游Pi核心积木化。空白项目和个人蓝图为另外的创作入口。四类蓝图已交付，不代表完整产品愿景或所有上游框架兼容完成。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  <a:p xmlns:a="http://schemas.openxmlformats.org/drawingml/2006/main">
            <a:r>
              <a:t>角色为ImageGen概念插画，不承担实现证明。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公开在线体验是预设UI与合成工具轨迹演示，普通播放约60秒，不执行真实API、CLI或文件读写。它用于理解创作方法，与历史Windows真实模型调用证据分别陈列。入口：https://blocky.donk55666.chatgpt.site/#/studio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校园植物小向导和研究报告工作台是官网场景设计，不是实际课堂或客户成果。现有技术能力与教师组织、团队权限、部署、社区、多端等后续能力分别说明。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  <a:p xmlns:a="http://schemas.openxmlformats.org/drawingml/2006/main">
            <a:r>
              <a:t>场景为ImageGen概念插画，不是真实课堂、客户现场或软件界面。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四类起始蓝图已经交付，后续建设按实际缺口和模块依赖推进。官网展示完整愿景，不能据此宣称班级后台、团队部署、社区或独立App已开放。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七类入门任务投影为开始、角色、会思考、会查找、会记住、会行动、会回答，专业视图十二类Agent语义，但使用相同项目格式。教学活动先约束可用部件，再逐步解释复杂能力。这不是已经做过小学易用性测试的结论。</a:t>
            </a:r>
          </a:p>
          <a:p xmlns:a="http://schemas.openxmlformats.org/drawingml/2006/main">
            <a:r>
              <a:t>转场：桌面完成创作，移动端延续作品使用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当前产品证据是Windows。完整计划要求macOS同等搭建能力，Android、iOS和HarmonyOS定位运行已搭建的Agent，不把移动端写成完整积木编辑器。Android/iOS可参考Tauri能力，HarmonyOS沿用ArkTS/ArkUI原生壳及共享协议路线。平台能力协商决定本地或经授权远端执行；模型连接、文件与工具权限、签名分发和真机测试分别实现。Pake桌面封装不证明移动适配已完成。</a:t>
            </a:r>
          </a:p>
          <a:p xmlns:a="http://schemas.openxmlformats.org/drawingml/2006/main">
            <a:r>
              <a:t>转场：把Agent页面与积木作品，生成独立应用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https://v2.tauri.app/start/</a:t>
            </a:r>
          </a:p>
          <a:p xmlns:a="http://schemas.openxmlformats.org/drawingml/2006/main">
            <a:r>
              <a:t>https://v2.tauri.app/distribute/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学生可先搭建故事搭档，再给它输入和结果页面，目标是生成可以独立使用的故事伙伴App。这是产品规划，当前已有页面生成和预览不等于一键独立App。Pake基于Tauri并提供桌面网页或本地前端封装，Blocky仍需集成运行内核、资源、桥接和权限；Tauri定制壳是另一二次开发路径。生成应用不默认包含商店上架，各平台分发独立完成。</a:t>
            </a:r>
          </a:p>
          <a:p xmlns:a="http://schemas.openxmlformats.org/drawingml/2006/main">
            <a:r>
              <a:t>转场：可靠作品与产品配套完成后，进入真实场景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https://github.com/tw93/Pake</a:t>
            </a:r>
          </a:p>
          <a:p xmlns:a="http://schemas.openxmlformats.org/drawingml/2006/main">
            <a:r>
              <a:t>https://v2.tauri.app/start/</a:t>
            </a:r>
          </a:p>
          <a:p xmlns:a="http://schemas.openxmlformats.org/drawingml/2006/main">
            <a:r>
              <a:t>https://v2.tauri.app/distribute/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工程成果与公开开放状态分别核对。Windows四蓝图已有成果，公开下载与源码渠道仍在准备。后续真实场景按实际使用范围核对组织、安全、权限与恢复，不把预算日历当功能交付。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这里是由官方学习资源、教育方向和当前工具能力形成的教学设计问题，不是已做访谈后的需求比例。教育部2024年分学段方向支持感知体验、理解应用及任务和项目实践。孩子能否独立完成、教师采用理由将在共创中记录。</a:t>
            </a:r>
          </a:p>
          <a:p xmlns:a="http://schemas.openxmlformats.org/drawingml/2006/main">
            <a:r>
              <a:t>转场：参照 Scratch，在读、改、搭、讲中学习 Agent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https://www.moe.gov.cn/jyb_xwfb/gzdt_gzdt/s5987/202412/t20241202_1165500.html</a:t>
            </a:r>
          </a:p>
          <a:p xmlns:a="http://schemas.openxmlformats.org/drawingml/2006/main">
            <a:r>
              <a:t>https://scratchfoundation.org/learn/learning-library/getting-started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Scratch提供起始作品、编辑器教程、改编与调试资源。Blocky借鉴的是创作方式。Agent作品中，模型按任务生成、记忆提供跨轮上下文、工具执行具体动作；学生在作品中理解这些部件。小学适用性与效果不能由Scratch参照直接推断。</a:t>
            </a:r>
          </a:p>
          <a:p xmlns:a="http://schemas.openxmlformats.org/drawingml/2006/main">
            <a:r>
              <a:t>转场：先读懂故事搭档，再预测它怎样回应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https://scratchfoundation.org/learn/learning-library/getting-started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故事搭档是一项未来教学设计：输入勇敢小猫，由条件选择方向，再把方向、友善角色和三句并提问的任务交给教师预选模型。孩子先预测路线，再检查实际回应。下一页用已运行的本地规则对照说明一次改动如何改变步骤，完整故事活动在产品准备之后实施。</a:t>
            </a:r>
          </a:p>
          <a:p xmlns:a="http://schemas.openxmlformats.org/drawingml/2006/main">
            <a:r>
              <a:t>转场：只改一处，对照结构、步骤和结果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讲述时间参考30秒。</a:t>
            </a:r>
          </a:p>
          <a:p xmlns:a="http://schemas.openxmlformats.org/drawingml/2006/main">
            <a:r>
              <a:t>本地规则两次执行分别经过forest与garden。输入保持不变，只把条件从勇敢改成友善，得到不同路线和短方向输出。孩子指出改变的位置，解释步骤为什么改变，再换一个输入检验；后续可用同样方法比较真实模型回应。</a:t>
            </a:r>
          </a:p>
          <a:p xmlns:a="http://schemas.openxmlformats.org/drawingml/2006/main">
            <a:r>
              <a:t>转场：换一个目标，组合自己的海底向导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讲述时间参考30秒。</a:t>
            </a:r>
          </a:p>
          <a:p xmlns:a="http://schemas.openxmlformats.org/drawingml/2006/main">
            <a:r>
              <a:t>这是不同于故事搭档的新目标，要求孩子自主决定角色、输入和任务。每次增加一种能力。记忆把本次方向保存下轮使用，工具可以统计文本，知识部件可提供教师选择的资料。教师负责模型和工具权限。这里是迁移任务设计，不是学生已完成的课堂证据。</a:t>
            </a:r>
          </a:p>
          <a:p xmlns:a="http://schemas.openxmlformats.org/drawingml/2006/main">
            <a:r>
              <a:t>转场：一次增加一种能力，解释它带来的变化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能力按学习任务逐步加入。模型负责生成回应，记忆保留后续需要的信息，资料为任务提供上下文，工具完成具体动作。每一步保存输入、结构、实际结果和孩子的解释，教师准备对应模型、资料与工具权限。</a:t>
            </a:r>
          </a:p>
          <a:p xmlns:a="http://schemas.openxmlformats.org/drawingml/2006/main">
            <a:r>
              <a:t>转场：用运行轨迹定位步骤，再回到作品修改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讲述时间参考30秒。</a:t>
            </a:r>
          </a:p>
          <a:p xmlns:a="http://schemas.openxmlformats.org/drawingml/2006/main">
            <a:r>
              <a:t>两个局部来自同次真实普通包运行。黄色虚线是编辑选中状态，运行事件可定位具体积木。它证明轨迹与作品对应能力，截图不是故事搭档。孩子先预测，再找实际步骤，定位修改后重新运行并讲解。</a:t>
            </a:r>
          </a:p>
          <a:p xmlns:a="http://schemas.openxmlformats.org/drawingml/2006/main">
            <a:r>
              <a:t>转场：作品、过程和帮助程度共同说明学习进展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表中的四个任务可以各自使用0到3的帮助等级，不是一行任务只对应一种等级。用匿名编号、作品版本、输入输出和口述解释记录，迁移任务与练习题分开。目标完成比例需连同样本、课时和帮助等级解读；不是课堂效果实验。</a:t>
            </a:r>
          </a:p>
          <a:p xmlns:a="http://schemas.openxmlformats.org/drawingml/2006/main">
            <a:r>
              <a:t>转场：用作品包组织课前、课中和课后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教师先准备可运行原作品并明确权限，学生保存自己的副本。课中通过预测、单一改动、迁移任务和解释观察学习。课后收集项目文件与记录，用它准备下一次活动。组织后台与评价辅助按后续建设规划推进；此页给出使用现有项目保存、蓝图与轨迹的人工组织方案，不把课程包当已售成果。</a:t>
            </a:r>
          </a:p>
          <a:p xmlns:a="http://schemas.openxmlformats.org/drawingml/2006/main">
            <a:r>
              <a:t>转场：先保存原作品，再组织学生副本与复盘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这里用项目文件与保存重开组织课程，不承诺自动班级账户、云分发或自动评分。原作品与学生副本保留版本，资源和模型密钥不放进作品文件。支持服务可以提供重开检查和恢复说明。课程指南属于服务设计。</a:t>
            </a:r>
          </a:p>
          <a:p xmlns:a="http://schemas.openxmlformats.org/drawingml/2006/main">
            <a:r>
              <a:t>转场：围绕创作对象、可改部件和过程解释比较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Scratch提供作品创作学习参照，Blocks Builder AI提供可视化AI和组织教学方案参照。比较围绕同一教学任务进行：创作什么、可以修改哪些部件、怎样查看运行过程、教师怎样组织。Blocky重点连接结构审阅、修改审阅与运行事件映射，后续教师活动进一步核对适配价值。</a:t>
            </a:r>
          </a:p>
          <a:p xmlns:a="http://schemas.openxmlformats.org/drawingml/2006/main">
            <a:r>
              <a:t>转场：对照同一个教学任务，依据官方公开信息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https://scratchfoundation.org/learn/learning-library/getting-started</a:t>
            </a:r>
          </a:p>
          <a:p xmlns:a="http://schemas.openxmlformats.org/drawingml/2006/main">
            <a:r>
              <a:t>https://scratchfoundation.org/learn/learning-library/teacher-accounts</a:t>
            </a:r>
          </a:p>
          <a:p xmlns:a="http://schemas.openxmlformats.org/drawingml/2006/main">
            <a:r>
              <a:t>https://blocksbuilder.ai/features</a:t>
            </a:r>
          </a:p>
          <a:p xmlns:a="http://schemas.openxmlformats.org/drawingml/2006/main">
            <a:r>
              <a:t>https://blocksbuilder.ai/pricing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竞争比较在同一任务中进行，后续教师共创记录准备成本、阅读理解、调试解释与复用。官网声明不等于竞品实测，Blocky小学效果不能由工程能力推出。Tynker课堂30学生许可证只是示例，学校Premium按人数与需求定制。组织方案参照是建设方向，非当前后台交付。</a:t>
            </a:r>
          </a:p>
          <a:p xmlns:a="http://schemas.openxmlformats.org/drawingml/2006/main">
            <a:r>
              <a:t>转场：学生使用，教师组织，机构决定合作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https://scratchfoundation.org/learn/learning-library/getting-started</a:t>
            </a:r>
          </a:p>
          <a:p xmlns:a="http://schemas.openxmlformats.org/drawingml/2006/main">
            <a:r>
              <a:t>https://scratchfoundation.org/learn/learning-library/teacher-accounts</a:t>
            </a:r>
          </a:p>
          <a:p xmlns:a="http://schemas.openxmlformats.org/drawingml/2006/main">
            <a:r>
              <a:t>https://blocksbuilder.ai/features</a:t>
            </a:r>
          </a:p>
          <a:p xmlns:a="http://schemas.openxmlformats.org/drawingml/2006/main">
            <a:r>
              <a:t>https://blocksbuilder.ai/pricing</a:t>
            </a:r>
          </a:p>
          <a:p xmlns:a="http://schemas.openxmlformats.org/drawingml/2006/main">
            <a:r>
              <a:t>https://www.tynker.com/school/coding-curriculum/request</a:t>
            </a:r>
          </a:p>
          <a:p xmlns:a="http://schemas.openxmlformats.org/drawingml/2006/main">
            <a:r>
              <a:t>https://www.tynker.com/classroom-school/coding-curriculum/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使用者、组织者与采购方分开。首批不以全国学校数量当市场规模；先筛有设备、组织者和具体活动的小学或机构。公开交流从教学任务和作品开始，再与预算负责人界定人工服务和模型成本。这是客户进入计划，不是已经签约名单。</a:t>
            </a:r>
          </a:p>
          <a:p xmlns:a="http://schemas.openxmlformats.org/drawingml/2006/main">
            <a:r>
              <a:t>转场：产品准备完成后，进入教师与机构真实使用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产品准备完成后，先找到明确教学任务，再共同开展活动，最后形成适配与采购范围。20次有效接触、8次深入演示和4份交付合同是可调整的条件漏斗，不绑定特定年份。每一步留下任务、使用、教师复用与支付条件的记录，按实际反馈决定是否扩展。</a:t>
            </a:r>
          </a:p>
          <a:p xmlns:a="http://schemas.openxmlformats.org/drawingml/2006/main">
            <a:r>
              <a:t>转场：个人版开源，组织与算力分别收费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99元每月2000积分、进阶199元每月4500积分、专业999元每月25000积分。加量包50元1000积分30天。月度额度拟当期有效不结转，优先用最早到期额度。积分按模型实际输入、输出和缓存等费率折算，不承诺固定Token数量、任务数或无限额度。价格为拟案，尚未购买或计费。https://blocky.donk55666.chatgpt.site/#/pricing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  <a:p xmlns:a="http://schemas.openxmlformats.org/drawingml/2006/main">
            <a:r>
              <a:t>软件、托管用量和机构服务分账。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BBAI官网教育方案列师生账户、课堂管理、进度分析、课程支持与优先支持；Tynker学校方案列管理、自动评分和教师发展，Premium按学生数和学校需求报价；其课堂课程页面另有30学生许可证示例，不能将所有学校固定为30人。Blocky借鉴采购结构，不照搬价格或宣称后台已可购买。Agent作品的评价规划先用明确规则检查、过程记录与教师复核，不能把自动评分等同模型答案正确或学习提升。报价按学生规模、管理、部署和支持范围，与算力分开。</a:t>
            </a:r>
          </a:p>
          <a:p xmlns:a="http://schemas.openxmlformats.org/drawingml/2006/main">
            <a:r>
              <a:t>转场：以开放创作，积累作品和扩展生态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https://blocksbuilder.ai/pricing</a:t>
            </a:r>
          </a:p>
          <a:p xmlns:a="http://schemas.openxmlformats.org/drawingml/2006/main">
            <a:r>
              <a:t>https://www.tynker.com/school/coding-curriculum/request</a:t>
            </a:r>
          </a:p>
          <a:p xmlns:a="http://schemas.openxmlformats.org/drawingml/2006/main">
            <a:r>
              <a:t>https://www.tynker.com/classroom-school/coding-curriculum/</a:t>
            </a:r>
          </a:p>
          <a:p xmlns:a="http://schemas.openxmlformats.org/drawingml/2006/main">
            <a:r>
              <a:t>https://www.tynker.com/school/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个人版完全开源与社区建设沿产品路线推进。贡献入口承接可复现作品、蓝图、积木包、教学资料和改进建议，第三方资源保留来源、版本与权限说明。社区复用推动产品与课程积累，组织托管和云算力提供独立的持续服务。</a:t>
            </a:r>
          </a:p>
          <a:p xmlns:a="http://schemas.openxmlformats.org/drawingml/2006/main">
            <a:r>
              <a:t>转场：让产品能力沉淀为可重复使用的教学资产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这里介绍项目可核对成果和复用资产。后两行是服务建设规划，不是已完成课程资产。复用可能减少工时，但财务未预先计入未经实测的节省；应比较初次制作和第二次复用的实际工时。</a:t>
            </a:r>
          </a:p>
          <a:p xmlns:a="http://schemas.openxmlformats.org/drawingml/2006/main">
            <a:r>
              <a:t>转场：服务报价连接教学规模、交付资产与支持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样例范围为1班30名学生、6次活动与3个可编辑作品，配置、准备、培训和支持合计80小时。它用于说明教学服务如何按范围组织。真实场景准备完成后，以实际活动、设备、支持工作量形成报价，组织后台与模型算力分别核算，机构可使用自有API账户。</a:t>
            </a:r>
          </a:p>
          <a:p xmlns:a="http://schemas.openxmlformats.org/drawingml/2006/main">
            <a:r>
              <a:t>转场：短任务用量与专业Agent月成本分别测算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本轮保留配套2026-10-03 XLSX中的历史预算输入，不将其中供应商价格称为最新价格。历史短任务、供应商专业统计、使用频次假设及汇率分别说明。采购前重新核价，不能将专业资源参照套给小学生。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讲述时间参考35秒。</a:t>
            </a:r>
          </a:p>
          <a:p xmlns:a="http://schemas.openxmlformats.org/drawingml/2006/main">
            <a:r>
              <a:t>人数是产品准备后条件容量，月序19为排期假设。短任务参考和专业档公开统计分别使用；人均月预算不是套餐售价或真实课堂费用。专业中点200美元按参考汇率换算，研发预算另列。实际模型、Token、缓存、重试和合同须按账单校准。</a:t>
            </a:r>
          </a:p>
          <a:p xmlns:a="http://schemas.openxmlformats.org/drawingml/2006/main">
            <a:r>
              <a:t>转场：24个月资金覆盖研发与后续条件场景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https://api-docs.deepseek.com/zh-cn/quick_start/pricing/</a:t>
            </a:r>
          </a:p>
          <a:p xmlns:a="http://schemas.openxmlformats.org/drawingml/2006/main">
            <a:r>
              <a:t>https://code.claude.com/docs/en/costs</a:t>
            </a:r>
          </a:p>
          <a:p xmlns:a="http://schemas.openxmlformats.org/drawingml/2006/main">
            <a:r>
              <a:t>https://www.chinamoney.com.cn/chinese/index.html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讲述时间参考40秒。</a:t>
            </a:r>
          </a:p>
          <a:p xmlns:a="http://schemas.openxmlformats.org/drawingml/2006/main">
            <a:r>
              <a:t>基准现金支出573.239万元，最低追加866.443万元，取整规划900.000万元。等效资源前6月3、后18月4，综合人月2万元，非团队履历。研发内部与场景算力分开；产品准备关口后才启用场景容量。收入与自有资金未知，默认不抵减。现金储备、预留和设备资产均不重复费用。</a:t>
            </a:r>
          </a:p>
          <a:p xmlns:a="http://schemas.openxmlformats.org/drawingml/2006/main">
            <a:r>
              <a:t>转场：资金按研发关口投入，再支持真实场景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原工作簿各阶段金额和月份保持。当前研发对象改为四蓝图与场景配套，不再按六品牌模板投入。原24个月模型是资源容量假设，尚未重新估计工时，也未计入官网拟定套餐收入；排期按实际关口更新。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讲述时间参考35秒。</a:t>
            </a:r>
          </a:p>
          <a:p xmlns:a="http://schemas.openxmlformats.org/drawingml/2006/main">
            <a:r>
              <a:t>30万元只是现金预算判断，不是大模型厂商的报价。非退合作费、可消费额度预付与可退保证金当前输入0表示未录入条款，不表示厂商免费。已发生的非退费用以及期末占用的保证金、未消耗额度占用预留余额，预留余额最低为0。预付额度在消耗时抵扣模型采购现金，不能把充值和后续被抵扣的消耗再收两遍；保证金不进入损益。基准暂不假定返还到账，签约后按实际条款增加返还时点。</a:t>
            </a:r>
          </a:p>
          <a:p xmlns:a="http://schemas.openxmlformats.org/drawingml/2006/main">
            <a:r>
              <a:t>转场：用回款与合作条款，校准资金计划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官网已有拟定价格，积分与Token转换费率、采用人数和实际收款未确认。本页仍是原资金模型的成本回收敏感性，80%表示采购成本回收假设，不能当作套餐毛利、销售预测或已确认回款。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讲述时间参考35秒。</a:t>
            </a:r>
          </a:p>
          <a:p xmlns:a="http://schemas.openxmlformats.org/drawingml/2006/main">
            <a:r>
              <a:t>三个资源情景同时改变等效人力、条件用户容量、用量成本及现金储备。专业基准来自公开使用统计中点，精简75%对应150美元月参考，高用量2.5倍为独立压力参数。场景关口与容量均不代表已经采用、付费或上线。</a:t>
            </a:r>
          </a:p>
          <a:p xmlns:a="http://schemas.openxmlformats.org/drawingml/2006/main">
            <a:r>
              <a:t>转场：近期90天推进四类蓝图与创作产品与后续开发准备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90天为可调整研发窗口，不承诺完整组织后台、计费、多端同时上线。现有官网可支持产品交流，公开下载和开源入口待准备。真实课堂和专业客户成果仍需采证。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官网与拟定套餐本轮于2026-10-05核对；其他竞品及供应商资料保留2026-10-03原访问快照。OPC不计入新增合同或营收。https://blocky.donk55666.chatgpt.site/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合作沟通以明确范围和准备条件为前提。官网提供产品介绍、教育与专业场景、预设在线体验及价格咨询。个人软件免费方向不变，托管与机构合作按实际条件讨论。公开下载、源码和社区入口仍在准备。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fb749a4d848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f5327102ca41e6" /><Relationship Type="http://schemas.openxmlformats.org/officeDocument/2006/relationships/slideLayout" Target="/ppt/slideLayouts/slideLayout1.xml" Id="R7c170d73de7748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170d73de7748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locky Editorial">
      <a:dk1>
        <a:srgbClr val="112A26"/>
      </a:dk1>
      <a:lt1>
        <a:srgbClr val="FFFFFF"/>
      </a:lt1>
      <a:dk2>
        <a:srgbClr val="172E2B"/>
      </a:dk2>
      <a:lt2>
        <a:srgbClr val="F8FAF2"/>
      </a:lt2>
      <a:accent1>
        <a:srgbClr val="087B6E"/>
      </a:accent1>
      <a:accent2>
        <a:srgbClr val="D9F07A"/>
      </a:accent2>
      <a:accent3>
        <a:srgbClr val="9E6527"/>
      </a:accent3>
      <a:accent4>
        <a:srgbClr val="3465A1"/>
      </a:accent4>
      <a:accent5>
        <a:srgbClr val="7963A3"/>
      </a:accent5>
      <a:accent6>
        <a:srgbClr val="90B95E"/>
      </a:accent6>
      <a:hlink>
        <a:srgbClr val="D9F07A"/>
      </a:hlink>
      <a:folHlink>
        <a:srgbClr val="D9F07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ocky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fc5280d6c4078" /><Relationship Type="http://schemas.openxmlformats.org/officeDocument/2006/relationships/image" Target="/ppt/media/image.png" Id="R633c245c8deb40f2" /><Relationship Type="http://schemas.openxmlformats.org/officeDocument/2006/relationships/notesSlide" Target="/ppt/notesSlides/notesSlide1.xml" Id="R763717131a6b43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0e840974a4fd1" /><Relationship Type="http://schemas.openxmlformats.org/officeDocument/2006/relationships/notesSlide" Target="/ppt/notesSlides/notesSlide2.xml" Id="Reee34c85132b48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8bf5bbb494f92" /><Relationship Type="http://schemas.openxmlformats.org/officeDocument/2006/relationships/notesSlide" Target="/ppt/notesSlides/notesSlide3.xml" Id="R2f732cc75f0e40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1fd219e6f4474" /><Relationship Type="http://schemas.openxmlformats.org/officeDocument/2006/relationships/image" Target="/ppt/media/image2.png" Id="R90dcad507c8a415f" /><Relationship Type="http://schemas.openxmlformats.org/officeDocument/2006/relationships/notesSlide" Target="/ppt/notesSlides/notesSlide4.xml" Id="R51c945a3135d43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45a9726e945c7" /><Relationship Type="http://schemas.openxmlformats.org/officeDocument/2006/relationships/notesSlide" Target="/ppt/notesSlides/notesSlide5.xml" Id="R58a44b53f2b74e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0d7fc11064fa8" /><Relationship Type="http://schemas.openxmlformats.org/officeDocument/2006/relationships/notesSlide" Target="/ppt/notesSlides/notesSlide6.xml" Id="R0ae899c6bfd145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c1ed4e876494f" /><Relationship Type="http://schemas.openxmlformats.org/officeDocument/2006/relationships/notesSlide" Target="/ppt/notesSlides/notesSlide7.xml" Id="R084bcd4c893e4f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a3b0647aa4df3" /><Relationship Type="http://schemas.openxmlformats.org/officeDocument/2006/relationships/image" Target="/ppt/media/image3.png" Id="Rb84c7a4fd62d4406" /><Relationship Type="http://schemas.openxmlformats.org/officeDocument/2006/relationships/notesSlide" Target="/ppt/notesSlides/notesSlide8.xml" Id="R9b11f359f72346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4feebea424f14" /><Relationship Type="http://schemas.openxmlformats.org/officeDocument/2006/relationships/image" Target="/ppt/media/image4.png" Id="R8984e3c2c126477d" /><Relationship Type="http://schemas.openxmlformats.org/officeDocument/2006/relationships/notesSlide" Target="/ppt/notesSlides/notesSlide9.xml" Id="Rac0ce3ee494e42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0ceb1392f4028" /><Relationship Type="http://schemas.openxmlformats.org/officeDocument/2006/relationships/notesSlide" Target="/ppt/notesSlides/notesSlide10.xml" Id="R2f544736fa424c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2f290ff584ee4" /><Relationship Type="http://schemas.openxmlformats.org/officeDocument/2006/relationships/image" Target="/ppt/media/image5.png" Id="R7f8704d1fd7b481f" /><Relationship Type="http://schemas.openxmlformats.org/officeDocument/2006/relationships/notesSlide" Target="/ppt/notesSlides/notesSlide11.xml" Id="R3f9a87874c8747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5eaed81d94541" /><Relationship Type="http://schemas.openxmlformats.org/officeDocument/2006/relationships/notesSlide" Target="/ppt/notesSlides/notesSlide12.xml" Id="R5d7267511a164e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35bd41f084ead" /><Relationship Type="http://schemas.openxmlformats.org/officeDocument/2006/relationships/notesSlide" Target="/ppt/notesSlides/notesSlide13.xml" Id="Re8e15255881349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58ad4aaf94a57" /><Relationship Type="http://schemas.openxmlformats.org/officeDocument/2006/relationships/notesSlide" Target="/ppt/notesSlides/notesSlide14.xml" Id="R90939353738749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e72eed8d846c9" /><Relationship Type="http://schemas.openxmlformats.org/officeDocument/2006/relationships/notesSlide" Target="/ppt/notesSlides/notesSlide15.xml" Id="R3ea07c156d874b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ea6fa1bb9455e" /><Relationship Type="http://schemas.openxmlformats.org/officeDocument/2006/relationships/notesSlide" Target="/ppt/notesSlides/notesSlide16.xml" Id="R5ae78392dde646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2d8b818664ce9" /><Relationship Type="http://schemas.openxmlformats.org/officeDocument/2006/relationships/image" Target="/ppt/media/image6.png" Id="Rcee15262b0054c9c" /><Relationship Type="http://schemas.openxmlformats.org/officeDocument/2006/relationships/notesSlide" Target="/ppt/notesSlides/notesSlide17.xml" Id="R21dbb551431f46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9ae277dbb43ea" /><Relationship Type="http://schemas.openxmlformats.org/officeDocument/2006/relationships/notesSlide" Target="/ppt/notesSlides/notesSlide18.xml" Id="R43eae592b3464b7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889cb4deb4f59" /><Relationship Type="http://schemas.openxmlformats.org/officeDocument/2006/relationships/notesSlide" Target="/ppt/notesSlides/notesSlide19.xml" Id="Ra088035d2a1341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90c7ce6d64b2d" /><Relationship Type="http://schemas.openxmlformats.org/officeDocument/2006/relationships/notesSlide" Target="/ppt/notesSlides/notesSlide20.xml" Id="Reb05fbf5cc02441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1ba1a5125496c" /><Relationship Type="http://schemas.openxmlformats.org/officeDocument/2006/relationships/notesSlide" Target="/ppt/notesSlides/notesSlide21.xml" Id="R54cd648cbdbd4b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9bca6f5974e71" /><Relationship Type="http://schemas.openxmlformats.org/officeDocument/2006/relationships/notesSlide" Target="/ppt/notesSlides/notesSlide22.xml" Id="Rb86dc84815f64c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2baef3fff40c3" /><Relationship Type="http://schemas.openxmlformats.org/officeDocument/2006/relationships/image" Target="/ppt/media/image7.png" Id="R5b4f5cba2ea443e2" /><Relationship Type="http://schemas.openxmlformats.org/officeDocument/2006/relationships/image" Target="/ppt/media/image8.png" Id="R189d98c6e36a40a3" /><Relationship Type="http://schemas.openxmlformats.org/officeDocument/2006/relationships/notesSlide" Target="/ppt/notesSlides/notesSlide23.xml" Id="Rb8f6e3aeaa144f4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0d6d1b05d485a" /><Relationship Type="http://schemas.openxmlformats.org/officeDocument/2006/relationships/notesSlide" Target="/ppt/notesSlides/notesSlide24.xml" Id="R62dd4b4fdcc74f5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9c8736c2d44a1" /><Relationship Type="http://schemas.openxmlformats.org/officeDocument/2006/relationships/notesSlide" Target="/ppt/notesSlides/notesSlide25.xml" Id="R09ca0024efd540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2a6bd35b4449e" /><Relationship Type="http://schemas.openxmlformats.org/officeDocument/2006/relationships/notesSlide" Target="/ppt/notesSlides/notesSlide26.xml" Id="R601181f92aba4ce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6e7c0b65a4f4b" /><Relationship Type="http://schemas.openxmlformats.org/officeDocument/2006/relationships/notesSlide" Target="/ppt/notesSlides/notesSlide27.xml" Id="R30a7cb0cdfe646e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013140e2d435b" /><Relationship Type="http://schemas.openxmlformats.org/officeDocument/2006/relationships/notesSlide" Target="/ppt/notesSlides/notesSlide28.xml" Id="R909c4065ee5d4da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0258f27dc4bd6" /><Relationship Type="http://schemas.openxmlformats.org/officeDocument/2006/relationships/notesSlide" Target="/ppt/notesSlides/notesSlide29.xml" Id="R6232900c5a6b4ef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834aa58c24054" /><Relationship Type="http://schemas.openxmlformats.org/officeDocument/2006/relationships/notesSlide" Target="/ppt/notesSlides/notesSlide30.xml" Id="R6b2275b858004ba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73ff7d58c4050" /><Relationship Type="http://schemas.openxmlformats.org/officeDocument/2006/relationships/notesSlide" Target="/ppt/notesSlides/notesSlide31.xml" Id="R0e70c20d998a466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2d4710b9b4d2e" /><Relationship Type="http://schemas.openxmlformats.org/officeDocument/2006/relationships/notesSlide" Target="/ppt/notesSlides/notesSlide32.xml" Id="R648d30cab9b5436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285b9cb8f4d28" /><Relationship Type="http://schemas.openxmlformats.org/officeDocument/2006/relationships/notesSlide" Target="/ppt/notesSlides/notesSlide33.xml" Id="Re6a5955a041d44e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57ba546194286" /><Relationship Type="http://schemas.openxmlformats.org/officeDocument/2006/relationships/notesSlide" Target="/ppt/notesSlides/notesSlide34.xml" Id="R1fe59c0c238f491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9851cbd9f43d1" /><Relationship Type="http://schemas.openxmlformats.org/officeDocument/2006/relationships/notesSlide" Target="/ppt/notesSlides/notesSlide35.xml" Id="R6fd24548561f41b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1f328e28c4202" /><Relationship Type="http://schemas.openxmlformats.org/officeDocument/2006/relationships/notesSlide" Target="/ppt/notesSlides/notesSlide36.xml" Id="R645630e402834fa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0d254af14429e" /><Relationship Type="http://schemas.openxmlformats.org/officeDocument/2006/relationships/notesSlide" Target="/ppt/notesSlides/notesSlide37.xml" Id="R11fe308c5a61445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7c74781be4c34" /><Relationship Type="http://schemas.openxmlformats.org/officeDocument/2006/relationships/notesSlide" Target="/ppt/notesSlides/notesSlide38.xml" Id="R9dec81187fbc4ba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f7a1b9b2d4652" /><Relationship Type="http://schemas.openxmlformats.org/officeDocument/2006/relationships/notesSlide" Target="/ppt/notesSlides/notesSlide39.xml" Id="Rdced6d4e99814be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3dc9b2bd64f9d" /><Relationship Type="http://schemas.openxmlformats.org/officeDocument/2006/relationships/notesSlide" Target="/ppt/notesSlides/notesSlide40.xml" Id="Ref8495674ed14ca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35ed838cb40a8" /><Relationship Type="http://schemas.openxmlformats.org/officeDocument/2006/relationships/notesSlide" Target="/ppt/notesSlides/notesSlide41.xml" Id="Ra6fa66ed4db2490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8e00483e2406b" /><Relationship Type="http://schemas.openxmlformats.org/officeDocument/2006/relationships/notesSlide" Target="/ppt/notesSlides/notesSlide42.xml" Id="Rdffbef1854f7437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f9d650a6f40ce" /><Relationship Type="http://schemas.openxmlformats.org/officeDocument/2006/relationships/notesSlide" Target="/ppt/notesSlides/notesSlide43.xml" Id="Ra568db8a23834db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e9421fb9d41a6" /><Relationship Type="http://schemas.openxmlformats.org/officeDocument/2006/relationships/notesSlide" Target="/ppt/notesSlides/notesSlide44.xml" Id="R71959e6ccabf474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0aebd439a4ceb" /><Relationship Type="http://schemas.openxmlformats.org/officeDocument/2006/relationships/hyperlink" Target="https://blocky.donk55666.chatgpt.site/" TargetMode="External" Id="R951de16e6a084610" /><Relationship Type="http://schemas.openxmlformats.org/officeDocument/2006/relationships/notesSlide" Target="/ppt/notesSlides/notesSlide45.xml" Id="R34c777fa007a48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5ECA0-BF25-4555-A792-E3F6435F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048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4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8FF34-8029-430F-86A7-938111CE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息壤杯 · 高校赛区 · 项目答辩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D6A2F-841E-466B-92A5-466A7D2A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7624A-CE33-46A0-8130-25456F7E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rPr>
              <a:t>01 / 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87CF0-E19F-4A09-9ED2-AC90571A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B8272-73D3-4493-8C00-A646FBAC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4045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0B3E4-BEB8-4731-92F0-5DDB958C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EFF6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FF6E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812D2-E5FB-4552-8542-43B9065B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581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1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用积木，创作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1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自己的 AI 智能体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D9836-4BEA-441E-AC26-83FF3EF6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810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75124-D7ED-46E9-95C8-F411C8CA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教育入门与专业创作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2BEC8-BD27-4CD4-AFDF-960EB3D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BCCB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CCBBE"/>
                </a:solidFill>
                <a:latin typeface="Microsoft YaHei"/>
                <a:ea typeface="Microsoft YaHei"/>
                <a:cs typeface="Microsoft YaHei"/>
              </a:rPr>
              <a:t>读懂  ·  改造  ·  搭建  ·  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09FF5-B39A-461B-B8ED-18E70C5F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CCB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CCBBE"/>
                </a:solidFill>
                <a:latin typeface="Microsoft YaHei"/>
                <a:ea typeface="Microsoft YaHei"/>
                <a:cs typeface="Microsoft YaHei"/>
              </a:rPr>
              <a:t>TB快重置就队  |  2026年10月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c245c8deb40f2"/>
          <a:stretch xmlns:a="http://schemas.openxmlformats.org/drawingml/2006/main"/>
        </p:blipFill>
        <p:spPr>
          <a:xfrm xmlns:a="http://schemas.openxmlformats.org/drawingml/2006/main">
            <a:off x="6880155" y="1285875"/>
            <a:ext cx="4308616" cy="48672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7518F-DBE1-49A3-B946-D172A39D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200775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8CA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CA899"/>
                </a:solidFill>
                <a:latin typeface="Microsoft YaHei"/>
                <a:ea typeface="Microsoft YaHei"/>
                <a:cs typeface="Microsoft YaHei"/>
              </a:rPr>
              <a:t>品牌概念插画</a:t>
            </a:r>
          </a:p>
        </p:txBody>
      </p:sp>
    </p:spTree>
    <p:extLst>
      <p:ext uri="{BB962C8B-B14F-4D97-AF65-F5344CB8AC3E}">
        <p14:creationId xmlns:p14="http://schemas.microsoft.com/office/powerpoint/2010/main" val="15656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1F2BE-E489-46BA-A5A6-469B4012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EF404-66D6-4BE7-A69F-10593EF9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 / 研发命题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39CF6-7B62-45A4-947A-2CE9F2D0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Agent成为孩子可以设计的创作对象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CE52F-CA47-4484-928F-589394C6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小学入门延续Scratch式作品创作，把角色、任务与行动变成可修改的结构。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F26D8-B823-40F4-87E4-84D4E280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C3296-3623-406F-BDC1-E5AC6BBC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02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D3837-4670-44A2-9953-D0865C62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52D0A-CF3C-4CD3-8A20-403FCF3F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8090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1813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89505"/>
                <a:gridCol w="4237990"/>
                <a:gridCol w="419290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研发问题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产品方法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形成的学习任务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怎样读懂Agent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角色、任务、模型、记忆与工具以积木表达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指出部件，预测作品如何回应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怎样表达自己的设计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修改条件、任务或能力组合，保留项目差异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比较结果，说明自己为什么修改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怎样理解实际行为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运行事件对应具体积木，回到结构继续修订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解释实际步骤，再搭建新的目标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45848-37B5-4E81-85BF-144DF483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研发目标：让创作结构与实际运行共同支撑学生的设计、尝试和讲解。</a:t>
            </a:r>
          </a:p>
        </p:txBody>
      </p:sp>
    </p:spTree>
    <p:extLst>
      <p:ext uri="{BB962C8B-B14F-4D97-AF65-F5344CB8AC3E}">
        <p14:creationId xmlns:p14="http://schemas.microsoft.com/office/powerpoint/2010/main" val="744711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D59E33-97B8-4C6A-9105-5941C8D1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9AED2-43C4-4392-B32F-C1B2F255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 / 研发阶段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F5CF3-F781-4982-A94B-5047D2B8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四类起始蓝图已交付，继续推进场景配套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B70B9-C9AD-4EF6-BE09-4D8585D8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Windows创作底座与四蓝图已形成成果，组织、部署与社区按关口推进。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B062F-73A2-461B-99AA-FFE08E89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934D5-FC86-4C96-ABB2-C666BA2C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03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F42E4-BFA4-45F7-8989-0B389ED6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D2115-F6F1-4CE0-A0B2-16CAEB5A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72136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859D9-4015-4654-AF2A-9F3AF255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0C45A-0D44-4EEA-BB3A-1CF46871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C5A30-A7FC-4861-A549-421BB8AB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2E633-C964-494A-835E-501CAC78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33FDD-1359-46E2-A205-8A1842F9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56DBD-B7CF-42A3-968A-1D58BB81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当前底座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FAE1D-B987-425F-AEAA-15884EF7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Windows创作工作台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项目、运行与审阅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23743-4331-442F-B5C7-03EE5C86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已形成阶段成果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FFD30-FE99-44E2-8273-14E441AD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53D8C-351D-4BC6-AA0C-B13F587E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当前蓝图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7A23B-83C5-49A9-A5A4-423D3AD8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知识问答、工作、Coding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Pi Agent，可自由改造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3FE79-02C5-4A16-A9B1-4E6B6B2B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已完成普通包交付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E38AD-D427-48DA-8E76-D7A0D0E9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B6923-D2D6-4A01-B3A5-03F2C3F6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后续开发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C98B2-472C-4FFE-8831-16870638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创作接口、组织部署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社区、多端与Agent 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6FC13C-922F-4934-9F88-46A0A89C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形成可使用产品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10A7D1-84CA-4B95-9478-59174F1D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25AAD1-2130-4D13-B8A4-4784746A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真实场景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7C1D04-08CA-49FC-A35D-91495F47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产品准备关口通过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再进入课堂与机构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1AD8A2-1D6B-4707-8263-A79648AC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采集采用和用量证据</a:t>
            </a:r>
          </a:p>
        </p:txBody>
      </p:sp>
    </p:spTree>
    <p:extLst>
      <p:ext uri="{BB962C8B-B14F-4D97-AF65-F5344CB8AC3E}">
        <p14:creationId xmlns:p14="http://schemas.microsoft.com/office/powerpoint/2010/main" val="854273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AE1A2E-A5F2-4716-859F-5D355AF0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DEBCF-4B8F-46E6-A646-1ACD330E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 / 产品全貌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47E0B-4E7E-48EE-9BB2-C9D58D2E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一个工作台承接作品、运行与修改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F5211-C3B2-49B0-BF32-E2FB68DC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当前阶段 · 真实 Windows 工作台与合成资料作品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E5EB8-35B5-410C-8660-36907051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654F8-D490-47D5-BEF5-16EF3144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04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A2C2A-182E-41EF-A643-BA298D71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0B357-886C-460B-B624-BB11867F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618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D2D2F-2C72-4D14-A00C-1F088391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02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AC62D-5F8D-4BF6-A317-D6F38715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224028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积木与作品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B0DCC-65E4-4887-AA0B-858C5B4C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2615184"/>
            <a:ext cx="192024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选择部件，组合角色和任务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F1159-F456-4364-9E0C-B2605D78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152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514E0-85A7-4792-ABD8-6A84A8D5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3081528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运行与轨迹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C5274-5C99-4B6A-B996-2A349142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3456432"/>
            <a:ext cx="192024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查看回应，定位执行步骤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BA012-E40E-440A-8E98-62CD8991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22776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2C644-3D47-4A23-AEA1-969BA30F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3922776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构建助手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0B08E-BE2E-449D-9D9F-A8B92DF8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4297680"/>
            <a:ext cx="192024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描述想法，修改并撤销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6FA8E-F3DC-467E-994A-25A91BB3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64024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320C0-0FCE-4AE1-B911-1A41C3BF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4764024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项目保存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D0FED0-89CC-4261-93CD-940E6463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5138928"/>
            <a:ext cx="192024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保存、重开、继续改造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cad507c8a415f"/>
          <a:stretch xmlns:a="http://schemas.openxmlformats.org/drawingml/2006/main"/>
        </p:blipFill>
        <p:spPr>
          <a:xfrm xmlns:a="http://schemas.openxmlformats.org/drawingml/2006/main">
            <a:off x="1584099" y="2103120"/>
            <a:ext cx="6112962" cy="38221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330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7A564-51C9-4C23-88A2-D103E0A9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51FE7-4565-4756-8B25-C8D2F8BF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 / 技术与资产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A9E24-D0C4-4022-A313-A6E2FF2A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开源底座之上，连接作品语义与实际运行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E3980-89F4-4747-B7B8-18497825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Blockly、Tauri与Pi提供底座；Blocky组织项目、运行映射与Host权限。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9F115-14F4-4E74-A642-14329A21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F0189-EAD2-4B38-9224-C2B79251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05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96BD9-6DFC-4EE4-9A5C-7413CEBB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69459-2D1C-4075-9E65-E60B3FEF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20226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09165"/>
                <a:gridCol w="5229860"/>
                <a:gridCol w="338137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项目中的职责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对应产品价值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编辑与项目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嵌套Workspace、模块、稳定资源引用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保存同一作品，展开与修改蓝图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编译与运行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项目语义、IR、诊断、运行事件与来源映射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把设计结构对应到实际执行步骤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Host与工具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解析模型资源、控制文件和工具权限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Host保管模型密钥并授权工具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构建与CLI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项目上下文、差异与撤销、共享领域接口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自然语言改造可审；保存后继续运行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C0A22-588E-47AA-81F5-FFEA22BB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积累方向：可改造作品、课程活动与复用支持资产，技术能力与教学内容共同迭代。</a:t>
            </a:r>
          </a:p>
        </p:txBody>
      </p:sp>
    </p:spTree>
    <p:extLst>
      <p:ext uri="{BB962C8B-B14F-4D97-AF65-F5344CB8AC3E}">
        <p14:creationId xmlns:p14="http://schemas.microsoft.com/office/powerpoint/2010/main" val="209167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BD79F-8994-40AF-A9B0-69AA1EDB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F5AA1-DAF2-4FFE-9DFA-81087B69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05 / 能力地图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5C959-D875-4908-AB5C-09416AC4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角色、模型、记忆和工具，成为可改造部件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692D0-D1BD-48F1-B5E9-9B610661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同一项目格式，让孩子从少量部件开始，再逐步增加能力。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08521-FBE7-411D-9495-9135524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7FDE0-2833-4C04-B338-F840AB60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06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51E6A-E628-44E6-8D8E-AA8F33AB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7A758-D915-4249-863B-39C34509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4427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D5B03-A68B-43CE-BA6D-0E1BD6B3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35242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A357A-DB12-4E92-AA7F-16341915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67712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角色与任务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3FD92-4A72-4A13-A3EC-1F3BA814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写下搭档角色与任务；检查回应要求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7EFD3-8696-4E80-B595-D5550B7F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267712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条件与逻辑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606F7-B06E-4C0A-955F-B4F06BDF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78892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改一个判断；比较输入相同的行动路线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66177-2CBD-45F4-A51E-A51A0B79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1568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模型与上下文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C87E3-45E5-4B32-92E1-FA49AECF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22776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选模型与材料；比较生成任务的变化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B2FFB-B55E-42C4-8106-549468D0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401568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67F07-0EBA-4E29-B308-081BC5D6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22776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记录现阶段方向；让后续回应使用信息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D854A-16C8-480C-9CC9-003637D7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5424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知识与工具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332F7-86A5-4C6A-9069-6AA10EBC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56632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选资料或登记动作；查看引用与工具结果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2AC67-14FB-4591-8C10-D8A913A0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535424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运行轨迹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41C14-0415-48FA-92F1-3145C0D6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5056632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事件回到积木；解释并修订实际步骤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01532-5C07-4458-B87A-BCCB6D86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教学设计：每次增加一种能力，并说明它为作品解决什么问题。</a:t>
            </a:r>
          </a:p>
        </p:txBody>
      </p:sp>
    </p:spTree>
    <p:extLst>
      <p:ext uri="{BB962C8B-B14F-4D97-AF65-F5344CB8AC3E}">
        <p14:creationId xmlns:p14="http://schemas.microsoft.com/office/powerpoint/2010/main" val="2600679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5928C9-FF64-42E6-B2E2-886CA76E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839DA-CC00-4693-AD4F-6E5F1D2D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06 / 积木审阅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679DD-37FD-443C-8535-D20EB794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从代码审阅，到积木审阅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DC199-9418-4F8D-95A3-B85B3542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把“我想让它做什么”，和“它实际做了什么”对应起来。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67C96-D11B-4949-8780-BC1E98ED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CFC4F-4F71-46D5-8200-2191D481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07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F6918-10BB-41A8-A2B5-3ABB8E51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A5D5A-1EC9-4D65-AB31-8FD829C5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68317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7CC19-B115-4B43-8E65-D4ADA35C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74C2A-CC90-411F-B078-A296D1F6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2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500EF-72B7-4197-8CA3-C83E296F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8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E2235-7BCD-4C74-ADE3-5AF700FC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FD0DF-D18E-4793-BF5E-C1A2C1FC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搭建时：结构可读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BA7F4-E2A8-4805-8678-0CB95F2E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读角色、指令、条件和记忆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逐块解释能力组合的理由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3461D-1AF4-4A15-B2C1-F62936B6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与创作目标核对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C06F7-9BD0-4251-9321-FD0B938E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CBB51-BF19-4108-9E0F-6C075FC8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执行前：修改可审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01E41-44FC-4BED-B32F-B19D7D4D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看资料、模型、工具与权限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预测步骤，检查配置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1EB83-7456-4FAA-8277-F980FB84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确认准备后运行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7F460-D9BF-4156-A78F-E936897C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2FC6E-7BDB-41FB-A807-6EAFA4C3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运行后：过程可解释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3E7A8-4D20-46C5-8BD4-F6A4A94C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看具体事件、输出和差异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定位一块积木，修订并保存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A4A23-9428-41F0-9188-FE515BCD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用实际过程解释设计</a:t>
            </a:r>
          </a:p>
        </p:txBody>
      </p:sp>
    </p:spTree>
    <p:extLst>
      <p:ext uri="{BB962C8B-B14F-4D97-AF65-F5344CB8AC3E}">
        <p14:creationId xmlns:p14="http://schemas.microsoft.com/office/powerpoint/2010/main" val="1205950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4F135-696E-4DA7-8A17-6CFBFAB2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14674-BB4B-45C1-BE67-23399D46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07 / 产品依据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9CBD2-2FB6-4674-A571-858E5C38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从准备资料到运行作品，保留可回查过程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A2090-098C-4B9A-9D46-5419CDEC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真实构建助手画面 · 合成水循环资料作品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2065E-BFF1-41FC-88B7-BB40FC17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6F821-DFCF-4DF4-BD77-D779D5AC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08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B1680-88E2-480D-9A11-676F95EC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04EA0-EACC-468C-8482-E8F7B379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92362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70B2C-9893-4695-A24F-861B52AC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4144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28D64-0F2D-465E-B1FD-F9A52A1E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244144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准备资料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CFC36-39E1-4493-9A35-833E8B4F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2816352"/>
            <a:ext cx="21031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合成资料与课程主题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0AC94-0866-4378-B9A8-F7616429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49300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56A54-E5E8-4DBE-9A37-69A976CF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349300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构建与保存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59C8F-C2E4-4408-B780-53F3AF4F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3867912"/>
            <a:ext cx="21031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真实文件差异与作品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E220D-F6A8-4AB5-B90B-48D13A3A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54456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3D32B-E9D6-4090-B3B2-3D794872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454456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运行与查看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3923F-817E-4C1D-9F2D-888D8482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4919472"/>
            <a:ext cx="21031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输出、资料引用与事件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c7a4fd62d4406"/>
          <a:stretch xmlns:a="http://schemas.openxmlformats.org/drawingml/2006/main"/>
        </p:blipFill>
        <p:spPr>
          <a:xfrm xmlns:a="http://schemas.openxmlformats.org/drawingml/2006/main">
            <a:off x="1418614" y="2176272"/>
            <a:ext cx="6215332" cy="3886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025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E93FD-CBD7-4AAD-A754-DFBC02EC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68857-057F-4BA6-9F16-CDC74867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08 / 四类起始蓝图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DE1F0-1C9E-4149-AA9A-F43612D4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四类蓝图提供起点，作品可以继续改造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A7DAC-8224-46DE-B333-1AC6AF56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知识问答助手、工作助手、Coding 助手、Pi Agent，或从空白画布开始。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82728-1D59-490C-87E4-68B9407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97A4B-7181-464B-B03B-44A83F52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09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CF57A-EEB1-4E9D-8AA2-7A41F4E4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3B1CF-64ED-4E50-A9B9-C6236A0A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1640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B148E-3645-41A3-B0ED-DD472254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2562225" cy="3343275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FBF0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DE731-9A77-47AA-B0AA-D2B7D7EC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81275"/>
            <a:ext cx="2562225" cy="3343275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DBEE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F0A6A-B00F-446D-B537-B252FEBC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81275"/>
            <a:ext cx="2562225" cy="3343275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6ED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FE637-7540-48F4-87B4-3923EE43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81275"/>
            <a:ext cx="2562225" cy="3343275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EE7F5"/>
          </a:solidFill>
          <a:ln xmlns:a="http://schemas.openxmlformats.org/drawingml/2006/main" w="0">
            <a:noFill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4e3c2c126477d"/>
          <a:stretch xmlns:a="http://schemas.openxmlformats.org/drawingml/2006/main"/>
        </p:blipFill>
        <p:spPr>
          <a:xfrm xmlns:a="http://schemas.openxmlformats.org/drawingml/2006/main">
            <a:off x="1338263" y="1762125"/>
            <a:ext cx="9515475" cy="31718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6BB00-547B-4D1A-B6DC-F31692FC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74345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知识问答助手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3AC97-CDCA-494D-A1A8-5719BB40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81600"/>
            <a:ext cx="2266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连接资料，开展知识问答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可改角色、知识源与回答方式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CAC93-6909-427F-8A48-33E3B031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工作助手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3C501-C7E5-4622-8D49-C119E18A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81600"/>
            <a:ext cx="2266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资料整理与多步任务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可改目标、工具、流程与输出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EB4A3-5D32-448B-8E6D-F6385DA2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4345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Coding 助手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8DFF9-283B-4B70-AC2B-5876D8E1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181600"/>
            <a:ext cx="2266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组织编程任务与工具协作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可改任务、目录与工具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AA7143-F5BE-4503-B1A4-9821AF0F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4345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7963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963A3"/>
                </a:solidFill>
                <a:latin typeface="Microsoft YaHei"/>
                <a:ea typeface="Microsoft YaHei"/>
                <a:cs typeface="Microsoft YaHei"/>
              </a:rPr>
              <a:t>Pi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77B90-8C3A-4910-A485-C41F5AF4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81600"/>
            <a:ext cx="2266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探索智能体循环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可改真实Pi核心的积木结构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DBE780-2F07-4F23-AFCB-F68E7FE1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也可从空白main开始，不预置问句或资源；个人蓝图与已有.blocky作品保留。</a:t>
            </a:r>
          </a:p>
        </p:txBody>
      </p:sp>
    </p:spTree>
    <p:extLst>
      <p:ext uri="{BB962C8B-B14F-4D97-AF65-F5344CB8AC3E}">
        <p14:creationId xmlns:p14="http://schemas.microsoft.com/office/powerpoint/2010/main" val="939078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7C636-C366-4D42-B9EB-0F0F593D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068DC-8C92-48CF-B8E0-59B4444C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09 / 官网在线体验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BE4EC-E9A7-4F54-B08C-A92ACDD4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一分钟工作助手演示，呈现完整创作过程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3C343-E04A-40B3-A77B-07841DFF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在线体验复用产品画布与积木，预设模拟从输入到周报的流程。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234DE-9A58-48A6-B8A1-EE83B449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0812F-4367-422C-A068-AAF69909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10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DA30-A8BC-449A-974B-7E4F8779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D8A18-001C-4EB2-9202-32CE125C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40453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09165"/>
                <a:gridCol w="4147820"/>
                <a:gridCol w="446341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体验阶段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页面中的操作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看到的内容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进入在线体验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打开官网在线体验，启动工作助手演示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无需填写密钥，约一分钟完成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描述任务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预设固定提示词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任务目标与工作助手对话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搭建蓝图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分阶段展开真实蓝图结构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工具与步骤逐步加入画布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观察运行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自动切换Agent，播放预设工具轨迹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读取、计算、生成与读回的合成周报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继续创作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暂停、重播、退出或完成后编辑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退出恢复原项目与输入，完成后继续改造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21EC0-AB2A-47E3-84B3-0084E634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支持暂停、重播、退出恢复与继续编辑；不调用真实模型或本机文件。</a:t>
            </a:r>
          </a:p>
        </p:txBody>
      </p:sp>
    </p:spTree>
    <p:extLst>
      <p:ext uri="{BB962C8B-B14F-4D97-AF65-F5344CB8AC3E}">
        <p14:creationId xmlns:p14="http://schemas.microsoft.com/office/powerpoint/2010/main" val="11255209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D9DE5-6BD1-4523-A33A-3D572AEB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AFDFD-413C-419C-B160-126DE2F3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10 / 教育与专业场景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AC1A7-8103-48D0-A2AD-CC8A04D5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教育与专业共享底座，场景配套分阶段开放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1955F-0608-424D-931E-82360D1E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官网用积木校园与创作园区介绍完整产品方向，具体能力以发布版本为准。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A3B18-3C8C-4335-B2A6-3B6420A5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786DB-66FE-47D0-AC20-21DEB94A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11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B7E3A-EEC0-493E-854D-D3FB7892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57A58-0361-4806-A076-920A8650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64498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704d1fd7b481f"/>
          <a:stretch xmlns:a="http://schemas.openxmlformats.org/drawingml/2006/main"/>
        </p:blipFill>
        <p:spPr>
          <a:xfrm xmlns:a="http://schemas.openxmlformats.org/drawingml/2006/main">
            <a:off x="962025" y="2400300"/>
            <a:ext cx="5143500" cy="3429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FF987-A77E-48AC-8233-98E3F2A0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71725"/>
            <a:ext cx="4743450" cy="1514475"/>
          </a:xfrm>
          <a:prstGeom xmlns:a="http://schemas.openxmlformats.org/drawingml/2006/main" prst="roundRect">
            <a:avLst>
              <a:gd name="adj" fmla="val 12579"/>
            </a:avLst>
          </a:prstGeom>
          <a:solidFill xmlns:a="http://schemas.openxmlformats.org/drawingml/2006/main">
            <a:srgbClr val="F6EB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E38A1-1461-486A-9C61-77994806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教育 · 校园植物小向导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60F93-7087-465A-A5E7-539A5EF3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57525"/>
            <a:ext cx="43243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设角色、接资料、改回答，再对照资料讲解。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画布与知识已有，课程与班级后台待建设。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74300-FC98-4C1D-BBA0-7D9C2EB5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4743450" cy="1504950"/>
          </a:xfrm>
          <a:prstGeom xmlns:a="http://schemas.openxmlformats.org/drawingml/2006/main" prst="roundRect">
            <a:avLst>
              <a:gd name="adj" fmla="val 12658"/>
            </a:avLst>
          </a:prstGeom>
          <a:solidFill xmlns:a="http://schemas.openxmlformats.org/drawingml/2006/main">
            <a:srgbClr val="E6ED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67772-EE11-44A9-A22A-7852A7BA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95775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专业 · 研究与报告工作台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0799D-5428-4B31-9248-C7C5EBE8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006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组合知识、工具、审阅与复用。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多模块与受控工具已有，团队部署待建设。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A1161-418F-4BB4-8542-4401D22E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共享.blocky格式、积木语言与运行内核；macOS、移动端与Agent App按计划推进。</a:t>
            </a:r>
          </a:p>
        </p:txBody>
      </p:sp>
    </p:spTree>
    <p:extLst>
      <p:ext uri="{BB962C8B-B14F-4D97-AF65-F5344CB8AC3E}">
        <p14:creationId xmlns:p14="http://schemas.microsoft.com/office/powerpoint/2010/main" val="8267001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87FE9-C0CB-4115-A4F8-C5571E6B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1608F-DB80-4AAB-BF60-2553BD50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11 / 完整产品路线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6DECD-F8FF-45E2-B0CA-C6B341FA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围绕共享作品，推进组织、部署与多端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2B8CF-E525-4EF4-9A72-73B40746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后续开发依照产品能力关口推进，真实场景在产品准备完成后进入。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D16F3-9278-4C9E-ACC6-9CCC0B0F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FE6DE-9A1F-4514-9BA9-C6B62FBD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12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1FC17-558B-4A9F-9BCD-F6F92598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CCA9C-BC3A-4BEB-BFEB-45375B85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8854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64080"/>
                <a:gridCol w="5500370"/>
                <a:gridCol w="315595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演进方向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后续建设内容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形成的用户价值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创作与开发者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积木与文本往返；完善CLI、Skills与插件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复用更多能力，支持开发者协作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教育与组织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师生班级、作业提交、课程版本、进度与后台配置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教师组织活动，机构管理教学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部署与运行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环境、团队审查、成本、应用部署与版本回滚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让作品成为持续可用的服务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社区与多端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开放个人版；作品与积木社区；macOS与移动运行端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跨设备使用与共享创作资产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App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Agent页面与积木执行组合，整合独立应用生成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从创作项目走向可使用应用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5321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2AAE0-1AB3-40EC-A158-E2F411FF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2D287-E4E2-4945-B8FA-3B713F11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12 / 创作入口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8DCF8-F5D3-4EDF-93DB-724348A4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从少量积木起步，再展开更多能力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7D104-7808-4367-9BEC-CD9FCB04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入门任务视图与专业能力共享项目格式和运行内核。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E9E0F-4868-4AA9-A570-258F2A54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13005-46A1-4515-BEF8-3A4B166C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13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E44FB-64F0-413D-8E59-04D11368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BD831-3292-4BCA-B526-638C4B11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312589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85440"/>
                <a:gridCol w="4237990"/>
                <a:gridCol w="369697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入门分类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创作时的含义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逐步扩展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开始、角色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收到什么输入，扮演什么角色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多入口、不同任务与模块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会思考、会查找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如何生成回答，使用哪些资料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模型与上下文、知识检索与引用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会记住、会行动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保留哪些信息，调用哪些工具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会话记忆、登记工具、受控权限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会回答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怎样输出与检查结果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文本、结构化结果、过程与轨迹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350FB-CC67-42D2-9EF7-88842BE9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教师按教学目标选择少量部件；能力扩展服务于作品，避免一次展示全部专业概念。</a:t>
            </a:r>
          </a:p>
        </p:txBody>
      </p:sp>
    </p:spTree>
    <p:extLst>
      <p:ext uri="{BB962C8B-B14F-4D97-AF65-F5344CB8AC3E}">
        <p14:creationId xmlns:p14="http://schemas.microsoft.com/office/powerpoint/2010/main" val="12806772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1B741-E74D-4490-B1D2-AA86890C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E6C1A-ABE7-463D-BEB6-52AE7BB1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13 / 多端开发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1BDBF-A016-4DD2-8E5B-B1233939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桌面完成创作，移动端延续作品使用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BC287-78BD-4C1C-8AD4-DEF478CB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平台路线 · 同一项目语义和运行协议，按设备能力适配。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714BB-7470-4A6A-949F-9F23B7E8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7A2B0-4F86-412D-8FF6-F5242832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14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9CECF-193E-47CB-8AE6-B7942F89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32B7D-EDCD-48AA-92DD-CE230A65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336634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614930"/>
                <a:gridCol w="3967480"/>
                <a:gridCol w="423799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使用定位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Windows（当前阶段）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桌面搭建、改造、调试与运行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继续完善完整产品与部署能力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macOS（后续）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与Windows同等桌面创作能力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共享项目与运行；原生交互和分发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Android / iOS（后续）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使用已搭建的Agent作品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受控客户端、输入输出、审批与恢复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HarmonyOS（后续）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使用已搭建的Agent作品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原生应用壳；协议复用与能力协商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B2C34-25A6-43B4-B0E6-8A146494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跨端延续作品格式、资源引用与运行过程，按目标平台完成构建和实际运行。</a:t>
            </a:r>
          </a:p>
        </p:txBody>
      </p:sp>
    </p:spTree>
    <p:extLst>
      <p:ext uri="{BB962C8B-B14F-4D97-AF65-F5344CB8AC3E}">
        <p14:creationId xmlns:p14="http://schemas.microsoft.com/office/powerpoint/2010/main" val="14093259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F8A745-0C10-4E67-9690-54693342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95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4E4AC-6AAA-4E61-97F6-44867F14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14 / Agent App生成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F53F4-42E1-4056-BBDF-B5748E4E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把Agent页面与积木作品，生成独立应用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2ACFA-4455-48AB-8663-14727EBE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后续产品目标 · 基于Pake或Tauri二次开发，整合一键生成流程。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F0B5B-F949-40C7-903F-ADCBFC08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557F8-386A-476B-8072-C4341FDA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15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DABA7-B5C8-4D91-9627-091EAC50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9567E-FA2A-47B1-881C-C4358723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360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79249-13CF-4FDA-A9F3-4F477C76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9F2F1-C6D2-489F-B985-BE118A9F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84BCA-97E7-4EF9-9C47-B4E8D1E3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59F5D-A7DE-43D3-B439-905F34DE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2DEED-8FA2-49F3-8BDD-5BD61087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92CC2-C761-4548-94F5-A551A7DB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定义Agent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99FFA-73E4-4737-98A3-86357CED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角色、任务与积木结构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模型、工具与执行逻辑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C82E6-84D2-4B9F-8178-2AB6FBE0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保存作品与运行配置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8159A-6A2E-4434-8AB1-C5C2EEC4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EDFBA-B4C6-4BEF-91AC-53CEA6A6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组合交互页面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EC0B1-2983-4BF5-8CBA-1584D3BF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输入、对话与结果展示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连接项目声明的入口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A280A6-A3F4-4C43-B43B-CD934B05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作品逻辑与页面协同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8EDB8-1653-4519-A00A-4B4B446E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28FCD-C08C-4D45-A233-D6E44B1A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选择应用目标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8EDE54-FAB4-4EE0-98A6-DE66A3B5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平台、名称与应用资源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检查运行依赖与权限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68160E-845C-452F-891F-7A0BE73B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准备目标端运行方式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E4ECE-79B7-40D5-BB66-3756A55F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DB48F-CDCC-4775-983B-F4F102C0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一键生成App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74AB01-BF92-42CB-8653-E9F76B8E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构建独立应用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安装、运行与版本核验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76D2B-0F57-4F32-B98D-938C0139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把作品交给实际使用者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7E410C-B870-48E6-BEC3-925E3D85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Pake桌面封装或Tauri定制应用壳，结合Blocky运行内核与受控资源配置。</a:t>
            </a:r>
          </a:p>
        </p:txBody>
      </p:sp>
    </p:spTree>
    <p:extLst>
      <p:ext uri="{BB962C8B-B14F-4D97-AF65-F5344CB8AC3E}">
        <p14:creationId xmlns:p14="http://schemas.microsoft.com/office/powerpoint/2010/main" val="8357131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A84CD-318B-4BEB-808A-70A9FA8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880F8-B08C-47DF-AEBD-43B13EC2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15 / 产品准备关口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1A7F3-AF42-47A5-9C49-7917D58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可靠作品与产品配套完成后，进入真实场景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3C84C-5EAF-4A2B-B2FD-28050D69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以具体交付范围检查准备程度，研发关口优先于预算日历。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14043-3849-48BE-92F2-4981DE50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748F6-2959-468E-9677-5FFD70B5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16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249CF-946A-4B45-892F-D5DBD9BF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60D13-84F4-42F1-BE09-ACB226B4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384725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24760"/>
                <a:gridCol w="4779010"/>
                <a:gridCol w="351663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准备范围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达到的能力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随后进入的验证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四类蓝图与创作入口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现有起点可展开改造；发布版本与资源边界明确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同一作品保存、修改、重开与运行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完整创作与部署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共享接口、资源权限、运行和应用交付可持续使用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保存、使用、更新与支持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小学及机构能力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入门任务投影、组织配置、教师资源与恢复方式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学生读改搭讲、教师独立复用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社区及目标端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发布贡献规则、对应平台运行与权限就绪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作品复用、实际设备使用与反馈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16F90-420A-426D-9220-715B1632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真实场景采集作品、使用过程与账单，再决定范围扩展和商业投入。</a:t>
            </a:r>
          </a:p>
        </p:txBody>
      </p:sp>
    </p:spTree>
    <p:extLst>
      <p:ext uri="{BB962C8B-B14F-4D97-AF65-F5344CB8AC3E}">
        <p14:creationId xmlns:p14="http://schemas.microsoft.com/office/powerpoint/2010/main" val="19981227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F001C-B957-4139-8FE8-AF5BCC6C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2F50C-D451-40E5-A308-4E94F2B4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16 / 创作需要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6CEAB-ECD5-4C73-A122-5AC5909E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 AI 想法做成可修改、可解释的作品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D4C7B-D215-46F7-8CFD-623BB216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真实场景阶段的教学设计：学生做出设计选择，教师观察作品与过程。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8FF81-A407-44CF-8B5B-CCD611D4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1A1B9-074C-4077-B7F7-943B4C2D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17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EA8A5-839D-4815-90C3-F6DA45D5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7C777-0481-4035-9692-871204E6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08770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5AD52-973E-46A9-BF05-04122A88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有一件自己的作品。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131AB-0935-471E-AEBA-FB210734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理解怎样工作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CAA89-2976-4189-98B3-22F8222C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210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指出角色、输入、步骤；先预测再运行；展开积木结构，查看对应运行事件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50D64-686A-450F-9399-65C9EF2D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表达自己的想法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DE011-4871-4724-BDAD-2E7AA3C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76750"/>
            <a:ext cx="4210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改一个条件或指令，比较两次结果；修改可定位；结果与步骤可比较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D6D3F-9488-4650-A212-F377361E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在尝试中继续完善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7BC41-9993-4FAD-93DA-54B08ECD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05400"/>
            <a:ext cx="4210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说明变化原因，组合新的任务与能力；保存作品，回看轨迹，修改后复跑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15262b0054c9c"/>
          <a:stretch xmlns:a="http://schemas.openxmlformats.org/drawingml/2006/main"/>
        </p:blipFill>
        <p:spPr>
          <a:xfrm xmlns:a="http://schemas.openxmlformats.org/drawingml/2006/main">
            <a:off x="8066700" y="2524125"/>
            <a:ext cx="2849926" cy="32194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902AA-C871-4459-B921-0C6A65B2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真实课堂效果尚待验证；创作能力与教学效果分别观察。</a:t>
            </a:r>
          </a:p>
        </p:txBody>
      </p:sp>
    </p:spTree>
    <p:extLst>
      <p:ext uri="{BB962C8B-B14F-4D97-AF65-F5344CB8AC3E}">
        <p14:creationId xmlns:p14="http://schemas.microsoft.com/office/powerpoint/2010/main" val="10805258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46278D-95B7-47AB-9792-17426C88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C7421-C560-47BF-9942-DCFC337C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17 / 学习路径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3E6F1-1741-4BAA-BB06-C5FC2383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参照 Scratch，在读、改、搭、讲中学习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B4FB2-2A7F-46CC-9508-3C430CDE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创作对象从故事、游戏、动画，延伸到包含模型和工具的智能体作品。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CD466-A402-408C-9289-5FDEE428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E4578-DEE9-45B5-80BB-0D29FE6A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18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0AB1F-21FE-4998-89FE-E4D4A7E8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0174D-4974-45BA-A27F-E95DC3A4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32816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06DD9-F622-487D-B7DE-3EB79C8F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90C95-CC1D-42C9-A5C4-A15BC659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F0F77-BF34-43A7-B6AF-F85DB004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A75DD-73EC-4F80-919A-7A7A2380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526D2-3EBD-4065-9CFD-581CFF57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203FD-CC22-45EA-B140-6EDAFCEA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读懂作品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B341B-F7DF-4D85-98A8-1CAAD0C2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指出角色与输入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说出执行预测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D79B2-D80D-4613-9894-7AE1C66B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理解任务与顺序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85E08-E7C1-44EF-A679-EE63CEC3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5D830-4D79-48D5-AEE8-2CBBC1F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动手改造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F886E-637E-4D5B-ACD5-E2B8EA9B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一次修改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对照前后结果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39B47B-3EED-484E-8846-585A84F8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理解条件与行为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F1540-978A-43A9-890B-5FDC4416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3B22D-327D-4ED2-B8F3-5CC8302B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自主搭建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DBCB5-9A75-4A71-82F3-EF96E3B7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给作品一个新目标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说明能力组合理由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D7C8E-91B1-413A-8BE4-9C1CB77A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认识模型、记忆与工具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893B2-4D39-4A0E-8B2D-E1823FBA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16A7E7-059D-48BE-A6F4-748E3B43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调试解释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102A7F-550B-4405-BAAB-602365E4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定位步骤并修订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向同伴讲解作品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46E477-64E0-41B2-9B8C-7CAADC5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联系设计、过程与结果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534424-4114-4663-9E16-43D08A8B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Scratch官方起始作品支持查看、改编和继续创作；Blocky将这一方式用于Agent学习。</a:t>
            </a:r>
          </a:p>
        </p:txBody>
      </p:sp>
    </p:spTree>
    <p:extLst>
      <p:ext uri="{BB962C8B-B14F-4D97-AF65-F5344CB8AC3E}">
        <p14:creationId xmlns:p14="http://schemas.microsoft.com/office/powerpoint/2010/main" val="14694120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6607F3-3A2D-4A1C-B05E-9909F549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99995-1CB5-44CC-B18F-D331457F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18 / 读懂作品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C876C-49E8-4B99-8B5B-1F9F78F5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先读懂故事搭档，再预测它怎样回应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E54FA-321A-4DA4-AB40-6F65D868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教学设计 · 角色、任务、规则、上下文、模型与输出的完整关系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201A9-2449-4B86-ABD7-636CE9FA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BF322-B454-4F5F-8E1A-FA7FB9BA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19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C67F5-749F-4A43-BD9E-4EB490C8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F4E32-70A5-4A81-82FC-5F6CD7CB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5686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61FA2-7AE2-49A3-A6DF-1F436414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FDDD5-5F29-4428-8A84-6B2961F1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26CDB-2133-41CF-A5B4-EDAA49A9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1EEDE-F291-498E-9F62-504D18C6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09A0C-B80F-4D43-BD1C-F3E22674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FF3D4-6169-4A66-9879-525105D6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角色与输入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61DE8-1D0D-4B74-B343-387A7B25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友善的故事搭档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“勇敢的小猫”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8D3B0-7003-44D4-9F68-98275940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为谁做什么？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14B64-F32F-4726-94A7-4EA0A081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C4DD0-84C2-4A2B-B54D-9745C12D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方向规则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D5A8F-2A54-4A87-A3A2-A176F256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包含“勇敢”→森林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其他输入→花园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4EC39-8E4E-4685-866C-B65585A1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规则走哪条路线？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ACCA2-DD0B-4C6F-ABB2-B4D9C9A9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DE1039-835D-4FF1-84AB-161FB1A8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上下文与任务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B1FA5-ACFB-4050-A171-8044868D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把方向交给模型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写三句，以提问结尾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9BA3E-51C4-4222-8C1F-41A424AE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生成要遵守什么？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22EBDB-887D-4059-840F-7B30633C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88CCE3-8C49-45B9-B2BC-E63F83C4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模型与输出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3E5C29-A9C6-47AC-BC48-C6D038B6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教师预选模型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检查故事，再修改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8B571E-70F5-4F57-B9A8-FC3282C2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结果符合任务吗？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24227F-527C-49D3-BABC-28A28469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从预测结构开始，再把实际回应与自己的设计比较。</a:t>
            </a:r>
          </a:p>
        </p:txBody>
      </p:sp>
    </p:spTree>
    <p:extLst>
      <p:ext uri="{BB962C8B-B14F-4D97-AF65-F5344CB8AC3E}">
        <p14:creationId xmlns:p14="http://schemas.microsoft.com/office/powerpoint/2010/main" val="16660446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7D8F0-D7A4-4F3B-A2CF-2221350E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C783C-13C4-46F9-A48E-73610952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19 / 改造作品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85A62-04AA-476D-9A67-7A2C2A04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只改一处，对照结构、步骤和结果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8AC7D-7138-4515-8621-9414C9F1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本地规则实际对照 · 输入始终为“勇敢的小猫”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625A0-D7F2-4B34-B086-7F1DCF71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87A8E-B5E4-4B88-B92C-521FC284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20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DB5FC-E264-4C55-A9AB-DFE5D711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11722-9B8D-4629-95EA-EE0F57E5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80906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785BC-639D-4BE1-88B8-604A0BC2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5257800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E8EE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454BE-76F2-456B-A0FA-12330287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5295900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E8EE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CA1B4-61A4-4EBB-A82E-510A5035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87168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改造前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2FC3A-09AE-4FFB-8D71-90D6108E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00400"/>
            <a:ext cx="4892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条件：包含“勇敢”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命中：森林分支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输出：到森林探险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E2F47-61D3-4389-8CF0-05363DEF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487168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改造后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EAC72-F5D1-4EAF-9312-38158D55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200400"/>
            <a:ext cx="4892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条件：包含“友善”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命中：花园分支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输出：去花园交朋友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40AB6-A5AC-49E8-9929-453A2013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学生的解释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63036-A554-4E3C-951F-3464F215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010912"/>
            <a:ext cx="8412480" cy="859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输入保持不变；改变条件，执行分支与输出随之改变。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下一轮换一个输入，再检验自己是否理解这条规则。</a:t>
            </a:r>
          </a:p>
        </p:txBody>
      </p:sp>
    </p:spTree>
    <p:extLst>
      <p:ext uri="{BB962C8B-B14F-4D97-AF65-F5344CB8AC3E}">
        <p14:creationId xmlns:p14="http://schemas.microsoft.com/office/powerpoint/2010/main" val="1694749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1AAAA-9A97-41E5-B869-F72AA80F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8090D-9463-4C49-A807-FFFE71AC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20 / 自主搭建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6920B-4F3E-4CA1-9E50-D851BC36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换一个目标，组合自己的海底向导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C875E-438B-4D54-949D-7AAA722E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教学设计 · 从照着改，到自主选择角色、任务和能力。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1006D-7143-4DB4-8C3B-71931F3D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50578-74A8-4FFD-B356-B436EFFD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21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EF0AA-9558-4218-BB95-68872F06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42525-5C58-4069-8AA1-7C723D1D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0495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73910"/>
                <a:gridCol w="4959350"/>
                <a:gridCol w="378714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设计选择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学生可以决定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检查自己的作品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角色与目标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海底向导；带伙伴认识想去的地方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角色、任务与输出要求是否一致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输入与行动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输入伙伴和目的地；选择行动方向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换一个输入，方向是否符合规则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回应方式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两句介绍，然后问下一步去哪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保持输入，改一条要求，比较回应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增加能力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记录上次目的地；查资料或统计文本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说明为何需要该部件与它的作用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5E680-48E5-467B-8AC8-7CB39721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学生保留自己的组合理由、一次修改记录和作品讲解。</a:t>
            </a:r>
          </a:p>
        </p:txBody>
      </p:sp>
    </p:spTree>
    <p:extLst>
      <p:ext uri="{BB962C8B-B14F-4D97-AF65-F5344CB8AC3E}">
        <p14:creationId xmlns:p14="http://schemas.microsoft.com/office/powerpoint/2010/main" val="6200779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1AAE5-4FE9-4197-8775-7EE22AE0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59B85-AAA0-451F-8865-FC51472D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21 / 能力递进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DA5B4-9194-492F-BFE2-D81122CD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一次增加一种能力，解释它带来的变化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F3EA9-8A01-4F20-9429-D157FFAD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海底向导教学设计 · 保存每一步作品与比较记录。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24D82-C0D3-4A09-9E88-8B63C734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3172B-EB5C-441A-94EB-256A0606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22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E883C-000E-4F21-A874-6326DE57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45F00-1B69-4184-A379-587D6389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28997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64080"/>
                <a:gridCol w="5139690"/>
                <a:gridCol w="351663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增加部件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给部件什么信息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学生观察什么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角色、目的地、两句介绍与提问任务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回答是否符合任务；改要求后如何变化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现阶段目的地；下轮读取给模型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换到第二轮时是否使用已记录信息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教师选择的海底资料与问题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能否找到出处，回答与资料是否一致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故事文本交给登记的字符统计工具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具体字符数；工具结果如何帮助检查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1C742-82A8-4A42-9790-93DE9A5E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部件选择由学生解释；模型、资料和工具权限由教师准备。</a:t>
            </a:r>
          </a:p>
        </p:txBody>
      </p:sp>
    </p:spTree>
    <p:extLst>
      <p:ext uri="{BB962C8B-B14F-4D97-AF65-F5344CB8AC3E}">
        <p14:creationId xmlns:p14="http://schemas.microsoft.com/office/powerpoint/2010/main" val="5970498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AA177-1C6A-49EB-A28C-063E8F89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46108-3DE5-4003-86E6-68DC4FEF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22 / 调试解释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D6935-DA0C-44AF-9AA7-576A0B3F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用运行轨迹定位步骤，再回到作品修改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80CEF-8843-48E4-804B-71EAFD19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 Windows 运行轨迹 · 资料作品能力示例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F2AC0-BA17-4C02-B6FF-3925963E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ABE04-0B40-48F6-BA6D-0194327F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23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5A6A3-D953-44AF-8E09-6CC6F5D6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003FC-12A8-4E60-AA36-C22D6E58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53042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47FD4-FFAD-4B69-A5ED-6EBAED9F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7744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53A35-1E0B-4410-8BD1-4CC61714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37744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先说预测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B73C3-5B4D-4582-9694-E854184B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752344"/>
            <a:ext cx="2560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设计要求经过哪一步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0A057-45A9-449C-AB74-FE476C49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182112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7ECD4-2E29-4C19-8291-7EA49A97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182112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再看实际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78632-CAC2-4ADE-BE9A-5E6EEB2F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557016"/>
            <a:ext cx="2560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事件对应具体积木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BC494-ABB7-4E87-8EE9-59ECDC5E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986784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CE503-0280-4B99-BE6D-0DCA2D37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986784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定位修改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68D70-BEFB-4224-B297-3977A5A1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361688"/>
            <a:ext cx="2560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回到一块积木修订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5F0EB-E365-48A0-8773-EB78C479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791456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40856-53A3-43B2-8F17-35ED925E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791456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重新解释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39495-1DE0-42BA-9E32-D144CC34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5166360"/>
            <a:ext cx="2560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比较结果与执行过程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f5cba2ea443e2"/>
          <a:stretch xmlns:a="http://schemas.openxmlformats.org/drawingml/2006/main"/>
        </p:blipFill>
        <p:spPr>
          <a:xfrm xmlns:a="http://schemas.openxmlformats.org/drawingml/2006/main">
            <a:off x="640080" y="2837543"/>
            <a:ext cx="4041648" cy="2527082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d98c6e36a40a3"/>
          <a:stretch xmlns:a="http://schemas.openxmlformats.org/drawingml/2006/main"/>
        </p:blipFill>
        <p:spPr>
          <a:xfrm xmlns:a="http://schemas.openxmlformats.org/drawingml/2006/main">
            <a:off x="5166360" y="3312086"/>
            <a:ext cx="2523744" cy="15779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054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A8FD8-A6C0-4EE7-8C3A-229D5E3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DA1C1-2ECF-4918-9644-E93AE9D6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23 / 学习记录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0B1D1-440D-4180-A4AB-D0F14758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作品、过程和帮助程度共同说明学习进展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4D1FB-0DAD-411A-A2BE-217AB2CE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产品准备后采集课堂记录，首次尝试、修订与迁移任务分别观察。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D735D-1B4F-4E5C-860E-330FD025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26659-7976-499B-819D-2B61DDC8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24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9511F-7722-4956-ACA8-865200A4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C46C7-9CD4-494D-A6D7-D4EE517C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7708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97942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05100"/>
                <a:gridCol w="811530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观察任务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作品或解释记录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6353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读懂与预测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指出角色、输入、步骤；说出预计路线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353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单一改造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保存改前改后；说明原因；换输入检验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353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自主搭建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给新目标，选择部件并说明理由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353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调试讲解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定位步骤；修订；解释实际结果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5720A-2740-4F65-A791-8F045AF6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32120"/>
            <a:ext cx="2926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每项任务记录帮助等级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50B0B-FA0E-45FE-ADD7-16EB272D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532120"/>
            <a:ext cx="77724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0 自主完成 · 1 口头提示 · 2 指明位置 · 3 示范或代操作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F4A0C-9880-4E87-8F6C-D6DFBC05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结合活动条件、帮助次数与作品版本，持续改进教学设计。</a:t>
            </a:r>
          </a:p>
        </p:txBody>
      </p:sp>
    </p:spTree>
    <p:extLst>
      <p:ext uri="{BB962C8B-B14F-4D97-AF65-F5344CB8AC3E}">
        <p14:creationId xmlns:p14="http://schemas.microsoft.com/office/powerpoint/2010/main" val="5043463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B9C3A6-5483-49CB-902D-80ECEE97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F15F0-43E3-4509-A51C-CAFE6168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24 / 教师组织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8A63F-6FD1-46D8-9CAF-9D701DDA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用作品包组织课前、课中和课后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A6ADA-70D0-4C2B-8EA7-4450550B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服务设计 · 项目文件、活动引导与学习记录共同支持教师复用。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80DCF-09B3-40B7-B99A-018C9BA7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75E43-BAE7-4EF9-AF15-DA332EAE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25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B3715-74FF-42F1-B5CC-24F6FF90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8BD03-0C60-4D5B-8DB5-63320C30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01133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9B91E-C461-4085-93DB-32B83B72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78A9B-69A2-4351-9F13-4F0F6684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2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84F54-4619-4DC7-ADFE-11B68739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8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EE09F-1EDE-415C-BC3D-97B61DC3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DB876-A27A-4F0B-9AE7-49C6E65C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课前准备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73B06-BA62-4E29-8344-A1B9F320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选积木、资料和模型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运行并保存原作品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准备任务卡与配置说明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F4ED6-87AD-45DC-BF1A-BD967AEA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留下：原作品与教师指南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C3FFE-2D3E-4144-AFCE-BEB2158C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62BAB-F512-416A-B9E5-15218BB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课中实践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10122-FF3E-4DEE-B028-96F9133C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示范预测，限定一次改动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开放新目标，引导调试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收集结果、轨迹与解释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4F49B-3F2C-432A-B54B-E1F00D6D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留下：学生作品与过程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7BF9A0-2323-4DD9-841B-2BC7B09E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8F57F8-4DB3-48E1-AF34-7FB45B0E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课后复盘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5ECAA-2F0A-404F-BE00-E4386580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收集副本，记录帮助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比较设计与讲解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完善下一次活动版本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B44E7-6F26-4A00-9025-3EDF41CA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留下：可复用活动包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46DDBA-21E3-481D-8365-813B0055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作品文件用于分发和保存；教师按活动流程组织，课程包属于现阶段服务设计。</a:t>
            </a:r>
          </a:p>
        </p:txBody>
      </p:sp>
    </p:spTree>
    <p:extLst>
      <p:ext uri="{BB962C8B-B14F-4D97-AF65-F5344CB8AC3E}">
        <p14:creationId xmlns:p14="http://schemas.microsoft.com/office/powerpoint/2010/main" val="187303516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23BDA-4655-45EB-AEEC-186817C2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B3AD6-51C4-4B6E-B855-7C14B192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25 / 教师复用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B65D1-56B7-450C-B1E7-A8F27C43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先保存原作品，再组织学生副本与复盘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4AE07-BE1D-4F9F-8616-A69BE75A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现有文件能力与课程操作设计相结合。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F86E1-5593-42CE-87EC-EA76DB2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5E8C7-2B0F-40B7-8F3B-B7641E05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26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F01CB-7186-4198-9F78-94A540D6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6BB40-2715-40AE-B4D4-43B1EE4F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25178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54250"/>
                <a:gridCol w="5455285"/>
                <a:gridCol w="311086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操作阶段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具体方式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留下的资产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分发前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保存原作品；检查资源引用与教师配置；运行一遍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原作品与配置说明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创作中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学生另存副本；一次改动；保留比较结果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匿名作品版本与修改说明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恢复时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重新打开已保存原作品或上次有效副本，再应用修改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可重开的版本与恢复记录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复用后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教师独立重开活动；更新任务卡与指导说明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改进后的教师指南与活动包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6550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4E60C-4C8A-4C19-9811-7691FE3B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0DB22-CED9-4703-9D77-883B2505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26 / 工具选择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C517F-8879-45D0-B3DF-5609F83E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围绕创作对象、可改部件和过程解释比较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0F890-35E9-40DE-AFA1-F8C70FB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官方公开资料比较 · Blocky按当前产品能力与课堂设计呈现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E6A73-27A2-4A72-A64B-AF38CE15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9051D-C1AD-4B1D-85E7-91EF6B37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27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2106A-7B95-4802-816F-B041B97A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118A4-E2E0-4A4D-A16E-0A8BD374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4922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68145"/>
                <a:gridCol w="2777236"/>
                <a:gridCol w="3173984"/>
                <a:gridCol w="320103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教学任务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Scratch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Blocks Builder AI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创作对象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故事、游戏、动画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AI应用逻辑与交互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可组合的Agent作品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动手修改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代码、素材与起始作品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模型、提示词、上下文、控制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角色、任务、条件、记忆与工具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运行解释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作品运行与调试资源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聊天测试、即时反馈、输出历史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运行事件对应积木，定位后修改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教师组织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教师账号、作品组织、活动指南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教育账号、课堂管理、进度分析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项目文件与蓝图；课程包服务设计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9C5D4-CBC6-405D-9AB0-AE263973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选择理由：把Agent结构审阅、修改审阅与运行解释连接到同一个作品。</a:t>
            </a:r>
          </a:p>
        </p:txBody>
      </p:sp>
    </p:spTree>
    <p:extLst>
      <p:ext uri="{BB962C8B-B14F-4D97-AF65-F5344CB8AC3E}">
        <p14:creationId xmlns:p14="http://schemas.microsoft.com/office/powerpoint/2010/main" val="8451331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379C9-B963-46DD-86C3-A8CF8E79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1A08F-5CC9-46A9-A3BE-AD65230B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27 / 竞争依据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D7120-ACFD-444E-BEA0-746310D1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对照同一个教学任务，依据官方公开信息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B82E6-3C60-4E42-B2B9-B022F9B3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2026-10-03官方资料核对；围绕具体教学任务比较。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9675F-45BD-4B94-8BD5-387F50EB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F4C4D-0EAD-4CD6-8215-DFCA1D43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28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B7FDE-1477-4C97-BCCF-2C503B75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9DC84-4C15-4054-B81B-44650E77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73269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95270"/>
                <a:gridCol w="5094605"/>
                <a:gridCol w="293052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已披露事实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用于什么判断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Scratch起始与教师资源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查看、改编、教程、调试、教师账号与作品组织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以作品学习；组织资源支持采用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Blocks Builder AI Features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积木逻辑、模型、上下文、聊天测试与输出历史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可视化AI的直接竞争领域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Blocks Builder AI Pricing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个人免费；教育方案含账号、课堂管理、进度分析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组织教学方案的公开参照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Tynker学校与课堂方案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学校按学生数和需求报价；课堂页有30学生示例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组织管理、评价、课程与培训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Blocky现有产品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嵌套作品、受控候选修改、运行事件映射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设计审阅、修改与运行解释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910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B464E-6A91-4155-8D7A-E712DB39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6521F-5569-49E4-B19D-4570F69D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28 / 目标客户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92035-395E-4A85-9C4A-6FBF0CFE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学生使用，教师组织，机构决定合作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89131-B4FC-478C-AE92-3D84552D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首批面向具备Windows设备与活动组织条件的小学AI创作活动。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C7FD9-9F97-4495-9D34-62255317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86064-95CB-4E94-B724-2AE28CE5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29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24B8D-B69E-45ED-8C8B-2754A2D3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C5A12-0E09-4AEA-BFA9-81EF3884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97314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1813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893570"/>
                <a:gridCol w="4598670"/>
                <a:gridCol w="432816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关心的问题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采用时需要的材料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能否看懂、动手修改并讲解自己的作品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少量部件的原作品；新目标任务；展示机会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能否准备活动、引导调试并重复使用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可重开的项目；教师指南；学习记录方式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学校或教育机构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服务范围、设备配置、预算和采购责任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作品演示；服务清单；模型额度；合作方案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16482-D013-41F4-BC7D-0E6C3D57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进入条件：设备可用、教师能组织活动、模型与资料范围明确、预算负责人可沟通。</a:t>
            </a:r>
          </a:p>
        </p:txBody>
      </p:sp>
    </p:spTree>
    <p:extLst>
      <p:ext uri="{BB962C8B-B14F-4D97-AF65-F5344CB8AC3E}">
        <p14:creationId xmlns:p14="http://schemas.microsoft.com/office/powerpoint/2010/main" val="7339899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38861-1F2B-4EEA-8B3E-62026532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3BC76-2CCA-4D86-9B15-17CB8915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29 / 市场进入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9EB9D-DBD6-4805-81AC-8746EED8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产品准备完成后，进入教师与机构真实使用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B7B78-B7B9-48B4-8163-BBBB623D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条件验证计划 · 教学、采购与支持证据各自采集，再决定商业投入。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4BFB7-3A51-4D25-9CF8-C735EF45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3E7E3-2EE9-4716-BAD2-7534B434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30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718B4-6AED-42FB-A061-B1476E98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C5791-87CC-4159-BB86-FD357936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721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BDF5B-6653-4C24-AF27-3D9BCAD5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D08F7-6653-40A2-A470-5FED9922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2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E44F2-BD5D-4B25-8FA2-7CBDE256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8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6AD21-3D1F-44F8-9AA7-70320495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CA51C-9FCD-44B4-B30C-63279058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找到教学任务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84A65-05D7-42DB-8435-884A37D2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公开教研与机构合作入口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通过免费作品样例邀约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明确组织者、设备与主题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FD06C-975C-42F6-9E29-D303A966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条件范围：接触20家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8E26F-3C09-40CB-BD8E-08A7229A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BC5BB-ED58-4A5D-9D17-F5339E42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共同开展活动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7A794-CB84-4101-96D3-00A285E0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教师访谈与小范围创作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记录修改、讲解与指导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观察教师独立复用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CA6AD-DB76-4843-9AED-0E0FD951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条件范围：深入8家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CDFE9-D4FF-49F3-9D6F-D989B3F0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31FBD-4B08-4023-AF2D-D45AE464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形成合作范围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77FD06-9718-4F6E-AE81-5BD89059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核对作品、培训和支持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沟通预算与采购负责人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明确交付与付款安排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BC171-4242-463E-A863-47B7FD2A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条件目标：4份交付合同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9AE31A-06AD-441E-82BD-F4996935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20次接触、8次深入、4份合同为产品准备后的验证目标，按实际反馈调整。</a:t>
            </a:r>
          </a:p>
        </p:txBody>
      </p:sp>
    </p:spTree>
    <p:extLst>
      <p:ext uri="{BB962C8B-B14F-4D97-AF65-F5344CB8AC3E}">
        <p14:creationId xmlns:p14="http://schemas.microsoft.com/office/powerpoint/2010/main" val="170832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216AD-649C-4414-839D-90462DA9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048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5B20E-67BE-4007-876D-9A89796F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30 / 免费软件与Token咨询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364A8-9E42-4004-A6FA-A48FE60C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个人创作免费，托管算力与机构服务分账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716EA-3C93-416C-BC87-9EEADB8B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官网拟定方案，人民币计价，暂未开放购买；个人版完全开源为发布方向。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0CC21-153B-4C27-B9EB-3D1FD7A8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A5196-6F02-427E-B858-95E02BDB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31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949A9-A0A6-4580-887F-460DB266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2FA8B-1EF3-45F2-91AB-1D7D34CF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745405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F95BA-52F6-4A6A-B4C8-8A2E2880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562225" cy="281940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7F1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9799C-9870-472D-A29A-6FDE3E2B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38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个人软件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FE9EC-1AA1-4C9D-B3C7-AD1590AE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214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免费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88B35-7271-4BB0-8B69-6448BAE0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完整创作能力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AE4A6-F08F-4855-8AE5-B07D588A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自带API，供应商独立计费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源码与下载入口准备中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0CDBE-B308-4F25-B505-4BCEDC72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09825"/>
            <a:ext cx="2562225" cy="281940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29ACB-66D2-4055-9CFF-5E7B53F6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38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标准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5D504-8BE2-4862-A139-BD979EDE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62300"/>
            <a:ext cx="214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¥99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03A10-7268-460E-A2F3-2873B5EF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43350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2,000积分 / 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A3535-BCF8-4021-9DBB-47763DC2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7675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学习与日常任务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托管模型咨询拟案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E3F1B-8A6E-4A59-BECA-46E5D970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2562225" cy="281940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EA992-684D-44BC-ABC9-40A9E2D3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38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进阶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FCAA5-13C8-4131-9299-B3075032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62300"/>
            <a:ext cx="214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¥199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7FA9D4-EA35-4B95-8519-81F73575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943350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4,500积分 / 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FF430-950B-4C9D-9D62-FE6A8E40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7675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持续搭建、调试与改造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托管模型咨询拟案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3F333A-D38E-4264-BEA1-AB775AD2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09825"/>
            <a:ext cx="2562225" cy="281940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994C11-8143-43F9-AEFE-48CAA921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38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6A069-C283-4544-A1C9-EBCE4E64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62300"/>
            <a:ext cx="214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¥999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BDA49-0AFE-4FEA-8A2E-BE9F0B14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43350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25,000积分 / 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927AA-AC8B-4C0D-8A59-8CCD35A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复杂任务与高频调用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托管模型咨询拟案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EAB649-D522-41D9-A68A-B380A2C4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080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托管按月；额度当期有效、不结转。加量包拟¥50 / 1,000积分，30天有效。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634441-6412-4DB6-9D31-F012243F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504825"/>
          </a:xfrm>
          <a:prstGeom xmlns:a="http://schemas.openxmlformats.org/drawingml/2006/main" prst="roundRect">
            <a:avLst>
              <a:gd name="adj" fmla="val 41509"/>
            </a:avLst>
          </a:prstGeom>
          <a:solidFill xmlns:a="http://schemas.openxmlformats.org/drawingml/2006/main">
            <a:srgbClr val="EAF0E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4AB4A0-61E1-4F0B-861F-E5E8BA35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991225"/>
            <a:ext cx="182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学校与组织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EEEB0-D2BB-4343-880B-398DB46B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991225"/>
            <a:ext cx="8601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按人数、课程、部署与维护报价；组织后台待建设，算力另核算。</a:t>
            </a:r>
          </a:p>
        </p:txBody>
      </p:sp>
    </p:spTree>
    <p:extLst>
      <p:ext uri="{BB962C8B-B14F-4D97-AF65-F5344CB8AC3E}">
        <p14:creationId xmlns:p14="http://schemas.microsoft.com/office/powerpoint/2010/main" val="102061546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05297-327F-4A7C-8754-31B34811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FCAB5-1D65-4C09-9C65-897FEF10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31 / 机构与K12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24D64-B3CB-4725-96BB-513C7AF4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组织付费，承接教学管理与后台配置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09346-58E9-49F0-83A7-10956443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组织方案建设规划 · 参照Blocks Builder AI与Tynker学校方案。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4CDD3-5D94-405E-AF81-EAB15F37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2A413-DA82-4F2F-BF80-77CBAE9C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32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6B0DF-DDBC-4BE2-87F6-D82940B0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79335-D2B0-4B88-A0FF-6F6A6749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769450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54250"/>
                <a:gridCol w="4869180"/>
                <a:gridCol w="369697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组织需要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后台建设内容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交付与报价依据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师生与课堂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组织、师生账户；班级与任务分发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学生规模、班级数、组织接入与部署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学习进展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作品版本、完成记录、过程与帮助等级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教师记录需求；分析维度与保存范围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评价与配置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任务规则检查、教师复核；模型与权限设置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任务类型、评分边界、模型和资料范围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课程与支持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课程资源、教师培训、优先支持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课程数量、培训频次与支持等级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1CF5D-F840-49D9-82F4-86852ACC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组织方案按学生数与学校需求组合；AI算力另行订阅或使用机构自有API。</a:t>
            </a:r>
          </a:p>
        </p:txBody>
      </p:sp>
    </p:spTree>
    <p:extLst>
      <p:ext uri="{BB962C8B-B14F-4D97-AF65-F5344CB8AC3E}">
        <p14:creationId xmlns:p14="http://schemas.microsoft.com/office/powerpoint/2010/main" val="65415583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CE6730-42DD-4C28-A21C-4581DEC3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1860B-44F4-4A82-A098-1BD018EB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32 / 开源与社区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8F23E-D08C-4AFF-AD11-25020F37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以开放创作，积累作品和扩展生态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E27B6-9A17-4DE3-B1F2-D10D3937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个人完整创作免费；公开源码、下载渠道与社区入口仍在准备。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23FCB-231A-48CD-97F0-7E8E5E25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D4214-67AE-4B03-A51A-CF953F9E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33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804B7-BF6E-4051-AC40-CF1D1384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03853-6E65-4E4B-9191-77407DDC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793496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438CB-FE0B-4B19-953D-55E4B6C0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89FFC-FA92-4B5F-B2A1-E44BCB1F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C4BAC-9A46-49B1-ACE5-7C740E48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FCF1C-5D16-4AEB-8E29-51812AAE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DECE7-1B91-4F41-AEEA-7321808B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32B1B-CCE2-48C4-8A0D-22573BF1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开放客户端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41871-FCF4-45A0-9F67-A9BF5085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提供源码与构建说明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保留完整创作能力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4E4C5-4F84-46CD-8413-1893C764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开源发布准备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8E39F-0E3F-4222-A067-DE68C3BE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66109-7391-48FC-8BA2-CD596ED7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共享作品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CC24D-1660-484C-9C03-62CB6408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故事搭档与主题任务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可展开蓝图、积木包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DBAD3-B295-4F46-8E2E-F393F9D8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作品与许可证说明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BDEBD-AECB-474A-9258-A1D39979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1F0D0-BDFD-4031-AE1B-A0F22BFD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教师改编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8F8C0-91F0-4BEA-A365-922AA36F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复用任务卡与活动包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贡献调试与组织经验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09379-CA1B-4EC0-91A4-321C3DD6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积累教学资源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848C08-45E7-4049-A37E-D5431DD6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17BDC-5034-4715-A39D-630BB1E7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开发者贡献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60AA81-69BD-40FF-A1F4-30D75CF0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改进部件与工具适配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提交修复与扩展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96498-4F49-462C-BBE7-84DDA0ED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审阅、版本与权限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BD647F-2B59-4E1B-82AD-D8CCFD9F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让学生从使用者走向创作者，让教师与开发者共同扩展作品生态。</a:t>
            </a:r>
          </a:p>
        </p:txBody>
      </p:sp>
    </p:spTree>
    <p:extLst>
      <p:ext uri="{BB962C8B-B14F-4D97-AF65-F5344CB8AC3E}">
        <p14:creationId xmlns:p14="http://schemas.microsoft.com/office/powerpoint/2010/main" val="100348832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EE051-8A39-4FD2-8970-198D59A1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A7106-41FA-453E-9941-05339067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33 / 交付资产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A1EF7-8A91-4B2E-B15A-770C369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让产品能力沉淀为可重复使用的教学资产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34012-D780-4CC7-BC14-3A84A866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四类蓝图与官网体验已形成展示资产，教师活动包和组织支持继续建设。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76AF0-E16E-44D2-8852-DD5E686D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11AD9-8096-46E5-A0D2-8AE2E729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34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24753-D4E7-4FB1-8B48-D96EFD20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044DC-DBE6-41A9-84B5-1F857069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1754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40355"/>
                <a:gridCol w="4959350"/>
                <a:gridCol w="302069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当前依据或建设安排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复用价值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可编辑项目与蓝图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现有作品文件、保存重开、蓝图展开与插入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从起点改造，保存不同活动版本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运行与审阅能力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普通包运行轨迹、积木定位、受控候选差异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将修改理由与实际步骤对照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教师活动包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现阶段设计3作品、任务卡、配置和恢复说明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降低每次从空白准备的工作量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支持与用量记录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现阶段设计工时、模型额度、指导与复盘记录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优化交付范围和后续机构报价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22362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18F40-744F-4E50-8F34-269AE7B4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ECBA5-4CCF-44A6-B9F3-E2617E9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34 / 服务范围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2D7EC-919A-49E2-8617-594E40A5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服务报价连接教学规模、交付资产与支持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B616A-5E0F-4364-8293-92934CD2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真实场景阶段的服务范围样例，正式报价按实际交付和用量核定。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88FCF-1698-42D0-B29E-A1D33FE5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1C8DF-487E-40D6-AAF1-BA55CE1D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35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FA763-8A3B-4B45-8EA2-A805886C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39870-AEDA-4D84-B3F3-777AB6E4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41586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05100"/>
                <a:gridCol w="5049520"/>
                <a:gridCol w="306578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设计样例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80小时交付分配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教学活动与作品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1班30名学生；6次活动；3个可编辑作品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作品准备24小时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教师培训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2次培训；活动引导与调试解释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培训16小时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设备与配置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30台Windows设备检查；模型与权限准备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配置16小时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支持与复盘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8周支持；重开检查、作品修订与一次复盘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支持复盘24小时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C1CF2-9240-4086-9FEF-92DB459C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教学服务按交付范围报价；组织后台与AI算力分别签约和核算。</a:t>
            </a:r>
          </a:p>
        </p:txBody>
      </p:sp>
    </p:spTree>
    <p:extLst>
      <p:ext uri="{BB962C8B-B14F-4D97-AF65-F5344CB8AC3E}">
        <p14:creationId xmlns:p14="http://schemas.microsoft.com/office/powerpoint/2010/main" val="66998445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56656-CF69-4952-B4E2-4E902913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8D706-DFCA-4C14-8912-7E126FF3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35 / 成本依据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29C6D-EEE9-4A38-A650-8BDB7ACA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短任务用量与专业Agent月成本分别测算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89BED-BC59-489A-AE11-A5D1F65B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保留2026-10-03预算快照，历史调用样本与供应商参照分别列示。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D5616-C931-49F2-BD88-00174411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FE5D4-A95A-4024-A6BC-308DAB15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36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9231C-7FA2-4025-97D4-A3A56C07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EE5EC-9DC2-4266-A184-54E43B8A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6563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40355"/>
                <a:gridCol w="4598670"/>
                <a:gridCol w="338137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原预算采用的数据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用于什么判断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项目短任务样本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10个有回执任务，30响应；平均8,258 Token/任务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估算短任务输入与输出，缓存拆分另核对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DeepSeek价格快照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10月3日Pro峰时未命中输入9、输出27元/百万Token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历史预算重定价，正式采购时重新核价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 Code使用参照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10月3日读取：150–250美元/月，活跃日均约13美元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专业云创作与研发参照，不是Blocky用户实测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使用负荷与汇率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频次、人头为情景输入；历史汇率6.7351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不同强度汇总为人民币人月预算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82A94-4AD8-4C87-B0A3-9A10CE36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专业档采用公开统计作资源参照，小学课堂费用后续按真实调用与账单校准。</a:t>
            </a:r>
          </a:p>
        </p:txBody>
      </p:sp>
    </p:spTree>
    <p:extLst>
      <p:ext uri="{BB962C8B-B14F-4D97-AF65-F5344CB8AC3E}">
        <p14:creationId xmlns:p14="http://schemas.microsoft.com/office/powerpoint/2010/main" val="206152378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65BD2-AE97-4E62-A51C-187ECF94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1A88C-1DED-44DB-AC0A-5465DE92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36 / 按人头算力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21846-36FF-43CD-8066-73751208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按任务强度与专业使用，汇总条件算力预算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B74EC-B12B-4375-A8E6-819AC2E4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产品准备关口后启用场景容量，短任务参考与专业档分别预算。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5CE89-7F65-4602-8A52-A8ABBB64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EFFE7-1880-4D0C-AF9D-A93EE7D8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37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792DF-6348-4642-A30C-155444F1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ADF5D-1997-489C-9F8C-F1D06FE1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89677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54050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44420"/>
                <a:gridCol w="1893570"/>
                <a:gridCol w="1623060"/>
                <a:gridCol w="2254250"/>
                <a:gridCol w="2705100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云算力用户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期末条件容量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累计人月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参考月成本（元）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24月成本（万元）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</a:tr>
              <a:tr h="7071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学生（短任务参考）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2,700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3.39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0.914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7071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教师（短任务参考）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20.32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0.610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7071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专业创作者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2,250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1347.02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303.079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6FBE2-14D6-48C6-A719-7E474146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93208"/>
            <a:ext cx="37490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304.603万元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DC7FF-CBC0-41CB-912C-586D817E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102352"/>
            <a:ext cx="685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外部用户算力采购合计；研发工具与内部算力另列17.336万元。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8148E-51A9-4CC1-835B-6C5571F2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学生40次、教师240次短任务/月为情景输入；专业档按200美元/月作资源参照。</a:t>
            </a:r>
          </a:p>
        </p:txBody>
      </p:sp>
    </p:spTree>
    <p:extLst>
      <p:ext uri="{BB962C8B-B14F-4D97-AF65-F5344CB8AC3E}">
        <p14:creationId xmlns:p14="http://schemas.microsoft.com/office/powerpoint/2010/main" val="21175901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FA237-A2F7-4DC7-BABD-B30032D1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E26BC-0534-456C-AD7D-9E6AB180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37 / 持续发展资金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2AA6E-76C7-4C05-8891-7E01510E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24个月资金覆盖研发与后续条件场景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D7E9F-0FA2-4670-8625-AA2C5E3C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基准覆盖预算：收入及自有投入确认后抵减；人力3→4等效资源，综合人月2万元。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398DC-74DE-40AC-AA1E-674A6CC6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070B6-3DF3-4A13-9C63-E896A3F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38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73E69-3DF9-470D-A37C-A3376807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216E4-CA32-4952-8D24-F652029F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13722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25374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832225"/>
                <a:gridCol w="1803400"/>
                <a:gridCol w="5184775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资金用途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预算（万元）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覆盖范围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人力、研发工具与专项交付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212.336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研发、教研与运营等效资源；跨端和应用交付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基础设施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16.200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账户、组织后台、存储与运行监测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外部用户算力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304.603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产品准备关口后，按不同任务强度启用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教学、社区与一般运营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32.100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活动与材料、共创推广、行政与合规支持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测试设备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桌面与移动端设备购置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现金储备、预留与取整余量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326.761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正常运营储备、风险预留、厂商合作预留及余量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CD3DB-5105-4E98-95C4-609BE0FD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06440"/>
            <a:ext cx="649224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最低追加需求 866.443万元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63552-E505-442A-8409-3338B21E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815584"/>
            <a:ext cx="406908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资金规划目标 900.000万元</a:t>
            </a:r>
          </a:p>
        </p:txBody>
      </p:sp>
    </p:spTree>
    <p:extLst>
      <p:ext uri="{BB962C8B-B14F-4D97-AF65-F5344CB8AC3E}">
        <p14:creationId xmlns:p14="http://schemas.microsoft.com/office/powerpoint/2010/main" val="144858220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6EA5BE-46B3-42EA-922F-B3217045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AAB4A-186C-42F5-AFD8-A84DF98D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38 / 投入与里程碑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94009-4009-44C8-BC68-E7DDE472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资金按研发关口投入，再支持真实场景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4F57B-15F2-4052-8ACE-32905593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月份是资源排期假设，产品准备与实际使用条件决定后续支取。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632D0-443E-40B3-94BE-218DA6B8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06B7A-D470-4572-B680-51125B57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39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C5FD7-6C4E-4593-A83F-F070858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35C65-EE1F-4C5C-B914-F9C28225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3776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6118E-8BB1-4FED-9F5E-663FEC34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448050" cy="28765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6EF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CE46E-E9B5-470D-9F96-D575BBD3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1DE0F-EA3D-4199-8FAD-813D9293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623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第1至6月：创作产品完善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D9F62-13A6-4E21-AA2F-56BD31B3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767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7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53.767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6E559-F156-4AAA-A4E6-6F827D53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910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万元  ·  完善四蓝图体验、共享接口与发布准备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3458B-C610-444F-A16F-F173E006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52700"/>
            <a:ext cx="3448050" cy="28765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5EC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85D51-E04E-48ED-A83D-87237CA1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196F3-118C-4569-8B67-FA16DC8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623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第7至18月：场景配套研发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9FE41-DA09-474C-AF78-1F12BB67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7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142.646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06447-8896-498A-98E4-A1D23CD3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910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万元  ·  教育组织、专业部署、社区与目标端能力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3A95B-EAAB-43B0-8AF3-A9DA795A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3448050" cy="28765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5EDF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79F42-AD85-46F1-B710-BA1A94DA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622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C9E8A-7B88-46BF-9E8B-4220723D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623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第19至24月：条件场景预算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BE3BA-3870-4FD6-BE92-A646C030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767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7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376.826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F28D9-2397-41BB-8502-776853E6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7910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万元  ·  准备关口通过后采集使用、复用、账单与付款反馈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F0440-D580-426A-97A6-CBEAE385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8577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12A2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D398D4-AE47-472D-9DEB-0117B3B5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421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储备与预留 326.761万元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AC5EC-244B-4A7F-BA2E-FC69A8D1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876925"/>
            <a:ext cx="6067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FEB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EBDC"/>
                </a:solidFill>
                <a:latin typeface="Microsoft YaHei"/>
                <a:ea typeface="Microsoft YaHei"/>
                <a:cs typeface="Microsoft YaHei"/>
              </a:rPr>
              <a:t>保障持续研发与条件用量，随实际进展滚动更新</a:t>
            </a:r>
          </a:p>
        </p:txBody>
      </p:sp>
    </p:spTree>
    <p:extLst>
      <p:ext uri="{BB962C8B-B14F-4D97-AF65-F5344CB8AC3E}">
        <p14:creationId xmlns:p14="http://schemas.microsoft.com/office/powerpoint/2010/main" val="30763585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30BE2-2AC6-4B1B-B540-76907415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8B39C-94B6-4F2E-9B0C-387EC5DD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39 / 厂商合作与结算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A94E5-8A35-492A-99B6-CEA8F7ED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把合作费用、预付额度和保证金分开管理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70784-0BDD-408C-A604-D222DA0B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预算先预留合作现金30万元；取得厂商条款后，按具体用途更新。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4866C-8E8B-421C-BF88-8CC8AD27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2721E-CC2C-4117-B003-0EF69307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40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DD33E-898F-4250-A839-75E24682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2AC8B-4FC4-40AE-968B-A83EEE9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61813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67766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95270"/>
                <a:gridCol w="3651885"/>
                <a:gridCol w="437324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合作项目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现金如何占用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费用与资产如何记录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4650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不可退还的合作费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按合同约定时间支付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计入费用，并占用合作预留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4650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可消费的预付算力额度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充值时先支付现金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留作额度资产，消耗后抵扣采购成本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4650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可退还的保证金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签约时支付，按条件收回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单列保证金资产，跟踪返还时间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37D43-1989-4FC8-8530-70418524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3036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按合同输入金额与时间，分别追踪充值、消耗与保证金返还。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CFEDE-09F5-4FFF-B65C-41DDAB72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1500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组织额度池、个人订阅与加量，随实际用量和回款更新预算。</a:t>
            </a:r>
          </a:p>
        </p:txBody>
      </p:sp>
    </p:spTree>
    <p:extLst>
      <p:ext uri="{BB962C8B-B14F-4D97-AF65-F5344CB8AC3E}">
        <p14:creationId xmlns:p14="http://schemas.microsoft.com/office/powerpoint/2010/main" val="74643118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7AA32-23FF-403D-BBA3-73DC11DC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FF4D7-098C-44D5-93FC-C8DECC45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40 / 订阅回款与资金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E9155-1007-4153-8EA0-8714E343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用回款与合作条款，校准资金计划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DF31C-3A4A-4C83-85CD-362207F9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单位：万元。原预算敏感性保留；官网套餐拟案尚未纳入收入预测。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D70D8-D016-4283-BDC9-D8148360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7629A-5C61-4C5B-B2EF-9C1332E2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41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77BEF-50EE-480F-BCBB-8ADF6CAB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3E943-7AAB-4384-9E64-AE63C40E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85858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0708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5770880"/>
                <a:gridCol w="2524760"/>
                <a:gridCol w="2524760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调整条件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最低追加需求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资金目标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基准覆盖预算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866.443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算力成本回收80%，当月收款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460.338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500.000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成本回收80%，延迟2个月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568.619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不可退合作费100万元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936.443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950.000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C46D6-F06A-4A50-8446-70D52C35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23560"/>
            <a:ext cx="45720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回款改变的是现金占用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06592-7F24-4694-AE67-6F8B4EF3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623560"/>
            <a:ext cx="59436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按实际采购、订阅收款与账期持续更新</a:t>
            </a:r>
          </a:p>
        </p:txBody>
      </p:sp>
    </p:spTree>
    <p:extLst>
      <p:ext uri="{BB962C8B-B14F-4D97-AF65-F5344CB8AC3E}">
        <p14:creationId xmlns:p14="http://schemas.microsoft.com/office/powerpoint/2010/main" val="156830790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677CC-260A-4314-8009-1C7965B7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3C1AB-6FBE-40A4-9EB2-F8B265C3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41 / 资源与用量情景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6CEE8-AFB0-49A6-8A24-2951F9AD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按建设能力和用户规模，安排不同资金强度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48F72-01C1-4CCC-B1DD-C3EB35CF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24个月规划 · 各情景同时调整人力、用户规模与采购成本。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C16A4-EA04-4563-AE8E-67F89DD2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F94C9-5313-41C0-883D-B0C2BA34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42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ABCB2-1D5E-49D0-BD45-E7E84631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49C78-5ADD-40B4-9380-1FB71243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0990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5496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99335"/>
                <a:gridCol w="2705100"/>
                <a:gridCol w="3381375"/>
                <a:gridCol w="2434590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资源情景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期末条件容量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24月现金支出（万元）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资金目标（万元）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</a:tr>
              <a:tr h="710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精简推进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464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259.991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710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基准建设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1,160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573.239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900.000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710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高用量压力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2,320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1936.505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E3CEA-5305-4756-873B-A157DF26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0235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精简推进：更小人力与云用户规模，按优先级交付。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84C88-FAB3-44B3-B39D-2D7CB9F6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0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基准建设：覆盖教育后台、多端与App、社区的持续建设。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FDCC2-3E37-4F88-8EE3-C510724A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0448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高用量压力：更大云用户规模、更高人均成本与现金储备。</a:t>
            </a:r>
          </a:p>
        </p:txBody>
      </p:sp>
    </p:spTree>
    <p:extLst>
      <p:ext uri="{BB962C8B-B14F-4D97-AF65-F5344CB8AC3E}">
        <p14:creationId xmlns:p14="http://schemas.microsoft.com/office/powerpoint/2010/main" val="21016293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4C8C8D-F269-46CD-B8EB-96C2F98D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DAEB6-3278-495D-A882-04D901E6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42 / 近期研发安排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D4410-9E22-40F1-AAED-05983D1A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近期90天完善创作体验与场景配套准备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34D59-2B07-4C27-9A8C-C7B7E3B7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从四蓝图与已开放官网出发，连接作品体验、公开发布和后续组织部署。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1367B-3499-4B5D-AD1C-92695276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61C91-C23B-4D82-9D0D-A1661F30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43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14E0F-7C34-435B-8571-8BE570E3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71FEB-053C-424F-A83E-32ED02A3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33949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19CD6-047B-4962-B43C-F490DC63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562225" cy="344805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7F0D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FBD9E-2207-4B9D-8021-0949A6DB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241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30996-C4A1-41D8-8319-5BB24F6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9090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四蓝图与创作体验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399CE-1363-4C02-8A8C-C858B8E1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14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可展开作品、构建助手、差异撤销与运行示例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62983-B846-4B0E-8012-4021D591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继续推进：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保存、修改与继续创作流程可靠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56836-CC3A-4637-A0A8-05E84A03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24125"/>
            <a:ext cx="2562225" cy="344805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5ED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AE664-F7F7-4F1D-AF5A-CC3B3E60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1A691-1823-471E-B616-2A512CC6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9090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公开渠道与内容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468ED-B8AA-4392-B73F-4364BDE9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95750"/>
            <a:ext cx="214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官网、预设体验、源码与下载发布准备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BA04D-5B6B-47FB-AE5F-C67E43CD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4825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继续推进：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入口、许可证、支持范围与发布版本明确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6892C-0EE8-4F00-AB15-A094AD70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2562225" cy="344805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7F0D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2A201-20FC-4309-970A-B2AE1FF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241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AE6FDB-73EB-48ED-AB97-1222A221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9090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教育与专业配套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01BF5-D588-484C-876D-463529C5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95750"/>
            <a:ext cx="214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班级作业、团队部署与托管计费依赖清单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715B57-5733-40A6-A7E0-AE953994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4825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继续推进：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按模块能力和资源确定分批交付范围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E7712-E4C4-4B34-93AF-48142B92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24125"/>
            <a:ext cx="2562225" cy="344805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5ED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42768-E58A-4D43-9B57-8F296C9B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E3C3A7-1A2F-4A47-85FC-FBD78C9F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9090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任务与用量采证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801C9A-8E0B-4057-AD5F-53D7096C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214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需求记录、历史调用与未来真实账单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D3E1BC-1B8D-4B4C-9D89-E4080C82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4825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继续推进：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就绪范围先验证，再更新资源与资金安排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E1B91C-51B5-45F3-B2D1-88B7C10E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90天为可调整研发窗口；组织后台、计费与多端按实际依赖推进。</a:t>
            </a:r>
          </a:p>
        </p:txBody>
      </p:sp>
    </p:spTree>
    <p:extLst>
      <p:ext uri="{BB962C8B-B14F-4D97-AF65-F5344CB8AC3E}">
        <p14:creationId xmlns:p14="http://schemas.microsoft.com/office/powerpoint/2010/main" val="37560974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178B6-F57C-4130-B76E-114E8F1D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9E23D-4A7D-4DA0-BC22-5DD0662E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43 / 后续方向与来源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F00FA-0FC2-4A06-9AE9-35165B8E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把积木审阅的能力，延伸到更多协作场景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1B86F-8DF1-422B-98FA-A1972FE5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教育优先验证，专业创作共享底座；OPC为后续探索方向。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F8C57-854D-4412-9CF0-B40BAC21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84B7F-5C93-474C-8A5A-963ABDE6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44 /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F45BB-77F2-4911-B838-443C4BDF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22964-E72A-4885-89B0-4B1C309B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57994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3877056"/>
          <a:ext xmlns:a="http://schemas.openxmlformats.org/drawingml/2006/main" cx="10820400" cy="204749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426460"/>
                <a:gridCol w="4102735"/>
                <a:gridCol w="329120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来源组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公开查阅入口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Blocky官网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四蓝图、两类场景、在线体验与定价咨询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blocky.donk55666.chatgpt.site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Scratch / BBAI / Tynker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创作改编、AI积木与组织教学方案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原官方资料快照为2026-10-03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算力与资金模型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历史调用、专业资源参照及24个月条件预算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配套财务XLSX，不含新套餐收入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平台与应用路线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macOS、移动运行端与独立Agent App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后续规划，按实际发布版本开放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B26F1-DB6F-481F-9229-D9377CA0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95728"/>
            <a:ext cx="3931920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OPC（一人公司）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4C04D-AA52-4B3D-80F9-FFB94A6A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68296"/>
            <a:ext cx="6858000" cy="969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审阅“Agent员工”的职责、流程和工具权限；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用运行轨迹核对实际步骤，再决定如何调整。</a:t>
            </a:r>
          </a:p>
        </p:txBody>
      </p:sp>
    </p:spTree>
    <p:extLst>
      <p:ext uri="{BB962C8B-B14F-4D97-AF65-F5344CB8AC3E}">
        <p14:creationId xmlns:p14="http://schemas.microsoft.com/office/powerpoint/2010/main" val="194623100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12A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35724-19D7-4D06-B112-1BA1860A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4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8EF03-CE92-4940-9601-CA6E9CED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44 / 研发与合作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E1E66-1426-4021-BF99-C77F6961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95130-EE6B-4EDD-A576-DFA02B01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rPr>
              <a:t>45 / 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52699-DE71-42BD-B3C3-64004F64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EEFFB-BB3E-4CAE-93CF-4B99F9D3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E8238-B877-4680-A4FC-D699CB05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8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让创作结构可以读懂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8DEE3-35C6-45DF-8E09-38E69979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82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让实际运行可以解释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895B7-FB28-4114-993D-D5F619F8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B5CB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5CBBE"/>
                </a:solidFill>
                <a:latin typeface="Microsoft YaHei"/>
                <a:ea typeface="Microsoft YaHei"/>
                <a:cs typeface="Microsoft YaHei"/>
              </a:rPr>
              <a:t>从四类蓝图开始，连接教育与专业创作。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95FE6-4B25-4D1C-AC30-5325F885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448050" cy="1743075"/>
          </a:xfrm>
          <a:prstGeom xmlns:a="http://schemas.openxmlformats.org/drawingml/2006/main" prst="roundRect">
            <a:avLst>
              <a:gd name="adj" fmla="val 12022"/>
            </a:avLst>
          </a:prstGeom>
          <a:solidFill xmlns:a="http://schemas.openxmlformats.org/drawingml/2006/main">
            <a:srgbClr val="233E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96B0D-7E2C-4A89-A3F8-40F52E3B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产品与能力共建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D03E0-282C-493D-BDBB-EFBD6E5E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四蓝图、共享接口与目标端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可靠创作起点与可使用应用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8F7ED-3B4D-4ED5-B9A5-285660B4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62400"/>
            <a:ext cx="3448050" cy="1743075"/>
          </a:xfrm>
          <a:prstGeom xmlns:a="http://schemas.openxmlformats.org/drawingml/2006/main" prst="roundRect">
            <a:avLst>
              <a:gd name="adj" fmla="val 12022"/>
            </a:avLst>
          </a:prstGeom>
          <a:solidFill xmlns:a="http://schemas.openxmlformats.org/drawingml/2006/main">
            <a:srgbClr val="233E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02E13-7A66-4144-9131-9F478800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91000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资源与资金支持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0EFCA-8698-4BF8-8EBD-EBFC8889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958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按能力关口投入，持续研发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支持产品准备后的条件场景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6EC30-E2A4-4148-A3CD-077946F9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62400"/>
            <a:ext cx="3448050" cy="1743075"/>
          </a:xfrm>
          <a:prstGeom xmlns:a="http://schemas.openxmlformats.org/drawingml/2006/main" prst="roundRect">
            <a:avLst>
              <a:gd name="adj" fmla="val 12022"/>
            </a:avLst>
          </a:prstGeom>
          <a:solidFill xmlns:a="http://schemas.openxmlformats.org/drawingml/2006/main">
            <a:srgbClr val="233E3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77A7F8-5B52-47BA-B7D3-083483DE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后续场景合作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1D5A3-CD86-4139-B76D-0ABAF210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958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产品准备后组织场景合作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作品、复用、用量与采购反馈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90F6BF-CC11-445F-92EA-005F869A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F07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51de16e6a084610"/>
              </a:rPr>
              <a:t>blocky.donk55666.chatgpt.site</a:t>
            </a:r>
          </a:p>
        </p:txBody>
      </p:sp>
    </p:spTree>
    <p:extLst>
      <p:ext uri="{BB962C8B-B14F-4D97-AF65-F5344CB8AC3E}">
        <p14:creationId xmlns:p14="http://schemas.microsoft.com/office/powerpoint/2010/main" val="1110363200"/>
      </p:ext>
    </p:extLst>
  </p:cSld>
</p:sld>
</file>

<file path=ppt/theme/theme1.xml><?xml version="1.0" encoding="utf-8"?>
<a:theme xmlns:a="http://schemas.openxmlformats.org/drawingml/2006/main" name="ChatGPT">
  <a:themeElements>
    <a:clrScheme name="Blocky Editorial">
      <a:dk1>
        <a:srgbClr val="112A26"/>
      </a:dk1>
      <a:lt1>
        <a:srgbClr val="FFFFFF"/>
      </a:lt1>
      <a:dk2>
        <a:srgbClr val="172E2B"/>
      </a:dk2>
      <a:lt2>
        <a:srgbClr val="F8FAF2"/>
      </a:lt2>
      <a:accent1>
        <a:srgbClr val="087B6E"/>
      </a:accent1>
      <a:accent2>
        <a:srgbClr val="D9F07A"/>
      </a:accent2>
      <a:accent3>
        <a:srgbClr val="9E6527"/>
      </a:accent3>
      <a:accent4>
        <a:srgbClr val="3465A1"/>
      </a:accent4>
      <a:accent5>
        <a:srgbClr val="7963A3"/>
      </a:accent5>
      <a:accent6>
        <a:srgbClr val="90B95E"/>
      </a:accent6>
      <a:hlink>
        <a:srgbClr val="D9F07A"/>
      </a:hlink>
      <a:folHlink>
        <a:srgbClr val="D9F07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ocky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2026-10-05T15:40:16.6960000Z</dcterms:created>
  <dcterms:modified xsi:type="dcterms:W3CDTF">2026-10-05T15:40:16.6960000Z</dcterms:modified>
</coreProperties>
</file>
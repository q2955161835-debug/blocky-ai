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be917473a4784" /><Relationship Type="http://schemas.openxmlformats.org/officeDocument/2006/relationships/extended-properties" Target="/docProps/app.xml" Id="R57b5bca1b5784132" /><Relationship Type="http://schemas.openxmlformats.org/officeDocument/2006/relationships/officeDocument" Target="/ppt/presentation.xml" Id="R4feac088a9ea40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4a96e001c4450"/>
  </p:sldMasterIdLst>
  <p:notesMasterIdLst>
    <p:notesMasterId xmlns:r="http://schemas.openxmlformats.org/officeDocument/2006/relationships" r:id="R95bef4b0b49d4e2c"/>
  </p:notesMasterIdLst>
  <p:sldIdLst>
    <p:sldId xmlns:r="http://schemas.openxmlformats.org/officeDocument/2006/relationships" id="256" r:id="Rc11e48681f7e47cf"/>
    <p:sldId xmlns:r="http://schemas.openxmlformats.org/officeDocument/2006/relationships" id="257" r:id="Rc16a4b275c874982"/>
    <p:sldId xmlns:r="http://schemas.openxmlformats.org/officeDocument/2006/relationships" id="258" r:id="R1892930244534ddb"/>
    <p:sldId xmlns:r="http://schemas.openxmlformats.org/officeDocument/2006/relationships" id="259" r:id="R7d133d91679547f1"/>
    <p:sldId xmlns:r="http://schemas.openxmlformats.org/officeDocument/2006/relationships" id="260" r:id="Rf987de50a5b84747"/>
    <p:sldId xmlns:r="http://schemas.openxmlformats.org/officeDocument/2006/relationships" id="261" r:id="Rb358968749c74f95"/>
    <p:sldId xmlns:r="http://schemas.openxmlformats.org/officeDocument/2006/relationships" id="262" r:id="Rf4f728909882479e"/>
    <p:sldId xmlns:r="http://schemas.openxmlformats.org/officeDocument/2006/relationships" id="263" r:id="Ra923f2e249cf4460"/>
    <p:sldId xmlns:r="http://schemas.openxmlformats.org/officeDocument/2006/relationships" id="264" r:id="R62215ddb8371425b"/>
    <p:sldId xmlns:r="http://schemas.openxmlformats.org/officeDocument/2006/relationships" id="265" r:id="R7eed23111b9d4969"/>
    <p:sldId xmlns:r="http://schemas.openxmlformats.org/officeDocument/2006/relationships" id="266" r:id="R2c4b19e0b3304ef0"/>
    <p:sldId xmlns:r="http://schemas.openxmlformats.org/officeDocument/2006/relationships" id="267" r:id="R263566260d98415e"/>
    <p:sldId xmlns:r="http://schemas.openxmlformats.org/officeDocument/2006/relationships" id="268" r:id="Reae83b80d11b42c0"/>
    <p:sldId xmlns:r="http://schemas.openxmlformats.org/officeDocument/2006/relationships" id="269" r:id="R92cbb4bee10246a5"/>
    <p:sldId xmlns:r="http://schemas.openxmlformats.org/officeDocument/2006/relationships" id="270" r:id="Rfd25d9c55df646b6"/>
    <p:sldId xmlns:r="http://schemas.openxmlformats.org/officeDocument/2006/relationships" id="271" r:id="Rbef4ae6cd1a24b18"/>
    <p:sldId xmlns:r="http://schemas.openxmlformats.org/officeDocument/2006/relationships" id="272" r:id="Rfe1ef73bdd834684"/>
    <p:sldId xmlns:r="http://schemas.openxmlformats.org/officeDocument/2006/relationships" id="273" r:id="Refff81f21b7d48a6"/>
    <p:sldId xmlns:r="http://schemas.openxmlformats.org/officeDocument/2006/relationships" id="274" r:id="R5cd21ff203cd4e1b"/>
    <p:sldId xmlns:r="http://schemas.openxmlformats.org/officeDocument/2006/relationships" id="275" r:id="R6218ae360c8e46ab"/>
    <p:sldId xmlns:r="http://schemas.openxmlformats.org/officeDocument/2006/relationships" id="276" r:id="Rf94d2b67911d4c67"/>
    <p:sldId xmlns:r="http://schemas.openxmlformats.org/officeDocument/2006/relationships" id="277" r:id="R957c7562e2c34e81"/>
    <p:sldId xmlns:r="http://schemas.openxmlformats.org/officeDocument/2006/relationships" id="278" r:id="R61fd7b56820d4f63"/>
    <p:sldId xmlns:r="http://schemas.openxmlformats.org/officeDocument/2006/relationships" id="279" r:id="R0b79b552e76c4b78"/>
    <p:sldId xmlns:r="http://schemas.openxmlformats.org/officeDocument/2006/relationships" id="280" r:id="R021ef6fcc4f8490b"/>
    <p:sldId xmlns:r="http://schemas.openxmlformats.org/officeDocument/2006/relationships" id="281" r:id="R34ca1e816a374ef4"/>
    <p:sldId xmlns:r="http://schemas.openxmlformats.org/officeDocument/2006/relationships" id="282" r:id="R9459bf0f691b41f2"/>
    <p:sldId xmlns:r="http://schemas.openxmlformats.org/officeDocument/2006/relationships" id="283" r:id="R613f38ddb1844059"/>
    <p:sldId xmlns:r="http://schemas.openxmlformats.org/officeDocument/2006/relationships" id="284" r:id="R2f63fd9fa6a342d6"/>
    <p:sldId xmlns:r="http://schemas.openxmlformats.org/officeDocument/2006/relationships" id="285" r:id="Ra0c9fad6ec7648f3"/>
    <p:sldId xmlns:r="http://schemas.openxmlformats.org/officeDocument/2006/relationships" id="286" r:id="Rd848190a85364d66"/>
    <p:sldId xmlns:r="http://schemas.openxmlformats.org/officeDocument/2006/relationships" id="287" r:id="R52d05dc913d74543"/>
    <p:sldId xmlns:r="http://schemas.openxmlformats.org/officeDocument/2006/relationships" id="288" r:id="R0bea9bafca324ba7"/>
    <p:sldId xmlns:r="http://schemas.openxmlformats.org/officeDocument/2006/relationships" id="289" r:id="R5984a61842404e02"/>
    <p:sldId xmlns:r="http://schemas.openxmlformats.org/officeDocument/2006/relationships" id="290" r:id="Re1f8d587d6684e5a"/>
    <p:sldId xmlns:r="http://schemas.openxmlformats.org/officeDocument/2006/relationships" id="291" r:id="Rde8ef18dbab24b15"/>
    <p:sldId xmlns:r="http://schemas.openxmlformats.org/officeDocument/2006/relationships" id="292" r:id="R65a1cee031b74e85"/>
    <p:sldId xmlns:r="http://schemas.openxmlformats.org/officeDocument/2006/relationships" id="293" r:id="R0e336106a0684bb8"/>
    <p:sldId xmlns:r="http://schemas.openxmlformats.org/officeDocument/2006/relationships" id="294" r:id="R6a3f103989f44cd9"/>
    <p:sldId xmlns:r="http://schemas.openxmlformats.org/officeDocument/2006/relationships" id="295" r:id="R11e0208896974b1b"/>
    <p:sldId xmlns:r="http://schemas.openxmlformats.org/officeDocument/2006/relationships" id="296" r:id="R240e08e0804d4760"/>
    <p:sldId xmlns:r="http://schemas.openxmlformats.org/officeDocument/2006/relationships" id="297" r:id="Recd276981d7a4f06"/>
    <p:sldId xmlns:r="http://schemas.openxmlformats.org/officeDocument/2006/relationships" id="298" r:id="Rbb40cbf2f79f40ba"/>
    <p:sldId xmlns:r="http://schemas.openxmlformats.org/officeDocument/2006/relationships" id="299" r:id="Ra8987390268f470a"/>
    <p:sldId xmlns:r="http://schemas.openxmlformats.org/officeDocument/2006/relationships" id="300" r:id="R56167b9151084502"/>
    <p:sldId xmlns:r="http://schemas.openxmlformats.org/officeDocument/2006/relationships" id="301" r:id="Re57e5d34378b485a"/>
    <p:sldId xmlns:r="http://schemas.openxmlformats.org/officeDocument/2006/relationships" id="302" r:id="R316a1323b573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e61cb71644077" /><Relationship Type="http://schemas.openxmlformats.org/officeDocument/2006/relationships/slideMaster" Target="/ppt/slideMasters/slideMaster1.xml" Id="R2c94a96e001c4450" /><Relationship Type="http://schemas.openxmlformats.org/officeDocument/2006/relationships/notesMaster" Target="/ppt/notesMasters/notesMaster1.xml" Id="R95bef4b0b49d4e2c" /><Relationship Type="http://schemas.openxmlformats.org/officeDocument/2006/relationships/presProps" Target="/ppt/presProps.xml" Id="Rf1d191cf5d5b4e7e" /><Relationship Type="http://schemas.openxmlformats.org/officeDocument/2006/relationships/tableStyles" Target="/ppt/tableStyles.xml" Id="R4e627284306c43fc" /><Relationship Type="http://schemas.openxmlformats.org/officeDocument/2006/relationships/slide" Target="/ppt/slides/slide1.xml" Id="Rc11e48681f7e47cf" /><Relationship Type="http://schemas.openxmlformats.org/officeDocument/2006/relationships/slide" Target="/ppt/slides/slide2.xml" Id="Rc16a4b275c874982" /><Relationship Type="http://schemas.openxmlformats.org/officeDocument/2006/relationships/slide" Target="/ppt/slides/slide3.xml" Id="R1892930244534ddb" /><Relationship Type="http://schemas.openxmlformats.org/officeDocument/2006/relationships/slide" Target="/ppt/slides/slide4.xml" Id="R7d133d91679547f1" /><Relationship Type="http://schemas.openxmlformats.org/officeDocument/2006/relationships/slide" Target="/ppt/slides/slide5.xml" Id="Rf987de50a5b84747" /><Relationship Type="http://schemas.openxmlformats.org/officeDocument/2006/relationships/slide" Target="/ppt/slides/slide6.xml" Id="Rb358968749c74f95" /><Relationship Type="http://schemas.openxmlformats.org/officeDocument/2006/relationships/slide" Target="/ppt/slides/slide7.xml" Id="Rf4f728909882479e" /><Relationship Type="http://schemas.openxmlformats.org/officeDocument/2006/relationships/slide" Target="/ppt/slides/slide8.xml" Id="Ra923f2e249cf4460" /><Relationship Type="http://schemas.openxmlformats.org/officeDocument/2006/relationships/slide" Target="/ppt/slides/slide9.xml" Id="R62215ddb8371425b" /><Relationship Type="http://schemas.openxmlformats.org/officeDocument/2006/relationships/slide" Target="/ppt/slides/slide10.xml" Id="R7eed23111b9d4969" /><Relationship Type="http://schemas.openxmlformats.org/officeDocument/2006/relationships/slide" Target="/ppt/slides/slide11.xml" Id="R2c4b19e0b3304ef0" /><Relationship Type="http://schemas.openxmlformats.org/officeDocument/2006/relationships/slide" Target="/ppt/slides/slide12.xml" Id="R263566260d98415e" /><Relationship Type="http://schemas.openxmlformats.org/officeDocument/2006/relationships/slide" Target="/ppt/slides/slide13.xml" Id="Reae83b80d11b42c0" /><Relationship Type="http://schemas.openxmlformats.org/officeDocument/2006/relationships/slide" Target="/ppt/slides/slide14.xml" Id="R92cbb4bee10246a5" /><Relationship Type="http://schemas.openxmlformats.org/officeDocument/2006/relationships/slide" Target="/ppt/slides/slide15.xml" Id="Rfd25d9c55df646b6" /><Relationship Type="http://schemas.openxmlformats.org/officeDocument/2006/relationships/slide" Target="/ppt/slides/slide16.xml" Id="Rbef4ae6cd1a24b18" /><Relationship Type="http://schemas.openxmlformats.org/officeDocument/2006/relationships/slide" Target="/ppt/slides/slide17.xml" Id="Rfe1ef73bdd834684" /><Relationship Type="http://schemas.openxmlformats.org/officeDocument/2006/relationships/slide" Target="/ppt/slides/slide18.xml" Id="Refff81f21b7d48a6" /><Relationship Type="http://schemas.openxmlformats.org/officeDocument/2006/relationships/slide" Target="/ppt/slides/slide19.xml" Id="R5cd21ff203cd4e1b" /><Relationship Type="http://schemas.openxmlformats.org/officeDocument/2006/relationships/slide" Target="/ppt/slides/slide20.xml" Id="R6218ae360c8e46ab" /><Relationship Type="http://schemas.openxmlformats.org/officeDocument/2006/relationships/slide" Target="/ppt/slides/slide21.xml" Id="Rf94d2b67911d4c67" /><Relationship Type="http://schemas.openxmlformats.org/officeDocument/2006/relationships/slide" Target="/ppt/slides/slide22.xml" Id="R957c7562e2c34e81" /><Relationship Type="http://schemas.openxmlformats.org/officeDocument/2006/relationships/slide" Target="/ppt/slides/slide23.xml" Id="R61fd7b56820d4f63" /><Relationship Type="http://schemas.openxmlformats.org/officeDocument/2006/relationships/slide" Target="/ppt/slides/slide24.xml" Id="R0b79b552e76c4b78" /><Relationship Type="http://schemas.openxmlformats.org/officeDocument/2006/relationships/slide" Target="/ppt/slides/slide25.xml" Id="R021ef6fcc4f8490b" /><Relationship Type="http://schemas.openxmlformats.org/officeDocument/2006/relationships/slide" Target="/ppt/slides/slide26.xml" Id="R34ca1e816a374ef4" /><Relationship Type="http://schemas.openxmlformats.org/officeDocument/2006/relationships/slide" Target="/ppt/slides/slide27.xml" Id="R9459bf0f691b41f2" /><Relationship Type="http://schemas.openxmlformats.org/officeDocument/2006/relationships/slide" Target="/ppt/slides/slide28.xml" Id="R613f38ddb1844059" /><Relationship Type="http://schemas.openxmlformats.org/officeDocument/2006/relationships/slide" Target="/ppt/slides/slide29.xml" Id="R2f63fd9fa6a342d6" /><Relationship Type="http://schemas.openxmlformats.org/officeDocument/2006/relationships/slide" Target="/ppt/slides/slide30.xml" Id="Ra0c9fad6ec7648f3" /><Relationship Type="http://schemas.openxmlformats.org/officeDocument/2006/relationships/slide" Target="/ppt/slides/slide31.xml" Id="Rd848190a85364d66" /><Relationship Type="http://schemas.openxmlformats.org/officeDocument/2006/relationships/slide" Target="/ppt/slides/slide32.xml" Id="R52d05dc913d74543" /><Relationship Type="http://schemas.openxmlformats.org/officeDocument/2006/relationships/slide" Target="/ppt/slides/slide33.xml" Id="R0bea9bafca324ba7" /><Relationship Type="http://schemas.openxmlformats.org/officeDocument/2006/relationships/slide" Target="/ppt/slides/slide34.xml" Id="R5984a61842404e02" /><Relationship Type="http://schemas.openxmlformats.org/officeDocument/2006/relationships/slide" Target="/ppt/slides/slide35.xml" Id="Re1f8d587d6684e5a" /><Relationship Type="http://schemas.openxmlformats.org/officeDocument/2006/relationships/slide" Target="/ppt/slides/slide36.xml" Id="Rde8ef18dbab24b15" /><Relationship Type="http://schemas.openxmlformats.org/officeDocument/2006/relationships/slide" Target="/ppt/slides/slide37.xml" Id="R65a1cee031b74e85" /><Relationship Type="http://schemas.openxmlformats.org/officeDocument/2006/relationships/slide" Target="/ppt/slides/slide38.xml" Id="R0e336106a0684bb8" /><Relationship Type="http://schemas.openxmlformats.org/officeDocument/2006/relationships/slide" Target="/ppt/slides/slide39.xml" Id="R6a3f103989f44cd9" /><Relationship Type="http://schemas.openxmlformats.org/officeDocument/2006/relationships/slide" Target="/ppt/slides/slide40.xml" Id="R11e0208896974b1b" /><Relationship Type="http://schemas.openxmlformats.org/officeDocument/2006/relationships/slide" Target="/ppt/slides/slide41.xml" Id="R240e08e0804d4760" /><Relationship Type="http://schemas.openxmlformats.org/officeDocument/2006/relationships/slide" Target="/ppt/slides/slide42.xml" Id="Recd276981d7a4f06" /><Relationship Type="http://schemas.openxmlformats.org/officeDocument/2006/relationships/slide" Target="/ppt/slides/slide43.xml" Id="Rbb40cbf2f79f40ba" /><Relationship Type="http://schemas.openxmlformats.org/officeDocument/2006/relationships/slide" Target="/ppt/slides/slide44.xml" Id="Ra8987390268f470a" /><Relationship Type="http://schemas.openxmlformats.org/officeDocument/2006/relationships/slide" Target="/ppt/slides/slide45.xml" Id="R56167b9151084502" /><Relationship Type="http://schemas.openxmlformats.org/officeDocument/2006/relationships/slide" Target="/ppt/slides/slide46.xml" Id="Re57e5d34378b485a" /><Relationship Type="http://schemas.openxmlformats.org/officeDocument/2006/relationships/slide" Target="/ppt/slides/slide47.xml" Id="R316a1323b573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9c7478a6a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ed60fa42ba46c8" /><Relationship Type="http://schemas.openxmlformats.org/officeDocument/2006/relationships/notesMaster" Target="/ppt/notesMasters/notesMaster1.xml" Id="Rdf776aa75d29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0fc6c340b4140" /><Relationship Type="http://schemas.openxmlformats.org/officeDocument/2006/relationships/notesMaster" Target="/ppt/notesMasters/notesMaster1.xml" Id="R125cafa643d946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963c748bba4f5a" /><Relationship Type="http://schemas.openxmlformats.org/officeDocument/2006/relationships/notesMaster" Target="/ppt/notesMasters/notesMaster1.xml" Id="R24278d37086d45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d07b8fd4d46d3" /><Relationship Type="http://schemas.openxmlformats.org/officeDocument/2006/relationships/notesMaster" Target="/ppt/notesMasters/notesMaster1.xml" Id="R42ae4b12a89546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e71fc26b44060" /><Relationship Type="http://schemas.openxmlformats.org/officeDocument/2006/relationships/notesMaster" Target="/ppt/notesMasters/notesMaster1.xml" Id="R4b3d224cc24749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d6cab3c2ea4959" /><Relationship Type="http://schemas.openxmlformats.org/officeDocument/2006/relationships/notesMaster" Target="/ppt/notesMasters/notesMaster1.xml" Id="Ra85bb178c4ce49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f55f2805a849e5" /><Relationship Type="http://schemas.openxmlformats.org/officeDocument/2006/relationships/notesMaster" Target="/ppt/notesMasters/notesMaster1.xml" Id="R85336af904cf4a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4146b35b8416e" /><Relationship Type="http://schemas.openxmlformats.org/officeDocument/2006/relationships/notesMaster" Target="/ppt/notesMasters/notesMaster1.xml" Id="R83e27e54470d40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81bf994fbc46ba" /><Relationship Type="http://schemas.openxmlformats.org/officeDocument/2006/relationships/notesMaster" Target="/ppt/notesMasters/notesMaster1.xml" Id="R0a650ae4040947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25c160f51f4f13" /><Relationship Type="http://schemas.openxmlformats.org/officeDocument/2006/relationships/notesMaster" Target="/ppt/notesMasters/notesMaster1.xml" Id="R7c4b4fc1e9444c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7c094ca1a045e6" /><Relationship Type="http://schemas.openxmlformats.org/officeDocument/2006/relationships/notesMaster" Target="/ppt/notesMasters/notesMaster1.xml" Id="Re9c5369b58344a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0b9ab3dcf74660" /><Relationship Type="http://schemas.openxmlformats.org/officeDocument/2006/relationships/notesMaster" Target="/ppt/notesMasters/notesMaster1.xml" Id="Rc702441e1e454d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f99158faa4ff9" /><Relationship Type="http://schemas.openxmlformats.org/officeDocument/2006/relationships/notesMaster" Target="/ppt/notesMasters/notesMaster1.xml" Id="R3c360fd8128441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a422b2636345e9" /><Relationship Type="http://schemas.openxmlformats.org/officeDocument/2006/relationships/notesMaster" Target="/ppt/notesMasters/notesMaster1.xml" Id="R3c8716266d1f44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8e26506ea04874" /><Relationship Type="http://schemas.openxmlformats.org/officeDocument/2006/relationships/notesMaster" Target="/ppt/notesMasters/notesMaster1.xml" Id="Rade73681f6dc49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bd3ad71bd0497a" /><Relationship Type="http://schemas.openxmlformats.org/officeDocument/2006/relationships/notesMaster" Target="/ppt/notesMasters/notesMaster1.xml" Id="R6741aeaebba54a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57b20d10d74cf1" /><Relationship Type="http://schemas.openxmlformats.org/officeDocument/2006/relationships/notesMaster" Target="/ppt/notesMasters/notesMaster1.xml" Id="R5c1ad3009d0443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bb788847404650" /><Relationship Type="http://schemas.openxmlformats.org/officeDocument/2006/relationships/notesMaster" Target="/ppt/notesMasters/notesMaster1.xml" Id="R6a3e95c49e2f4f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e0e07ff2b84e2a" /><Relationship Type="http://schemas.openxmlformats.org/officeDocument/2006/relationships/notesMaster" Target="/ppt/notesMasters/notesMaster1.xml" Id="Rd7998382ba0c44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0a1e5aa0b04803" /><Relationship Type="http://schemas.openxmlformats.org/officeDocument/2006/relationships/notesMaster" Target="/ppt/notesMasters/notesMaster1.xml" Id="Re093fbde895645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c9701c193942f1" /><Relationship Type="http://schemas.openxmlformats.org/officeDocument/2006/relationships/notesMaster" Target="/ppt/notesMasters/notesMaster1.xml" Id="Rc3d0d8694cdd42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4555cea3db461b" /><Relationship Type="http://schemas.openxmlformats.org/officeDocument/2006/relationships/notesMaster" Target="/ppt/notesMasters/notesMaster1.xml" Id="R126998c16ef643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629e601afa44d1" /><Relationship Type="http://schemas.openxmlformats.org/officeDocument/2006/relationships/notesMaster" Target="/ppt/notesMasters/notesMaster1.xml" Id="R46e2f377123d44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0e411af666b4610" /><Relationship Type="http://schemas.openxmlformats.org/officeDocument/2006/relationships/notesMaster" Target="/ppt/notesMasters/notesMaster1.xml" Id="R0e9ffe10b87041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7e4ad063fc47a1" /><Relationship Type="http://schemas.openxmlformats.org/officeDocument/2006/relationships/notesMaster" Target="/ppt/notesMasters/notesMaster1.xml" Id="R1b7c0a4a49f140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8c1d52c1744c7d" /><Relationship Type="http://schemas.openxmlformats.org/officeDocument/2006/relationships/notesMaster" Target="/ppt/notesMasters/notesMaster1.xml" Id="R4d934c6237a24e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ade7132586346ac" /><Relationship Type="http://schemas.openxmlformats.org/officeDocument/2006/relationships/notesMaster" Target="/ppt/notesMasters/notesMaster1.xml" Id="R78b5a56099154a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2fd8990788476f" /><Relationship Type="http://schemas.openxmlformats.org/officeDocument/2006/relationships/notesMaster" Target="/ppt/notesMasters/notesMaster1.xml" Id="Rc639483675e24a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81523daaef649c4" /><Relationship Type="http://schemas.openxmlformats.org/officeDocument/2006/relationships/notesMaster" Target="/ppt/notesMasters/notesMaster1.xml" Id="R78d1439dac04442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70b4e4ba2b4e52" /><Relationship Type="http://schemas.openxmlformats.org/officeDocument/2006/relationships/notesMaster" Target="/ppt/notesMasters/notesMaster1.xml" Id="R6678074e839447a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54618bc5df4268" /><Relationship Type="http://schemas.openxmlformats.org/officeDocument/2006/relationships/notesMaster" Target="/ppt/notesMasters/notesMaster1.xml" Id="R3c584ed64eb64a3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dfe88f5c32f4ab1" /><Relationship Type="http://schemas.openxmlformats.org/officeDocument/2006/relationships/notesMaster" Target="/ppt/notesMasters/notesMaster1.xml" Id="Rcb049bdde1d54f9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fd52fabe9945cb" /><Relationship Type="http://schemas.openxmlformats.org/officeDocument/2006/relationships/notesMaster" Target="/ppt/notesMasters/notesMaster1.xml" Id="R6a6057011cc045a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d7cdf99ca74548" /><Relationship Type="http://schemas.openxmlformats.org/officeDocument/2006/relationships/notesMaster" Target="/ppt/notesMasters/notesMaster1.xml" Id="R6a700f8d5d1248a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fb99c0a82c4e77" /><Relationship Type="http://schemas.openxmlformats.org/officeDocument/2006/relationships/notesMaster" Target="/ppt/notesMasters/notesMaster1.xml" Id="Rd2bb53cfe839457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bc23073bc33435b" /><Relationship Type="http://schemas.openxmlformats.org/officeDocument/2006/relationships/notesMaster" Target="/ppt/notesMasters/notesMaster1.xml" Id="R4aec4c1a34984a3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7b8fcb1e8ee42c4" /><Relationship Type="http://schemas.openxmlformats.org/officeDocument/2006/relationships/notesMaster" Target="/ppt/notesMasters/notesMaster1.xml" Id="R84f0461c6c7140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63a179f59db4af8" /><Relationship Type="http://schemas.openxmlformats.org/officeDocument/2006/relationships/notesMaster" Target="/ppt/notesMasters/notesMaster1.xml" Id="R1b90948f92e3478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04916dc0454a13" /><Relationship Type="http://schemas.openxmlformats.org/officeDocument/2006/relationships/notesMaster" Target="/ppt/notesMasters/notesMaster1.xml" Id="R4129c0713523487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3c194dd86eb40fd" /><Relationship Type="http://schemas.openxmlformats.org/officeDocument/2006/relationships/notesMaster" Target="/ppt/notesMasters/notesMaster1.xml" Id="R0ec1cfb424884ff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1cfe8d677424c00" /><Relationship Type="http://schemas.openxmlformats.org/officeDocument/2006/relationships/notesMaster" Target="/ppt/notesMasters/notesMaster1.xml" Id="R2014fb1a36f546d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08945721240479e" /><Relationship Type="http://schemas.openxmlformats.org/officeDocument/2006/relationships/notesMaster" Target="/ppt/notesMasters/notesMaster1.xml" Id="R0706eaee469c4f3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36c0d2054064720" /><Relationship Type="http://schemas.openxmlformats.org/officeDocument/2006/relationships/notesMaster" Target="/ppt/notesMasters/notesMaster1.xml" Id="R1be52bbf49cf462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24ff5006da442e0" /><Relationship Type="http://schemas.openxmlformats.org/officeDocument/2006/relationships/notesMaster" Target="/ppt/notesMasters/notesMaster1.xml" Id="Re59c0558a5f1438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b30eb771eea4ed3" /><Relationship Type="http://schemas.openxmlformats.org/officeDocument/2006/relationships/notesMaster" Target="/ppt/notesMasters/notesMaster1.xml" Id="Rc26698350943492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e4179e8f13f4b9a" /><Relationship Type="http://schemas.openxmlformats.org/officeDocument/2006/relationships/notesMaster" Target="/ppt/notesMasters/notesMaster1.xml" Id="R968ac667d7114a6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d046a813d31404f" /><Relationship Type="http://schemas.openxmlformats.org/officeDocument/2006/relationships/notesMaster" Target="/ppt/notesMasters/notesMaster1.xml" Id="R30299ba07ca24a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Blocky面向普通创作者与学校教育，用嵌套积木组合智能体。教育是优先验证场景，专业创作共享同一底座。官网已经开放产品介绍与预设在线体验，Windows桌面产品仍在持续完善。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封面使用ImageGen品牌概念插画，不是官网截图或软件界面。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是项目要验证的研发命题，教育价值由产品能力和后续真实场景共同验证。Scratch是创作学习方式参照，Agent部件引入模型、记忆和工具。当前工程成果为结构表达、修改审阅和运行映射提供基础，下一阶段先完成专业模板和后续产品开发。</a:t>
            </a:r>
          </a:p>
          <a:p xmlns:a="http://schemas.openxmlformats.org/drawingml/2006/main">
            <a:r>
              <a:t>转场：专业模板与后续开发先行，真实场景随后进入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成果包括Windows创作工作台及四类起始蓝图。后续重点是创作接口、教育组织、专业部署、开源社区和目标端，不再采用六框架模板依次交付的旧路线。真实课堂、合同和用户用量需要在相关产品准备完成后验证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图来自已交付0.8.0-chat普通包，合成水循环资料作品。左侧选择部件，中间保存编辑结构，右侧在构建助手与作品Agent间切换，底部有问题、日志和输出。此页介绍产品全貌，不将这个资料作品当作故事课程或真实学生作品。</a:t>
            </a:r>
          </a:p>
          <a:p xmlns:a="http://schemas.openxmlformats.org/drawingml/2006/main">
            <a:r>
              <a:t>转场：开源底座之上，连接作品语义与实际运行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Blockly、Tauri和Pi提供开源组件基础，Blocky围绕项目格式、语义编译、运行映射、Host隔离和受控修改组织产品。界面、CLI和构建助手共用领域能力。持续研发将这些工程资产发展为可改造模板、入门任务和可交付应用。</a:t>
            </a:r>
          </a:p>
          <a:p xmlns:a="http://schemas.openxmlformats.org/drawingml/2006/main">
            <a:r>
              <a:t>转场：角色、模型、记忆和工具，成为可改造部件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些部件属于现有领域和运行能力。入门活动先用少量积木，教师预选模型、资料和权限，逐步增加记忆或工具。地图解释学生动作与观察点，不能当作全部小学教学活动已运行。专业能力和入门任务视图共用项目格式。</a:t>
            </a:r>
          </a:p>
          <a:p xmlns:a="http://schemas.openxmlformats.org/drawingml/2006/main">
            <a:r>
              <a:t>转场：从代码审阅，到积木审阅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关键价值是非专业用户可以审阅Agent行为。作品结构显示设计，候选差异支持审阅修改，运行事件把实际步骤带回积木。轨迹不展示模型内部推理，也不保证模型内容正确，师生需要结合任务和资料核对。OPC后续方向在发展章节简述，小学学习保持主线。</a:t>
            </a:r>
          </a:p>
          <a:p xmlns:a="http://schemas.openxmlformats.org/drawingml/2006/main">
            <a:r>
              <a:t>转场：从准备资料到运行作品，保留可回查过程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画面展示Blocky构建助手处理合成水循环资料并生成学习卡。它读取资料、写入文件并展示修改差异，已有模型记录为息壤deepseek-v4-pro三次响应共7717Token。后续本地故事规则对照单独展示结构改造，课堂故事生成则属于未来教学设计。</a:t>
            </a:r>
          </a:p>
          <a:p xmlns:a="http://schemas.openxmlformats.org/drawingml/2006/main">
            <a:r>
              <a:t>转场：继续完善四类蓝图与创作产品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四类起始蓝图是可展开、可修改的项目，不是四个封闭聊天功能。Pi Agent来源于真实上游Pi核心积木化。空白项目和个人蓝图为另外的创作入口。四类蓝图已交付，不代表完整产品愿景或所有上游框架兼容完成。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角色为ImageGen概念插画，不承担实现证明。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公开在线体验是预设UI与合成工具轨迹演示，普通播放约60秒，不执行真实API、CLI或文件读写。它用于理解创作方法，与历史Windows真实模型调用证据分别陈列。入口：https://blocky.donk55666.chatgpt.site/#/studio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校园植物小向导和研究报告工作台是官网场景设计，不是实际课堂或客户成果。现有技术能力与教师组织、团队权限、部署、社区、多端等后续能力分别说明。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场景为ImageGen概念插画，不是真实课堂、客户现场或软件界面。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四类起始蓝图已经交付，后续建设按实际缺口和模块依赖推进。官网展示完整愿景，不能据此宣称班级后台、团队部署、社区或独立App已开放。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七类入门任务投影为开始、角色、会思考、会查找、会记住、会行动、会回答，专业视图十二类Agent语义，但使用相同项目格式。教学活动先约束可用部件，再逐步解释复杂能力。这不是已经做过小学易用性测试的结论。</a:t>
            </a:r>
          </a:p>
          <a:p xmlns:a="http://schemas.openxmlformats.org/drawingml/2006/main">
            <a:r>
              <a:t>转场：桌面完成创作，移动端延续作品使用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当前产品证据是Windows。完整计划要求macOS同等搭建能力，Android、iOS和HarmonyOS定位运行已搭建的Agent，不把移动端写成完整积木编辑器。Android/iOS可参考Tauri能力，HarmonyOS沿用ArkTS/ArkUI原生壳及共享协议路线。平台能力协商决定本地或经授权远端执行；模型连接、文件与工具权限、签名分发和真机测试分别实现。Pake桌面封装不证明移动适配已完成。</a:t>
            </a:r>
          </a:p>
          <a:p xmlns:a="http://schemas.openxmlformats.org/drawingml/2006/main">
            <a:r>
              <a:t>转场：把Agent页面与积木作品，生成独立应用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https://v2.tauri.app/start/</a:t>
            </a:r>
          </a:p>
          <a:p xmlns:a="http://schemas.openxmlformats.org/drawingml/2006/main">
            <a:r>
              <a:t>https://v2.tauri.app/distribute/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学生可先搭建故事搭档，再给它输入和结果页面，目标是生成可以独立使用的故事伙伴App。这是产品规划，当前已有页面生成和预览不等于一键独立App。Pake基于Tauri并提供桌面网页或本地前端封装，Blocky仍需集成运行内核、资源、桥接和权限；Tauri定制壳是另一二次开发路径。生成应用不默认包含商店上架，各平台分发独立完成。</a:t>
            </a:r>
          </a:p>
          <a:p xmlns:a="http://schemas.openxmlformats.org/drawingml/2006/main">
            <a:r>
              <a:t>转场：可靠作品与产品配套完成后，进入真实场景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https://github.com/tw93/Pake</a:t>
            </a:r>
          </a:p>
          <a:p xmlns:a="http://schemas.openxmlformats.org/drawingml/2006/main">
            <a:r>
              <a:t>https://v2.tauri.app/start/</a:t>
            </a:r>
          </a:p>
          <a:p xmlns:a="http://schemas.openxmlformats.org/drawingml/2006/main">
            <a:r>
              <a:t>https://v2.tauri.app/distribute/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工程成果与公开开放状态分别核对。Windows四蓝图已有成果，公开下载与源码渠道仍在准备。后续真实场景按实际使用范围核对组织、安全、权限与恢复，不把预算日历当功能交付。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这里是由官方学习资源、教育方向和当前工具能力形成的教学设计问题，不是已做访谈后的需求比例。教育部2024年分学段方向支持感知体验、理解应用及任务和项目实践。孩子能否独立完成、教师采用理由将在共创中记录。</a:t>
            </a:r>
          </a:p>
          <a:p xmlns:a="http://schemas.openxmlformats.org/drawingml/2006/main">
            <a:r>
              <a:t>转场：参照 Scratch，在读、改、搭、讲中学习 Agent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https://www.moe.gov.cn/jyb_xwfb/gzdt_gzdt/s5987/202412/t20241202_1165500.html</a:t>
            </a:r>
          </a:p>
          <a:p xmlns:a="http://schemas.openxmlformats.org/drawingml/2006/main">
            <a:r>
              <a:t>https://scratchfoundation.org/learn/learning-library/getting-started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Scratch提供起始作品、编辑器教程、改编与调试资源。Blocky借鉴的是创作方式。Agent作品中，模型按任务生成、记忆提供跨轮上下文、工具执行具体动作；学生在作品中理解这些部件。小学适用性与效果不能由Scratch参照直接推断。</a:t>
            </a:r>
          </a:p>
          <a:p xmlns:a="http://schemas.openxmlformats.org/drawingml/2006/main">
            <a:r>
              <a:t>转场：先读懂故事搭档，再预测它怎样回应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故事搭档是一项未来教学设计：输入勇敢小猫，由条件选择方向，再把方向、友善角色和三句并提问的任务交给教师预选模型。孩子先预测路线，再检查实际回应。下一页用已运行的本地规则对照说明一次改动如何改变步骤，完整故事活动在产品准备之后实施。</a:t>
            </a:r>
          </a:p>
          <a:p xmlns:a="http://schemas.openxmlformats.org/drawingml/2006/main">
            <a:r>
              <a:t>转场：只改一处，对照结构、步骤和结果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本地规则两次执行分别经过forest与garden。输入保持不变，只把条件从勇敢改成友善，得到不同路线和短方向输出。孩子指出改变的位置，解释步骤为什么改变，再换一个输入检验；后续可用同样方法比较真实模型回应。</a:t>
            </a:r>
          </a:p>
          <a:p xmlns:a="http://schemas.openxmlformats.org/drawingml/2006/main">
            <a:r>
              <a:t>转场：换一个目标，组合自己的海底向导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这是不同于故事搭档的新目标，要求孩子自主决定角色、输入和任务。每次增加一种能力。记忆把本次方向保存下轮使用，工具可以统计文本，知识部件可提供教师选择的资料。教师负责模型和工具权限。这里是迁移任务设计，不是学生已完成的课堂证据。</a:t>
            </a:r>
          </a:p>
          <a:p xmlns:a="http://schemas.openxmlformats.org/drawingml/2006/main">
            <a:r>
              <a:t>转场：一次增加一种能力，解释它带来的变化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能力按学习任务逐步加入。模型负责生成回应，记忆保留后续需要的信息，资料为任务提供上下文，工具完成具体动作。每一步保存输入、结构、实际结果和孩子的解释，教师准备对应模型、资料与工具权限。</a:t>
            </a:r>
          </a:p>
          <a:p xmlns:a="http://schemas.openxmlformats.org/drawingml/2006/main">
            <a:r>
              <a:t>转场：用运行轨迹定位步骤，再回到作品修改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讲述时间参考30秒。</a:t>
            </a:r>
          </a:p>
          <a:p xmlns:a="http://schemas.openxmlformats.org/drawingml/2006/main">
            <a:r>
              <a:t>两个局部来自同次真实普通包运行。黄色虚线是编辑选中状态，运行事件可定位具体积木。它证明轨迹与作品对应能力，截图不是故事搭档。孩子先预测，再找实际步骤，定位修改后重新运行并讲解。</a:t>
            </a:r>
          </a:p>
          <a:p xmlns:a="http://schemas.openxmlformats.org/drawingml/2006/main">
            <a:r>
              <a:t>转场：作品、过程和帮助程度共同说明学习进展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表中的四个任务可以各自使用0到3的帮助等级，不是一行任务只对应一种等级。用匿名编号、作品版本、输入输出和口述解释记录，迁移任务与练习题分开。目标完成比例需连同样本、课时和帮助等级解读；不是课堂效果实验。</a:t>
            </a:r>
          </a:p>
          <a:p xmlns:a="http://schemas.openxmlformats.org/drawingml/2006/main">
            <a:r>
              <a:t>转场：用作品包组织课前、课中和课后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教师先准备可运行原作品并明确权限，学生保存自己的副本。课中通过预测、单一改动、迁移任务和解释观察学习。课后收集项目文件与记录，用它准备下一次活动。组织后台与评价辅助按后续建设规划推进；此页给出使用现有项目保存、蓝图与轨迹的人工组织方案，不把课程包当已售成果。</a:t>
            </a:r>
          </a:p>
          <a:p xmlns:a="http://schemas.openxmlformats.org/drawingml/2006/main">
            <a:r>
              <a:t>转场：先保存原作品，再组织学生副本与复盘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这里用项目文件与保存重开组织课程，不承诺自动班级账户、云分发或自动评分。原作品与学生副本保留版本，资源和模型密钥不放进作品文件。支持服务可以提供重开检查和恢复说明。课程指南属于服务设计。</a:t>
            </a:r>
          </a:p>
          <a:p xmlns:a="http://schemas.openxmlformats.org/drawingml/2006/main">
            <a:r>
              <a:t>转场：围绕创作对象、可改部件和过程解释比较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Scratch提供作品创作学习参照，Blocks Builder AI提供可视化AI和组织教学方案参照。比较围绕同一教学任务进行：创作什么、可以修改哪些部件、怎样查看运行过程、教师怎样组织。Blocky重点连接结构审阅、修改审阅与运行事件映射，后续教师活动进一步核对适配价值。</a:t>
            </a:r>
          </a:p>
          <a:p xmlns:a="http://schemas.openxmlformats.org/drawingml/2006/main">
            <a:r>
              <a:t>转场：对照同一个教学任务，依据官方公开信息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  <a:p xmlns:a="http://schemas.openxmlformats.org/drawingml/2006/main">
            <a:r>
              <a:t>https://scratchfoundation.org/learn/learning-library/teacher-accounts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竞争比较在同一任务中进行，后续教师共创记录准备成本、阅读理解、调试解释与复用。官网声明不等于竞品实测，Blocky小学效果不能由工程能力推出。Tynker课堂30学生许可证只是示例，学校Premium按人数与需求定制。组织方案参照是建设方向，非当前后台交付。</a:t>
            </a:r>
          </a:p>
          <a:p xmlns:a="http://schemas.openxmlformats.org/drawingml/2006/main">
            <a:r>
              <a:t>转场：学生使用，教师组织，机构决定合作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https://scratchfoundation.org/learn/learning-library/getting-started</a:t>
            </a:r>
          </a:p>
          <a:p xmlns:a="http://schemas.openxmlformats.org/drawingml/2006/main">
            <a:r>
              <a:t>https://scratchfoundation.org/learn/learning-library/teacher-accounts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https://www.tynker.com/school/coding-curriculum/request</a:t>
            </a:r>
          </a:p>
          <a:p xmlns:a="http://schemas.openxmlformats.org/drawingml/2006/main">
            <a:r>
              <a:t>https://www.tynker.com/classroom-school/coding-curriculum/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使用者、组织者与采购方分开。首批不以全国学校数量当市场规模；先筛有设备、组织者和具体活动的小学或机构。公开交流从教学任务和作品开始，再与预算负责人界定人工服务和模型成本。这是客户进入计划，不是已经签约名单。</a:t>
            </a:r>
          </a:p>
          <a:p xmlns:a="http://schemas.openxmlformats.org/drawingml/2006/main">
            <a:r>
              <a:t>转场：产品准备完成后，进入教师与机构真实使用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产品准备完成后，先找到明确教学任务，再共同开展活动，最后形成适配与采购范围。20次有效接触、8次深入演示和4份交付合同是可调整的条件漏斗，不绑定特定年份。每一步留下任务、使用、教师复用与支付条件的记录，按实际反馈决定是否扩展。</a:t>
            </a:r>
          </a:p>
          <a:p xmlns:a="http://schemas.openxmlformats.org/drawingml/2006/main">
            <a:r>
              <a:t>转场：个人版开源，组织与算力分别收费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99元每月2000积分、进阶199元每月4500积分、专业999元每月25000积分。加量包50元1000积分30天。月度额度拟当期有效不结转，优先用最早到期额度。积分按模型实际输入、输出和缓存等费率折算，不承诺固定Token数量、任务数或无限额度。价格为拟案，尚未购买或计费。https://blocky.donk55666.chatgpt.site/#/pricing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  <a:p xmlns:a="http://schemas.openxmlformats.org/drawingml/2006/main">
            <a:r>
              <a:t>软件、托管用量和机构服务分账。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套餐参考WorkBuddy分档订阅与加量包结构。官方定价于2026-10-06重新核对：标准/高级/旗舰单次月付99/199/999元；连续包月70/140/700元，基础2000/4000/20000积分，限时赠送2000/5000/30000积分，当前实得4000/9000/50000。Blocky标准99/2000、进阶199/4500、专业999/25000，对应0.04950、0.04422、0.03996元/积分；加量50/1000=0.05000元/积分。按WorkBuddy当前连续包月含限时赠送，Blocky名义单价约2.83、2.84、2.85倍；按单次月付含赠送恰为2倍。积分消耗规则、模型选择和权益不同，倍数不能证明同任务成本、API优惠或质量差异；赠送与续费条件可能变化。Blocky暂未开放购买，套餐未计入原财务预测。来源：WorkBuddy Pricing和Credits，访问2026-10-06。https://www.workbuddy.cn/docs/workbuddy/Pricing ; https://www.codebuddy.cn/docs/workbuddy/Credits ; Blocky官网咨询拟案https://blocky.donk55666.chatgpt.site/#/pricing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贡献利润=P−Q×u×c−P×v，其中P为套餐收入，Q为额度，u为使用率，c为实际模型结算元/积分，v为其他可变成本占收入比例。不是净利润，未扣固定研发、管理与获客支出。假设u=100%、v=10%、目标贡献利润率50%，成本上限标准0.01980、进阶0.01769、专业0.01598、加量0.02000元/积分。c=0.02时贡献额49.10/89.10/399.10/25.00元，贡献率49.60%/44.77%/39.95%/50.00%。c=0.04压力时分别9.10/-0.90/-100.90/5.00元，贡献率9.19%/-0.45%/-10.10%/10.00%。这是独立情景测算，不代表采购报价、实现利润或原24个月模型预测。若客户在可比模型任务上比直付公开API节省20%，且全部用满、其他可变成本10%、目标贡献率50%，模型结算成本须不超过该可比API账单32%；未获得此采购条件。上线前需公布模型输入、输出、缓存及工具费用的积分折算；核对实际用量、成本、续订意愿与服务范围。来源：本方案明示假设与公式推导，竞品价格只用于结构参照。</a:t>
            </a:r>
          </a:p>
          <a:p xmlns:a="http://schemas.openxmlformats.org/drawingml/2006/main">
            <a:r>
              <a:t>与原XLSX和BP表12衔接：专业创作者参考月模型成本1,347.02元为2026-10-03假设，已高于999元拟价；若同工作量全部纳入且模型成本不降，再扣10%其他可变成本，贡献额999−1347.02−99.90=−447.92元，贡献率−44.84%。原工作量尚未映射25,000积分，不能当实际亏损或已经覆盖成本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BBAI官网教育方案列师生账户、课堂管理、进度分析、课程支持与优先支持；Tynker学校方案列管理、自动评分和教师发展，Premium按学生数和学校需求报价；其课堂课程页面另有30学生许可证示例，不能将所有学校固定为30人。Blocky借鉴采购结构，不照搬价格或宣称后台已可购买。Agent作品的评价规划先用明确规则检查、过程记录与教师复核，不能把自动评分等同模型答案正确或学习提升。报价按学生规模、管理、部署和支持范围，与算力分开。</a:t>
            </a:r>
          </a:p>
          <a:p xmlns:a="http://schemas.openxmlformats.org/drawingml/2006/main">
            <a:r>
              <a:t>转场：以开放创作，积累作品和扩展生态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https://www.tynker.com/school/coding-curriculum/request</a:t>
            </a:r>
          </a:p>
          <a:p xmlns:a="http://schemas.openxmlformats.org/drawingml/2006/main">
            <a:r>
              <a:t>https://www.tynker.com/classroom-school/coding-curriculum/</a:t>
            </a:r>
          </a:p>
          <a:p xmlns:a="http://schemas.openxmlformats.org/drawingml/2006/main">
            <a:r>
              <a:t>https://www.tynker.com/school/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讲述时间参考20秒。</a:t>
            </a:r>
          </a:p>
          <a:p xmlns:a="http://schemas.openxmlformats.org/drawingml/2006/main">
            <a:r>
              <a:t>个人版完全开源与社区建设沿产品路线推进。贡献入口承接可复现作品、蓝图、积木包、教学资料和改进建议，第三方资源保留来源、版本与权限说明。社区复用推动产品与课程积累，组织托管和云算力提供独立的持续服务。</a:t>
            </a:r>
          </a:p>
          <a:p xmlns:a="http://schemas.openxmlformats.org/drawingml/2006/main">
            <a:r>
              <a:t>转场：让产品能力沉淀为可重复使用的教学资产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这里介绍项目可核对成果和复用资产。后两行是服务建设规划，不是已完成课程资产。复用可能减少工时，但财务未预先计入未经实测的节省；应比较初次制作和第二次复用的实际工时。</a:t>
            </a:r>
          </a:p>
          <a:p xmlns:a="http://schemas.openxmlformats.org/drawingml/2006/main">
            <a:r>
              <a:t>转场：服务报价连接教学规模、交付资产与支持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讲述时间参考25秒。</a:t>
            </a:r>
          </a:p>
          <a:p xmlns:a="http://schemas.openxmlformats.org/drawingml/2006/main">
            <a:r>
              <a:t>样例范围为1班30名学生、6次活动与3个可编辑作品，配置、准备、培训和支持合计80小时。它用于说明教学服务如何按范围组织。真实场景准备完成后，以实际活动、设备、支持工作量形成报价，组织后台与模型算力分别核算，机构可使用自有API账户。</a:t>
            </a:r>
          </a:p>
          <a:p xmlns:a="http://schemas.openxmlformats.org/drawingml/2006/main">
            <a:r>
              <a:t>转场：短任务用量与专业Agent月成本分别测算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本轮保留配套2026-10-03 XLSX中的历史预算输入，不将其中供应商价格称为最新价格。历史短任务、供应商专业统计、使用频次假设及汇率分别说明。采购前重新核价，不能将专业资源参照套给小学生。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人数是产品准备后条件容量，月序19为排期假设。短任务参考和专业档公开统计分别使用；人均月预算不是套餐售价或真实课堂费用。专业中点200美元按参考汇率换算，研发预算另列。实际模型、Token、缓存、重试和合同须按账单校准。</a:t>
            </a:r>
          </a:p>
          <a:p xmlns:a="http://schemas.openxmlformats.org/drawingml/2006/main">
            <a:r>
              <a:t>转场：24个月资金覆盖研发与后续条件场景</a:t>
            </a:r>
          </a:p>
          <a:p xmlns:a="http://schemas.openxmlformats.org/drawingml/2006/main">
            <a:r>
              <a:t>公开来源，2026-10-03核对：</a:t>
            </a:r>
          </a:p>
          <a:p xmlns:a="http://schemas.openxmlformats.org/drawingml/2006/main">
            <a:r>
              <a:t>https://api-docs.deepseek.com/zh-cn/quick_start/pricing/</a:t>
            </a:r>
          </a:p>
          <a:p xmlns:a="http://schemas.openxmlformats.org/drawingml/2006/main">
            <a:r>
              <a:t>https://code.claude.com/docs/en/costs</a:t>
            </a:r>
          </a:p>
          <a:p xmlns:a="http://schemas.openxmlformats.org/drawingml/2006/main">
            <a:r>
              <a:t>https://www.chinamoney.com.cn/chinese/index.html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讲述时间参考40秒。</a:t>
            </a:r>
          </a:p>
          <a:p xmlns:a="http://schemas.openxmlformats.org/drawingml/2006/main">
            <a:r>
              <a:t>基准现金支出573.239万元，最低追加866.443万元，取整规划900.000万元。等效资源前6月3、后18月4，综合人月2万元，非团队履历。研发内部与场景算力分开；产品准备关口后才启用场景容量。收入与自有资金未知，默认不抵减。现金储备、预留和设备资产均不重复费用。</a:t>
            </a:r>
          </a:p>
          <a:p xmlns:a="http://schemas.openxmlformats.org/drawingml/2006/main">
            <a:r>
              <a:t>转场：资金按研发关口投入，再支持真实场景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原工作簿各阶段金额和月份保持。当前研发对象改为四蓝图与场景配套，不再按六品牌模板投入。原24个月模型是资源容量假设，尚未重新估计工时，也未计入官网拟定套餐收入；排期按实际关口更新。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30万元只是现金预算判断，不是大模型厂商的报价。非退合作费、可消费额度预付与可退保证金当前输入0表示未录入条款，不表示厂商免费。已发生的非退费用以及期末占用的保证金、未消耗额度占用预留余额，预留余额最低为0。预付额度在消耗时抵扣模型采购现金，不能把充值和后续被抵扣的消耗再收两遍；保证金不进入损益。基准暂不假定返还到账，签约后按实际条款增加返还时点。</a:t>
            </a:r>
          </a:p>
          <a:p xmlns:a="http://schemas.openxmlformats.org/drawingml/2006/main">
            <a:r>
              <a:t>转场：用回款与合作条款，校准资金计划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官网已有拟定价格，积分与Token转换费率、采用人数和实际收款未确认。本页仍是原资金模型的成本回收敏感性，80%表示采购成本回收假设，不能当作套餐毛利、销售预测或已确认回款。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讲述时间参考35秒。</a:t>
            </a:r>
          </a:p>
          <a:p xmlns:a="http://schemas.openxmlformats.org/drawingml/2006/main">
            <a:r>
              <a:t>三个资源情景同时改变等效人力、条件用户容量、用量成本及现金储备。专业基准来自公开使用统计中点，精简75%对应150美元月参考，高用量2.5倍为独立压力参数。场景关口与容量均不代表已经采用、付费或上线。</a:t>
            </a:r>
          </a:p>
          <a:p xmlns:a="http://schemas.openxmlformats.org/drawingml/2006/main">
            <a:r>
              <a:t>转场：近期90天推进四类蓝图与创作产品与后续开发准备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90天为可调整研发窗口，不承诺完整组织后台、计费、多端同时上线。现有官网可支持产品交流，公开下载和开源入口待准备。真实课堂和专业客户成果仍需采证。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官网与拟定套餐本轮于2026-10-05核对；其他竞品及供应商资料保留2026-10-03原访问快照。OPC不计入新增合同或营收。https://blocky.donk55666.chatgpt.site/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合作沟通以明确范围和准备条件为前提。官网提供产品介绍、教育与专业场景、预设在线体验及价格咨询。个人软件免费方向不变，托管与机构合作按实际条件讨论。公开下载、源码和社区入口仍在准备。</a:t>
            </a:r>
          </a:p>
          <a:p xmlns:a="http://schemas.openxmlformats.org/drawingml/2006/main">
            <a:r>
              <a:t>来源：Blocky官网，2026-10-05。https://blocky.donk55666.chatgpt.site/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3f614f62c42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cedcb730314865" /><Relationship Type="http://schemas.openxmlformats.org/officeDocument/2006/relationships/slideLayout" Target="/ppt/slideLayouts/slideLayout1.xml" Id="R6a95bad7515b4c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5bad7515b4c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dfc9af90346f4" /><Relationship Type="http://schemas.openxmlformats.org/officeDocument/2006/relationships/image" Target="/ppt/media/image.png" Id="R2cea53ac77874bf1" /><Relationship Type="http://schemas.openxmlformats.org/officeDocument/2006/relationships/notesSlide" Target="/ppt/notesSlides/notesSlide1.xml" Id="R2761f6aa7b8b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ab7b2fc674948" /><Relationship Type="http://schemas.openxmlformats.org/officeDocument/2006/relationships/notesSlide" Target="/ppt/notesSlides/notesSlide2.xml" Id="R85abe84cb41942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9a8c9558a4018" /><Relationship Type="http://schemas.openxmlformats.org/officeDocument/2006/relationships/notesSlide" Target="/ppt/notesSlides/notesSlide3.xml" Id="R5c333844d49c42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93c1555e34bab" /><Relationship Type="http://schemas.openxmlformats.org/officeDocument/2006/relationships/image" Target="/ppt/media/image2.png" Id="Rb982013ee96c47e0" /><Relationship Type="http://schemas.openxmlformats.org/officeDocument/2006/relationships/notesSlide" Target="/ppt/notesSlides/notesSlide4.xml" Id="R42565332d8c3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b760d4a694a8e" /><Relationship Type="http://schemas.openxmlformats.org/officeDocument/2006/relationships/notesSlide" Target="/ppt/notesSlides/notesSlide5.xml" Id="R8ad8051ce5bf46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5fcccdc554cff" /><Relationship Type="http://schemas.openxmlformats.org/officeDocument/2006/relationships/notesSlide" Target="/ppt/notesSlides/notesSlide6.xml" Id="Raf76405812b24a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88d894f8745a8" /><Relationship Type="http://schemas.openxmlformats.org/officeDocument/2006/relationships/notesSlide" Target="/ppt/notesSlides/notesSlide7.xml" Id="R38e9facebb3d47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737380d164292" /><Relationship Type="http://schemas.openxmlformats.org/officeDocument/2006/relationships/image" Target="/ppt/media/image3.png" Id="R3a654a1129544d0a" /><Relationship Type="http://schemas.openxmlformats.org/officeDocument/2006/relationships/notesSlide" Target="/ppt/notesSlides/notesSlide8.xml" Id="Radf7cb245d3543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1750cd54a4805" /><Relationship Type="http://schemas.openxmlformats.org/officeDocument/2006/relationships/image" Target="/ppt/media/image4.png" Id="R5518b0e9be8e481b" /><Relationship Type="http://schemas.openxmlformats.org/officeDocument/2006/relationships/notesSlide" Target="/ppt/notesSlides/notesSlide9.xml" Id="Rd1d31a326e1446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41876064d44ef" /><Relationship Type="http://schemas.openxmlformats.org/officeDocument/2006/relationships/notesSlide" Target="/ppt/notesSlides/notesSlide10.xml" Id="Ra8112bab83e04e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88d55b7264760" /><Relationship Type="http://schemas.openxmlformats.org/officeDocument/2006/relationships/image" Target="/ppt/media/image5.png" Id="R9a619391032448af" /><Relationship Type="http://schemas.openxmlformats.org/officeDocument/2006/relationships/notesSlide" Target="/ppt/notesSlides/notesSlide11.xml" Id="Rb6c63da769d04d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5db86de964fd4" /><Relationship Type="http://schemas.openxmlformats.org/officeDocument/2006/relationships/notesSlide" Target="/ppt/notesSlides/notesSlide12.xml" Id="R91e00c6e018e45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3d71d8ebe44c6" /><Relationship Type="http://schemas.openxmlformats.org/officeDocument/2006/relationships/notesSlide" Target="/ppt/notesSlides/notesSlide13.xml" Id="Ra32915e714884c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f9cd81814e15" /><Relationship Type="http://schemas.openxmlformats.org/officeDocument/2006/relationships/notesSlide" Target="/ppt/notesSlides/notesSlide14.xml" Id="R21f1eb407d044b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51816e5624629" /><Relationship Type="http://schemas.openxmlformats.org/officeDocument/2006/relationships/notesSlide" Target="/ppt/notesSlides/notesSlide15.xml" Id="R6babd2ac9fab4a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fb7244de147fd" /><Relationship Type="http://schemas.openxmlformats.org/officeDocument/2006/relationships/notesSlide" Target="/ppt/notesSlides/notesSlide16.xml" Id="R46c72a28ab6146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e22c11b574358" /><Relationship Type="http://schemas.openxmlformats.org/officeDocument/2006/relationships/image" Target="/ppt/media/image6.png" Id="Reddc14df631c4293" /><Relationship Type="http://schemas.openxmlformats.org/officeDocument/2006/relationships/notesSlide" Target="/ppt/notesSlides/notesSlide17.xml" Id="R920a6e8d820245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1124308444231" /><Relationship Type="http://schemas.openxmlformats.org/officeDocument/2006/relationships/notesSlide" Target="/ppt/notesSlides/notesSlide18.xml" Id="Rd43177c5dc4e43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c8777db134c63" /><Relationship Type="http://schemas.openxmlformats.org/officeDocument/2006/relationships/notesSlide" Target="/ppt/notesSlides/notesSlide19.xml" Id="R7bebcaffb80343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d5d7535474084" /><Relationship Type="http://schemas.openxmlformats.org/officeDocument/2006/relationships/notesSlide" Target="/ppt/notesSlides/notesSlide20.xml" Id="Rfc9c8e63f4c440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178f06b0249c9" /><Relationship Type="http://schemas.openxmlformats.org/officeDocument/2006/relationships/notesSlide" Target="/ppt/notesSlides/notesSlide21.xml" Id="Rfff7c0216d1e43d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02644caad4ee5" /><Relationship Type="http://schemas.openxmlformats.org/officeDocument/2006/relationships/notesSlide" Target="/ppt/notesSlides/notesSlide22.xml" Id="Rad8c4224beb34f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e5c01d2434a87" /><Relationship Type="http://schemas.openxmlformats.org/officeDocument/2006/relationships/image" Target="/ppt/media/image7.png" Id="Rc31bd698a42d4263" /><Relationship Type="http://schemas.openxmlformats.org/officeDocument/2006/relationships/image" Target="/ppt/media/image8.png" Id="R977c3c6b3a914ad3" /><Relationship Type="http://schemas.openxmlformats.org/officeDocument/2006/relationships/notesSlide" Target="/ppt/notesSlides/notesSlide23.xml" Id="R6f707afd0f9a46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0bfbca279471b" /><Relationship Type="http://schemas.openxmlformats.org/officeDocument/2006/relationships/notesSlide" Target="/ppt/notesSlides/notesSlide24.xml" Id="Ra89a8ee8c6f748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913dc441b42a6" /><Relationship Type="http://schemas.openxmlformats.org/officeDocument/2006/relationships/notesSlide" Target="/ppt/notesSlides/notesSlide25.xml" Id="R4cf30a95d34b40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5a7d1fa064ce3" /><Relationship Type="http://schemas.openxmlformats.org/officeDocument/2006/relationships/notesSlide" Target="/ppt/notesSlides/notesSlide26.xml" Id="R0f2357b6db9942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94c175aeb4a2c" /><Relationship Type="http://schemas.openxmlformats.org/officeDocument/2006/relationships/notesSlide" Target="/ppt/notesSlides/notesSlide27.xml" Id="Ra008debf6027476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79cece5d1421a" /><Relationship Type="http://schemas.openxmlformats.org/officeDocument/2006/relationships/notesSlide" Target="/ppt/notesSlides/notesSlide28.xml" Id="R11bcd9e93e4f4f5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ece273f854381" /><Relationship Type="http://schemas.openxmlformats.org/officeDocument/2006/relationships/notesSlide" Target="/ppt/notesSlides/notesSlide29.xml" Id="Rc9d5cfa8115949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33bab60bc46a2" /><Relationship Type="http://schemas.openxmlformats.org/officeDocument/2006/relationships/notesSlide" Target="/ppt/notesSlides/notesSlide30.xml" Id="R762b257b6ad94ea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b2d58cda6408e" /><Relationship Type="http://schemas.openxmlformats.org/officeDocument/2006/relationships/notesSlide" Target="/ppt/notesSlides/notesSlide31.xml" Id="R8a02a40d3a434d7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40ddc4f2042b5" /><Relationship Type="http://schemas.openxmlformats.org/officeDocument/2006/relationships/notesSlide" Target="/ppt/notesSlides/notesSlide32.xml" Id="R071d3557173c433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a16aac91a47a1" /><Relationship Type="http://schemas.openxmlformats.org/officeDocument/2006/relationships/notesSlide" Target="/ppt/notesSlides/notesSlide33.xml" Id="R9d3a20e75188421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4782d5bdc457d" /><Relationship Type="http://schemas.openxmlformats.org/officeDocument/2006/relationships/notesSlide" Target="/ppt/notesSlides/notesSlide34.xml" Id="Rc54de2ae976e48f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34da1fe564b65" /><Relationship Type="http://schemas.openxmlformats.org/officeDocument/2006/relationships/notesSlide" Target="/ppt/notesSlides/notesSlide35.xml" Id="Rbcbe1f6f44ed48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3fe511df446c0" /><Relationship Type="http://schemas.openxmlformats.org/officeDocument/2006/relationships/notesSlide" Target="/ppt/notesSlides/notesSlide36.xml" Id="R9c19cc1a4cdb40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a8beee54741ea" /><Relationship Type="http://schemas.openxmlformats.org/officeDocument/2006/relationships/notesSlide" Target="/ppt/notesSlides/notesSlide37.xml" Id="Rbe7fcd085fc342c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b63081524041" /><Relationship Type="http://schemas.openxmlformats.org/officeDocument/2006/relationships/notesSlide" Target="/ppt/notesSlides/notesSlide38.xml" Id="Rc55f93c2ffa346e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3b821ed8a4e6c" /><Relationship Type="http://schemas.openxmlformats.org/officeDocument/2006/relationships/notesSlide" Target="/ppt/notesSlides/notesSlide39.xml" Id="R35b3dbcdfeb74d5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0fe0856194ff5" /><Relationship Type="http://schemas.openxmlformats.org/officeDocument/2006/relationships/notesSlide" Target="/ppt/notesSlides/notesSlide40.xml" Id="R56304917d92549e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ccd6b900d45e0" /><Relationship Type="http://schemas.openxmlformats.org/officeDocument/2006/relationships/notesSlide" Target="/ppt/notesSlides/notesSlide41.xml" Id="R0f35b7f77d20431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71dda072442a" /><Relationship Type="http://schemas.openxmlformats.org/officeDocument/2006/relationships/notesSlide" Target="/ppt/notesSlides/notesSlide42.xml" Id="R551e0e11e3704b0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209fb0734311" /><Relationship Type="http://schemas.openxmlformats.org/officeDocument/2006/relationships/notesSlide" Target="/ppt/notesSlides/notesSlide43.xml" Id="R79f4383473564db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81d8ae7f742f4" /><Relationship Type="http://schemas.openxmlformats.org/officeDocument/2006/relationships/notesSlide" Target="/ppt/notesSlides/notesSlide44.xml" Id="R72a8762deb4c4d1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41718ece48a4" /><Relationship Type="http://schemas.openxmlformats.org/officeDocument/2006/relationships/notesSlide" Target="/ppt/notesSlides/notesSlide45.xml" Id="R2da768a12d4f4e0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7ae185c9b4d15" /><Relationship Type="http://schemas.openxmlformats.org/officeDocument/2006/relationships/notesSlide" Target="/ppt/notesSlides/notesSlide46.xml" Id="Rb27d9294923647c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16bc29ce0402f" /><Relationship Type="http://schemas.openxmlformats.org/officeDocument/2006/relationships/hyperlink" Target="https://blocky.donk55666.chatgpt.site/" TargetMode="External" Id="R198fa33ada1148f3" /><Relationship Type="http://schemas.openxmlformats.org/officeDocument/2006/relationships/notesSlide" Target="/ppt/notesSlides/notesSlide47.xml" Id="Racebe1eec7fb48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F4231-D08B-46EE-A17B-11430AB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46369-1CAA-41F9-B78A-1CB05EA7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息壤杯 · 高校赛区 · 项目答辩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C42E5-AF5B-4C4D-BD0B-1E090AC3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2FDBE-B5E2-4418-8770-5D64AED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01 / 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7238D-B138-4428-9A27-C77B55D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F9753-B489-46BA-BEE9-1E409C7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3022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05597-BCDE-4BF5-A5BE-7D340077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EFF6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FF6E9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F44D0-800C-4545-B74B-3DBEB7B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用积木，创作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自己的 AI 智能体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82098-079A-40B7-9BD6-71925388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81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A34B1-326A-4285-8FE3-FEAF069A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教育入门与专业创作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66A9C-28F1-4A78-BDD9-5321E073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rPr>
              <a:t>读懂  ·  改造  ·  搭建  ·  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EFA19-EDAE-4C4C-9C94-835D4574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CCBBE"/>
                </a:solidFill>
                <a:latin typeface="Microsoft YaHei"/>
                <a:ea typeface="Microsoft YaHei"/>
                <a:cs typeface="Microsoft YaHei"/>
              </a:rPr>
              <a:t>TB快重置就队  |  2026年10月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a53ac77874bf1"/>
          <a:stretch xmlns:a="http://schemas.openxmlformats.org/drawingml/2006/main"/>
        </p:blipFill>
        <p:spPr>
          <a:xfrm xmlns:a="http://schemas.openxmlformats.org/drawingml/2006/main">
            <a:off x="6880155" y="1285875"/>
            <a:ext cx="4308616" cy="48672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DB9CA-9C90-4ECD-BB20-4F02087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2007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8CA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CA899"/>
                </a:solidFill>
                <a:latin typeface="Microsoft YaHei"/>
                <a:ea typeface="Microsoft YaHei"/>
                <a:cs typeface="Microsoft YaHei"/>
              </a:rPr>
              <a:t>品牌概念插画</a:t>
            </a:r>
          </a:p>
        </p:txBody>
      </p:sp>
    </p:spTree>
    <p:extLst>
      <p:ext uri="{BB962C8B-B14F-4D97-AF65-F5344CB8AC3E}">
        <p14:creationId xmlns:p14="http://schemas.microsoft.com/office/powerpoint/2010/main" val="1144561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4542A-0DE2-492E-A9BE-4872C489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16DD7-675F-4F63-AC57-6E4AAD2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 / 研发命题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7582-612B-4C9D-BA81-D3FB0B25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Agent成为孩子可以设计的创作对象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A8EDD-D562-4C6B-9CBB-A74D8CAE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小学入门延续Scratch式作品创作，把角色、任务与行动变成可修改的结构。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6C4D4-1654-41C7-A385-277DB1B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CC3F3-29D2-4081-9A0E-C3E8E82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02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807E7-5D84-4703-BA7E-60AB3B07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7AC11-3589-424E-8ED2-C3868F8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6044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181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89505"/>
                <a:gridCol w="4237990"/>
                <a:gridCol w="419290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研发问题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产品方法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形成的学习任务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怎样读懂Agent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角色、任务、模型、记忆与工具以积木表达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指出部件，预测作品如何回应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怎样表达自己的设计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修改条件、任务或能力组合，保留项目差异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比较结果，说明自己为什么修改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怎样理解实际行为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运行事件对应具体积木，回到结构继续修订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解释实际步骤，再搭建新的目标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F6ACA-C4DD-41C0-AF79-2BEA25A8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研发目标：让创作结构与实际运行共同支撑学生的设计、尝试和讲解。</a:t>
            </a:r>
          </a:p>
        </p:txBody>
      </p:sp>
    </p:spTree>
    <p:extLst>
      <p:ext uri="{BB962C8B-B14F-4D97-AF65-F5344CB8AC3E}">
        <p14:creationId xmlns:p14="http://schemas.microsoft.com/office/powerpoint/2010/main" val="1073192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507C2-27DC-4090-84A7-C54EA38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57C46-7991-46F0-80FC-84959E92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 / 研发阶段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8119A-D6CA-481F-B0E3-456E8F0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四类起始蓝图已交付，继续推进场景配套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54DC2-C3DE-4923-9FCA-241F4474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Windows创作底座与四蓝图已形成成果，组织、部署与社区按关口推进。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8FFBE-401E-411F-8AF1-B86002CE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A37C6-7593-4FC0-8E7A-A1BDF042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03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C7040-B7D6-4547-AAB8-82B04664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979D3-EF08-4FD9-96A0-93A4ED60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06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7A82E-E945-41E0-85D1-95D5C37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60AD3-27CE-43EC-BF60-FEC097CE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3BFE2-5D83-4310-A608-7B9CB6A3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DA87A-AE9A-4E11-AEC6-A412E6D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ED926-C1FA-42EB-AF67-DC02BED5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8A098-D925-462D-BA93-7741B1CA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当前底座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726FA-0671-405C-AE14-993A5BE0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Windows创作工作台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项目、运行与审阅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74B88-2D88-4476-9F38-4F44F9A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已形成阶段成果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707E4-D92D-4924-8502-89A4E17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DDF1C-AA7D-49A7-897D-5A07303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当前蓝图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7734E-2332-41F8-937A-6F543D62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知识问答、工作、Coding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Pi Agent，可自由改造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86290-E0A3-4BD4-BCD6-54325BB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已完成普通包交付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2C728-9523-4FE6-B6BA-E26EF594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31AC0-8B21-47C8-B8C9-22EA6917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后续开发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6BB3D-1344-4E0E-8DC9-D91A443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创作接口、组织部署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社区、多端与Agent App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A051C-DF0C-4A60-9C20-C005C4AA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形成可使用产品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E609C-1BD5-4F04-960E-9C08F75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AD817-50CD-46C1-A715-CB754AA7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真实场景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CC296-1162-4E68-9422-D765FBD3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产品准备关口通过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再进入课堂与机构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29963-4F93-4712-BED9-A698168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采集采用和用量证据</a:t>
            </a:r>
          </a:p>
        </p:txBody>
      </p:sp>
    </p:spTree>
    <p:extLst>
      <p:ext uri="{BB962C8B-B14F-4D97-AF65-F5344CB8AC3E}">
        <p14:creationId xmlns:p14="http://schemas.microsoft.com/office/powerpoint/2010/main" val="423147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B83FB-F1B8-408A-8C84-6AB55F6F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59FB5-FE6D-4F3F-BBF8-F3849CB6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 / 产品全貌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169B9-7229-4645-934B-F10F136B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一个工作台承接作品、运行与修改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0BCF5-DB93-4504-9CB4-A4C366E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当前阶段 · 真实 Windows 工作台与合成资料作品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1FD37-8D0F-46F8-A255-36501968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2EC6A-D74F-4E92-A9E6-30DE92F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04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FB68B-CC16-4138-A8D3-A0ED15D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C538A-F28F-44C4-9C2B-8DB3A5F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2088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880BE-8F88-48A7-92BD-04FE97F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02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484EA-135D-40E4-8246-7D90DEF3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24028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积木与作品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2C676-E1C4-4736-B6FE-3A149DD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615184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选择部件，组合角色和任务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2A19F-43F2-4DCE-867D-DDA75EA2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152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927C0-D02B-4658-8D8B-F389121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081528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运行与轨迹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C3581-3962-43F0-B97F-2804B55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456432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查看回应，定位执行步骤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A1BC0-A247-43A3-ADAA-295A4874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22776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6C226-68AC-48D0-B659-BCB2A4EB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922776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58B53-3DD9-43B9-9EC2-1D128A89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4297680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描述想法，修改并撤销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CF7F8-5727-47EE-884F-4692BE7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4024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6E98C-6AAF-4243-96FE-D53AE911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4764024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项目保存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E1233-85D4-4631-B120-7EE699B1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5138928"/>
            <a:ext cx="192024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保存、重开、继续改造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2013ee96c47e0"/>
          <a:stretch xmlns:a="http://schemas.openxmlformats.org/drawingml/2006/main"/>
        </p:blipFill>
        <p:spPr>
          <a:xfrm xmlns:a="http://schemas.openxmlformats.org/drawingml/2006/main">
            <a:off x="1584099" y="2103120"/>
            <a:ext cx="6112962" cy="3822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3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A9BF5-2F43-4584-9B6F-E460ADAA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5A20C-8B8A-47B7-A1AD-DC7F245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 / 技术与资产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B35BA-96AB-40F9-B0D1-2A89742C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开源底座之上，连接作品语义与实际运行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3C6A1-83B2-4A7B-BA8F-E963B04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Blockly、Tauri与Pi提供底座；Blocky组织项目、运行映射与Host权限。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B0123-842F-4AA0-97DA-3B624468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BF35B-D19B-40A3-AFA7-9821374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05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DFB67-AE92-4D52-95AB-F0C3D849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7D9C3-0DD1-4B22-9551-659ED600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15110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09165"/>
                <a:gridCol w="5229860"/>
                <a:gridCol w="338137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项目中的职责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对应产品价值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编辑与项目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嵌套Workspace、模块、稳定资源引用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保存同一作品，展开与修改蓝图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编译与运行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项目语义、IR、诊断、运行事件与来源映射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把设计结构对应到实际执行步骤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Host与工具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解析模型资源、控制文件和工具权限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Host保管模型密钥并授权工具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构建与CLI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项目上下文、差异与撤销、共享领域接口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自然语言改造可审；保存后继续运行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D5D18-E5E5-475B-98DE-F63B4D96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积累方向：可改造作品、课程活动与复用支持资产，技术能力与教学内容共同迭代。</a:t>
            </a:r>
          </a:p>
        </p:txBody>
      </p:sp>
    </p:spTree>
    <p:extLst>
      <p:ext uri="{BB962C8B-B14F-4D97-AF65-F5344CB8AC3E}">
        <p14:creationId xmlns:p14="http://schemas.microsoft.com/office/powerpoint/2010/main" val="614623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E4158-CD10-4F7A-8EDE-778FF026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3FCF9-A709-48CF-8384-B1F1F47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05 / 能力地图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22FFC-C8D5-4CAA-B67A-41DC6EE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角色、模型、记忆和工具，成为可改造部件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B7D2F-AB70-4C7B-B7E1-EFBDB80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同一项目格式，让孩子从少量部件开始，再逐步增加能力。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C1218-088E-4CC7-B1F1-73BB074A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77ED0-E603-4B5B-A8EF-D3CB5D86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06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4A2BD-3A22-49F7-A438-7BC60D78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CDEA9-9326-48C2-AC8C-FA2515C3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38132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E3324-CDD5-4626-AB3E-5ABF100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5242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B1B94-9BE1-4378-A0A9-AC3D59D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67712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角色与任务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321BC-C498-4A44-8BD9-A57106C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889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写下搭档角色与任务；检查回应要求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5797D-E1EE-4C4B-9E16-BB9DF862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67712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条件与逻辑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773AF-3B26-4128-AB7C-F8E9181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889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改一个判断；比较输入相同的行动路线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2683A-9C7B-4363-9A81-7B50DE85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模型与上下文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FEC29-843C-4BD4-9AF4-E1E1C431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2277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选模型与材料；比较生成任务的变化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084C4-FB5E-4FF9-B09E-761C697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401568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1D919-C69B-44DA-A666-966CB4AA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922776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记录现阶段方向；让后续回应使用信息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1A30B-3D85-44E0-A0C2-BD80E1A4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知识与工具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0F98B-A3AC-4825-A831-900E80FD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566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选资料或登记动作；查看引用与工具结果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1C956-E4FE-4E87-B73C-670C371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535424"/>
            <a:ext cx="52120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52BE6-ED53-4D2C-BE38-8774563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50566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事件回到积木；解释并修订实际步骤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F252A-EFD2-4081-BAD1-5713B4D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教学设计：每次增加一种能力，并说明它为作品解决什么问题。</a:t>
            </a:r>
          </a:p>
        </p:txBody>
      </p:sp>
    </p:spTree>
    <p:extLst>
      <p:ext uri="{BB962C8B-B14F-4D97-AF65-F5344CB8AC3E}">
        <p14:creationId xmlns:p14="http://schemas.microsoft.com/office/powerpoint/2010/main" val="649386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92599-F4F6-4A2F-9A38-A97092F0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FF6CD-3A7C-46EA-8211-67D7D72D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06 / 积木审阅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972D2-2AB5-4DB0-8A04-4844ED8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从代码审阅，到积木审阅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849EB-0BB1-467A-A284-E7670F2E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把“我想让它做什么”，和“它实际做了什么”对应起来。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062A5-10D9-4C8F-866E-4A35F894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AF6D9-2F01-4F4C-9CEC-F32BF8F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07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6E0DA-C498-4350-8842-C4EB7F86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E9BD1-601F-4D60-8BAF-F14A8D82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61154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F9501-353D-43F3-900E-A1508701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14E6A-A370-4F05-814A-C99F85AC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725BF-E0BE-4AEB-8A63-5075C521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CB80A-5C01-4405-A728-01AE9ECB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0E19B-BC9C-4CF5-A621-E967808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搭建时：结构可读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29C6D-C0FE-4021-9FF0-EE3EF55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读角色、指令、条件和记忆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逐块解释能力组合的理由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01CE0-919D-40A0-AEAB-DC8B817E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与创作目标核对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CBE32-A77D-4546-9FFB-5839E1B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26C01-EFAF-4561-B2C3-1E09D4FA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执行前：修改可审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AF47E-0697-4C34-9CB3-F1F0DEB8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看资料、模型、工具与权限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预测步骤，检查配置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18CF7-5E4E-4234-9411-21A4C0B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确认准备后运行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EF33A-B221-4361-B5D6-6077EBF8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A2607-678D-4E02-B502-3F82219B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运行后：过程可解释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5372E-975A-4C4B-A5BA-E4FB9CC3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看具体事件、输出和差异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定位一块积木，修订并保存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199C7-B5C0-413F-B568-4966E986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用实际过程解释设计</a:t>
            </a:r>
          </a:p>
        </p:txBody>
      </p:sp>
    </p:spTree>
    <p:extLst>
      <p:ext uri="{BB962C8B-B14F-4D97-AF65-F5344CB8AC3E}">
        <p14:creationId xmlns:p14="http://schemas.microsoft.com/office/powerpoint/2010/main" val="929883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788C6-BE99-4203-914C-A3C636C1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28701-BDD2-4871-8FA2-7CE075C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07 / 产品依据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E8488-68B4-4FA5-B09E-638FB9E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从准备资料到运行作品，保留可回查过程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0805A-4B73-4CFB-8EEC-4256C8BA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真实构建助手画面 · 合成水循环资料作品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C9B39-846A-4A53-9DED-9E9C5BA8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1BD0D-E3F4-4231-B25E-A929E5D5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08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CAD2B-BBE0-4A4F-9B58-927C5E7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38DAD-EC8D-467B-A7F3-334C7314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8417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D2C8D-D2CB-4ED7-97FF-04C1D5B5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4144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06391-567F-4A83-838E-90F19B2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44144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BF7D0-2992-4F87-B618-0340353E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81635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合成资料与课程主题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E2B19-2E88-45B2-8454-775CFD4D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49300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C680E-D984-4C24-A88E-9BBC0315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49300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构建与保存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6733D-76F2-4B0B-B8BB-3475D1CA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86791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真实文件差异与作品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0AC18-F6D2-43E9-B10F-25576366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544568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5AABF-55B5-46B0-931E-BEA33524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544568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运行与查看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29F8D-E190-4FEC-A8B2-F7DB894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919472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输出、资料引用与事件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54a1129544d0a"/>
          <a:stretch xmlns:a="http://schemas.openxmlformats.org/drawingml/2006/main"/>
        </p:blipFill>
        <p:spPr>
          <a:xfrm xmlns:a="http://schemas.openxmlformats.org/drawingml/2006/main">
            <a:off x="1418614" y="2176272"/>
            <a:ext cx="6215332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03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41291-CEE0-4B60-BD4D-3C6A9114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F34B3-C384-4E64-BEB6-5E1A80C5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08 / 四类起始蓝图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8A2FA-573C-4032-AB44-1383198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四类蓝图提供起点，作品可以继续改造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DED9A-9035-4B1B-8E67-6CEB930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知识问答助手、工作助手、Coding 助手、Pi Agent，或从空白画布开始。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688F5-C431-4F74-AB04-7AC49FB6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9D68B-5752-4024-8926-ED9C7FF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09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FFB46-0B58-431D-99BF-D19F6C0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9B974-CC12-4D7E-8C6F-5C4BDA8C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07199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78D51-EDA0-4D25-A4C5-593AE81A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BF0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3916F-B1FB-4CB7-A3CA-07A46747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DBEE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4D9C1-7144-4F49-B69A-5E61EBC4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6ED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2B99F-22A1-4A28-8432-A0F6E33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81275"/>
            <a:ext cx="2562225" cy="3343275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EE7F5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8b0e9be8e481b"/>
          <a:stretch xmlns:a="http://schemas.openxmlformats.org/drawingml/2006/main"/>
        </p:blipFill>
        <p:spPr>
          <a:xfrm xmlns:a="http://schemas.openxmlformats.org/drawingml/2006/main">
            <a:off x="1338263" y="1762125"/>
            <a:ext cx="9515475" cy="31718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95600-8C15-4675-BACE-47D81064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知识问答助手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9F15B-B16C-4293-AA42-F49D413A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连接资料，开展知识问答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可改角色、知识源与回答方式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7BD07-E524-42C6-8F30-9CB2802B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工作助手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CB2EF-F6EB-424B-9F93-ECB16C1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资料整理与多步任务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可改目标、工具、流程与输出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22406-5D84-41D3-982A-6B89E77F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Coding 助手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C91DD-E8D7-4D64-A3B7-324F1A02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组织编程任务与工具协作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可改任务、目录与工具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D2434-85FC-421B-8238-161F901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43450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7963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963A3"/>
                </a:solidFill>
                <a:latin typeface="Microsoft YaHei"/>
                <a:ea typeface="Microsoft YaHei"/>
                <a:cs typeface="Microsoft YaHei"/>
              </a:rPr>
              <a:t>Pi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7FAE5-9A8A-406F-929D-5BA57EDE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81600"/>
            <a:ext cx="2266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探索智能体循环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可改真实Pi核心的积木结构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0EAA5-99DF-459C-9C7B-F0C302A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也可从空白main开始，不预置问句或资源；个人蓝图与已有.blocky作品保留。</a:t>
            </a:r>
          </a:p>
        </p:txBody>
      </p:sp>
    </p:spTree>
    <p:extLst>
      <p:ext uri="{BB962C8B-B14F-4D97-AF65-F5344CB8AC3E}">
        <p14:creationId xmlns:p14="http://schemas.microsoft.com/office/powerpoint/2010/main" val="1580276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FF77-E283-4C32-935D-7FF8016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3F5FB-6B05-479D-8761-D6915686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09 / 官网在线体验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CC813-1DEA-4AB5-8B7E-71C470A5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一分钟工作助手演示，呈现完整创作过程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8264-2281-4D5A-8E88-4FFF07D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在线体验复用产品画布与积木，预设模拟从输入到周报的流程。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93FFE-AD7E-40F3-BFDB-4015698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6B105-12E6-43FD-B239-CB0B3F8F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10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E4FA-C0DD-46BA-8987-17A47CE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24097-5DB6-45FF-8B5D-30BCF83E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3022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09165"/>
                <a:gridCol w="4147820"/>
                <a:gridCol w="446341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体验阶段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页面中的操作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看到的内容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进入在线体验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打开官网在线体验，启动工作助手演示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无需填写密钥，约一分钟完成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描述任务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预设固定提示词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任务目标与工作助手对话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搭建蓝图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分阶段展开真实蓝图结构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工具与步骤逐步加入画布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观察运行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自动切换Agent，播放预设工具轨迹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读取、计算、生成与读回的合成周报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1798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继续创作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暂停、重播、退出或完成后编辑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退出恢复原项目与输入，完成后继续改造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1D926-08EB-4DC2-9C07-4E8AC90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支持暂停、重播、退出恢复与继续编辑；不调用真实模型或本机文件。</a:t>
            </a:r>
          </a:p>
        </p:txBody>
      </p:sp>
    </p:spTree>
    <p:extLst>
      <p:ext uri="{BB962C8B-B14F-4D97-AF65-F5344CB8AC3E}">
        <p14:creationId xmlns:p14="http://schemas.microsoft.com/office/powerpoint/2010/main" val="1167149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B121A-C640-4303-A256-F21857C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90DA0-B05D-431D-8751-1E79B422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10 / 教育与专业场景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B59A8-D1A1-4BD5-B615-8819CA0C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教育与专业共享底座，场景配套分阶段开放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6B784-DDBA-4B47-BAE9-6789324A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官网用积木校园与创作园区介绍完整产品方向，具体能力以发布版本为准。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3B95D-31D7-42F8-99B0-F4587209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7E658-BAD6-478D-A4CE-26B85A4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11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2B2F-0609-4411-AA5D-F175133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414CF-B1FA-4336-BD41-C76EDB0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53243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19391032448af"/>
          <a:stretch xmlns:a="http://schemas.openxmlformats.org/drawingml/2006/main"/>
        </p:blipFill>
        <p:spPr>
          <a:xfrm xmlns:a="http://schemas.openxmlformats.org/drawingml/2006/main">
            <a:off x="962025" y="2400300"/>
            <a:ext cx="5143500" cy="3429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F8DC0-A291-46B5-968F-97C0C650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71725"/>
            <a:ext cx="4743450" cy="1514475"/>
          </a:xfrm>
          <a:prstGeom xmlns:a="http://schemas.openxmlformats.org/drawingml/2006/main" prst="roundRect">
            <a:avLst>
              <a:gd name="adj" fmla="val 12579"/>
            </a:avLst>
          </a:prstGeom>
          <a:solidFill xmlns:a="http://schemas.openxmlformats.org/drawingml/2006/main">
            <a:srgbClr val="F6EB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F1D51-3018-45BC-93BF-A81254EE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教育 · 校园植物小向导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7E1F1-691D-4E57-8F35-66C6E5E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4324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设角色、接资料、改回答，再对照资料讲解。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画布与知识已有，课程与班级后台待建设。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EBCDE-DEDE-434D-82D5-2BBFDB4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743450" cy="1504950"/>
          </a:xfrm>
          <a:prstGeom xmlns:a="http://schemas.openxmlformats.org/drawingml/2006/main" prst="roundRect">
            <a:avLst>
              <a:gd name="adj" fmla="val 12658"/>
            </a:avLst>
          </a:prstGeom>
          <a:solidFill xmlns:a="http://schemas.openxmlformats.org/drawingml/2006/main">
            <a:srgbClr val="E6ED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CFF36-DDCF-4218-8554-99114930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95775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专业 · 研究与报告工作台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E7FC8-3C75-47D4-A335-C01B8048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432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组合知识、工具、审阅与复用。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多模块与受控工具已有，团队部署待建设。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4B124-DA33-43B6-A931-DEDFF602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共享.blocky格式、积木语言与运行内核；macOS、移动端与Agent App按计划推进。</a:t>
            </a:r>
          </a:p>
        </p:txBody>
      </p:sp>
    </p:spTree>
    <p:extLst>
      <p:ext uri="{BB962C8B-B14F-4D97-AF65-F5344CB8AC3E}">
        <p14:creationId xmlns:p14="http://schemas.microsoft.com/office/powerpoint/2010/main" val="601908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28DDB-EBFF-4512-87B6-674E55CC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9F345-0988-4BB3-B42A-40AFE404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11 / 完整产品路线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FD4BD-2A1A-4C32-BC61-EA9DF52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围绕共享作品，推进组织、部署与多端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1AC6F-92A6-4ACB-9BA8-64A7118D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后续开发依照产品能力关口推进，真实场景在产品准备完成后进入。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E2454-5442-420A-A561-3F0EF96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C23C8-B028-4C9E-B8D1-5B2B09C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12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9E774-5932-46DB-8562-E0629BB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FA47E-735F-4909-8DC0-2D9D9623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76265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64080"/>
                <a:gridCol w="5500370"/>
                <a:gridCol w="315595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演进方向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形成的用户价值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创作与开发者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积木与文本往返；完善CLI、Skills与插件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复用更多能力，支持开发者协作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教育与组织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师生班级、作业提交、课程版本、进度与后台配置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教师组织活动，机构管理教学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环境、团队审查、成本、应用部署与版本回滚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让作品成为持续可用的服务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社区与多端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开放个人版；作品与积木社区；macOS与移动运行端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跨设备使用与共享创作资产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App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Agent页面与积木执行组合，整合独立应用生成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从创作项目走向可使用应用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253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7919A-C1C3-446E-BB8C-A4C94FD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42573-33D4-4D62-A17D-BB05B0CF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12 / 创作入口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A2867-5660-401C-A276-702208C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从少量积木起步，再展开更多能力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C3EC6-575E-4BE5-BF9D-CC210AA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入门任务视图与专业能力共享项目格式和运行内核。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C908C-1F58-4129-8B90-A417977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321CA-6AF1-4902-B686-3A48310C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13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17063-319B-4EF8-993A-93DD791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09E6F-E218-4FAA-AC38-617DA9C3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299287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85440"/>
                <a:gridCol w="4237990"/>
                <a:gridCol w="369697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入门分类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创作时的含义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逐步扩展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开始、角色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收到什么输入，扮演什么角色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多入口、不同任务与模块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会思考、会查找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如何生成回答，使用哪些资料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模型与上下文、知识检索与引用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会记住、会行动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保留哪些信息，调用哪些工具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会话记忆、登记工具、受控权限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会回答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怎样输出与检查结果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文本、结构化结果、过程与轨迹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B8F89-E48C-4E8E-BDF9-025E0937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教师按教学目标选择少量部件；能力扩展服务于作品，避免一次展示全部专业概念。</a:t>
            </a:r>
          </a:p>
        </p:txBody>
      </p:sp>
    </p:spTree>
    <p:extLst>
      <p:ext uri="{BB962C8B-B14F-4D97-AF65-F5344CB8AC3E}">
        <p14:creationId xmlns:p14="http://schemas.microsoft.com/office/powerpoint/2010/main" val="947515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E80D6-F7A2-4A7C-A929-1CB044E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5DB1F-7639-4BD7-9402-512F444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13 / 多端开发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330EC-FF45-44C3-B1FF-04776631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桌面完成创作，移动端延续作品使用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9D2B6-FA0D-40A3-8EC3-285ACBA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平台路线 · 同一项目语义和运行协议，按设备能力适配。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5E7E7-94B1-4DA7-A368-4BF418E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2ABE8-0274-4287-9181-F9BA20C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14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FC65C-7927-4C8B-A419-DCBA7AD6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E291B-84E3-4398-8CFB-6DD434EA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22309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14930"/>
                <a:gridCol w="3967480"/>
                <a:gridCol w="423799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使用定位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Windows（当前阶段）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桌面搭建、改造、调试与运行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继续完善完整产品与部署能力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macOS（后续）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与Windows同等桌面创作能力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共享项目与运行；原生交互和分发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Android / iOS（后续）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使用已搭建的Agent作品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受控客户端、输入输出、审批与恢复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HarmonyOS（后续）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使用已搭建的Agent作品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原生应用壳；协议复用与能力协商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A6D9A-473B-4364-BC9F-A7A743A0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跨端延续作品格式、资源引用与运行过程，按目标平台完成构建和实际运行。</a:t>
            </a:r>
          </a:p>
        </p:txBody>
      </p:sp>
    </p:spTree>
    <p:extLst>
      <p:ext uri="{BB962C8B-B14F-4D97-AF65-F5344CB8AC3E}">
        <p14:creationId xmlns:p14="http://schemas.microsoft.com/office/powerpoint/2010/main" val="2999165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6B7AD-4F6B-45EA-AB5D-EA7BE057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95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B5668-BC40-47A2-9A5C-3C55CDCE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14 / Agent App生成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BA3D6-E824-4DEA-A5C7-7813FC7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把Agent页面与积木作品，生成独立应用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DC4E6-DC40-4F93-8F4F-63E87AD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后续产品目标 · 基于Pake或Tauri二次开发，整合一键生成流程。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B6DF9-22E3-460D-BD89-40CE7BA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22FF2-E1D5-4326-9275-D37AAFAD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15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2E0CE-4B58-42CD-89A5-40CB95F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D10EE-C244-49F4-9C1A-965D21F7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45331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F84E-0700-41E1-B92A-EEE9174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C3AD9-AC69-487E-8765-32AB0D3A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BB429-046E-4532-B499-E7A46B9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3795A-C0C1-43DF-9989-0763B09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19B35-7B2F-4CAF-964B-713B5264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E53DA-DA2F-4B09-ACD2-BE50E84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定义Agent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843CD-83AC-4671-A1C2-20F1347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角色、任务与积木结构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模型、工具与执行逻辑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D1ABC-BC22-49A5-8B71-39EDFA4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保存作品与运行配置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95ABE-9266-4459-A33B-71FC4C13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1A09E-4F70-49DA-A590-D2109049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组合交互页面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27E8F-E3BD-44D3-A6F4-F14CC67C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输入、对话与结果展示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连接项目声明的入口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67543-830B-424D-8FE0-AFB0F9F0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作品逻辑与页面协同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D2E12-6EB0-4A54-BCF0-2CDF99C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6407B-61A6-4FC4-A911-210DCF1F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选择应用目标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C26D4-F377-48A1-AB49-C901E1E9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平台、名称与应用资源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检查运行依赖与权限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50083-3D01-4230-999A-A1712C5B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准备目标端运行方式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3E53C-8D79-422D-B0A4-7420FAE0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582FE-4FC3-4B5B-81A2-BC3266D3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一键生成App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F1958-ABCB-4C14-84F9-AEBAB7D4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构建独立应用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安装、运行与版本核验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3FD75-2905-4C22-9F0F-6B6F534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把作品交给实际使用者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87986-283B-4848-9EE1-006D524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Pake桌面封装或Tauri定制应用壳，结合Blocky运行内核与受控资源配置。</a:t>
            </a:r>
          </a:p>
        </p:txBody>
      </p:sp>
    </p:spTree>
    <p:extLst>
      <p:ext uri="{BB962C8B-B14F-4D97-AF65-F5344CB8AC3E}">
        <p14:creationId xmlns:p14="http://schemas.microsoft.com/office/powerpoint/2010/main" val="20836061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C6935-36F3-40AE-A78E-0045A62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DC12A-321E-4746-8DCC-7AFA3BB9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15 / 产品准备关口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B854B-CB79-4DA0-B43B-3D1F44E1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可靠作品与产品配套完成后，进入真实场景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A407F-45FB-47FA-B318-81133D47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以具体交付范围检查准备程度，研发关口优先于预算日历。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8C4C6-B4CE-44B0-8279-16E47E26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D2BDC-6416-4FA2-9500-2854437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16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AE69E-1D23-4D2B-8B66-0B7C39B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6F250-D370-40B7-9FBA-35F3E4F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6835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24760"/>
                <a:gridCol w="4779010"/>
                <a:gridCol w="351663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准备范围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达到的能力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随后进入的验证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四类蓝图与创作入口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现有起点可展开改造；发布版本与资源边界明确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同一作品保存、修改、重开与运行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完整创作与部署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共享接口、资源权限、运行和应用交付可持续使用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保存、使用、更新与支持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小学及机构能力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入门任务投影、组织配置、教师资源与恢复方式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学生读改搭讲、教师独立复用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社区及目标端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发布贡献规则、对应平台运行与权限就绪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作品复用、实际设备使用与反馈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525B2-C99F-44B3-A186-CFE9FC4A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真实场景采集作品、使用过程与账单，再决定范围扩展和商业投入。</a:t>
            </a:r>
          </a:p>
        </p:txBody>
      </p:sp>
    </p:spTree>
    <p:extLst>
      <p:ext uri="{BB962C8B-B14F-4D97-AF65-F5344CB8AC3E}">
        <p14:creationId xmlns:p14="http://schemas.microsoft.com/office/powerpoint/2010/main" val="12046624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9E5BE-29B7-4C3C-A42A-A7270E4D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C9A24-7FE2-402D-8773-677CAE4C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16 / 创作需要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00CCF-7550-4CCA-933E-3358C62D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 AI 想法做成可修改、可解释的作品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9CA2A-A52C-40FE-900A-4BE77C2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真实场景阶段的教学设计：学生做出设计选择，教师观察作品与过程。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18E8-010E-4206-81DF-0F920C6F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C448B-3BA0-4919-9272-EBEC464F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17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D13DD-B65E-46DD-8693-1F7A06E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29756-BB33-4489-95AF-FB829BA1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391376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21BF-23F8-4C72-9707-C29F92BA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有一件自己的作品。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A3686-05C6-4BD0-8080-FE633A1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理解怎样工作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39122-2315-4E4E-82F7-0FC66B9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指出角色、输入、步骤；先预测再运行；展开积木结构，查看对应运行事件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DE1F9-2A42-4FDF-BC36-6432CC8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表达自己的想法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E29FB-F4C7-49F6-9B36-FC3E191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改一个条件或指令，比较两次结果；修改可定位；结果与步骤可比较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8331F-5FE2-4E64-92C9-B8A1A58F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在尝试中继续完善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32AC5-81E8-4169-8CAE-D392649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05400"/>
            <a:ext cx="4210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说明变化原因，组合新的任务与能力；保存作品，回看轨迹，修改后复跑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c14df631c4293"/>
          <a:stretch xmlns:a="http://schemas.openxmlformats.org/drawingml/2006/main"/>
        </p:blipFill>
        <p:spPr>
          <a:xfrm xmlns:a="http://schemas.openxmlformats.org/drawingml/2006/main">
            <a:off x="8066700" y="2524125"/>
            <a:ext cx="2849926" cy="3219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3BBB9-D095-488F-8A24-0F26E0B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真实课堂效果尚待验证；创作能力与教学效果分别观察。</a:t>
            </a:r>
          </a:p>
        </p:txBody>
      </p:sp>
    </p:spTree>
    <p:extLst>
      <p:ext uri="{BB962C8B-B14F-4D97-AF65-F5344CB8AC3E}">
        <p14:creationId xmlns:p14="http://schemas.microsoft.com/office/powerpoint/2010/main" val="21196154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97D27-752C-4452-BF46-778B476F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45CE1-0675-47E7-BD59-8E56906D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17 / 学习路径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1640B-14EC-4203-A12D-E5C1C53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参照 Scratch，在读、改、搭、讲中学习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26841-0A51-4204-8D33-D6EE4FA7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创作对象从故事、游戏、动画，延伸到包含模型和工具的智能体作品。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FE861-0AD9-4919-9386-E84FDC7D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E86D3-0908-4F6F-8116-92A7C1BD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18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80E19-08D3-4229-8248-4E74C52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3DDA8-D655-4DEC-855A-B972C4A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14398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EA4CD-6CDC-4146-8E6C-3C51E3AD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15A0A-6924-43B3-B434-72B59E4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DD3D-4A79-4F0F-9E8C-8B08768B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AE385-8AC0-4819-84A2-426478C0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14E02-4E99-4506-82EF-4F525018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A9D39-833E-475F-AFB9-899968D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读懂作品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57AA4-CD46-43AD-9A5D-EED995DC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指出角色与输入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说出执行预测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82E71-06C1-4565-8ABA-2E79162F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理解任务与顺序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F6DE1-483B-44A8-A2E2-0F92F157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38478-98BB-4B03-A6EA-076B935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动手改造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869F9-D641-483E-B9BE-F391A6C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一次修改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对照前后结果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A74D2-0E4F-4F78-8B1D-94297143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理解条件与行为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E393A-B1C1-4B79-B809-BA6B4206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089EC-8BBD-4DBB-AB7B-D7DFB65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自主搭建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5EC8F-D991-4478-A589-D25CE21A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给作品一个新目标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说明能力组合理由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E665C-0863-43D3-AB5B-CFDDA305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认识模型、记忆与工具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12184-D417-49E8-805B-721A3908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C5D8AA-C0B9-4974-9F49-FB7D9C8D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调试解释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2C784-E436-4EE3-9D53-4D76170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定位步骤并修订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向同伴讲解作品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CA446-C263-4CE6-8C2F-055B8E9F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联系设计、过程与结果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29DB0-29EC-434C-A4A7-BD543DC0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Scratch官方起始作品支持查看、改编和继续创作；Blocky将这一方式用于Agent学习。</a:t>
            </a:r>
          </a:p>
        </p:txBody>
      </p:sp>
    </p:spTree>
    <p:extLst>
      <p:ext uri="{BB962C8B-B14F-4D97-AF65-F5344CB8AC3E}">
        <p14:creationId xmlns:p14="http://schemas.microsoft.com/office/powerpoint/2010/main" val="737173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FA1731-5516-45F3-AD13-1ED3FAFF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EF542-02E8-445C-BA24-304F7E11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18 / 读懂作品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654A9-084D-45E5-965A-6C76626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先读懂故事搭档，再预测它怎样回应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F4499-BFF6-4288-BBBF-41A5C85A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 · 角色、任务、规则、上下文、模型与输出的完整关系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F3D5-691F-44C2-979F-62E4425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B89B5-9606-4EEA-8279-D28D626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19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94D36-04A5-490E-A9E2-DBE117C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7F57D-6BE1-4CDA-8C13-24D92A9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37420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34D1F-3B93-4E2C-9927-A5C105C1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62AC1-F9BF-4C6D-B830-79148AF8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062C3-C379-468F-9AED-BBA0A3F0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8CB78-D85D-4B3C-9BA7-7A7472A7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D4195-1657-4605-ABBD-AE355985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78BFF-4D56-4B37-A373-606CF99C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角色与输入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BD018-3302-4491-90BF-C4DFEEF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友善的故事搭档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“勇敢的小猫”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7BDE5-B5AF-407B-964A-4BF077DC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为谁做什么？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77432-69F6-4CE6-BC7E-8A56C68F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BD0AE-D263-4B56-B97D-686CA83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方向规则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ACDD2-E22B-4155-85A2-2BA9FC38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包含“勇敢”→森林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其他输入→花园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A2D6E-5EBF-4E16-B848-38975448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规则走哪条路线？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F5A57-636E-497E-BC16-4F3048D3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0E31F-FDD8-49F7-BE71-278E464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上下文与任务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70424-A8EF-4F5B-B63A-6BDE685C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把方向交给模型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写三句，以提问结尾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80E7F-2CAE-4212-B292-9CEB5B6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生成要遵守什么？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10700-926E-4E2C-A89D-BA1A2D9F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45D36-5F7B-4781-914E-63ADEA32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模型与输出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A3114-9157-473A-97E8-22F273CD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教师预选模型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检查故事，再修改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502C6-6363-4464-9D43-EB0A2219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结果符合任务吗？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E5EB7-FDFE-44B8-BDD2-4D79909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从预测结构开始，再把实际回应与自己的设计比较。</a:t>
            </a:r>
          </a:p>
        </p:txBody>
      </p:sp>
    </p:spTree>
    <p:extLst>
      <p:ext uri="{BB962C8B-B14F-4D97-AF65-F5344CB8AC3E}">
        <p14:creationId xmlns:p14="http://schemas.microsoft.com/office/powerpoint/2010/main" val="21457277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9D71D-6F89-4D22-A949-604D851A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16862-3BA3-4506-9A39-4B10894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19 / 改造作品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73269-4A37-47F8-B7CC-AFBB46EB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只改一处，对照结构、步骤和结果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C473F-C86A-43FE-BEC0-43CBE8E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本地规则实际对照 · 输入始终为“勇敢的小猫”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F6E9B-AE89-47B8-9D15-91EC021C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6751B-1738-445A-B631-AB3350E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49C76-BA8C-4BCF-BB1C-3A6E092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1DE47-37D6-4890-B57A-B7B18D3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60442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45045-F481-456F-A593-0C04CA2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25780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E8EE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CD4FF-FEDE-4436-9022-D2C1415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529590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E8EE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80689-149E-4D10-9DC6-A484947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87168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改造前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89A3C-815E-4743-B3CD-37E2113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00400"/>
            <a:ext cx="4892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条件：包含“勇敢”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命中：森林分支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输出：到森林探险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3C5B3-B69E-4075-8B90-3FE9F1A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487168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改造后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28F15-F7EA-4382-BC0D-8F5280B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200400"/>
            <a:ext cx="4892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条件：包含“友善”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命中：花园分支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输出：去花园交朋友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85FD0-D1D0-46FB-8C15-B01E61D3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学生的解释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734C9-1972-48FB-94E9-DEED4AC1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010912"/>
            <a:ext cx="8412480" cy="859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输入保持不变；改变条件，执行分支与输出随之改变。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下一轮换一个输入，再检验自己是否理解这条规则。</a:t>
            </a:r>
          </a:p>
        </p:txBody>
      </p:sp>
    </p:spTree>
    <p:extLst>
      <p:ext uri="{BB962C8B-B14F-4D97-AF65-F5344CB8AC3E}">
        <p14:creationId xmlns:p14="http://schemas.microsoft.com/office/powerpoint/2010/main" val="5714226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5885A-21B5-41CF-B47D-AAF92AD1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29F53-65D5-4D58-AD52-CFEB4FB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20 / 自主搭建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DD94C-3A09-4D5F-A1E8-57B1394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换一个目标，组合自己的海底向导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36ADF-AD5F-43E3-8C78-6BA16BCB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教学设计 · 从照着改，到自主选择角色、任务和能力。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8F561-2162-4920-B364-9ED2416B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475F4-2E93-452B-9034-50A3C009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21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0ED3B-86B9-4C25-9742-19A2845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75B24-4530-4BD2-9CA2-84403425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83464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73910"/>
                <a:gridCol w="4959350"/>
                <a:gridCol w="378714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设计选择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学生可以决定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检查自己的作品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角色与目标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海底向导；带伙伴认识想去的地方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角色、任务与输出要求是否一致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输入与行动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输入伙伴和目的地；选择行动方向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换一个输入，方向是否符合规则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回应方式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两句介绍，然后问下一步去哪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保持输入，改一条要求，比较回应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记录上次目的地；查资料或统计文本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说明为何需要该部件与它的作用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200D0-97F0-4BFB-B0D2-7C79741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学生保留自己的组合理由、一次修改记录和作品讲解。</a:t>
            </a:r>
          </a:p>
        </p:txBody>
      </p:sp>
    </p:spTree>
    <p:extLst>
      <p:ext uri="{BB962C8B-B14F-4D97-AF65-F5344CB8AC3E}">
        <p14:creationId xmlns:p14="http://schemas.microsoft.com/office/powerpoint/2010/main" val="18207906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EF37F-C1E0-4CDC-867D-8DAED33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D2520-BD34-4FCD-A7BF-5850DA95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21 / 能力递进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28BCF-13B7-4A48-AD4E-FA3798C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一次增加一种能力，解释它带来的变化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99BAF-BF16-4C75-8C16-7954755C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海底向导教学设计 · 保存每一步作品与比较记录。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1D8D9-BC54-4944-8EEF-CDE9258E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BAFB4-3CC9-47F4-BC86-FDA03434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22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04C11-C7A7-404D-A925-CF806FC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E1ED9-174E-4CE6-A5C1-54F26CB1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06486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64080"/>
                <a:gridCol w="5139690"/>
                <a:gridCol w="351663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增加部件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给部件什么信息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学生观察什么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角色、目的地、两句介绍与提问任务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回答是否符合任务；改要求后如何变化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现阶段目的地；下轮读取给模型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换到第二轮时是否使用已记录信息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教师选择的海底资料与问题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能否找到出处，回答与资料是否一致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故事文本交给登记的字符统计工具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具体字符数；工具结果如何帮助检查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F9931-05AF-4AFC-BE60-0A66D5D0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部件选择由学生解释；模型、资料和工具权限由教师准备。</a:t>
            </a:r>
          </a:p>
        </p:txBody>
      </p:sp>
    </p:spTree>
    <p:extLst>
      <p:ext uri="{BB962C8B-B14F-4D97-AF65-F5344CB8AC3E}">
        <p14:creationId xmlns:p14="http://schemas.microsoft.com/office/powerpoint/2010/main" val="10601164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31DA3-6F72-49D2-A6DE-D6EE17D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FB0CA-F965-48C7-9A21-44CB948F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22 / 调试解释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5D2FC-BD04-49E0-BD31-58C7565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用运行轨迹定位步骤，再回到作品修改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1FCD-E6ED-4786-9FD2-3D25495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 Windows 运行轨迹 · 资料作品能力示例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342A8-B105-4AA7-981C-BFF1B9C8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843D7-55E7-4D6E-85E6-9910E59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23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6E1A3-F265-469D-82D7-A9190D4B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053C2-0E75-4744-A1CD-0D651A2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29508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897F2-3EE0-47A7-8F13-F1C97CFB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37744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8B4F-6BEC-481E-802F-F989DA72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37744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先说预测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B81C7-31EA-4B1D-803D-5ACFBB0E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752344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设计要求经过哪一步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84803-1830-40E1-BFEA-836E738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182112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9AB51-7512-4CFF-B97E-6D04344D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182112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再看实际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CCC13-A841-4B20-A5F5-CA8AA195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557016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事件对应具体积木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BF103-0673-4B23-8375-4735CFED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986784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7A499-FAC2-47CD-AE49-00BFBA54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986784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定位修改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8047D-E9D2-460C-B793-91A96022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361688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回到一块积木修订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5D2B4-1F8C-4B4E-BC8B-ADDC8FC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791456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C9C25-F8E4-4428-9951-EAD2CE4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791456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重新解释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477C2-22D8-4D8F-A5B8-F450D275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5166360"/>
            <a:ext cx="256032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比较结果与执行过程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bd698a42d4263"/>
          <a:stretch xmlns:a="http://schemas.openxmlformats.org/drawingml/2006/main"/>
        </p:blipFill>
        <p:spPr>
          <a:xfrm xmlns:a="http://schemas.openxmlformats.org/drawingml/2006/main">
            <a:off x="640080" y="2837543"/>
            <a:ext cx="4041648" cy="252708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c3c6b3a914ad3"/>
          <a:stretch xmlns:a="http://schemas.openxmlformats.org/drawingml/2006/main"/>
        </p:blipFill>
        <p:spPr>
          <a:xfrm xmlns:a="http://schemas.openxmlformats.org/drawingml/2006/main">
            <a:off x="5166360" y="3312086"/>
            <a:ext cx="2523744" cy="1577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37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FB7A4-058E-4497-A6F1-E342FEC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6288E-A5D9-4132-9863-F838758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23 / 学习记录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3E33B-FB71-4599-8AE2-AAFB24BE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作品、过程和帮助程度共同说明学习进展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860CF-49F7-4E6A-8E38-0C86BEF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产品准备后采集课堂记录，首次尝试、修订与迁移任务分别观察。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59916-7902-4381-BAEC-E713B38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DAF3C-436B-4045-BF68-000887F8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24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5C206-7997-4811-9EEE-37E9867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2D2E8-3ACF-4064-A178-5C453187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52531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97942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05100"/>
                <a:gridCol w="811530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作品或解释记录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读懂与预测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指出角色、输入、步骤；说出预计路线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单一改造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保存改前改后；说明原因；换输入检验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自主搭建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给新目标，选择部件并说明理由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调试讲解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定位步骤；修订；解释实际结果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F6A21-2445-46EA-AF55-7441568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32120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每项任务记录帮助等级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782A8-5D88-4F45-925C-8F04F5C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532120"/>
            <a:ext cx="77724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0 自主完成 · 1 口头提示 · 2 指明位置 · 3 示范或代操作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DF969-10FC-4730-BF21-61E7CFC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结合活动条件、帮助次数与作品版本，持续改进教学设计。</a:t>
            </a:r>
          </a:p>
        </p:txBody>
      </p:sp>
    </p:spTree>
    <p:extLst>
      <p:ext uri="{BB962C8B-B14F-4D97-AF65-F5344CB8AC3E}">
        <p14:creationId xmlns:p14="http://schemas.microsoft.com/office/powerpoint/2010/main" val="5152943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C718D-1BEA-4C24-8E1F-625BF9B4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76E90-2135-4A59-AF71-37969D4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24 / 教师组织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8C6F2-BEC6-4ACC-BB3E-B015280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用作品包组织课前、课中和课后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46700-35BF-428F-BDEC-5C61962F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服务设计 · 项目文件、活动引导与学习记录共同支持教师复用。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EC794-C63D-4196-BE7F-92B88FB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A627D-A4A2-40ED-BD68-74D244EC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25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E277F-FF6C-4079-9204-FE13FB8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D0E53-1114-42E9-B643-486088F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75553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539CE-2096-4FB7-ACD4-62D205D4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5F35D-4F6E-449D-A255-FEA22635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88F9C-B2A5-4FE6-A12C-46AE7FC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E75E0-88EA-413D-B8C6-DDCA4DD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4A036-07F7-4ECF-9654-81B63F45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课前准备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13BAA-8824-4B79-90D8-30A7233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选积木、资料和模型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运行并保存原作品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准备任务卡与配置说明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2AB48-EF46-44BA-B0BA-4F23DD4F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留下：原作品与教师指南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7BE3B-67B2-40FB-9AF8-8837825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0B2BD-AB9A-4DBE-A345-0741D5BE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课中实践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B530C-85A6-4392-80E6-364C4C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示范预测，限定一次改动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开放新目标，引导调试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收集结果、轨迹与解释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A711A-817F-4676-839B-CE36A1F3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留下：学生作品与过程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87AA3-C291-419F-B641-F2D3DB2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D5984-F46A-42FE-9458-C0E92A9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课后复盘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A93F1-341B-4165-8CA4-12A13CDC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收集副本，记录帮助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比较设计与讲解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完善下一次活动版本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77E8D-E33C-4FB4-A0F8-E6D2254C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留下：可复用活动包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54EF4-4AD6-4D7B-BA01-2EE8C9A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作品文件用于分发和保存；教师按活动流程组织，课程包属于现阶段服务设计。</a:t>
            </a:r>
          </a:p>
        </p:txBody>
      </p:sp>
    </p:spTree>
    <p:extLst>
      <p:ext uri="{BB962C8B-B14F-4D97-AF65-F5344CB8AC3E}">
        <p14:creationId xmlns:p14="http://schemas.microsoft.com/office/powerpoint/2010/main" val="2242393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CCCF1-C0E2-47F9-BE76-CCF74F27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7B889-0BE8-44CA-8898-F6EC6DE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25 / 教师复用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787E6-31B7-4A5C-8D52-504320CC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先保存原作品，再组织学生副本与复盘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5FDAB-2F7F-4981-90C3-209F45D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现有文件能力与课程操作设计相结合。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AC2DC-64DF-4510-B974-67CECC31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DF800-E233-4EBD-A7CD-4F72036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26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DFE09-615F-4CBD-92D3-31CBDD9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A091E-B60B-458C-8E59-FC163899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598575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54250"/>
                <a:gridCol w="5455285"/>
                <a:gridCol w="311086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操作阶段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具体方式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留下的资产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分发前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保存原作品；检查资源引用与教师配置；运行一遍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原作品与配置说明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学生另存副本；一次改动；保留比较结果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匿名作品版本与修改说明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重新打开已保存原作品或上次有效副本，再应用修改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可重开的版本与恢复记录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教师独立重开活动；更新任务卡与指导说明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改进后的教师指南与活动包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2625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0626B-475B-4836-B1B5-46C44634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9CCC7-DD3E-499A-9339-1449CF77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26 / 工具选择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17750-E165-4F14-8E18-EB30C417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围绕创作对象、可改部件和过程解释比较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C685A-6D82-44AB-9B02-C9F1B0F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官方公开资料比较 · Blocky按当前产品能力与课堂设计呈现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F2D02-840B-4A92-832E-CF28018F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4F54D-F362-4402-9F19-FB0E7C0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27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A06C1-54B7-45A1-A782-92D9641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8DAEA-D929-4AF0-BD0D-0B7CCBBB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21597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68145"/>
                <a:gridCol w="2777236"/>
                <a:gridCol w="3173984"/>
                <a:gridCol w="320103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教学任务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创作对象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故事、游戏、动画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AI应用逻辑与交互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可组合的Agent作品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动手修改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代码、素材与起始作品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模型、提示词、上下文、控制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角色、任务、条件、记忆与工具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运行解释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作品运行与调试资源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聊天测试、即时反馈、输出历史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运行事件对应积木，定位后修改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教师组织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教师账号、作品组织、活动指南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教育账号、课堂管理、进度分析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项目文件与蓝图；课程包服务设计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E1124-2A12-485A-A914-6EB33495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选择理由：把Agent结构审阅、修改审阅与运行解释连接到同一个作品。</a:t>
            </a:r>
          </a:p>
        </p:txBody>
      </p:sp>
    </p:spTree>
    <p:extLst>
      <p:ext uri="{BB962C8B-B14F-4D97-AF65-F5344CB8AC3E}">
        <p14:creationId xmlns:p14="http://schemas.microsoft.com/office/powerpoint/2010/main" val="8263909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77A2A-A6D8-465C-BB75-4EAA8B3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373A6-A39B-48F9-852B-010CFB92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27 / 竞争依据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C9518-5204-4CA8-AC73-344BE108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对照同一个教学任务，依据官方公开信息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C9992-423E-4E25-B555-17EE3CF6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2026-10-03官方资料核对；围绕具体教学任务比较。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DC098-2809-4ED7-A96C-3979DD6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5CA5B-5530-463D-9548-400A19F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28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4D996-8DCF-46BB-B131-14C7EEA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2E3C5-C4BA-460E-BA7D-CDF71B4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44619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95270"/>
                <a:gridCol w="5094605"/>
                <a:gridCol w="293052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已披露事实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用于什么判断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Scratch起始与教师资源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查看、改编、教程、调试、教师账号与作品组织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以作品学习；组织资源支持采用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 Features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积木逻辑、模型、上下文、聊天测试与输出历史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可视化AI的直接竞争领域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 Pricing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个人免费；教育方案含账号、课堂管理、进度分析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组织教学方案的公开参照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Tynker学校与课堂方案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学校按学生数和需求报价；课堂页有30学生示例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组织管理、评价、课程与培训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Blocky现有产品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嵌套作品、受控候选修改、运行事件映射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设计审阅、修改与运行解释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818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0F5B3-04BB-4B14-A4A5-8DF1F0DA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0BAFF-E176-4017-A769-F056AD13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28 / 目标客户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EFE10-4C3D-458A-890D-73AEEB4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学生使用，教师组织，机构决定合作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B9D2B-D6EC-4A82-97F4-ABF596B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首批面向具备Windows设备与活动组织条件的小学AI创作活动。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5672D-66D2-4758-9ACD-0EE9302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325BE-2A04-445C-B768-79295E61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29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F68A-7C52-46D2-B403-30210B19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DC52B-F9C9-47BE-96B4-F18546F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67641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1813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93570"/>
                <a:gridCol w="4598670"/>
                <a:gridCol w="432816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关心的问题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9E65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采用时需要的材料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能否看懂、动手修改并讲解自己的作品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少量部件的原作品；新目标任务；展示机会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能否准备活动、引导调试并重复使用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可重开的项目；教师指南；学习记录方式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学校或教育机构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服务范围、设备配置、预算和采购责任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作品演示；服务清单；模型额度；合作方案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99629-3616-4301-A33C-023CA05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进入条件：设备可用、教师能组织活动、模型与资料范围明确、预算负责人可沟通。</a:t>
            </a:r>
          </a:p>
        </p:txBody>
      </p:sp>
    </p:spTree>
    <p:extLst>
      <p:ext uri="{BB962C8B-B14F-4D97-AF65-F5344CB8AC3E}">
        <p14:creationId xmlns:p14="http://schemas.microsoft.com/office/powerpoint/2010/main" val="5099434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C6FD6-712C-4544-92FD-47CD7BA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D5D2E-3F0E-4544-8F96-49F476C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29 / 市场进入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13D4D-B29B-48AF-818D-CF641D4A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产品准备完成后，进入教师与机构真实使用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2E36-444A-4163-A632-81FF95C7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条件验证计划 · 教学、采购与支持证据各自采集，再决定商业投入。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5E63-FBA7-4BE9-BC08-14499E78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19071-4A01-48F2-8FB2-2FAE196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30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DA02D-498D-4FE6-B348-A61A7DBE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85D9-B2DD-4E57-A078-8E9CEEF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69066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65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73F3-81CE-443B-A9E2-0422615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90DD3-2953-4C52-AC37-A667501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850E-75F0-4124-8A91-092E53F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843" y="2305050"/>
            <a:ext cx="3333750" cy="35814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BFCDE-B0E2-4663-B382-459488A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F73E0-4E7B-4CB2-8D00-6F90309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找到教学任务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3196F-A20F-462C-A6D8-BDA8384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公开教研与机构合作入口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通过免费作品样例邀约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明确组织者、设备与主题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6DBD-7FBC-4C2F-983A-8E9FDEA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条件范围：接触20家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6EFEA-DA5E-4E76-9704-135B5BEC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C9292-9C39-474B-81D2-A22413E8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共同开展活动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13565-5313-4070-BF5B-2BA0D24A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教师访谈与小范围创作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记录修改、讲解与指导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观察教师独立复用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D4E30-80DD-4E33-B308-FF5B712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条件范围：深入8家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E961E-A853-4458-BBA5-A4075558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423160"/>
            <a:ext cx="33375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4FE71-92C2-4A9D-823E-C5DBD78D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36976"/>
            <a:ext cx="33101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形成合作范围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1BAC2-3230-4585-AF7E-C34DC3B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133088"/>
            <a:ext cx="32552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核对作品、培训和支持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沟通预算与采购负责人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明确交付与付款安排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3EFD1-2E31-4E7A-A39E-044003D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5577840"/>
            <a:ext cx="32552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条件目标：4份交付合同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94A0B-0CB1-4810-9601-B285A4F0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20次接触、8次深入、4份合同为产品准备后的验证目标，按实际反馈调整。</a:t>
            </a:r>
          </a:p>
        </p:txBody>
      </p:sp>
    </p:spTree>
    <p:extLst>
      <p:ext uri="{BB962C8B-B14F-4D97-AF65-F5344CB8AC3E}">
        <p14:creationId xmlns:p14="http://schemas.microsoft.com/office/powerpoint/2010/main" val="20320977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E615A-5D94-4524-B736-3AB4070D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23BF4-B2A0-4AFA-84B9-A1EB612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30 / 免费软件与Token咨询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59685-99A8-47D1-8D26-C4260B7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个人创作免费，托管算力与机构服务分账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1A0EE-7745-42A4-B0C7-1069D60B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官网拟定方案，人民币计价，暂未开放购买；个人版完全开源为发布方向。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06572-8C6E-4A6E-9A48-23BE7A82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E4443-307B-4B14-8D61-2764721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31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6A1C9-EB97-40FD-9478-0AAB6B8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2F726-03D5-4339-A4BE-13B4DC9F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1368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110FA-3DB6-46EB-A046-857836C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1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37693-C172-4B1A-AB9A-A4143B56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个人软件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88D67-4625-47F4-9D44-972475D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免费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1BC02-0049-4C9B-B766-4000EC8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完整创作能力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087C4-7E90-47E7-A922-C2A2A40B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自带API，供应商独立计费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源码与下载入口准备中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49F6F-B166-4C9E-8D82-1F16B26B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D5181-ABE5-42CC-85B3-8F05D871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BB92C-55E7-46B4-A2CE-CFA2EDB3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6864E-5969-4B91-878F-FD2920B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2,000积分 / 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ED029-9AD9-4553-AD9E-0ABD9DA9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学习与日常任务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B8D2B-3010-498E-B439-3048ACA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B2FE6-AF4B-4476-8D22-A595DA01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5EA0D-1E6F-4AC4-8E5B-BBD8B2D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¥199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56B06-C1CA-434B-950E-0B8DCFDE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4,500积分 / 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08CFD-4748-446A-90E3-CFEB8F2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持续搭建、调试与改造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5BAE5-A956-45CC-9197-250ECDA5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09825"/>
            <a:ext cx="2562225" cy="281940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11D78-E7DF-4B04-9EE9-6C4EB14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38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F366D-72A4-40B4-BAA8-6B931765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14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¥999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9DA2AB-FFB1-43A1-B9E3-73C31190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25,000积分 / 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4EEFA-56B0-46D3-B13A-37D2B2B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复杂任务与高频调用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托管模型咨询拟案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25F43-952A-4E6A-AE29-B4D0D72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801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托管按月；额度当期有效、不结转。加量包拟¥50 / 1,000积分，30天有效。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EBD9FF-CA0F-49A1-9610-7A8CAC3D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04825"/>
          </a:xfrm>
          <a:prstGeom xmlns:a="http://schemas.openxmlformats.org/drawingml/2006/main" prst="roundRect">
            <a:avLst>
              <a:gd name="adj" fmla="val 41509"/>
            </a:avLst>
          </a:prstGeom>
          <a:solidFill xmlns:a="http://schemas.openxmlformats.org/drawingml/2006/main">
            <a:srgbClr val="EAF0E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44907C-D4D4-4C4B-BDA0-E867F4C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91225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学校与组织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16C54-832A-4FA1-9AF3-A159AB44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991225"/>
            <a:ext cx="8601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按人数、课程、部署与维护报价；组织后台待建设，算力另核算。</a:t>
            </a:r>
          </a:p>
        </p:txBody>
      </p:sp>
    </p:spTree>
    <p:extLst>
      <p:ext uri="{BB962C8B-B14F-4D97-AF65-F5344CB8AC3E}">
        <p14:creationId xmlns:p14="http://schemas.microsoft.com/office/powerpoint/2010/main" val="18213120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BF128-94BB-49C4-B420-3FC918BB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8A25C-8CF5-4976-BB17-364057B3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31 / 套餐参照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01B0-0F6B-4B8F-BFAB-BF617072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借鉴分档结构，仍需验证客户价值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8D183-1447-45AA-AA13-E4582F01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WorkBuddy参照与单位售价 · 名义积分口径不同，不能直接等同任务成本。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D8C37-8E84-48AD-8002-C47F601D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CE6D3-B082-4C83-8D4C-7862CF7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32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D5DE-EE2A-4286-BEDC-4F637BF3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19BDB-9BD7-43DE-B7DA-412965CC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36708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466975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52625"/>
                <a:gridCol w="3095625"/>
                <a:gridCol w="3571875"/>
                <a:gridCol w="2200275"/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对照档位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Blocky拟定套餐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WorkBuddy连续包月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名义单位价比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 / 标准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¥99 / 2,000积分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0.04950元/积分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¥70 / 4,000积分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0.01750元/积分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约2.83倍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进阶 / 高级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¥199 / 4,500积分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0.04422元/积分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¥140 / 9,000积分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0.01556元/积分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约2.84倍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 / 旗舰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¥999 / 25,000积分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0.03996元/积分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¥700 / 50,000积分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0.01400元/积分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约2.85倍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加量包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¥50 / 1,000积分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0.05000元/积分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¥50 / 1,000积分</a:t>
                      </a:r>
                    </a:p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0.05000元/积分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1.00倍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CBAE4-C1F1-4AA8-A0AB-849654F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WorkBuddy按2026-10-06官网含限时赠送；续费与赠送条件可变化。Blocky尚未开放购买。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BD603-E8CA-4EF0-85F7-C6B55CC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积分扣减、模型和服务权益不同；不据此声称同任务更便宜或已经盈利。</a:t>
            </a:r>
          </a:p>
        </p:txBody>
      </p:sp>
    </p:spTree>
    <p:extLst>
      <p:ext uri="{BB962C8B-B14F-4D97-AF65-F5344CB8AC3E}">
        <p14:creationId xmlns:p14="http://schemas.microsoft.com/office/powerpoint/2010/main" val="3211161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55BB2-64A4-496A-8C3E-41E5F60C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95B7E-8769-41DF-A21C-62BF8195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32 / 贡献利润情景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66B5F-0A9B-4216-B0ED-475F4C4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贡献利润取决于实际结算成本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E395B-5C8C-4A31-91F1-478899EB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假设满额使用、其他可变成本10%；0.02元/积分为情景成本，50%为示例目标。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E0A88-6BA8-4926-9216-000CBEB3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2989B-3927-4577-8373-C11CCC6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33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AE229-2870-4723-ABC3-8BB9206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29108-B3E3-4699-AD42-83340E0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59730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466975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390650"/>
                <a:gridCol w="1962150"/>
                <a:gridCol w="2762250"/>
                <a:gridCol w="2419350"/>
                <a:gridCol w="2286000"/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Blocky方案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售价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元/积分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50%目标模型成本上限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元/积分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0.02成本情景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贡献额（元）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0.02成本情景</a:t>
                      </a:r>
                    </a:p>
                    <a:p>
                      <a:r>
                        <a:rPr sz="1425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贡献率</a:t>
                      </a:r>
                    </a:p>
                  </a:txBody>
                  <a:tcPr marL="133350" marR="133350" marT="57150" marB="57150" anchor="ctr">
                    <a:solidFill>
                      <a:srgbClr val="E7EDD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0.04950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0.01980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49.60%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进阶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0.04422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0.01769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89.10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44.77%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0.03996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0.01598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399.10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39.95%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加量包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0.05000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0.02000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25.00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50.00%</a:t>
                      </a:r>
                    </a:p>
                  </a:txBody>
                  <a:tcPr marL="133350" marR="133350" marT="5715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0F353-C8B4-4BC7-888A-232E669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原预算专业月模型成本1,347.02元高于拟价¥999；若照此交付并另扣10%费用，贡献−447.92元。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2BF80-CF5A-44DA-B3E6-AF97D09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原任务尚未映射为积分额度；三档按月、加量按包，情景未扣固定支出，未进入原财务预测。</a:t>
            </a:r>
          </a:p>
        </p:txBody>
      </p:sp>
    </p:spTree>
    <p:extLst>
      <p:ext uri="{BB962C8B-B14F-4D97-AF65-F5344CB8AC3E}">
        <p14:creationId xmlns:p14="http://schemas.microsoft.com/office/powerpoint/2010/main" val="4472805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C4645-4AB5-4E97-AE85-E373BC1E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F7188-3103-4D32-80F2-5DA2301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33 / 机构与K12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877AE-4AE3-409C-97DA-9193DA4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组织付费，承接教学管理与后台配置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2619B-5EF8-4895-9F0C-36B73D07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组织方案建设规划 · 参照Blocks Builder AI与Tynker学校方案。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9CB48-6574-4C6C-B6BA-770B107F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4FCB5-65E3-4191-94B7-160A7C90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34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14CAB-15F0-465E-838B-8C67F4B0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DC73F-4601-4F0B-90B1-E858ABA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782752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54250"/>
                <a:gridCol w="4869180"/>
                <a:gridCol w="369697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组织需要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后台建设内容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交付与报价依据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师生与课堂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组织、师生账户；班级与任务分发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学生规模、班级数、组织接入与部署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学习进展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作品版本、完成记录、过程与帮助等级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教师记录需求；分析维度与保存范围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评价与配置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任务规则检查、教师复核；模型与权限设置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任务类型、评分边界、模型和资料范围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课程资源、教师培训、优先支持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课程数量、培训频次与支持等级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D4384-9706-4C30-A6FD-4D06A866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组织方案按学生数与学校需求组合；AI算力另行订阅或使用机构自有API。</a:t>
            </a:r>
          </a:p>
        </p:txBody>
      </p:sp>
    </p:spTree>
    <p:extLst>
      <p:ext uri="{BB962C8B-B14F-4D97-AF65-F5344CB8AC3E}">
        <p14:creationId xmlns:p14="http://schemas.microsoft.com/office/powerpoint/2010/main" val="12318350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5045D-C853-4086-B5BA-B9939E9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CDD51-60D3-424A-9A8C-6C6217E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34 / 开源与社区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12A31-7B3F-4C83-AE1A-2DB31859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以开放创作，积累作品和扩展生态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3EA21-5445-41D6-A132-0F31635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个人完整创作免费；公开源码、下载渠道与社区入口仍在准备。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B27FA-D339-4263-81A2-E4630921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121A4-DB0B-442C-B254-76CD1A04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35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81BC7-76C4-4162-BDCB-B1A98F1C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543B0-E976-46E5-8BAC-2F00D3C9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05774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113AF-6023-4B06-AA10-8F01E4EF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6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E15B7-F819-4D93-8DAA-79156E3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D1020-2E95-4332-9C1A-7D8978B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0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E2C54-71D5-404E-9FAC-0775F13A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243" y="2305050"/>
            <a:ext cx="2609850" cy="358140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EFF3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048CE-B49B-480E-A598-25C5042A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91CC9-A984-4654-BBEB-2B9691E0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开放客户端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B1BF8-5258-43CD-8012-97A795C2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提供源码与构建说明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保留完整创作能力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95D5B-F31D-422E-844E-54CB6AA5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开源发布准备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A9CA3-B14C-4B3D-B8D8-6A8B076E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33BFD-1200-42C5-9B8C-2AC47759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共享作品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68FDB-F2EA-4FA4-A1D6-3CAC63B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故事搭档与主题任务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可展开蓝图、积木包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762D1-0BF2-461D-8FDB-469A3E07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作品与许可证说明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FDA47-94F9-492D-BB82-4FB54F16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8F556-C242-4910-914F-66E5E38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教师改编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97825-5757-426E-B81F-7CF6E121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复用任务卡与活动包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贡献调试与组织经验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A204A-A0A5-4716-911B-FD16C41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积累教学资源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8692E-3C1F-4E28-83CF-5EDFA1F2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42316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C4D7B-BFC4-4C29-96BA-C82A39AA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236976"/>
            <a:ext cx="2395728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开发者贡献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98310-34DA-458C-B9A8-5F747F0C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133088"/>
            <a:ext cx="2340864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改进部件与工具适配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提交修复与扩展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C2A86-C7EF-4CA1-98DE-FC7C5C78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57784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审阅、版本与权限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81CB6-1C99-40AC-81FA-6DA92D6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让学生从使用者走向创作者，让教师与开发者共同扩展作品生态。</a:t>
            </a:r>
          </a:p>
        </p:txBody>
      </p:sp>
    </p:spTree>
    <p:extLst>
      <p:ext uri="{BB962C8B-B14F-4D97-AF65-F5344CB8AC3E}">
        <p14:creationId xmlns:p14="http://schemas.microsoft.com/office/powerpoint/2010/main" val="13321022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DBBF7-2B01-49E8-A080-602D1212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4683C-A37A-4A80-8D87-86A00D5F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35 / 交付资产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4DE79-A869-4994-B97E-C4FC5F72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让产品能力沉淀为可重复使用的教学资产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9E92A-0968-4FE5-8D85-D961718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四类蓝图与官网体验已形成展示资产，教师活动包和组织支持继续建设。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7C51B-BBE4-4B23-8629-114F7093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3AFF2-BB50-4BCB-9F4F-090D679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36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94D80-0092-4C57-A468-6C93B479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EB061-C079-45A2-AE0D-66ED4687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28796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40355"/>
                <a:gridCol w="4959350"/>
                <a:gridCol w="302069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当前依据或建设安排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复用价值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可编辑项目与蓝图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现有作品文件、保存重开、蓝图展开与插入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从起点改造，保存不同活动版本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运行与审阅能力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普通包运行轨迹、积木定位、受控候选差异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将修改理由与实际步骤对照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教师活动包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现阶段设计3作品、任务卡、配置和恢复说明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降低每次从空白准备的工作量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支持与用量记录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现阶段设计工时、模型额度、指导与复盘记录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优化交付范围和后续机构报价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8641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E5DD7-D5E4-4F3D-8FD4-7C6314F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135FD-B1CE-4351-9CC0-C2992C3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36 / 服务范围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5C946-E3D6-4CFA-8A27-73B207B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服务报价连接教学规模、交付资产与支持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61393-D5EC-4122-B3D4-4E2D25D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真实场景阶段的服务范围样例，正式报价按实际交付和用量核定。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EFEF4-9C71-4212-B422-DE8E505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54F40-FE5D-4165-89D2-B66C6324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37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A03D-EEBB-4838-A670-2523907C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C83C5-D577-478F-883F-9628A19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51818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05100"/>
                <a:gridCol w="5049520"/>
                <a:gridCol w="306578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设计样例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80小时交付分配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教学活动与作品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1班30名学生；6次活动；3个可编辑作品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作品准备24小时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教师培训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2次培训；活动引导与调试解释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培训16小时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设备与配置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30台Windows设备检查；模型与权限准备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配置16小时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支持与复盘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8周支持；重开检查、作品修订与一次复盘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支持复盘24小时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E41C2-E43C-4904-A684-7D541E44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教学服务按交付范围报价；组织后台与AI算力分别签约和核算。</a:t>
            </a:r>
          </a:p>
        </p:txBody>
      </p:sp>
    </p:spTree>
    <p:extLst>
      <p:ext uri="{BB962C8B-B14F-4D97-AF65-F5344CB8AC3E}">
        <p14:creationId xmlns:p14="http://schemas.microsoft.com/office/powerpoint/2010/main" val="4256222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5BFE2-3C33-47D9-A5C1-498570B5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58968-9EAE-49D7-AED0-59FE95E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37 / 成本依据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0EE5-1558-4165-A1F3-B260487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短任务用量与专业Agent月成本分别测算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D8BB-56E3-4590-AE0A-ED910B15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保留2026-10-03预算快照，历史调用样本与供应商参照分别列示。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DDCF1-9124-4625-A631-AADF827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115E0-C8D8-4E71-97C6-235A3DE7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38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88030-B678-4442-AD9D-88FD78CE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DB9BB-FBC7-486D-B3EB-2F2BD301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74840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5280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40355"/>
                <a:gridCol w="4598670"/>
                <a:gridCol w="338137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原预算采用的数据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用于什么判断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项目短任务样本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10个有回执任务，30响应；平均8,258 Token/任务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估算短任务输入与输出，缓存拆分另核对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DeepSeek价格快照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10月3日Pro峰时未命中输入9、输出27元/百万Token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历史预算重定价，正式采购时重新核价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 Code使用参照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10月3日读取：150–250美元/月，活跃日均约13美元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专业云创作与研发参照，不是Blocky用户实测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7247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使用负荷与汇率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频次、人头为情景输入；历史汇率6.7351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不同强度汇总为人民币人月预算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FAD62-BA9B-4FE3-A3BD-6C430DC4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专业档采用公开统计作资源参照，小学课堂费用后续按真实调用与账单校准。</a:t>
            </a:r>
          </a:p>
        </p:txBody>
      </p:sp>
    </p:spTree>
    <p:extLst>
      <p:ext uri="{BB962C8B-B14F-4D97-AF65-F5344CB8AC3E}">
        <p14:creationId xmlns:p14="http://schemas.microsoft.com/office/powerpoint/2010/main" val="79318549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97EDD-A047-4C9E-89B5-F12AA63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7155B-F348-4ABF-8F65-35443020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38 / 按人头算力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934FB-5420-423E-937C-F8E00F8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按任务强度与专业使用，汇总条件算力预算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96DA4-49CB-4C8A-BEFD-3E8A6674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产品准备关口后启用场景容量，短任务参考与专业档分别预算。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468BA-F90A-4D08-A219-813D50E4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0F49-3621-4A21-93B9-E99B0AA9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39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F4F13-7849-402C-9251-7275D06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11BD9-1602-48BE-BBEF-C335D14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97863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54050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44420"/>
                <a:gridCol w="1893570"/>
                <a:gridCol w="1623060"/>
                <a:gridCol w="2254250"/>
                <a:gridCol w="270510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云算力用户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期末条件容量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累计人月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参考月成本（元）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24月成本（万元）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学生（短任务参考）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2,700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0.914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教师（短任务参考）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20.32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7071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专业创作者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2,250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1347.02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303.079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384E6-EE7E-406A-AE73-47DA4ED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93208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304.603万元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1815D-FF4A-4196-A6E9-F790237D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102352"/>
            <a:ext cx="685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外部用户算力采购合计；研发工具与内部算力另列17.336万元。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9EDF4-1929-4A4D-B9CA-BA8604D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080760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学生40次、教师240次短任务/月为情景输入；专业档按200美元/月作资源参照。</a:t>
            </a:r>
          </a:p>
        </p:txBody>
      </p:sp>
    </p:spTree>
    <p:extLst>
      <p:ext uri="{BB962C8B-B14F-4D97-AF65-F5344CB8AC3E}">
        <p14:creationId xmlns:p14="http://schemas.microsoft.com/office/powerpoint/2010/main" val="1944943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48D13-3A4C-443B-ABE3-DBD660D3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779D3-4A0B-416C-AC47-BE408E6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39 / 持续发展资金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51B0A-7DA5-4C66-B337-756740C3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24个月资金覆盖研发与后续条件场景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239A5-9DF8-4173-8A13-F893B5B2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基准覆盖预算：收入及自有投入确认后抵减；人力3→4等效资源，综合人月2万元。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69DE2-0CC4-45AE-8933-380CEE68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D906D-E369-48E6-A04E-2A288956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40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B0DD3-6B2E-439F-9732-5197E70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E1109-F254-42B4-879A-5D692DBC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20885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25374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832225"/>
                <a:gridCol w="1803400"/>
                <a:gridCol w="5184775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资金用途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覆盖范围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人力、研发工具与专项交付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212.336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研发、教研与运营等效资源；跨端和应用交付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基础设施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16.200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账户、组织后台、存储与运行监测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外部用户算力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304.603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产品准备关口后，按不同任务强度启用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教学、社区与一般运营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32.100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活动与材料、共创推广、行政与合规支持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测试设备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桌面与移动端设备购置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现金储备、预留与取整余量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326.761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正常运营储备、风险预留、厂商合作预留及余量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9AF24-00F3-4D0F-92E3-EDFE44A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649224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最低追加需求 866.443万元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91E87-C226-4DCD-BAA7-BF626964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815584"/>
            <a:ext cx="406908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资金规划目标 900.000万元</a:t>
            </a:r>
          </a:p>
        </p:txBody>
      </p:sp>
    </p:spTree>
    <p:extLst>
      <p:ext uri="{BB962C8B-B14F-4D97-AF65-F5344CB8AC3E}">
        <p14:creationId xmlns:p14="http://schemas.microsoft.com/office/powerpoint/2010/main" val="84556062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8B001-CB46-4A85-9DF0-D688A9A1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80BAA-8051-417C-BD8D-4683AEEE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40 / 投入与里程碑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99105-7DA3-4CC3-90B9-EA84336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资金按研发关口投入，再支持真实场景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29966-4B60-4F8E-8576-09F920F5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月份是资源排期假设，产品准备与实际使用条件决定后续支取。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7E673-79E0-4922-A600-E7E68636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E8BD2-C50B-4C69-83EF-05CD5B99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41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055F5-D9A4-438A-B3BB-B968F7C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893E6-89A8-416B-A604-A91962F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43907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AA40C-7256-49CF-A177-C52A4E14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6EF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9891E-8CE2-443F-9D81-C676C02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BE654-2D07-48AC-A657-9E02BF21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第1至6月：创作产品完善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E28EA-BFCA-4308-B1FD-2CF21013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53.767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50732-C4E4-4767-B653-BE9BD60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完善四蓝图体验、共享接口与发布准备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6B15D-F630-4271-924D-9BFA8F5B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5EC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81B51-D4FC-4847-9138-9641C02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4DEF9-9171-4368-9B45-6ED16BD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第7至18月：场景配套研发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B2FDD-48CA-43A9-A1D5-5955A54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9E6527"/>
                </a:solidFill>
                <a:latin typeface="Microsoft YaHei"/>
                <a:ea typeface="Microsoft YaHei"/>
                <a:cs typeface="Microsoft YaHei"/>
              </a:rPr>
              <a:t>142.646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0931A-4111-4062-974E-8AA4012E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教育组织、专业部署、社区与目标端能力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057B0-CFDE-4213-9B7B-46DAF83E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344805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834D6-E05C-4C96-A841-384054C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622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52D5D-7AB5-4DE1-8668-3C9995B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62325"/>
            <a:ext cx="2990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第19至24月：条件场景预算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67DBC-F584-4BFE-B806-F37F3A7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767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376.826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5FD66-843E-4FF4-ADDD-BC6C6F0C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910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万元  ·  准备关口通过后采集使用、复用、账单与付款反馈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E2FDE-22F7-4988-A911-4F9E528B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8577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12A2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E96FC-FB91-492A-9CE7-5B01126E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储备与预留 326.761万元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C62A0-0A14-4458-94EC-115D1066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876925"/>
            <a:ext cx="6067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FEB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FEBDC"/>
                </a:solidFill>
                <a:latin typeface="Microsoft YaHei"/>
                <a:ea typeface="Microsoft YaHei"/>
                <a:cs typeface="Microsoft YaHei"/>
              </a:rPr>
              <a:t>保障持续研发与条件用量，随实际进展滚动更新</a:t>
            </a:r>
          </a:p>
        </p:txBody>
      </p:sp>
    </p:spTree>
    <p:extLst>
      <p:ext uri="{BB962C8B-B14F-4D97-AF65-F5344CB8AC3E}">
        <p14:creationId xmlns:p14="http://schemas.microsoft.com/office/powerpoint/2010/main" val="8575626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FDAF2-5CB9-4277-B70F-874352B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2D1BF-57E4-47AB-96FA-6822B917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41 / 厂商合作与结算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CBB99-E4B7-449A-9E18-3084551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把合作费用、预付额度和保证金分开管理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D58D4-E7FC-40EB-A49F-E35E829C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预算先预留合作现金30万元；取得厂商条款后，按具体用途更新。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50C45-3284-4F21-A176-76FB9296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4ACA6-DEB3-4561-8262-0C7CA634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42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8C16E-F901-4F80-8375-99C8FFB1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ED066-04E2-4335-A2D9-0792B8A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66929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67766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795270"/>
                <a:gridCol w="3651885"/>
                <a:gridCol w="437324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合作项目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现金如何占用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费用与资产如何记录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不可退还的合作费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按合同约定时间支付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计入费用，并占用合作预留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可消费的预付算力额度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充值时先支付现金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留作额度资产，消耗后抵扣采购成本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74650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可退还的保证金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签约时支付，按条件收回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单列保证金资产，跟踪返还时间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08DD2-70E9-4605-94F9-0D0B85B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按合同输入金额与时间，分别追踪充值、消耗与保证金返还。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481B7-8823-44E7-9D7A-49994C08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组织额度池、个人订阅与加量，随实际用量和回款更新预算。</a:t>
            </a:r>
          </a:p>
        </p:txBody>
      </p:sp>
    </p:spTree>
    <p:extLst>
      <p:ext uri="{BB962C8B-B14F-4D97-AF65-F5344CB8AC3E}">
        <p14:creationId xmlns:p14="http://schemas.microsoft.com/office/powerpoint/2010/main" val="88080804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E2391-57F0-4077-B5C0-7C3C1D95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56D7C-D045-4744-BF7C-92FABA6B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42 / 订阅回款与资金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565C3-6E08-4B70-8BAA-833581D5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用回款与合作条款，校准资金计划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FD301-945F-4CFF-B2CA-D0E7655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单位：万元。原预算敏感性保留；官网套餐拟案尚未纳入收入预测。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98F2-E81B-4000-BD10-3DD1C51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8F52C-E925-429D-8566-DAA06A2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43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C32BE-709A-4F85-A9D2-A3F063F8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59A14-3AAD-4865-9F74-860B6EB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989951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07086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770880"/>
                <a:gridCol w="2524760"/>
                <a:gridCol w="252476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调整条件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最低追加需求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资金目标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基准覆盖预算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866.443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算力成本回收80%，当月收款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460.338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成本回收80%，延迟2个月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568.619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不可退合作费100万元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936.443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1E5B2-CE06-4913-A884-2ED7F516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2356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回款改变的是现金占用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7EDF1-8F15-4149-ADDD-B46F8B9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23560"/>
            <a:ext cx="59436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按实际采购、订阅收款与账期持续更新</a:t>
            </a:r>
          </a:p>
        </p:txBody>
      </p:sp>
    </p:spTree>
    <p:extLst>
      <p:ext uri="{BB962C8B-B14F-4D97-AF65-F5344CB8AC3E}">
        <p14:creationId xmlns:p14="http://schemas.microsoft.com/office/powerpoint/2010/main" val="10761634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EC0CC-8057-4019-93A0-E9B748C3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9EB83-9CC9-41C5-BFB4-3BF3E091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43 / 资源与用量情景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F080B-7430-4CF1-BFA8-56D3213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按建设能力和用户规模，安排不同资金强度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6A266-7890-4DA2-A29A-F5BF4B2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24个月规划 · 各情景同时调整人力、用户规模与采购成本。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90905-E52B-4E70-9929-3EF487D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2C16C-2854-4CE9-B012-790D9AE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44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F843B-4D9E-4148-B60F-8190D25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5E1DD-D466-4245-9CBE-35BAB3F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12973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5A1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25496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99335"/>
                <a:gridCol w="2705100"/>
                <a:gridCol w="3381375"/>
                <a:gridCol w="2434590"/>
              </a:tblGrid>
              <a:tr h="419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资源情景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期末条件容量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24月现金支出（万元）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465A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资金目标（万元）</a:t>
                      </a:r>
                    </a:p>
                  </a:txBody>
                  <a:tcPr marL="133350" marR="133350" marT="38100" marB="38100" anchor="ctr">
                    <a:solidFill>
                      <a:srgbClr val="E7EDDF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精简推进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464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259.991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基准建设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1,160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573.239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900.000</a:t>
                      </a:r>
                    </a:p>
                  </a:txBody>
                  <a:tcPr marL="133350" marR="133350" marT="38100" marB="38100" anchor="ctr">
                    <a:solidFill>
                      <a:srgbClr val="F1F5EC"/>
                    </a:solidFill>
                  </a:tcPr>
                </a:tc>
              </a:tr>
              <a:tr h="7101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高用量压力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2,320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1936.505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3150.000</a:t>
                      </a:r>
                    </a:p>
                  </a:txBody>
                  <a:tcPr marL="133350" marR="1333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CAB02-D3B8-4053-86D2-29C52739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0235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精简推进：更小人力与云用户规模，按优先级交付。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C8387-B658-4A58-BB85-3DF61DF4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基准建设：覆盖教育后台、多端与App、社区的持续建设。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18B21-8942-4FD2-9DFD-3572AC8D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0448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高用量压力：更大云用户规模、更高人均成本与现金储备。</a:t>
            </a:r>
          </a:p>
        </p:txBody>
      </p:sp>
    </p:spTree>
    <p:extLst>
      <p:ext uri="{BB962C8B-B14F-4D97-AF65-F5344CB8AC3E}">
        <p14:creationId xmlns:p14="http://schemas.microsoft.com/office/powerpoint/2010/main" val="72733638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BC6555-C53C-451C-99E4-DEC35F5F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E7D76-666A-4F2F-BFAF-16C4DF8A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44 / 近期研发安排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BDB7D-2F31-418E-A390-AD12CCF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近期90天完善创作体验与场景配套准备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32537-10A4-425C-AFFE-4FC36A1B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从四蓝图与已开放官网出发，连接作品体验、公开发布和后续组织部署。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184E0-04EF-40B5-B2F5-957E82C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B922A-7855-4AC1-881C-00CC99E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45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CF210-0704-4ACE-B355-1BFE1FC5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3EC24-F96D-4BCB-8879-3EBAAD3A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35995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B6B1C-3605-4DFD-B4A3-7E17EB61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0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92882-6F14-4B4B-B6E9-5EE475F7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54D63-2D78-49EE-8BC5-57F220D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四蓝图与创作体验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C1E74-FCEB-4E8A-AD7A-7F2545CA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可展开作品、构建助手、差异撤销与运行示例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71ED1-0013-4DBE-A101-B0339F2B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保存、修改与继续创作流程可靠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724CF-6A7D-4EB1-A840-C351C258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534E3-0C44-4152-8E09-47B24C8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5A7A0-7570-40FE-8B54-65D7E55A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公开渠道与内容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1656A-E88C-44CF-A86A-1148D5E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官网、预设体验、源码与下载发布准备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74A85-0C00-4972-9226-DE295A4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入口、许可证、支持范围与发布版本明确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B6810-3985-4E63-A0D2-9668BFF1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7F0D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5D7E0-9989-41D1-B4D2-ED551E06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F977F-B9C5-41CE-B57D-200DFE5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教育与专业配套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D4693-BD1E-4A1E-93A7-48533D52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班级作业、团队部署与托管计费依赖清单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A5FB8-4C1D-483D-B445-E69E88E6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按模块能力和资源确定分批交付范围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F38BE-7F5F-491C-9BF9-AE5B4924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24125"/>
            <a:ext cx="2562225" cy="3448050"/>
          </a:xfrm>
          <a:prstGeom xmlns:a="http://schemas.openxmlformats.org/drawingml/2006/main" prst="roundRect">
            <a:avLst>
              <a:gd name="adj" fmla="val 8922"/>
            </a:avLst>
          </a:prstGeom>
          <a:solidFill xmlns:a="http://schemas.openxmlformats.org/drawingml/2006/main">
            <a:srgbClr val="E5ED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35745-DF77-4A01-B2D8-92A76868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465A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5BA8F-9EDD-471B-B23C-D97607E4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90900"/>
            <a:ext cx="2143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任务与用量采证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0A4AA-C894-458D-B281-C826FA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214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需求记录、历史调用与未来真实账单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AC4FC-D14C-45D4-B1CA-A9E0C06B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48250"/>
            <a:ext cx="214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继续推进：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就绪范围先验证，再更新资源与资金安排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7D309-E5E0-4374-8C67-1ED90BF8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1080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90天为可调整研发窗口；组织后台、计费与多端按实际依赖推进。</a:t>
            </a:r>
          </a:p>
        </p:txBody>
      </p:sp>
    </p:spTree>
    <p:extLst>
      <p:ext uri="{BB962C8B-B14F-4D97-AF65-F5344CB8AC3E}">
        <p14:creationId xmlns:p14="http://schemas.microsoft.com/office/powerpoint/2010/main" val="115427951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69485-080D-4B92-B953-F81FD036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2392B-A04B-4903-9893-AD81796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45 / 后续方向与来源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6035-2051-41C7-AC71-DB632B1B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把积木审阅的能力，延伸到更多协作场景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59AFE-E656-4E22-9108-8FACBBC1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0801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教育优先验证，专业创作共享底座；OPC为后续探索方向。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893EB-6893-419F-AE89-8F67FEC5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82692-1678-485C-A2DF-0AAB89F2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36B"/>
                </a:solidFill>
                <a:latin typeface="Microsoft YaHei"/>
                <a:ea typeface="Microsoft YaHei"/>
                <a:cs typeface="Microsoft YaHei"/>
              </a:rPr>
              <a:t>46 / 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5576D-C1C5-4E85-AD68-BA7BA94C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D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19385-520E-4F52-A5CC-71785983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59017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6E"/>
          </a:solidFill>
          <a:ln xmlns:a="http://schemas.openxmlformats.org/drawingml/2006/main" w="0">
            <a:noFill/>
          </a:ln>
        </p:spPr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3877056"/>
          <a:ext xmlns:a="http://schemas.openxmlformats.org/drawingml/2006/main" cx="10820400" cy="204749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426460"/>
                <a:gridCol w="4102735"/>
                <a:gridCol w="329120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来源组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支持的内容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7B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公开查阅入口</a:t>
                      </a:r>
                    </a:p>
                  </a:txBody>
                  <a:tcPr marL="133350" marR="133350" marT="76200" marB="57150" anchor="ctr">
                    <a:solidFill>
                      <a:srgbClr val="E7EDD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Blocky官网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四蓝图、两类场景、在线体验与定价咨询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blocky.donk55666.chatgpt.site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 / BBAI / Tynker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创作改编、AI积木与组织教学方案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原官方资料快照为2026-10-03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算力与资金模型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历史调用、专业资源参照及24个月条件预算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配套财务XLSX，不含新套餐收入</a:t>
                      </a:r>
                    </a:p>
                  </a:txBody>
                  <a:tcPr marL="133350" marR="133350" marT="76200" marB="5715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平台与应用路线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macOS、移动运行端与独立Agent App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E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后续规划，按实际发布版本开放</a:t>
                      </a:r>
                    </a:p>
                  </a:txBody>
                  <a:tcPr marL="133350" marR="133350" marT="76200" marB="57150" anchor="ctr">
                    <a:solidFill>
                      <a:srgbClr val="F1F5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85190-94D2-44EC-80F5-4FC65EB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95728"/>
            <a:ext cx="393192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B6E"/>
                </a:solidFill>
                <a:latin typeface="Microsoft YaHei"/>
                <a:ea typeface="Microsoft YaHei"/>
                <a:cs typeface="Microsoft YaHei"/>
              </a:rPr>
              <a:t>OPC（一人公司）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59BA7-7E89-4307-9C45-01CF7361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68296"/>
            <a:ext cx="6858000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审阅“Agent员工”的职责、流程和工具权限；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72E2B"/>
                </a:solidFill>
                <a:latin typeface="Microsoft YaHei"/>
                <a:ea typeface="Microsoft YaHei"/>
                <a:cs typeface="Microsoft YaHei"/>
              </a:rPr>
              <a:t>用运行轨迹核对实际步骤，再决定如何调整。</a:t>
            </a:r>
          </a:p>
        </p:txBody>
      </p:sp>
    </p:spTree>
    <p:extLst>
      <p:ext uri="{BB962C8B-B14F-4D97-AF65-F5344CB8AC3E}">
        <p14:creationId xmlns:p14="http://schemas.microsoft.com/office/powerpoint/2010/main" val="124744455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1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D87DE-53EF-412F-9643-2629E41B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E9762-5959-4FCB-BC09-8C75896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46 / 研发与合作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51848-599F-43AD-B459-6F70D827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542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BLOCKY  /  积木 AI 创作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DA699-34BF-46EC-BA0A-7FF3B09C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77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8C1B3"/>
                </a:solidFill>
                <a:latin typeface="Microsoft YaHei"/>
                <a:ea typeface="Microsoft YaHei"/>
                <a:cs typeface="Microsoft YaHei"/>
              </a:rPr>
              <a:t>47 / 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0C42D-754C-4FD9-A8B9-1BCF58D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F126A-982D-4745-8A9C-CCCE597D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06FE-85F1-4997-B8DF-3E28AC2F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让创作结构可以读懂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2B53B-1192-42A3-937A-DDE055A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让实际运行可以解释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83940-AE19-4EC2-987B-E4EDA2EB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B5CB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CBBE"/>
                </a:solidFill>
                <a:latin typeface="Microsoft YaHei"/>
                <a:ea typeface="Microsoft YaHei"/>
                <a:cs typeface="Microsoft YaHei"/>
              </a:rPr>
              <a:t>从四类蓝图开始，连接教育与专业创作。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855C4-2908-4D73-B584-0537602D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68424-055B-4E92-9C57-BD0D917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产品与能力共建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FB909-7A3D-4EB1-BF75-EA9E6333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四蓝图、共享接口与目标端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可靠创作起点与可使用应用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AD30D-453F-483C-B97E-B320E88C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C3198-8B9D-4C67-8AD3-BEE3D14C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资源与资金支持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6FC39-6581-4C3B-97BF-1F997E4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按能力关口投入，持续研发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支持产品准备后的条件场景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1E7C1-9318-4F9E-A40F-1CE37BE8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62400"/>
            <a:ext cx="3448050" cy="1743075"/>
          </a:xfrm>
          <a:prstGeom xmlns:a="http://schemas.openxmlformats.org/drawingml/2006/main" prst="roundRect">
            <a:avLst>
              <a:gd name="adj" fmla="val 12022"/>
            </a:avLst>
          </a:prstGeom>
          <a:solidFill xmlns:a="http://schemas.openxmlformats.org/drawingml/2006/main">
            <a:srgbClr val="233E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CF54D-FDAB-42BB-8F64-98D81109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rPr>
              <a:t>后续场景合作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E349F-59F0-48FC-B4D8-09C8222E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58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产品准备后组织场景合作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2"/>
                </a:solidFill>
                <a:latin typeface="Microsoft YaHei"/>
                <a:ea typeface="Microsoft YaHei"/>
                <a:cs typeface="Microsoft YaHei"/>
              </a:rPr>
              <a:t>作品、复用、用量与采购反馈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D70C8-8180-4B5A-AB72-D1A32A6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F07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8fa33ada1148f3"/>
              </a:rPr>
              <a:t>blocky.donk55666.chatgpt.site</a:t>
            </a:r>
          </a:p>
        </p:txBody>
      </p:sp>
    </p:spTree>
    <p:extLst>
      <p:ext uri="{BB962C8B-B14F-4D97-AF65-F5344CB8AC3E}">
        <p14:creationId xmlns:p14="http://schemas.microsoft.com/office/powerpoint/2010/main" val="1029415527"/>
      </p:ext>
    </p:extLst>
  </p:cSld>
</p:sld>
</file>

<file path=ppt/theme/theme1.xml><?xml version="1.0" encoding="utf-8"?>
<a:theme xmlns:a="http://schemas.openxmlformats.org/drawingml/2006/main" name="ChatGPT">
  <a:themeElements>
    <a:clrScheme name="Blocky Editorial">
      <a:dk1>
        <a:srgbClr val="112A26"/>
      </a:dk1>
      <a:lt1>
        <a:srgbClr val="FFFFFF"/>
      </a:lt1>
      <a:dk2>
        <a:srgbClr val="172E2B"/>
      </a:dk2>
      <a:lt2>
        <a:srgbClr val="F8FAF2"/>
      </a:lt2>
      <a:accent1>
        <a:srgbClr val="087B6E"/>
      </a:accent1>
      <a:accent2>
        <a:srgbClr val="D9F07A"/>
      </a:accent2>
      <a:accent3>
        <a:srgbClr val="9E6527"/>
      </a:accent3>
      <a:accent4>
        <a:srgbClr val="3465A1"/>
      </a:accent4>
      <a:accent5>
        <a:srgbClr val="7963A3"/>
      </a:accent5>
      <a:accent6>
        <a:srgbClr val="90B95E"/>
      </a:accent6>
      <a:hlink>
        <a:srgbClr val="D9F07A"/>
      </a:hlink>
      <a:folHlink>
        <a:srgbClr val="D9F07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ocky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2026-10-05T16:30:41.4130000Z</dcterms:created>
  <dcterms:modified xsi:type="dcterms:W3CDTF">2026-10-05T16:30:41.4130000Z</dcterms:modified>
</coreProperties>
</file>
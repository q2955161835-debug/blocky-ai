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讲述时间参考10秒。
Blocky是正在持续开发的积木式Agent创作工具。入门面向小学生，参照Scratch通过作品学习，让孩子读懂、改造、搭建并解释智能体。当前展示Windows核心创作阶段成果，下一阶段先完善六个专业Agent模板及后续产品开发，达到准备关口后进入真实场景。插画是概念图，当前能力以真实工作台为依据。
转场：Agent成为孩子可以设计的创作对象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这是项目要验证的研发命题，教育价值由产品能力和后续真实场景共同验证。Scratch是创作学习方式参照，Agent部件引入模型、记忆和工具。当前工程成果为结构表达、修改审阅和运行映射提供基础，下一阶段先完成专业模板和后续产品开发。
转场：专业模板与后续开发先行，真实场景随后进入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项目当前处于研发阶段，下一阶段先完善Pi、Codex、OpenClaw、Hermes、OpenCode和DeepSeek Harness六模板，再继续后续产品开发。模板提供可靠项目起点，后续开发补齐创作、组织、部署和目标端配套。产品准备关口通过后进入课堂、机构与专业创作场景，记录实际使用与成本。
转场：一个工作台承接作品、运行与修改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讲述时间参考20秒。
图来自已交付0.8.0-chat普通包，合成水循环资料作品。左侧选择部件，中间保存编辑结构，右侧在构建助手与作品Agent间切换，底部有问题、日志和输出。此页介绍产品全貌，不将这个资料作品当作故事课程或真实学生作品。
转场：开源底座之上，连接作品语义与实际运行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Blockly、Tauri和Pi提供开源组件基础，Blocky围绕项目格式、语义编译、运行映射、Host隔离和受控修改组织产品。界面、CLI和构建助手共用领域能力。持续研发将这些工程资产发展为可改造模板、入门任务和可交付应用。
转场：角色、模型、记忆和工具，成为可改造部件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这些部件属于现有领域和运行能力。入门活动先用少量积木，教师预选模型、资料和权限，逐步增加记忆或工具。地图解释学生动作与观察点，不能当作全部小学教学活动已运行。专业能力和入门任务视图共用项目格式。
转场：从代码审阅，到积木审阅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关键价值是非专业用户可以审阅Agent行为。作品结构显示设计，候选差异支持审阅修改，运行事件把实际步骤带回积木。轨迹不展示模型内部推理，也不保证模型内容正确，师生需要结合任务和资料核对。OPC后续方向在发展章节简述，小学学习保持主线。
转场：从准备资料到运行作品，保留可回查过程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画面展示Blocky构建助手处理合成水循环资料并生成学习卡。它读取资料、写入文件并展示修改差异，已有模型记录为息壤deepseek-v4-pro三次响应共7717Token。后续本地故事规则对照单独展示结构改造，课堂故事生成则属于未来教学设计。
转场：下一阶段完善六个可展开的专业Agent模板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首批六个专业模板分别锁定版本并推进兼容。每个模板是普通Blocky项目起点，可以展开、修改和继续组合；每项保留自身的映射、行为和恢复依据。现有Pi构建助手承担辅助创作，Pi兼容模板承担框架结构与行为投影，分别推进。
转场：每个专业模板都有独立的兼容依据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每个模板按来源、结构、配置、行为、权限与升级形成完整兼容依据。通用能力映射为共享积木，特殊能力保留在可定位的原生区域。分批完成可靠模板，形成后续创作与升级可复用的资产。
转场：专业模板完善共享语言，支撑后续创作产品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专业模板的价值是检验共享语言、执行行为与扩展边界，然后支撑小学任务投影和后续使用。模板不是把专业工具完整界面搬给孩子。长期积累来自项目、兼容与运行规范，教育任务再选择少量可理解能力。
转场：六模板完善后，继续推进完整产品开发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当前Windows阶段已有作品语言、领域CLI、构建助手、运行轨迹及页面生成能力。下一阶段先推进专业模板，随后完善积木与文本互转、官方Skills插件、教育组织、部署运行、社区和多端。Agent App路线把作品与页面进一步组合为独立应用，需要运行内核、权限、平台配套和分发能力。
转场：从少量积木起步，再展开更多能力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七类入门任务投影为开始、角色、会思考、会查找、会记住、会行动、会回答，专业视图十二类Agent语义，但使用相同项目格式。教学活动先约束可用部件，再逐步解释复杂能力。这不是已经做过小学易用性测试的结论。
转场：桌面完成创作，移动端延续作品使用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当前产品证据是Windows。完整计划要求macOS同等搭建能力，Android、iOS和HarmonyOS定位运行已搭建的Agent，不把移动端写成完整积木编辑器。Android/iOS可参考Tauri能力，HarmonyOS沿用ArkTS/ArkUI原生壳及共享协议路线。平台能力协商决定本地或经授权远端执行；模型连接、文件与工具权限、签名分发和真机测试分别实现。Pake桌面封装不证明移动适配已完成。
转场：把Agent页面与积木作品，生成独立应用
公开来源，2026-10-03核对：
https://v2.tauri.app/start/
https://v2.tauri.app/distribute/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学生可先搭建故事搭档，再给它输入和结果页面，目标是生成可以独立使用的故事伙伴App。这是产品规划，当前已有页面生成和预览不等于一键独立App。Pake基于Tauri并提供桌面网页或本地前端封装，Blocky仍需集成运行内核、资源、桥接和权限；Tauri定制壳是另一二次开发路径。生成应用不默认包含商店上架，各平台分发独立完成。
转场：可靠作品与产品配套完成后，进入真实场景
公开来源，2026-10-03核对：
https://github.com/tw93/Pake
https://v2.tauri.app/start/
https://v2.tauri.app/distribute/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准备关口把模板研发、后续产品建设与真实使用连接起来。不同目标端和交付范围各自具备可用能力，随后组织相应课堂、机构或专业创作任务。资源月份随研发进展更新，使用反馈再支持后续投入。
转场：把 AI 想法做成可修改、可解释的作品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讲述时间参考20秒。
这里是由官方学习资源、教育方向和当前工具能力形成的教学设计问题，不是已做访谈后的需求比例。教育部2024年分学段方向支持感知体验、理解应用及任务和项目实践。孩子能否独立完成、教师采用理由将在共创中记录。
转场：参照 Scratch，在读、改、搭、讲中学习 Agent
公开来源，2026-10-03核对：
https://www.moe.gov.cn/jyb_xwfb/gzdt_gzdt/s5987/202412/t20241202_1165500.html
https://scratchfoundation.org/learn/learning-library/getting-started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讲述时间参考20秒。
Scratch提供起始作品、编辑器教程、改编与调试资源。Blocky借鉴的是创作方式。Agent作品中，模型按任务生成、记忆提供跨轮上下文、工具执行具体动作；学生在作品中理解这些部件。小学适用性与效果不能由Scratch参照直接推断。
转场：先读懂故事搭档，再预测它怎样回应
公开来源，2026-10-03核对：
https://scratchfoundation.org/learn/learning-library/getting-started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故事搭档是一项未来教学设计：输入勇敢小猫，由条件选择方向，再把方向、友善角色和三句并提问的任务交给教师预选模型。孩子先预测路线，再检查实际回应。下一页用已运行的本地规则对照说明一次改动如何改变步骤，完整故事活动在产品准备之后实施。
转场：只改一处，对照结构、步骤和结果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讲述时间参考30秒。
本地规则两次执行分别经过forest与garden。输入保持不变，只把条件从勇敢改成友善，得到不同路线和短方向输出。孩子指出改变的位置，解释步骤为什么改变，再换一个输入检验；后续可用同样方法比较真实模型回应。
转场：换一个目标，组合自己的海底向导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讲述时间参考30秒。
这是不同于故事搭档的新目标，要求孩子自主决定角色、输入和任务。每次增加一种能力。记忆把本次方向保存下轮使用，工具可以统计文本，知识部件可提供教师选择的资料。教师负责模型和工具权限。这里是迁移任务设计，不是学生已完成的课堂证据。
转场：一次增加一种能力，解释它带来的变化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能力按学习任务逐步加入。模型负责生成回应，记忆保留后续需要的信息，资料为任务提供上下文，工具完成具体动作。每一步保存输入、结构、实际结果和孩子的解释，教师准备对应模型、资料与工具权限。
转场：用运行轨迹定位步骤，再回到作品修改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讲述时间参考30秒。
两个局部来自同次真实普通包运行。黄色虚线是编辑选中状态，运行事件可定位具体积木。它证明轨迹与作品对应能力，截图不是故事搭档。孩子先预测，再找实际步骤，定位修改后重新运行并讲解。
转场：作品、过程和帮助程度共同说明学习进展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表中的四个任务可以各自使用0到3的帮助等级，不是一行任务只对应一种等级。用匿名编号、作品版本、输入输出和口述解释记录，迁移任务与练习题分开。目标完成比例需连同样本、课时和帮助等级解读；不是课堂效果实验。
转场：用作品包组织课前、课中和课后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教师先准备可运行原作品并明确权限，学生保存自己的副本。课中通过预测、单一改动、迁移任务和解释观察学习。课后收集项目文件与记录，用它准备下一次活动。组织后台与评价辅助按后续建设规划推进；此页给出使用现有项目保存、蓝图与轨迹的人工组织方案，不把课程包当已售成果。
转场：先保存原作品，再组织学生副本与复盘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这里用项目文件与保存重开组织课程，不承诺自动班级账户、云分发或自动评分。原作品与学生副本保留版本，资源和模型密钥不放进作品文件。支持服务可以提供重开检查和恢复说明。课程指南属于服务设计。
转场：围绕创作对象、可改部件和过程解释比较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Scratch提供作品创作学习参照，Blocks Builder AI提供可视化AI和组织教学方案参照。比较围绕同一教学任务进行：创作什么、可以修改哪些部件、怎样查看运行过程、教师怎样组织。Blocky重点连接结构审阅、修改审阅与运行事件映射，后续教师活动进一步核对适配价值。
转场：对照同一个教学任务，依据官方公开信息
公开来源，2026-10-03核对：
https://scratchfoundation.org/learn/learning-library/getting-started
https://scratchfoundation.org/learn/learning-library/teacher-accounts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竞争比较在同一任务中进行，后续教师共创记录准备成本、阅读理解、调试解释与复用。官网声明不等于竞品实测，Blocky小学效果不能由工程能力推出。Tynker课堂30学生许可证只是示例，学校Premium按人数与需求定制。组织方案参照是建设方向，非当前后台交付。
转场：学生使用，教师组织，机构决定合作
公开来源，2026-10-03核对：
https://scratchfoundation.org/learn/learning-library/getting-started
https://scratchfoundation.org/learn/learning-library/teacher-accounts
https://blocksbuilder.ai/features
https://blocksbuilder.ai/pricing
https://www.tynker.com/school/coding-curriculum/request
https://www.tynker.com/classroom-school/coding-curriculum/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使用者、组织者与采购方分开。首批不以全国学校数量当市场规模；先筛有设备、组织者和具体活动的小学或机构。公开交流从教学任务和作品开始，再与预算负责人界定人工服务和模型成本。这是客户进入计划，不是已经签约名单。
转场：产品准备完成后，进入教师与机构真实使用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产品准备完成后，先找到明确教学任务，再共同开展活动，最后形成适配与采购范围。20次有效接触、8次深入演示和4份交付合同是可调整的条件漏斗，不绑定特定年份。每一步留下任务、使用、教师复用与支付条件的记录，按实际反馈决定是否扩展。
转场：个人版开源，组织与算力分别收费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商业方向分为个人开源客户端、组织后台与教育方案、独立算力服务及额外支持。个人完整创作能力免费开放，源码、许可证与社区按产品路线发布。组织按管理、部署和支持范围定价，算力按实际模型用量核算；现有模型连接支持自带API账户。
转场：组织付费，承接教学管理与后台配置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讲述时间参考20秒。
BBAI官网教育方案列师生账户、课堂管理、进度分析、课程支持与优先支持；Tynker学校方案列管理、自动评分和教师发展，Premium按学生数和学校需求报价；其课堂课程页面另有30学生许可证示例，不能将所有学校固定为30人。Blocky借鉴采购结构，不照搬价格或宣称后台已可购买。Agent作品的评价规划先用明确规则检查、过程记录与教师复核，不能把自动评分等同模型答案正确或学习提升。报价按学生规模、管理、部署和支持范围，与算力分开。
转场：以开放创作，积累作品和扩展生态
公开来源，2026-10-03核对：
https://blocksbuilder.ai/pricing
https://www.tynker.com/school/coding-curriculum/request
https://www.tynker.com/classroom-school/coding-curriculum/
https://www.tynker.com/school/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讲述时间参考20秒。
个人版完全开源与社区建设沿产品路线推进。贡献入口承接可复现作品、蓝图、积木包、教学资料和改进建议，第三方资源保留来源、版本与权限说明。社区复用推动产品与课程积累，组织托管和云算力提供独立的持续服务。
转场：让产品能力沉淀为可重复使用的教学资产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这里介绍项目可核对成果和复用资产。后两行是服务建设规划，不是已完成课程资产。复用可能减少工时，但财务未预先计入未经实测的节省；应比较初次制作和第二次复用的实际工时。
转场：服务报价连接教学规模、交付资产与支持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样例范围为1班30名学生、6次活动与3个可编辑作品，配置、准备、培训和支持合计80小时。它用于说明教学服务如何按范围组织。真实场景准备完成后，以实际活动、设备、支持工作量形成报价，组织后台与模型算力分别核算，机构可使用自有API账户。
转场：短任务用量与专业Agent月成本分别测算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项目样本仅覆盖十个可读回执任务，输入76845、输出5738，平均三响应。短任务不能推导完整六模板便宜。DeepSeek中文当前价格用于缓存未命中敏感性重定价，不等于息壤实际采购账单。Claude公开统计是企业开发者，不套用于小学生，也不是Blocky用户实测。专业月中点200美元和任务频次均作为规划输入，官方汇率参考2026-09-30。
转场：按任务强度与专业使用，汇总条件算力预算
公开来源，2026-10-03核对：
https://api-docs.deepseek.com/zh-cn/quick_start/pricing/
https://code.claude.com/docs/en/costs
https://www.chinamoney.com.cn/chinese/index.html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讲述时间参考35秒。
人数是产品准备后条件容量，月序19为排期假设。短任务参考和专业档公开统计分别使用；人均月预算不是套餐售价或真实课堂费用。专业中点200美元按参考汇率换算，研发预算另列。实际模型、Token、缓存、重试和合同须按账单校准。
转场：24个月资金覆盖研发与后续条件场景
公开来源，2026-10-03核对：
https://api-docs.deepseek.com/zh-cn/quick_start/pricing/
https://code.claude.com/docs/en/costs
https://www.chinamoney.com.cn/chinese/index.html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讲述时间参考40秒。
基准现金支出573.239万元，最低追加866.443万元，取整规划900.000万元。等效资源前6月3、后18月4，综合人月2万元，非团队履历。研发内部与场景算力分开；产品准备关口后才启用场景容量。收入与自有资金未知，默认不抵减。现金储备、预留和设备资产均不重复费用。
转场：资金按研发关口投入，再支持真实场景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阶段现金直接取自重算工作簿，不能把预算月份当作功能上线日期。六模板分批完成，不承诺第6月全部通过。后续完整产品开发按自身关口，真实场景预算须在准备条件成立后启用；关口延期则重排用量和月份。储备未提前确认为费用，全部资金为规划需求，不是已到账或估值。
转场：把合作费用、预付额度和保证金分开管理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讲述时间参考35秒。
30万元只是现金预算判断，不是大模型厂商的报价。非退合作费、可消费额度预付与可退保证金当前输入0表示未录入条款，不表示厂商免费。已发生的非退费用以及期末占用的保证金、未消耗额度占用预留余额，预留余额最低为0。预付额度在消耗时抵扣模型采购现金，不能把充值和后续被抵扣的消耗再收两遍；保证金不进入损益。基准暂不假定返还到账，签约后按实际条款增加返还时点。
转场：用回款与合作条款，校准资金计划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讲述时间参考40秒。
条件金额读取新工作簿。80%仅为算力成本的回收比例，不是售价、转化率或利润率。延迟收款增加现金占用；合作费与原现金预留不双算，预付消耗与保证金按资产分别处理。所有条件均非实际合同。
转场：按建设能力和用户规模，安排不同资金强度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讲述时间参考35秒。
三个资源情景同时改变等效人力、条件用户容量、用量成本及现金储备。专业基准来自公开使用统计中点，精简75%对应150美元月参考，高用量2.5倍为独立压力参数。场景关口与容量均不代表已经采用、付费或上线。
转场：近期90天推进模板闭环与后续开发准备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近期90天围绕来源锁定、逐项映射与优先模板完整闭环推进，并拆分后续开发依赖。六模板按实际范围分批完善。产品准备完成后，再进入小学、机构或专业创作场景，用真实使用与费用反馈更新下一阶段。
转场：把积木审阅的能力，延伸到更多协作场景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积木审阅、修改与运行解释也为后续OPC协作提供探索方向，当前以小学创作和产品研发优先。算力机制分别参考WorkBuddy积分与加量、Cursor订阅额度与按量、TRAE用量余额、OpenCode Zen按量及BYOK；具体产品定价以实际采购、用量与组织需求制定。
转场：支持产品研发，连接后续真实创作场景
公开来源，2026-10-03核对：
https://scratchfoundation.org/learn/learning-library/getting-started
https://scratchfoundation.org/learn/learning-library/teacher-accounts
https://blocksbuilder.ai/features
https://blocksbuilder.ai/pricing
https://www.tynker.com/school/coding-curriculum/request
https://www.tynker.com/classroom-school/coding-curriculum/
https://www.moe.gov.cn/jyb_xwfb/gzdt_gzdt/s5987/202412/t20241202_1165500.html
https://www.workbuddy.cn/docs/workbuddy/Pricing
https://cursor.com/pricing
https://www.trae.ai/pricing
https://opencode.ai/docs/zen/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讲述时间参考25秒。
合作诉求首先支持产品研发、兼容共建与阶段资源投入，形成可靠的模板、共享接口和目标端能力。准备完成后，连接教师、机构与专业创作者的实际使用。开源作品与社区积累复用资产，组织后台、算力和支持服务承接持续建设。
结束：产品研发与后续场景合作。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息壤杯 · 高校赛区 · 项目答辩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小学创作学习概念插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057400"/>
            <a:ext cx="69037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2441448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让孩子用积木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创作自己的 AI 智能体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03504" y="4206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产品研发阶段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读懂 · 改造 · 搭建 · 解释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03504" y="57058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TB快重置就队  |  2026年10月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24160" y="6053328"/>
            <a:ext cx="1143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概念插画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研发命题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Agent成为孩子可以设计的创作对象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小学入门延续Scratch式作品创作，把角色、任务与行动变成可修改的结构。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4297680"/>
                <a:gridCol w="4251960"/>
              </a:tblGrid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研发问题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产品方法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形成的学习任务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怎样读懂Agent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角色、任务、模型、记忆与工具以积木表达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指出部件，预测作品如何回应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怎样表达自己的设计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修改条件、任务或能力组合，保留项目差异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比较结果，说明自己为什么修改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怎样理解实际行为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运行事件对应具体积木，回到结构继续修订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解释实际步骤，再搭建新的目标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研发目标：让创作结构与实际运行共同支撑学生的设计、尝试和讲解。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研发阶段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专业模板与后续开发先行，真实场景随后进入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当前以产品研发为主线，按能力关口安排后续投入。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当前底座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Windows创作工作台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项目、运行与审阅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已形成阶段成果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15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下一阶段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015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六个专业Agent模板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逐项映射与兼容核对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015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按模板分批推进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后续开发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447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创作接口、组织部署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社区、多端与Agent App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形成可使用产品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879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真实场景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879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产品准备关口通过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再进入课堂与机构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879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采集采用和用量证据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产品全貌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一个工作台承接作品、运行与修改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当前阶段 · 真实 Windows 工作台与合成资料作品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真实Windows普通包工作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800100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1540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537192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积木与作品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37192" y="2615184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选择部件，组合角色和任务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1540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37192" y="3081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运行与轨迹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37192" y="3456432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查看回应，定位执行步骤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15400" y="3922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537192" y="3922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构建助手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37192" y="4297680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自然语言修改，审阅候选差异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15400" y="4764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537192" y="4764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项目保存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37192" y="513892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保存、重开、继续改造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技术与资产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开源底座之上，连接作品语义与实际运行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Blockly、Tauri与Pi提供底座；Blocky组织项目、运行映射与Host权限。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303520"/>
                <a:gridCol w="3429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层次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项目中的职责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对应产品价值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编辑与项目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嵌套Workspace、模块、稳定资源引用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保存同一作品，展开与修改蓝图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编译与运行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项目语义、IR、诊断、运行事件与来源映射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把设计结构对应到实际执行步骤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Host与工具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解析模型资源、控制文件和工具权限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Host保管模型密钥并授权工具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构建与CLI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候选差异、审阅应用、共享领域接口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自然语言改造可审；保存后继续运行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积累方向：可改造作品、课程活动与复用支持资产，技术能力与教学内容共同迭代。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能力地图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角色、模型、记忆和工具，成为可改造部件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同一项目格式，让孩子从少量部件开始，再逐步增加能力。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角色与任务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写下搭档角色与任务；检查回应要求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73552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22677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条件与逻辑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327648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改一个判断；比较输入相同的行动路线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7648" y="3273552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015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模型与上下文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31520" y="39227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选模型与材料；比较生成任务的变化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407408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34015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327648" y="39227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记录现阶段方向；让后续回应使用信息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7648" y="4407408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3542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知识与工具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31520" y="5056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选资料或登记动作；查看引用与工具结果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5541264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53542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运行轨迹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327648" y="5056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事件回到积木；解释并修订实际步骤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7648" y="5541264"/>
            <a:ext cx="51206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教学设计：每次增加一种能力，并说明它为作品解决什么问题。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积木审阅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从代码审阅，到积木审阅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把“我想让它做什么”，和“它实际做了什么”对应起来。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搭建时：结构可读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读角色、指令、条件和记忆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逐块解释能力组合的理由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与创作目标核对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159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159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执行前：修改可审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159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看资料、模型、工具与权限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预测步骤，检查配置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159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确认准备后运行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735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735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运行后：过程可解释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735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看具体事件、输出和差异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定位一块积木，修订并保存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735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用实际过程解释设计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产品依据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从准备资料到运行作品，保留可回查过程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真实构建助手画面 · 合成水循环资料作品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真实构建助手生成学习卡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76272"/>
            <a:ext cx="7772400" cy="388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0" y="2441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400032" y="2441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准备资料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400032" y="281635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合成资料与课程主题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78240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400032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构建与保存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00032" y="386791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真实文件差异与作品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78240" y="4544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400032" y="4544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运行与查看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400032" y="491947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输出、资料引用与事件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六专业模板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下一阶段完善六个可展开的专业Agent模板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Pi、Codex、OpenClaw、Hermes、OpenCode、DeepSeek Harness组成首批模板范围。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30552"/>
          <a:ext cx="109728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4251960"/>
                <a:gridCol w="4297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模板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进入Blocky的方式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研发产出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Pi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独立锁定来源与行为范围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普通Blocky项目起点与映射记录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Codex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独立核对配置、工具与扩展边界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可展开结构与行为对照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OpenClaw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按实际源码与版本建立映射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配置往返与权限边界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Hermes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按实际源码与版本建立映射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结构、执行与恢复记录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OpenCode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按实际源码与版本建立映射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工具与模型配置对照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DeepSeek Harness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按实际源码与版本建立映射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Agent循环及执行范围核对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每个模板分别开发与验证，保留可改造结构、来源和版本。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模板研发关口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每个专业模板都有独立的兼容依据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按来源、结构、行为及恢复逐项核对，再作为创作起点交付。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4206240"/>
                <a:gridCol w="4526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检查范围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研发工作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留下的交付依据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来源与版本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锁定上游版本、依赖及许可证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可回查来源与适用版本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结构映射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转成通用积木，明确原生保留区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可展开项目与映射说明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配置往返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配置读入、修改与导出对照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往返结果及资源引用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执行行为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同类输入下比较实际步骤与结果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行为范围和差异记录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权限与升级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核对工具授权、升级迁移与回退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受控边界、迁移与恢复路径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分批建立完整闭环，兼容结论绑定各自版本与行为范围。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能力积累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专业模板完善共享语言，支撑后续创作产品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教育入门与专业创作复用项目格式、积木语义和运行内核。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5212080"/>
                <a:gridCol w="2971800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研发资产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怎样在后续复用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对应用户价值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通用积木与项目格式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把模板中的角色、上下文、工具和控制流投影到共享语言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作品可展开、修改与保存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资源与Host权限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共享模型引用、工具声明和受控执行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配置和行动范围可以审阅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运行与来源映射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实际事件回到作品积木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定位步骤，比较设计与结果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模板版本与扩展接口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形成版本兼容、迁移与贡献规范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教师和开发者复用可靠起点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完整产品路线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六模板完善后，继续推进完整产品开发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后续开发依照产品能力关口推进，真实场景在产品准备完成后进入。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577840"/>
                <a:gridCol w="3200400"/>
              </a:tblGrid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演进方向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后续建设内容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形成的用户价值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兼容与开发者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六模板分批适配；积木与文本往返；CLI、Skills与插件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复用更多能力，支持开发者协作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教育与组织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师生班级、作业提交、课程版本、进度与后台配置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教师组织活动，机构管理教学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部署与运行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环境、团队审查、成本、应用部署与版本回滚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让作品成为持续可用的服务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社区与多端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开放个人版；作品与积木生态；macOS与移动运行端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跨设备使用与共享创作资产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Agent App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Agent页面与积木执行组合，整合独立应用生成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从创作项目走向可使用应用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创作入口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从少量积木起步，再展开更多能力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入门任务视图与专业能力共享项目格式和运行内核。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97680"/>
                <a:gridCol w="374904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入门分类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创作时的含义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逐步扩展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开始、角色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收到什么输入，扮演什么角色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多入口、不同任务与模块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会思考、会查找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如何生成回答，使用哪些资料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模型与上下文、知识检索与引用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会记住、会行动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保留哪些信息，调用哪些工具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会话记忆、登记工具、受控权限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会回答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怎样输出与检查结果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文本、结构化结果、过程与轨迹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教师按教学目标选择少量部件；能力扩展服务于作品，避免一次展示全部专业概念。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多端开发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桌面完成创作，移动端延续作品使用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平台路线 · 同一项目语义和运行协议，按设备能力适配。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29768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平台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使用定位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建设内容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Windows（当前阶段）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桌面搭建、改造、调试与运行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继续完善完整产品与部署能力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macOS（后续）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与Windows同等桌面创作能力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共享项目与运行；原生交互和分发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Android / iOS（后续）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使用已搭建的Agent作品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受控客户端、输入输出、审批与恢复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HarmonyOS（后续）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使用已搭建的Agent作品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原生应用壳；协议复用与能力协商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跨端延续作品格式、资源引用与运行过程，按目标平台完成构建和实际运行。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Agent App生成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把Agent页面与积木作品，生成独立应用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后续产品目标 · 基于Pake或Tauri二次开发，整合一键生成流程。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定义Agent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角色、任务与积木结构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模型、工具与执行逻辑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保存作品与运行配置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15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组合交互页面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015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输入、对话与结果展示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连接项目声明的入口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015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作品逻辑与页面协同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选择应用目标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447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平台、名称与应用资源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检查运行依赖与权限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准备目标端运行方式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879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一键生成App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879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构建独立应用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安装、运行与版本核验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879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把作品交给实际使用者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Pake桌面封装或Tauri定制应用壳，结合Blocky运行内核与受控资源配置。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/ 产品准备关口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可靠作品与产品配套完成后，进入真实场景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以具体交付范围检查准备程度，研发关口优先于预算日历。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56616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准备范围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达到的能力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随后进入的验证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六专业模板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逐项兼容、配置与行为对照，保留恢复路径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专业创作任务与模板适配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完整创作与部署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共享接口、资源权限、运行和应用交付可持续使用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保存、使用、更新与支持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小学及机构能力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入门任务投影、组织配置、教师资源与恢复方式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学生读改搭讲、教师独立复用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社区及目标端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发布贡献规则、对应平台运行与权限就绪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作品复用、实际设备使用与反馈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真实场景采集作品、使用过程与账单，再决定范围扩展和商业投入。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 / 创作需要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AI 想法做成可修改、可解释的作品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真实场景阶段的教学设计：学生做出设计选择，教师观察作品与过程。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60520"/>
                <a:gridCol w="4526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创作需要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学生的行动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Blocky提供的支撑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理解怎样工作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指出角色、输入、步骤；先预测再运行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展开积木结构，查看对应运行事件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表达自己的想法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改一个条件或指令，比较两次结果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修改可定位；结果与步骤可比较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在尝试中继续完善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说明变化原因，组合新的任务与能力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保存作品，回看轨迹，修改后复跑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 AI 教育从感知体验走向理解应用；创作活动结合任务与项目实践。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 / 学习路径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参照 Scratch，在读、改、搭、讲中学习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创作对象从故事、游戏、动画，延伸到包含模型和工具的智能体作品。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读懂作品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指出角色与输入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说出执行预测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理解任务与顺序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15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动手改造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015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一次修改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对照前后结果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4015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理解条件与行为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自主搭建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447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给作品一个新目标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说明能力组合理由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1447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认识模型、记忆与工具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879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879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调试解释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879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定位步骤并修订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向同伴讲解作品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8879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联系设计、过程与结果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Scratch官方起始作品支持查看、改编和继续创作；Blocky将这一方式用于Agent学习。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 / 读懂作品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先读懂故事搭档，再预测它怎样回应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教学设计 · 角色、任务、规则、上下文、模型与输出的完整关系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角色与输入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友善的故事搭档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“勇敢的小猫”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为谁做什么？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15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方向规则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015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包含“勇敢”→森林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其他输入→花园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015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规则走哪条路线？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上下文与任务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447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把方向交给模型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写三句，以提问结尾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生成要遵守什么？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879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模型与输出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879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教师预选模型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检查故事，再修改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879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结果符合任务吗？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从预测结构开始，再把实际回应与自己的设计比较。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 / 改造作品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只改一处，对照结构、步骤和结果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本地规则实际对照 · 输入始终为“勇敢的小猫”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871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改造前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条件：包含“勇敢”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命中：森林分支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输出：到森林探险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304288"/>
            <a:ext cx="5303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24871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改造后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55664" y="32004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条件：包含“友善”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命中：花园分支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输出：去花园交朋友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学生的解释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17520" y="5010912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输入保持不变；改变条件，执行分支与输出随之改变。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下一轮换一个输入，再检验自己是否理解这条规则。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/ 自主搭建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换一个目标，组合自己的海底向导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教学设计 · 从照着改，到自主选择角色、任务和能力。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029200"/>
                <a:gridCol w="38404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设计选择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学生可以决定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检查自己的作品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角色与目标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海底向导；带伙伴认识想去的地方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角色、任务与输出要求是否一致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输入与行动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输入伙伴和目的地；选择行动方向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换一个输入，方向是否符合规则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回应方式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两句介绍，然后问下一步去哪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保持输入，改一条要求，比较回应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增加能力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记录上次目的地；查资料或统计文本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说明为何需要该部件与它的作用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学生保留自己的组合理由、一次修改记录和作品讲解。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 / 能力递进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一次增加一种能力，解释它带来的变化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海底向导教学设计 · 保存每一步作品与比较记录。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212080"/>
                <a:gridCol w="35661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增加部件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给部件什么信息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学生观察什么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角色、目的地、两句介绍与提问任务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回答是否符合任务；改要求后如何变化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记忆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现阶段目的地；下轮读取给模型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换到第二轮时是否使用已记录信息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知识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教师选择的海底资料与问题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能否找到出处，回答与资料是否一致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故事文本交给登记的字符统计工具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具体字符数；工具结果如何帮助检查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部件选择由学生解释；模型、资料和工具权限由教师准备。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 / 调试解释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用运行轨迹定位步骤，再回到作品修改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 Windows 运行轨迹 · 资料作品能力示例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1000" dirty="0"/>
          </a:p>
        </p:txBody>
      </p:sp>
      <p:pic>
        <p:nvPicPr>
          <p:cNvPr id="8" name="Image 0" descr="真实Windows运行画布局部，选中积木对应运行事件">    </p:cNvPr>
          <p:cNvPicPr>
            <a:picLocks noChangeAspect="1"/>
          </p:cNvPicPr>
          <p:nvPr/>
        </p:nvPicPr>
        <p:blipFill>
          <a:blip r:embed="rId1"/>
          <a:srcRect l="29861" t="31111" r="37500" b="20000"/>
          <a:stretch>
            <a:fillRect/>
          </a:stretch>
        </p:blipFill>
        <p:spPr>
          <a:xfrm>
            <a:off x="640080" y="2194560"/>
            <a:ext cx="4041648" cy="3813048"/>
          </a:xfrm>
          <a:prstGeom prst="rect">
            <a:avLst/>
          </a:prstGeom>
        </p:spPr>
      </p:pic>
      <p:pic>
        <p:nvPicPr>
          <p:cNvPr id="9" name="Image 1" descr="同次真实运行轨迹局部，事件对应具体积木">    </p:cNvPr>
          <p:cNvPicPr>
            <a:picLocks noChangeAspect="1"/>
          </p:cNvPicPr>
          <p:nvPr/>
        </p:nvPicPr>
        <p:blipFill>
          <a:blip r:embed="rId2"/>
          <a:srcRect l="76042" t="28889" r="1042" b="15556"/>
          <a:stretch>
            <a:fillRect/>
          </a:stretch>
        </p:blipFill>
        <p:spPr>
          <a:xfrm>
            <a:off x="5166360" y="2194560"/>
            <a:ext cx="2523744" cy="3813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805672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先说预测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805672" y="2752344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设计要求经过哪一步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83880" y="3182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805672" y="3182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再看实际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805672" y="3557016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事件对应具体积木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83880" y="39867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805672" y="39867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定位修改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8805672" y="4361688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回到一块积木修订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183880" y="4791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805672" y="4791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重新解释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8805672" y="5166360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比较结果与执行过程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 / 学习记录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作品、过程和帮助程度共同说明学习进展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产品准备后采集课堂记录，首次尝试、修订与迁移任务分别观察。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观察任务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作品或解释记录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读懂与预测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指出角色、输入、步骤；说出预计路线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单一改造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保存改前改后；说明原因；换输入检验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自主搭建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给新目标，选择部件并说明理由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调试讲解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定位步骤；修订；解释实际结果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532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每项任务记录帮助等级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703320" y="55321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自主完成 · 1 口头提示 · 2 指明位置 · 3 示范或代操作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结合活动条件、帮助次数与作品版本，持续改进教学设计。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 / 教师组织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用作品包组织课前、课中和课后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服务设计 · 项目文件、活动引导与学习记录共同支持教师复用。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课前准备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选积木、资料和模型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运行并保存原作品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准备任务卡与配置说明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留下：原作品与教师指南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159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159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课中实践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159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示范预测，限定一次改动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开放新目标，引导调试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收集结果、轨迹与解释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159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留下：学生作品与过程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735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735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课后复盘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735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收集副本，记录帮助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比较设计与讲解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完善下一次活动版本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735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留下：可复用活动包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作品文件用于分发和保存；教师按活动流程组织，课程包属于现阶段服务设计。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 / 教师复用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先保存原作品，再组织学生副本与复盘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现有文件能力与课程操作设计相结合。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32120"/>
                <a:gridCol w="31546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操作阶段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具体方式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留下的资产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分发前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保存原作品；检查资源引用与教师配置；运行一遍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原作品与配置说明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学生另存副本；一次改动；保留比较结果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匿名作品版本与修改说明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恢复时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重新打开已保存原作品或上次有效副本，再应用修改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可重开的版本与恢复记录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复用后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教师独立重开活动；更新任务卡与指导说明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改进后的教师指南与活动包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 / 工具选择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围绕创作对象、可改部件和过程解释比较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官方公开资料比较 · Blocky按当前产品能力与课堂设计呈现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16352"/>
                <a:gridCol w="3218688"/>
                <a:gridCol w="3246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教学任务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Scratch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Blocks Builder AI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Blocky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创作对象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故事、游戏、动画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AI应用逻辑与交互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可组合的Agent作品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动手修改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代码、素材与起始作品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模型、提示词、上下文、控制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角色、任务、条件、记忆与工具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运行解释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作品运行与调试资源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聊天测试、即时反馈、输出历史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运行事件对应积木，定位后修改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教师组织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教师账号、作品组织、活动指南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教育账号、课堂管理、进度分析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项目文件与蓝图；课程包服务设计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选择理由：把Agent结构审阅、修改审阅与运行解释连接到同一个作品。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 / 竞争依据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对照同一个教学任务，依据官方公开信息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2026-10-03官方资料核对；围绕具体教学任务比较。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166360"/>
                <a:gridCol w="2971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已披露事实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用于什么判断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Scratch起始与教师资源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查看、改编、教程、调试、教师账号与作品组织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以作品学习；组织资源支持采用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Blocks Builder AI Features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积木逻辑、模型、上下文、聊天测试与输出历史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可视化AI的直接竞争领域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Blocks Builder AI Pricing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个人免费；教育方案含账号、课堂管理、进度分析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组织教学方案的公开参照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Tynker学校与课堂方案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学校按学生数和需求报价；课堂页有30学生示例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组织管理、评价、课程与培训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Blocky现有产品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嵌套作品、受控候选修改、运行事件映射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设计审阅、修改与运行解释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 / 目标客户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学生使用，教师组织，机构决定合作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首批面向具备Windows设备与活动组织条件的小学AI创作活动。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389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参与方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关心的问题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采用时需要的材料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能否看懂、动手修改并讲解自己的作品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少量部件的原作品；新目标任务；展示机会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能否准备活动、引导调试并重复使用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可重开的项目；教师指南；学习记录方式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学校或教育机构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服务范围、设备配置、预算和采购责任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作品演示；服务清单；模型额度；合作方案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进入条件：设备可用、教师能组织活动、模型与资料范围明确、预算负责人可沟通。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 / 市场进入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产品准备完成后，进入教师与机构真实使用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条件验证计划 · 教学、采购与支持证据各自采集，再决定商业投入。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找到教学任务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公开教研与机构合作入口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通过免费作品样例邀约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明确组织者、设备与主题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条件范围：接触20家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159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159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共同开展活动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159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教师访谈与小范围创作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记录修改、讲解与指导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观察教师独立复用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3159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条件范围：深入8家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73568" y="24231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73568" y="3236976"/>
            <a:ext cx="3310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形成合作范围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73568" y="3904488"/>
            <a:ext cx="32644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133088"/>
            <a:ext cx="32552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核对作品、培训和支持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沟通预算与采购负责人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明确交付与付款安排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973568" y="5577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条件目标：4份交付合同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20次接触、8次深入、4份合同为产品准备后的验证目标，按实际反馈调整。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/ 商业模式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个人版开源，组织与算力分别收费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后续商业机制 · 个人开源促进创作复用，组织能力和算力分别计费。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43484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组成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用户得到什么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收费方式与建设安排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个人版与社区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完整创作客户端；作品、积木包与扩展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个人版完全开源免费；建设社区生态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机构与K12组织方案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师生账户、课堂管理、进度分析与后台配置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按学生规模、组织需求与部署报价；建设规划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AI算力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个人模型额度；机构共享额度池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独立订阅或按量；支持自带API连接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教育与部署服务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课程支持、教师培训、部署与优先支持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按交付范围报价，与算力分账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个人开源入口 → 社区创作与复用 → 组织采用；算力按使用独立核算。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 / 机构与K12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组织付费，承接教学管理与后台配置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组织方案建设规划 · 参照Blocks Builder AI与Tynker学校方案。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937760"/>
                <a:gridCol w="3749040"/>
              </a:tblGrid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组织需要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后台建设内容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交付与报价依据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师生与课堂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组织、师生账户；班级与任务分发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学生规模、班级数、组织接入与部署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学习进展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作品版本、完成记录、过程与帮助等级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教师记录需求；分析维度与保存范围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评价与配置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任务规则检查、教师复核；模型与权限设置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任务类型、评分边界、模型和资料范围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课程与支持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课程资源、教师培训、优先支持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课程数量、培训频次与支持等级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组织方案按学生数与学校需求组合；AI算力另行订阅或使用机构自有API。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 / 开源与社区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以开放创作，积累作品和扩展生态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个人版完全开源决策 · 社区从可复用作品与贡献规范开始建设。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开放客户端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提供源码与构建说明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保留完整创作能力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开源发布准备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15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共享作品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015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故事搭档与主题任务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可展开蓝图、积木包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015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作品与许可证说明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F6B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教师改编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447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复用任务卡与活动包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贡献调试与组织经验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积累教学资源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24231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87968" y="3236976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开发者贡献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87968" y="3904488"/>
            <a:ext cx="2350008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133088"/>
            <a:ext cx="23408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改进部件与工具适配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提交修复与扩展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87968" y="5577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审阅、版本与权限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让学生从使用者走向创作者，让教师与开发者共同扩展作品生态。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 / 交付资产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让产品能力沉淀为可重复使用的教学资产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连接产品成果、教师活动包与持续支持资源。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5029200"/>
                <a:gridCol w="306324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当前依据或建设安排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复用价值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可编辑项目与蓝图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现有作品文件、保存重开、蓝图展开与插入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从起点改造，保存不同活动版本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运行与审阅能力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普通包运行轨迹、积木定位、受控候选差异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将修改理由与实际步骤对照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教师活动包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现阶段设计3作品、任务卡、配置和恢复说明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降低每次从空白准备的工作量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支持与用量记录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现阶段设计工时、模型额度、指导与复盘记录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优化交付范围和后续机构报价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34 / 服务范围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服务报价连接教学规模、交付资产与支持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真实场景阶段的服务范围样例，正式报价按实际交付和用量核定。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108960"/>
              </a:tblGrid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范围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设计样例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80小时交付分配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教学活动与作品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1班30名学生；6次活动；3个可编辑作品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作品准备24小时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教师培训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2次培训；活动引导与调试解释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培训16小时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设备与配置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30台Windows设备检查；模型与权限准备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配置16小时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支持与复盘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8周支持；重开检查、作品修订与一次复盘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支持复盘24小时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教学服务按交付范围报价；组织后台与AI算力分别签约和核算。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35 / 成本依据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短任务用量与专业Agent月成本分别测算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真实用量、官方价格、公开使用统计与任务频次分开列示。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4663440"/>
                <a:gridCol w="342900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依据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已取得的数据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用于什么判断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项目短任务样本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10个有回执任务，30响应；平均8,258 Token/任务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估算短任务输入与输出，缓存拆分另核对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DeepSeek当前API价格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Pro峰时未命中输入9、输出27元/百万Token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同样Token按模型和时段重定价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Claude Code企业统计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典型150–250美元/开发者月；活跃日均约13美元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专业云创作者与研发用量的独立参照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使用负荷与汇率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频次、人头及研发活跃日为预算输入；参考汇率6.7351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把不同任务强度汇总为人民币人月预算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专业档采用公开统计作资源参照，小学课堂费用后续按真实调用与账单校准。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 / 按人头算力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按任务强度与专业使用，汇总条件算力预算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产品准备关口后启用场景容量，短任务参考与专业档分别预算。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645920"/>
                <a:gridCol w="2286000"/>
                <a:gridCol w="274320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云算力用户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期末条件容量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累计人月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参考月成本（元）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24月成本（万元）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学生（短任务参考）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2,700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3.39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0.914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教师（短任务参考）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20.32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0.610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专业创作者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2,250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1347.02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303.079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0932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304.603万元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80560" y="51023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外部用户算力采购合计；研发工具与内部算力另列17.336万元。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学生40次、教师240次短任务/月为情景输入；专业档按200美元/月作资源参照。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37 / 持续发展资金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24个月资金覆盖研发与后续条件场景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基准覆盖预算：收入及自有投入确认后抵减；人力3→4等效资源，综合人月2万元。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48256"/>
          <a:ext cx="1097280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1828800"/>
                <a:gridCol w="5257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资金用途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预算（万元）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覆盖范围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人力、研发工具与专项交付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212.336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研发、教研与运营等效资源；跨端和应用交付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基础设施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16.200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账户、组织后台、存储与运行监测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外部用户算力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304.603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产品准备关口后，按不同任务强度启用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教学、社区与一般运营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32.100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活动与材料、共创推广、行政与合规支持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测试设备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8.000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桌面与移动端设备购置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现金储备、预留与取整余量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326.761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正常运营储备、风险预留、厂商合作预留及余量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806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最低追加需求 866.443万元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06640" y="5815584"/>
            <a:ext cx="4069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资金规划目标 900.000万元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 / 投入与里程碑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资金按研发关口投入，再支持真实场景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月份是资源排期假设，产品准备与实际使用条件决定后续支取。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  <a:gridCol w="52120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资源阶段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计划支出（万元）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形成的能力与后续决定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第1至6月：模板研发推进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53.767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来源与配置锁定；分批兼容；按模板证据继续投入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第7至18月：后续产品开发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142.646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创作接口、教育组织、部署与目标端产品配套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第19至24月：条件场景预算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376.826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准备关口通过后采集使用、复用、账单与付款反馈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储备与预留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326.761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保障持续研发与条件用量，随实际进展滚动更新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研发进度或实际负荷变化时，调整后续月份、容量与资金需求。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39 / 厂商合作与结算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把合作费用、预付额度和保证金分开管理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预算先预留合作现金30万元；取得厂商条款后，按具体用途更新。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03320"/>
                <a:gridCol w="443484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合作项目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现金如何占用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费用与资产如何记录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不可退还的合作费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按合同约定时间支付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计入费用，并占用合作预留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可消费的预付算力额度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充值时先支付现金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留作额度资产，消耗后抵扣采购成本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可退还的保证金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签约时支付，按条件收回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单列保证金资产，跟踪返还时间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按合同输入金额与时间，分别追踪充值、消耗与保证金返还。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组织额度池、个人订阅与加量，随实际用量和回款更新预算。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 / 订阅回款与资金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用回款与合作条款，校准资金计划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单位：万元 · 同一基准预算下的条件测算 · 订阅销售价格另行设计。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94560"/>
          <a:ext cx="109728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560320"/>
                <a:gridCol w="256032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调整条件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最低追加需求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资金目标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基准覆盖预算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866.443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900.000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算力成本回收80%，当月收款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460.338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500.000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成本回收80%，延迟2个月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568.619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600.000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不可退合作费100万元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936.443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950.000</a:t>
                      </a:r>
                      <a:endParaRPr lang="en-US" sz="19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623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回款改变的是现金占用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0" y="56235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按实际采购、订阅收款与账期持续更新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41 / 资源与用量情景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按建设能力和用户规模，安排不同资金强度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24个月规划 · 各情景同时调整人力、用户规模与采购成本。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  <a:gridCol w="3429000"/>
                <a:gridCol w="246888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资源情景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期末条件容量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24月现金支出（万元）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资金目标（万元）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精简推进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464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259.991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400.000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基准建设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1,160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573.239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900.000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高用量压力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2,320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1936.505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3150.000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023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精简推进：更小人力与云用户规模，按优先级交付。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基准建设：覆盖教育后台、多端与App、社区的持续建设。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高用量压力：更大云用户规模、更高人均成本与现金储备。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42 / 近期研发安排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近期90天推进模板闭环与后续开发准备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从锁定来源、复用语言到行为对照，形成下一阶段可持续开发依据。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00600"/>
                <a:gridCol w="34290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近期工作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留下的研发资产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继续推进的依据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六模板来源盘点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六份版本、许可证、依赖和行为范围清单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分批确定实现范围与优先级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共享映射与配置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通用部件映射、配置往返与原生保留规则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同一格式可以展开、修改和恢复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分批完整闭环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选定模板的结构、运行、权限及升级对照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每模板分别形成兼容结论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后续开发拆分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创作接口、组织部署、目标端和App依赖清单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把资金和开发资源连接到具体关口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" y="60807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90天是研发推进窗口，真实场景安排承接产品准备完成后的阶段。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 / 后续方向与来源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把积木审阅的能力，延伸到更多协作场景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小学创作优先；OPC作为后续探索方向。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OPC（一人公司）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617720" y="2368296"/>
            <a:ext cx="6858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审阅“Agent员工”的职责、流程和工具权限；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用运行轨迹核对实际步骤，再决定如何调整。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739896"/>
            <a:ext cx="1069848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77056"/>
          <a:ext cx="109728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160520"/>
                <a:gridCol w="33375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来源组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支持的内容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公开查阅入口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Scratch Foundation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作品创作、改编与教师组织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创作与教师资源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BBAI / Tynker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积木AI与组织教学方案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教育报价与学校方案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算力收费参照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订阅额度、按量与组织预算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WorkBuddy / Cursor / TRAE / Zen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教育部 / 24个月资金模型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小学AI教育方向；建设资金规划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2024分学段部署 / 财务XLSX</a:t>
                      </a:r>
                      <a:endParaRPr lang="en-US" sz="14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44 / 研发与合作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支持产品研发，连接后续真实创作场景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先完善六专业模板与后续产品，再进入学校和机构的实际使用。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016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1967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9376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让创作结构可以读懂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让实际运行可以解释</a:t>
            </a:r>
            <a:endParaRPr lang="en-US" sz="3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776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当前合作方向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形成的成果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7C7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下一阶段连接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研发与兼容共建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专业模板、共享接口与目标端产品能力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可靠创作起点和可使用应用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资源与资金支持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按能力关口投入，保障持续研发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支持产品准备后的条件场景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后续场景合作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产品准备后共同组织作品创作与使用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学生作品、教师复用与真实成本反馈</a:t>
                      </a:r>
                      <a:endParaRPr lang="en-US" sz="17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TB快重置就队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Blocky Studio 小学Agent创作教育</dc:title>
  <dc:subject>研发阶段、六专业Agent模板与小学创作教育路线</dc:subject>
  <dc:creator>TB快重置就队</dc:creator>
  <cp:lastModifiedBy>TB快重置就队</cp:lastModifiedBy>
  <cp:revision>1</cp:revision>
  <dcterms:created xsi:type="dcterms:W3CDTF">2026-10-03T11:23:51Z</dcterms:created>
  <dcterms:modified xsi:type="dcterms:W3CDTF">2026-10-03T11:23:51Z</dcterms:modified>
</cp:coreProperties>
</file>
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1e1c2f937f4328" /><Relationship Type="http://schemas.openxmlformats.org/officeDocument/2006/relationships/extended-properties" Target="/docProps/app.xml" Id="R988aba39bd4e488b" /><Relationship Type="http://schemas.openxmlformats.org/officeDocument/2006/relationships/officeDocument" Target="/ppt/presentation.xml" Id="R27bc2db16d2349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9fbf43abe949f6"/>
  </p:sldMasterIdLst>
  <p:notesMasterIdLst>
    <p:notesMasterId xmlns:r="http://schemas.openxmlformats.org/officeDocument/2006/relationships" r:id="Ra30a520222824eab"/>
  </p:notesMasterIdLst>
  <p:sldIdLst>
    <p:sldId xmlns:r="http://schemas.openxmlformats.org/officeDocument/2006/relationships" id="256" r:id="R514bd87680ed40e2"/>
    <p:sldId xmlns:r="http://schemas.openxmlformats.org/officeDocument/2006/relationships" id="257" r:id="R2e0ae51e47034fce"/>
    <p:sldId xmlns:r="http://schemas.openxmlformats.org/officeDocument/2006/relationships" id="258" r:id="R76abf66fd53247c7"/>
    <p:sldId xmlns:r="http://schemas.openxmlformats.org/officeDocument/2006/relationships" id="259" r:id="R76f466e65e934eaf"/>
    <p:sldId xmlns:r="http://schemas.openxmlformats.org/officeDocument/2006/relationships" id="260" r:id="R5254c38a5c804752"/>
    <p:sldId xmlns:r="http://schemas.openxmlformats.org/officeDocument/2006/relationships" id="261" r:id="Rf5b1060418154ffb"/>
    <p:sldId xmlns:r="http://schemas.openxmlformats.org/officeDocument/2006/relationships" id="262" r:id="R3ca8ee5f7e9641ab"/>
    <p:sldId xmlns:r="http://schemas.openxmlformats.org/officeDocument/2006/relationships" id="263" r:id="Rfbea1417b0f34c0c"/>
    <p:sldId xmlns:r="http://schemas.openxmlformats.org/officeDocument/2006/relationships" id="264" r:id="Rc96ce28d4def4f95"/>
    <p:sldId xmlns:r="http://schemas.openxmlformats.org/officeDocument/2006/relationships" id="265" r:id="R11ccae471c3f4664"/>
    <p:sldId xmlns:r="http://schemas.openxmlformats.org/officeDocument/2006/relationships" id="266" r:id="Raf2c9f6620a84cde"/>
    <p:sldId xmlns:r="http://schemas.openxmlformats.org/officeDocument/2006/relationships" id="267" r:id="Rf03c0369f5e74589"/>
    <p:sldId xmlns:r="http://schemas.openxmlformats.org/officeDocument/2006/relationships" id="268" r:id="R33356d8753ea4dc4"/>
    <p:sldId xmlns:r="http://schemas.openxmlformats.org/officeDocument/2006/relationships" id="269" r:id="R420d9357fb2e42ef"/>
    <p:sldId xmlns:r="http://schemas.openxmlformats.org/officeDocument/2006/relationships" id="270" r:id="Rec991d6b3ea54564"/>
    <p:sldId xmlns:r="http://schemas.openxmlformats.org/officeDocument/2006/relationships" id="271" r:id="R2292fab51e0049ef"/>
    <p:sldId xmlns:r="http://schemas.openxmlformats.org/officeDocument/2006/relationships" id="272" r:id="R4b6b1b94d2d245f8"/>
    <p:sldId xmlns:r="http://schemas.openxmlformats.org/officeDocument/2006/relationships" id="273" r:id="R61f61cc2d0f846c6"/>
    <p:sldId xmlns:r="http://schemas.openxmlformats.org/officeDocument/2006/relationships" id="274" r:id="R44a66ee6c1794b2e"/>
    <p:sldId xmlns:r="http://schemas.openxmlformats.org/officeDocument/2006/relationships" id="275" r:id="Rc3ff05f6244d46fc"/>
    <p:sldId xmlns:r="http://schemas.openxmlformats.org/officeDocument/2006/relationships" id="276" r:id="R7f854f8a3e08472e"/>
    <p:sldId xmlns:r="http://schemas.openxmlformats.org/officeDocument/2006/relationships" id="277" r:id="Rf4eb9cc01f2f434e"/>
    <p:sldId xmlns:r="http://schemas.openxmlformats.org/officeDocument/2006/relationships" id="278" r:id="Ra20951984bad4a94"/>
    <p:sldId xmlns:r="http://schemas.openxmlformats.org/officeDocument/2006/relationships" id="279" r:id="Rf6f0bf3524764e84"/>
    <p:sldId xmlns:r="http://schemas.openxmlformats.org/officeDocument/2006/relationships" id="280" r:id="R69c75fb907d24d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aad0fa60764d68" /><Relationship Type="http://schemas.openxmlformats.org/officeDocument/2006/relationships/slideMaster" Target="/ppt/slideMasters/slideMaster1.xml" Id="R529fbf43abe949f6" /><Relationship Type="http://schemas.openxmlformats.org/officeDocument/2006/relationships/notesMaster" Target="/ppt/notesMasters/notesMaster1.xml" Id="Ra30a520222824eab" /><Relationship Type="http://schemas.openxmlformats.org/officeDocument/2006/relationships/presProps" Target="/ppt/presProps.xml" Id="Rbdd5435cd7ae4055" /><Relationship Type="http://schemas.openxmlformats.org/officeDocument/2006/relationships/tableStyles" Target="/ppt/tableStyles.xml" Id="R7f1c8c197b0f4dad" /><Relationship Type="http://schemas.openxmlformats.org/officeDocument/2006/relationships/slide" Target="/ppt/slides/slide1.xml" Id="R514bd87680ed40e2" /><Relationship Type="http://schemas.openxmlformats.org/officeDocument/2006/relationships/slide" Target="/ppt/slides/slide2.xml" Id="R2e0ae51e47034fce" /><Relationship Type="http://schemas.openxmlformats.org/officeDocument/2006/relationships/slide" Target="/ppt/slides/slide3.xml" Id="R76abf66fd53247c7" /><Relationship Type="http://schemas.openxmlformats.org/officeDocument/2006/relationships/slide" Target="/ppt/slides/slide4.xml" Id="R76f466e65e934eaf" /><Relationship Type="http://schemas.openxmlformats.org/officeDocument/2006/relationships/slide" Target="/ppt/slides/slide5.xml" Id="R5254c38a5c804752" /><Relationship Type="http://schemas.openxmlformats.org/officeDocument/2006/relationships/slide" Target="/ppt/slides/slide6.xml" Id="Rf5b1060418154ffb" /><Relationship Type="http://schemas.openxmlformats.org/officeDocument/2006/relationships/slide" Target="/ppt/slides/slide7.xml" Id="R3ca8ee5f7e9641ab" /><Relationship Type="http://schemas.openxmlformats.org/officeDocument/2006/relationships/slide" Target="/ppt/slides/slide8.xml" Id="Rfbea1417b0f34c0c" /><Relationship Type="http://schemas.openxmlformats.org/officeDocument/2006/relationships/slide" Target="/ppt/slides/slide9.xml" Id="Rc96ce28d4def4f95" /><Relationship Type="http://schemas.openxmlformats.org/officeDocument/2006/relationships/slide" Target="/ppt/slides/slide10.xml" Id="R11ccae471c3f4664" /><Relationship Type="http://schemas.openxmlformats.org/officeDocument/2006/relationships/slide" Target="/ppt/slides/slide11.xml" Id="Raf2c9f6620a84cde" /><Relationship Type="http://schemas.openxmlformats.org/officeDocument/2006/relationships/slide" Target="/ppt/slides/slide12.xml" Id="Rf03c0369f5e74589" /><Relationship Type="http://schemas.openxmlformats.org/officeDocument/2006/relationships/slide" Target="/ppt/slides/slide13.xml" Id="R33356d8753ea4dc4" /><Relationship Type="http://schemas.openxmlformats.org/officeDocument/2006/relationships/slide" Target="/ppt/slides/slide14.xml" Id="R420d9357fb2e42ef" /><Relationship Type="http://schemas.openxmlformats.org/officeDocument/2006/relationships/slide" Target="/ppt/slides/slide15.xml" Id="Rec991d6b3ea54564" /><Relationship Type="http://schemas.openxmlformats.org/officeDocument/2006/relationships/slide" Target="/ppt/slides/slide16.xml" Id="R2292fab51e0049ef" /><Relationship Type="http://schemas.openxmlformats.org/officeDocument/2006/relationships/slide" Target="/ppt/slides/slide17.xml" Id="R4b6b1b94d2d245f8" /><Relationship Type="http://schemas.openxmlformats.org/officeDocument/2006/relationships/slide" Target="/ppt/slides/slide18.xml" Id="R61f61cc2d0f846c6" /><Relationship Type="http://schemas.openxmlformats.org/officeDocument/2006/relationships/slide" Target="/ppt/slides/slide19.xml" Id="R44a66ee6c1794b2e" /><Relationship Type="http://schemas.openxmlformats.org/officeDocument/2006/relationships/slide" Target="/ppt/slides/slide20.xml" Id="Rc3ff05f6244d46fc" /><Relationship Type="http://schemas.openxmlformats.org/officeDocument/2006/relationships/slide" Target="/ppt/slides/slide21.xml" Id="R7f854f8a3e08472e" /><Relationship Type="http://schemas.openxmlformats.org/officeDocument/2006/relationships/slide" Target="/ppt/slides/slide22.xml" Id="Rf4eb9cc01f2f434e" /><Relationship Type="http://schemas.openxmlformats.org/officeDocument/2006/relationships/slide" Target="/ppt/slides/slide23.xml" Id="Ra20951984bad4a94" /><Relationship Type="http://schemas.openxmlformats.org/officeDocument/2006/relationships/slide" Target="/ppt/slides/slide24.xml" Id="Rf6f0bf3524764e84" /><Relationship Type="http://schemas.openxmlformats.org/officeDocument/2006/relationships/slide" Target="/ppt/slides/slide25.xml" Id="R69c75fb907d24d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3d2c30584e47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43b957b2ec4d40" /><Relationship Type="http://schemas.openxmlformats.org/officeDocument/2006/relationships/notesMaster" Target="/ppt/notesMasters/notesMaster1.xml" Id="R2891251b438740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77053dfad3422d" /><Relationship Type="http://schemas.openxmlformats.org/officeDocument/2006/relationships/notesMaster" Target="/ppt/notesMasters/notesMaster1.xml" Id="Rc0357e081e254f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c43a038c224abb" /><Relationship Type="http://schemas.openxmlformats.org/officeDocument/2006/relationships/notesMaster" Target="/ppt/notesMasters/notesMaster1.xml" Id="Rcfa634c0f66946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4d35173694475a" /><Relationship Type="http://schemas.openxmlformats.org/officeDocument/2006/relationships/notesMaster" Target="/ppt/notesMasters/notesMaster1.xml" Id="R67b3b40070c741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046c9709e34c49" /><Relationship Type="http://schemas.openxmlformats.org/officeDocument/2006/relationships/notesMaster" Target="/ppt/notesMasters/notesMaster1.xml" Id="R9a9ec35b51a645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f5fa40d2fe4e8d" /><Relationship Type="http://schemas.openxmlformats.org/officeDocument/2006/relationships/notesMaster" Target="/ppt/notesMasters/notesMaster1.xml" Id="R22ab9f5316ef4c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40d3b0c0cf4d7b" /><Relationship Type="http://schemas.openxmlformats.org/officeDocument/2006/relationships/notesMaster" Target="/ppt/notesMasters/notesMaster1.xml" Id="R67b7110c54da4e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6d855104f840d5" /><Relationship Type="http://schemas.openxmlformats.org/officeDocument/2006/relationships/notesMaster" Target="/ppt/notesMasters/notesMaster1.xml" Id="Re7a72b4d6ca949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f6be0d688b44a7" /><Relationship Type="http://schemas.openxmlformats.org/officeDocument/2006/relationships/notesMaster" Target="/ppt/notesMasters/notesMaster1.xml" Id="R387723a446a5414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2bee7045394162" /><Relationship Type="http://schemas.openxmlformats.org/officeDocument/2006/relationships/notesMaster" Target="/ppt/notesMasters/notesMaster1.xml" Id="Receb8f4ff29e4a8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e881feba1c4e6b" /><Relationship Type="http://schemas.openxmlformats.org/officeDocument/2006/relationships/notesMaster" Target="/ppt/notesMasters/notesMaster1.xml" Id="Rc1708ca8eeed40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99da205da44a89" /><Relationship Type="http://schemas.openxmlformats.org/officeDocument/2006/relationships/notesMaster" Target="/ppt/notesMasters/notesMaster1.xml" Id="R5f20fe714a8f40b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7009a6fdfb4249" /><Relationship Type="http://schemas.openxmlformats.org/officeDocument/2006/relationships/notesMaster" Target="/ppt/notesMasters/notesMaster1.xml" Id="Rbeae283f32224cc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20d479546a94384" /><Relationship Type="http://schemas.openxmlformats.org/officeDocument/2006/relationships/notesMaster" Target="/ppt/notesMasters/notesMaster1.xml" Id="Rc20720e4de234e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f92005594464f42" /><Relationship Type="http://schemas.openxmlformats.org/officeDocument/2006/relationships/notesMaster" Target="/ppt/notesMasters/notesMaster1.xml" Id="R2c18e79744f3477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6c015ebd8d4a27" /><Relationship Type="http://schemas.openxmlformats.org/officeDocument/2006/relationships/notesMaster" Target="/ppt/notesMasters/notesMaster1.xml" Id="R6c04d569561b489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9953dd19ff8462f" /><Relationship Type="http://schemas.openxmlformats.org/officeDocument/2006/relationships/notesMaster" Target="/ppt/notesMasters/notesMaster1.xml" Id="Rf402f7a83eff447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dad0dc0f60140db" /><Relationship Type="http://schemas.openxmlformats.org/officeDocument/2006/relationships/notesMaster" Target="/ppt/notesMasters/notesMaster1.xml" Id="Raa41add050de476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56deea2f5db40f4" /><Relationship Type="http://schemas.openxmlformats.org/officeDocument/2006/relationships/notesMaster" Target="/ppt/notesMasters/notesMaster1.xml" Id="R54003e85505a420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ff7b5f160ee4693" /><Relationship Type="http://schemas.openxmlformats.org/officeDocument/2006/relationships/notesMaster" Target="/ppt/notesMasters/notesMaster1.xml" Id="R2d8b3321de054ea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5198d95a2f841bd" /><Relationship Type="http://schemas.openxmlformats.org/officeDocument/2006/relationships/notesMaster" Target="/ppt/notesMasters/notesMaster1.xml" Id="Ra826dce63f6d4f1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541546a9a7544de" /><Relationship Type="http://schemas.openxmlformats.org/officeDocument/2006/relationships/notesMaster" Target="/ppt/notesMasters/notesMaster1.xml" Id="R65b0866df431432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1865abf98f545d8" /><Relationship Type="http://schemas.openxmlformats.org/officeDocument/2006/relationships/notesMaster" Target="/ppt/notesMasters/notesMaster1.xml" Id="R105392e9be17495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453f54bb03845e7" /><Relationship Type="http://schemas.openxmlformats.org/officeDocument/2006/relationships/notesMaster" Target="/ppt/notesMasters/notesMaster1.xml" Id="R1c47bdf5f85e449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9ca086e08bf4417" /><Relationship Type="http://schemas.openxmlformats.org/officeDocument/2006/relationships/notesMaster" Target="/ppt/notesMasters/notesMaster1.xml" Id="Rb902fce9af5740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Blocky是一款用积木创作Agent的软件。我们先服务教育，让学生理解并改造作品，再沿同一底座拓展到专业创作、一人公司和企业应用。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参赛团队：TB快重置就队。当前Windows已有阶段成果，课堂效果、OPC和企业场景需要在产品配套完成后验证。封面为品牌概念插画，不是产品界面。 教育是主要应用，正文第2–14页共13页；专业场景核心为非专业用户从代码审阅转向积木审阅。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https://blocky.donk55666.chatgpt.site/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教育是产品的主要切入点。我们让孩子看到Agent的角色、步骤与行动，把得到答案变成可以读懂、修改和讲解的作品；先验证课堂和教师复用，再延伸到专业场景。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当前Windows创作底座及知识问答、工作、Coding、Pi四类起始蓝图已有阶段成果。教育与专业共享项目格式、积木语言、运行内核和权限模型。校园植物向导、研究报告工作台是场景设计，配套课程、组织后台和团队部署尚待建设。图为校园与专业园区概念插画，不代表客户现场。 当前并无已证实的学习效果或小学适用性。故事搭档、校园植物小向导和海底向导属于教学设计；不是已开展课堂。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https://blocky.donk55666.chatgpt.site/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17秒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教学目标不是让孩子只得到一个回答，而是让他们指出角色和步骤，修改一个条件，给作品换一个目标，再用实际结果解释自己的设计。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教育研发命题：角色、任务、模型、记忆与工具以积木表达；学生预测行为，比较改动，说明部件组合理由。参照Scratch查看、改编和继续创作的学习方式。真实课堂效果及小学易用性尚待验证，不将工程演示当学生学习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21秒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孩子先读原作品：谁来回应、目标是什么、条件如何分支、模型负责哪一步。再预测它会去森林还是花园，最后运行核对，避免只看最终答案。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本地规则对照已执行：修改前条件包含勇敢，命中森林分支，输出到森林探险；修改后条件包含友善，命中花园分支，输出去花园交朋友。教学故事搭档另包含角色、规则、上下文、教师预选模型和输出要求：三句故事、以提问结尾。规则对照不证明真实模型故事生成或课堂效果。下一轮换输入检验理解。 教师预选模型与内容，输出要求为三句故事并以提问结尾；这是教学设计，真实生成和课堂结果另验。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21秒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原来判断包含“勇敢”，作品进入森林。把条件改成“友善”，同一个输入会进入花园。学生可以据此解释：是哪一处结构改变了执行路线。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本地规则对照已执行：修改前条件包含勇敢，命中森林分支，输出到森林探险；修改后条件包含友善，命中花园分支，输出去花园交朋友。教学故事搭档另包含角色、规则、上下文、教师预选模型和输出要求：三句故事、以提问结尾。规则对照不证明真实模型故事生成或课堂效果。下一轮换输入检验理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从改原作品走向自主搭建：选伙伴与目的地，决定回应方式，再按需求增加模型、记忆、知识和工具。每增加一种能力，就保存一个版本并解释为什么需要它。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海底向导设计包含伙伴和目的地输入、角色与目标一致、两句介绍后问下一站。能力递进：模型组织回应，记忆记录上次目的地，知识回答带来源，登记的统计工具返回字符数。通用能力还包括条件逻辑、上下文和输出。教师预选模型、资料与权限。观察读懂预测、单一改造、自主搭建、调试讲解，记录作品版本、过程和帮助等级0自主、1口头提示、2指明位置、3示范或代操作。画面为真实Windows合成资料作品的积木定位与运行事件，不能当海底向导或学生课堂实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21秒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遇到问题时，孩子从运行步骤找到具体积木，说明发生了什么，再修改和重新运行。作品、过程与帮助程度要一起记录，不能用老师代操作的完成当作自主学习。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海底向导设计包含伙伴和目的地输入、角色与目标一致、两句介绍后问下一站。能力递进：模型组织回应，记忆记录上次目的地，知识回答带来源，登记的统计工具返回字符数。通用能力还包括条件逻辑、上下文和输出。教师预选模型、资料与权限。观察读懂预测、单一改造、自主搭建、调试讲解，记录作品版本、过程和帮助等级0自主、1口头提示、2指明位置、3示范或代操作。画面为真实Windows合成资料作品的积木定位与运行事件，不能当海底向导或学生课堂实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18秒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课前教师准备原作品和配置，课中学生另存副本并保留修改，课后比较作品与讲解。学校购买的是组织管理、课程和支持，服务范围与模型算力分开核算。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学生关心读懂、动手修改和展示；教师关心准备、调试与复用；机构关心设备、服务、预算与采购责任。进入条件是Windows设备可用，教师能组织，模型和资料范围明确，预算负责人可沟通。分发前运行原作品，恢复时重开原作品或上次有效副本。交付资产包括项目和蓝图、审阅与轨迹、教师活动包和支持用量记录。样例服务：1班30名学生、6次活动、3个可编辑作品、2次教师培训、30台设备配置、8周支持与一次复盘；80小时为范围假设，作品24、培训16、配置16、支持复盘24小时。尚无真实合同或教学效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https://blocky.donk55666.chatgpt.site/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18秒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学生关注创作和展示，教师关注准备与复用，机构关注设备、范围和预算。我们用明确的班级、活动与作品范围设计合作，组织服务与模型算力分别报价。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学生关心读懂、动手修改和展示；教师关心准备、调试与复用；机构关心设备、服务、预算与采购责任。进入条件是Windows设备可用，教师能组织，模型和资料范围明确，预算负责人可沟通。分发前运行原作品，恢复时重开原作品或上次有效副本。交付资产包括项目和蓝图、审阅与轨迹、教师活动包和支持用量记录。样例服务：1班30名学生、6次活动、3个可编辑作品、2次教师培训、30台设备配置、8周支持与一次复盘；80小时为范围假设，作品24、培训16、配置16、支持复盘24小时。尚无真实合同或教学效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https://blocky.donk55666.chatgpt.site/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18秒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现有作品可以保存和另存副本。后续课堂后台会补上师生与班级、作业和评语、课程版本与进度，使教师能管理一组作品。这些能力按计划建设，不把手工分发当作后台已经完成。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机构/K12付费方向包含组织后台配置、师生与课堂、课程和支持，参照BBAI及Tynker按学生规模与学校需求报价。小学工作区、冻结课程、离线课堂、班级作业与进度仍为规划。产品保存、运行、资源权限与恢复先就绪，再检查设备、内容、许可和组织条件后进入课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https://blocky.donk55666.chatgpt.site/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19秒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教师可以带学生看积木结构，再观察作品如何运行。构建助手、作品输出和事件轨迹与画布对应，修改可以保存和撤销。画面来自合成资料作品，课堂适用性还需验证。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左侧选择部件，中间编辑项目与模块，右侧切换构建助手和作品Agent，底部查看问题、日志与输出。项目可以保存、重开、继续修改；修改差异与撤销支持审阅。运行事件对应积木，不展示模型内部思维，也不保证答案正确。历史合成水循环资料作品含真实读取、文件修改和保存记录，三次息壤deepseek-v4-pro响应共7717 Token，这是特定历史调用样本。当前已公开Windows v0.8.0-beta.1测试安装包，后续修复预览与公开安装包分别核对，不把截图当最新版每项实现证明。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18秒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学生从开始、角色、会思考、会记住和会回答等少量部件起步，成熟后展开更完整的能力。目前四类蓝图提供可修改的起点，也保留空白作品；教师按任务限制模型、资料和工具。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四类起点依次为知识问答助手、工作助手、Coding助手、Pi Agent。Pi来源于真实上游Pi核心的积木化。新建空白main不预置资源和问句，个人蓝图与已有.blocky作品保留。入门视图包含开始、角色、会思考、会查找、会记住、会行动、会回答，专业视图展开十二类语义；两者共享作品格式。角色画面为概念插画，不承担实现证明。 四类知识问答、工作、Coding、Pi蓝图并非都适合小学生独立使用，教师按任务选择。专业十二类语义逐步展开。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我们先访谈教师，再做两次完整试用，观察读懂、修改、迁移搭建与解释。记录自主完成和帮助程度，并验证教师是否能独立复用；结果不足时先修订任务。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计划至少10次教师访谈、2次完整试用和1位教师独立复用；尚未执行。80%结构识别和一次自主改造是计划决策门槛，非教育效果承诺。帮助H0自主、H1口头提示、H2指明位置、H3示范或代操作，H3不计自主。保存原作品、修改副本、输出与解释，报告原始参与人数、年级、课时和帮助分布。20次有效机构接触、8次深入演示、4份服务合同为后续条件漏斗，不代表已获客户或收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18秒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Scratch提供作品创作方法，AI积木工具已经能组合模型与交互，学校平台也有组织和课程能力。Blocky希望把Agent结构、可审阅修改和运行定位放在同一作品里，这一价值仍需同任务验证。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Scratch官方起始作品、教程、调试资源、教师账号与作品组织为创作学习参照。Blocks Builder AI公开功能包括积木逻辑、模型、提示词、上下文、聊天测试和输出历史；教育方案含账号、课堂管理与进度分析。Tynker学校按学生规模和需求报价，课堂页有30学生示例，并提供评价、课程与培训。Blocky的班级后台和教学配套仍是建设规划，不声称已有学习优势或竞品不具备任何同类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https://scratchfoundation.org/learn/learning-library/getting-started</a:t>
            </a:r>
          </a:p>
          <a:p xmlns:a="http://schemas.openxmlformats.org/drawingml/2006/main">
            <a:r>
              <a:t>https://scratchfoundation.org/learn/learning-library/teacher-accounts</a:t>
            </a:r>
          </a:p>
          <a:p xmlns:a="http://schemas.openxmlformats.org/drawingml/2006/main">
            <a:r>
              <a:t>https://blocksbuilder.ai/features</a:t>
            </a:r>
          </a:p>
          <a:p xmlns:a="http://schemas.openxmlformats.org/drawingml/2006/main">
            <a:r>
              <a:t>https://blocksbuilder.ai/pricing</a:t>
            </a:r>
          </a:p>
          <a:p xmlns:a="http://schemas.openxmlformats.org/drawingml/2006/main">
            <a:r>
              <a:t>https://www.tynker.com/school/coding-curriculum/request</a:t>
            </a:r>
          </a:p>
          <a:p xmlns:a="http://schemas.openxmlformats.org/drawingml/2006/main">
            <a:r>
              <a:t>https://www.tynker.com/classroom-school/coding-curriculum/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25秒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非专业用户难以逐行审阅Agent代码。Blocky让他们用积木看职责、资料、流程和工具权限，执行前检查预期行为，运行后用轨迹核对实际动作，再定位修改。这是教育能力向专业使用的核心延伸。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左侧选择部件，中间编辑项目与模块，右侧切换构建助手和作品Agent，底部查看问题、日志与输出。项目可以保存、重开、继续修改；修改差异与撤销支持审阅。运行事件对应积木，不展示模型内部思维，也不保证答案正确。历史合成水循环资料作品含真实读取、文件修改和保存记录，三次息壤deepseek-v4-pro响应共7717 Token，这是特定历史调用样本。当前已公开Windows v0.8.0-beta.1测试安装包，后续修复预览与公开安装包分别核对，不把截图当最新版每项实现证明。 核心场景是非专业Agent开发者审阅构建助手或外部开发Agent的改动：搭建时读结构和资料，执行前看工具、权限与条件，运行后核对实际步骤和输出。积木审阅提供可读入口，不能替代业务判断、复杂代码审查或模型输出核查；非专业用户是否独立完成尚需验证。运行轨迹不展示模型内部推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22秒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四类是当前蓝图，Pi是第一个由代码转为积木的Agent蓝图。后续继续将Codex、DPH、Hermes等专业Agent架构转为蓝图。已有Agent可经CLI操作作品，自定义积木则扩展业务能力。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当前四类蓝图：知识问答、工作、Coding、Pi。Pi是目前首个从真实上游代码转为积木的Agent蓝图。后续计划扩展专业Agent底层架构蓝图，例如Codex、DPH（DeepSeek Harness）、Hermes等，让职责、循环、工具、记忆与权限结构可展开审阅。不是声称这三者已转换或兼容交付，也不恢复固定六模板顺序承诺。转换需核对公开源码、许可证、依赖、结构映射和实际运行结果。</a:t>
            </a:r>
          </a:p>
          <a:p xmlns:a="http://schemas.openxmlformats.org/drawingml/2006/main">
            <a:r>
              <a:t>四类起点依次为知识问答助手、工作助手、Coding助手、Pi Agent。Pi来源于真实上游Pi核心的积木化。新建空白main不预置资源和问句，个人蓝图与已有.blocky作品保留。入门视图包含开始、角色、会思考、会查找、会记住、会行动、会回答，专业视图展开十二类语义；两者共享作品格式。角色画面为概念插画，不承担实现证明。</a:t>
            </a:r>
          </a:p>
          <a:p xmlns:a="http://schemas.openxmlformats.org/drawingml/2006/main">
            <a:r>
              <a:t>真实画面来自合成水循环资料的构建助手与学习卡文件修改，用于展示读取、构建、保存能力，不作为客户报告成果。官网一分钟演示依次描述任务、搭建蓝图、切换Agent、播放工具轨迹并显示合成周报，支持暂停、重播、退出恢复与继续编辑；全程预设模拟，不调用真实模型、CLI或本机文件。真实桌面调用与预设在线体验分别判断。未来专业场景包括研究报告、多模块任务、审阅和复用，实际完成范围以版本与任务记录为准。</a:t>
            </a:r>
          </a:p>
          <a:p xmlns:a="http://schemas.openxmlformats.org/drawingml/2006/main">
            <a:r>
              <a:t>外部Agent需要能执行CLI并遵守项目资源和工具权限，能够读取诊断和运行轨迹。界面、CLI和构建助手共享领域能力。保留开发方式不等于任意代码可以自动完整转成积木，现有项目转换仍按结构、许可、依赖和结果逐项适配。外部Agent自身模型调用按其服务计费，Blocky托管订阅只覆盖对应托管请求。</a:t>
            </a:r>
          </a:p>
          <a:p xmlns:a="http://schemas.openxmlformats.org/drawingml/2006/main">
            <a:r>
              <a:t>可视化封装保持结构可读，支持无损展开、修改与重封装；代码扩展声明输入输出、依赖、错误、权限和运行目标。作品按类型、权限和预算执行，扩展能力不绕过执行限制，也不把整个Agent的隐藏逻辑包装成不可审阅黑盒。现有受控计算、工具及转换基础不等同于完整自定义编辑、封装与社区分发已开放。CLI连接外部开发Agent，自定义积木提供扩展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18秒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架构可以概括为三部分：前面用积木或文字表达任务，中间按作品步骤运行，后面连接模型和获准工具。执行结果回到作品，让用户检查和修改；密钥和工具权限由桌面端统一管理。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Blockly提供积木编辑，Tauri承载桌面，Pi提供Agent循环基础。Blocky组织项目语义、编译和运行映射、受控Host与共享CLI，不将开源组件当独家发明。界面、构建助手和CLI共用作品能力。项目保存稳定资源引用，Host保管模型密钥并校验工具范围，运行事件与诊断定位到积木。多端共享作品语义，但具体工具、权限和分发分别适配。权限控制降低越界风险，不能保证模型回答正确或任意操作绝对安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22秒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一人公司由经营者审阅资料助理和内容助理的工作，企业进一步增加岗位、数据权限和部署管理。后期一键导出把作品和页面交付为独立应用，开发者可设置订阅与用量承担方；这些经营配套仍是规划。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OPC指一人公司，是后续探索，不是已有客户或自动经营产品。职责、知识、工具和权限以可读结构组织，运行轨迹用来核对实际动作，经营者保留业务判断和对外提交责任。示例是拟定场景，尚未验证采用率、效率或收入。公开来源分组：Blocky产品、Scratch/BBAI/Tynker学习与组织、历史调用及供应商成本参照、平台与应用规划；均按对应快照或实际版本判断。</a:t>
            </a:r>
          </a:p>
          <a:p xmlns:a="http://schemas.openxmlformats.org/drawingml/2006/main">
            <a:r>
              <a:t>导出目标Windows、macOS及手机，包含独立界面、积木执行、运行内核与资源配置。Pake/Tauri只是候选应用壳，不等于运行或移动适配已经完成。各端依赖、权限、签名、安装与更新分别验证，不承诺所有桌面工具直接在手机运行。未来应用沿用Blocky托管体系，开发者可快捷创建订阅、自主定价，实际用量承担方可设置；企业Token按模型、任务强度与服务范围咨询，尚无支付、导出或应用订阅产品，不计新增收入，也不分发开发者私钥。</a:t>
            </a:r>
          </a:p>
          <a:p xmlns:a="http://schemas.openxmlformats.org/drawingml/2006/main">
            <a:r>
              <a:t>组织建设范围包括账户角色、数据范围、任务分发、模型和工具配置、审阅和运行记录、版本与恢复。K12方案含师生课堂、作品版本、完成与帮助记录、教师复核、课程培训与支持，按学生规模和学校需求报价，算力另订阅或BYOK。专业团队部署、权限和审查、成本管理、应用部署与回滚是后续路线；不声称企业后台、组织管理或私有化已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https://blocky.donk55666.chatgpt.site/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近期先完善教育与专业创作的可靠体验，再建设自定义能力和应用交付，随后拓展OPC与组织配套。Windows已有成果，macOS规划同等创作能力，手机端优先使用已搭建的作品。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完整开发方向保留：创作接口、积木与文本往返、自定义积木与插件；师生班级、作业、课程版本与后台；环境和团队审查、成本、部署与回滚；个人开源、作品与积木社区；Agent App及多端。Windows当前搭建调试运行，macOS后续同等桌面创作，Android/iOS/HarmonyOS后续运行已搭建作品，不当完整积木编辑器。HarmonyOS按原生壳与共享协议适配，平台能力决定本地或获准远端执行。准备关口检查保存修改重开、运行权限与恢复、课程与组织、社区及实际目标设备，再进入真实场景采集作品、用量和账单。月份不代替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https://blocky.donk55666.chatgpt.site/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17秒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个人软件免费，学校与企业为组织能力、部署和支持付费。需要托管模型时另买算力套餐；自带API就向供应商付费。未来应用订阅由开发者定价，应用收入和算力成本分别算。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公开Windows测试安装包已发布，源码仓库当前仍私有，个人开源发布及社区建设尚未完成。机构/K12按人数、课程、部署与维护组合报价，组织后台待建设。托管订阅拟覆盖构建助手、作品Agent及未来导出应用，同一账户按真实模型请求累计扣减，不按Agent数量重复发额度。工具调用后的模型请求也累计；共享不等于无限。应用可设置使用者或开发者承担。外部开发Agent自身费用按其服务计费，BYOK与托管分账；计费、企业算力和开发者订阅尚未开放。</a:t>
            </a:r>
          </a:p>
          <a:p xmlns:a="http://schemas.openxmlformats.org/drawingml/2006/main">
            <a:r>
              <a:t>个人完整创作免费方向、源码与构建说明、作品许可、教师任务卡活动包、开发者部件工具适配与版本权限共同形成社区。当前源码公开及社区入口仍在准备，不能将公开安装包等同源码开放。条件目标：接触20家、深入8家、形成4份交付合同，均非已获客户。通过免费作品邀约和公开教研入口，明确组织者、Windows设备与主题；记录修改、讲解、帮助程度和教师独立复用；核对培训支持、预算责任与付款后决定商业投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23秒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托管套餐拟定99、199和999元，另有50元加量包。以99元套餐为例，假设模型花40元、其他可变费用9.9元，剩49.1元贡献利润，用来覆盖研发和运营。真实扣分和模型成本明确后再销售。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原拟价：99元2000积分、199元4500积分、999元25000积分每月，加量50元1000积分，到账30天。月度额度当期有效、不结转，最早到期先使用。逐模型扣减费率上线前公布，组织服务与BYOK独立。原WorkBuddy官网2026-10-06连续包月含限时赠送快照：70元4000、140元9000、700元50000积分，加量50元1000。Blocky每积分售价0.04950、0.04422、0.03996和0.05000元，WorkBuddy为0.01750、0.01556、0.01400和0.05000，名义比约2.83、2.84、2.85和1倍。两平台积分、模型与权益不同，不能等同任务成本、承诺同任务更便宜或已盈利；赠送和续费可能变化。</a:t>
            </a:r>
          </a:p>
          <a:p xmlns:a="http://schemas.openxmlformats.org/drawingml/2006/main">
            <a:r>
              <a:t>条件假设：满额用量，模型结算成本0.02元每积分，其他可变费用为收入10%。标准99−40−9.90=49.10元，贡献率49.60%；进阶199−90−19.90=89.10元、44.77%；专业999−500−99.90=399.10元、39.95%；加量50−20−5=25元、50%。50%目标贡献率对应模型成本上限每积分0.01980、0.01769、0.01598、0.02000元。0.04元成本压力下贡献额分别9.10、−0.90、−100.90、5元，均非报价。原预算专业参考月模型成本1347.02元，若按999元交付并另扣10%，贡献−447.92元；该月负荷尚未映射成25000积分，不能当本套餐实测亏损。情景未扣固定研发运营支出、未进入原财务收入预测，实际成本上涨必须调整额度、费率或报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https://www.workbuddy.cn/docs/workbuddy/Pricing</a:t>
            </a:r>
          </a:p>
          <a:p xmlns:a="http://schemas.openxmlformats.org/drawingml/2006/main">
            <a:r>
              <a:t>https://www.codebuddy.cn/docs/workbuddy/Credits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21秒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每人高用量GPT按当前Pro500美元月费规划，5人一年约21万元。它是团队研发工具，产品API另按Token和调用量计算。短任务使用历史回执，专业长任务目前按明确情景估算，服务器从普通CPU实例起步。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每人Pro500美元/月×5人×预算汇率7元/美元×12月＝21万元；用户50x称呼不作为官方恒定倍率承诺，额外使用和税费按实收更新。历史10任务、30响应输入76845输出5738Token，当前DeepSeek Pro峰时无缓存输入9/输出27元每百万Token，短任务0.08465310元；学生40任务3.386124元/月，教师240任务20.316744元/月，频次是假设。专业20任务×8调用×每调用20000输入/2000输出＝37.44元/人月，压力100任务×32调用＝748.80元/人月，均未实测，不把Claude Code工具订阅统计当客户API账单。团队产品API回归5人×100任务×8调用＝936元/月，全年1.1232万元，独立于Pro订阅。腾讯云内地2核4G刊例80元/月，4核8G230元/月；含应用与数据库实例、其他云资源预留，基准1–6月560元/月、7–12月1140、13–24月1990，无GPU集群。其他预留非报价，按实际存储、下载、并发重估。条件试用仅平台承担，BYOK和本地用户不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https://learn.chatgpt.com/docs/pricing</a:t>
            </a:r>
          </a:p>
          <a:p xmlns:a="http://schemas.openxmlformats.org/drawingml/2006/main">
            <a:r>
              <a:t>https://api-docs.deepseek.com/zh-cn/quick_start/pricing/</a:t>
            </a:r>
          </a:p>
          <a:p xmlns:a="http://schemas.openxmlformats.org/drawingml/2006/main">
            <a:r>
              <a:t>https://cloud.tencent.com/document/product/1207/119345</a:t>
            </a:r>
          </a:p>
          <a:p xmlns:a="http://schemas.openxmlformats.org/drawingml/2006/main">
            <a:r>
              <a:t>https://www.stats.gov.cn/sj/zxfb/202605/t20260515_1963707.html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22秒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近期先覆盖12个月，现金支出约130万元，主要是5人人力90万元和GPT订阅21万元。加入约13万元风险预留及约30万元运营储备，最低约173万元，向上取整180万元；工资、设备和长任务用量仍需确认。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基准12月现金130.226万元，风险13.023万元，3个月经常性运营储备29.595万元，最低172.844万元，取整180万元。人力5×12000×1.25×12＝900000元；25%为附加成本预算比例，不是法定费率。研发API1.123、条件试用API0.483、基础设施1.020、一般运营3.600、专项技术6.000、教学材料2.000、增量设备5.000万元。设备为采购上限，现有设备未确认可抵减，现金与折旧不双算。未知工资、合作费、自有现金和收入不伪装成事实；默认不依赖收入或未确认资产抵减。原900万元属于更大后期规模及成本参照模型，已被本次5人近期开支模型取代，不等于已谈妥融资或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https://learn.chatgpt.com/docs/pricing</a:t>
            </a:r>
          </a:p>
          <a:p xmlns:a="http://schemas.openxmlformats.org/drawingml/2006/main">
            <a:r>
              <a:t>https://api-docs.deepseek.com/zh-cn/quick_start/pricing/</a:t>
            </a:r>
          </a:p>
          <a:p xmlns:a="http://schemas.openxmlformats.org/drawingml/2006/main">
            <a:r>
              <a:t>https://cloud.tencent.com/document/product/1207/119345</a:t>
            </a:r>
          </a:p>
          <a:p xmlns:a="http://schemas.openxmlformats.org/drawingml/2006/main">
            <a:r>
              <a:t>https://www.stats.gov.cn/sj/zxfb/202605/t20260515_1963707.html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21秒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个月覆盖目标约100万元，12个月180万元，持续24个月基准330万元，这些是不同覆盖期，不能相加。近期90天完善可靠体验和发布支持；教学试用与扩容以产品关口为准。工资和高强度任务不同，首年目标约140至290万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基准6月现金64.198、最低99.716、目标100万元；12月现金130.226、最低172.844、目标180；24月现金262.877、最低320.206、目标330。月7为最早条件试用窗口，未通过设备、内容、许可和产品关口关闭开关或后移人数；基准月份7–9为30学生3教师10专业，10–12为60/6/20，13–18为120/12/50，19–24为240/24/100，非实际客户和增长预测。5人和Pro500所有情景保留，节约/基准/高投入首年资金目标140/180/290万元，24月260/330/700万元，同时变化工资、汇率、调用量、采购与储备。原900万模型后期专业采购约303万元，按期末未收回采购放大3月储备；新近期限于小范围试用且不依赖收入，不能声称实际成本已下降。合作费、预付额度和保证金报价未知，不虚设30万；费用、可抵扣预付和可退资产单列，拿到条款滚动重算。未来应用订阅和机构收入未确认，不计入基准抵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https://learn.chatgpt.com/docs/pricing</a:t>
            </a:r>
          </a:p>
          <a:p xmlns:a="http://schemas.openxmlformats.org/drawingml/2006/main">
            <a:r>
              <a:t>https://api-docs.deepseek.com/zh-cn/quick_start/pricing/</a:t>
            </a:r>
          </a:p>
          <a:p xmlns:a="http://schemas.openxmlformats.org/drawingml/2006/main">
            <a:r>
              <a:t>https://cloud.tencent.com/document/product/1207/119345</a:t>
            </a:r>
          </a:p>
          <a:p xmlns:a="http://schemas.openxmlformats.org/drawingml/2006/main">
            <a:r>
              <a:t>https://www.stats.gov.cn/sj/zxfb/202605/t20260515_1963707.html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讲述参考 10秒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我们希望与教育和专业伙伴共建可读、可改、可运行的作品，并在产品准备后采集真实使用反馈。欢迎围绕产品能力、场景合作和阶段资源展开交流。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补充依据</a:t>
            </a:r>
          </a:p>
          <a:p xmlns:a="http://schemas.openxmlformats.org/drawingml/2006/main">
            <a:r>
              <a:t>合作内容包括四类蓝图、共享接口与目标端共建，按能力关口支持持续研发，以及准备后的作品、复用、账单和采购反馈。当前官网为开发预览站、海外托管，国内正式域名尚未注册，启用后公布。官网在线体验为预设模拟，Windows测试安装包已公开，源码与社区、组织后台、托管计费和多端仍按计划建设。材料不是赛事提交、客户合同或已实现收入的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</a:t>
            </a:r>
          </a:p>
          <a:p xmlns:a="http://schemas.openxmlformats.org/drawingml/2006/main">
            <a:r>
              <a:t>https://blocky.donk55666.chatgpt.site/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56730cbd0a40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0e7f0510a40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fdaef5ff1b4e9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8ca15a52d9420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4d6c05b6aa4f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1898df056841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D18FF9-B8A4-4DE2-A7F2-8D1D2019AA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35228EA-3681-44EF-94BB-98A5C8D7F9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95630D1-74B5-4922-9FAE-2F1EA2BC5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589423-154C-4F96-B515-F99DC3BED2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533E45C-4B16-4078-AE59-F094C1F3E8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DEE53F0-4923-4FBC-BF5A-5ED32BC44F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1C3F3F-DBCF-486A-8F73-3EB10F2A99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42FCCAC-D45A-4D2C-B78F-C5BF28E3FF6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1E26BB-1B0D-49C4-AAD2-206280494F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1D166ED-626C-42C3-9ABB-F808CA00DE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3961f6c9d7443e" /><Relationship Type="http://schemas.openxmlformats.org/officeDocument/2006/relationships/slideLayout" Target="/ppt/slideLayouts/slideLayout1.xml" Id="R7e93507948614a7d" /><Relationship Type="http://schemas.openxmlformats.org/officeDocument/2006/relationships/slideLayout" Target="/ppt/slideLayouts/slideLayout2.xml" Id="Rcecd5c39058d4d70" /><Relationship Type="http://schemas.openxmlformats.org/officeDocument/2006/relationships/slideLayout" Target="/ppt/slideLayouts/slideLayout3.xml" Id="R19f39fdb8da849bf" /><Relationship Type="http://schemas.openxmlformats.org/officeDocument/2006/relationships/slideLayout" Target="/ppt/slideLayouts/slideLayout4.xml" Id="R2ff0592ede7a49c7" /><Relationship Type="http://schemas.openxmlformats.org/officeDocument/2006/relationships/slideLayout" Target="/ppt/slideLayouts/slideLayout5.xml" Id="R487b22a261c5476a" /><Relationship Type="http://schemas.openxmlformats.org/officeDocument/2006/relationships/slideLayout" Target="/ppt/slideLayouts/slideLayout6.xml" Id="R80c7829dd0f849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93507948614a7d"/>
    <p:sldLayoutId xmlns:r="http://schemas.openxmlformats.org/officeDocument/2006/relationships" id="2147483650" r:id="Rcecd5c39058d4d70"/>
    <p:sldLayoutId xmlns:r="http://schemas.openxmlformats.org/officeDocument/2006/relationships" id="2147483651" r:id="R19f39fdb8da849bf"/>
    <p:sldLayoutId xmlns:r="http://schemas.openxmlformats.org/officeDocument/2006/relationships" id="2147483652" r:id="R2ff0592ede7a49c7"/>
    <p:sldLayoutId xmlns:r="http://schemas.openxmlformats.org/officeDocument/2006/relationships" id="2147483653" r:id="R487b22a261c5476a"/>
    <p:sldLayoutId xmlns:r="http://schemas.openxmlformats.org/officeDocument/2006/relationships" id="2147483654" r:id="R80c7829dd0f849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f10aba638a4adf" /><Relationship Type="http://schemas.openxmlformats.org/officeDocument/2006/relationships/image" Target="/ppt/media/image.png" Id="R65f28f3ea25241b7" /><Relationship Type="http://schemas.openxmlformats.org/officeDocument/2006/relationships/notesSlide" Target="/ppt/notesSlides/notesSlide1.xml" Id="Rf96a347428164b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9ea21bdec34365" /><Relationship Type="http://schemas.openxmlformats.org/officeDocument/2006/relationships/image" Target="/ppt/media/image2.png" Id="R82625a969b304792" /><Relationship Type="http://schemas.openxmlformats.org/officeDocument/2006/relationships/notesSlide" Target="/ppt/notesSlides/notesSlide2.xml" Id="R7375235e024d49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45ba4d892e4907" /><Relationship Type="http://schemas.openxmlformats.org/officeDocument/2006/relationships/notesSlide" Target="/ppt/notesSlides/notesSlide3.xml" Id="R0c017c84418241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4ccd82d15f4717" /><Relationship Type="http://schemas.openxmlformats.org/officeDocument/2006/relationships/notesSlide" Target="/ppt/notesSlides/notesSlide4.xml" Id="Rd84a0386db1f4e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24c71c2550414f" /><Relationship Type="http://schemas.openxmlformats.org/officeDocument/2006/relationships/notesSlide" Target="/ppt/notesSlides/notesSlide5.xml" Id="R6842a89290df47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98541501c84612" /><Relationship Type="http://schemas.openxmlformats.org/officeDocument/2006/relationships/notesSlide" Target="/ppt/notesSlides/notesSlide6.xml" Id="R44f445e0fb514b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c6ae91d18a4f57" /><Relationship Type="http://schemas.openxmlformats.org/officeDocument/2006/relationships/image" Target="/ppt/media/image3.png" Id="R4974a9e831e54694" /><Relationship Type="http://schemas.openxmlformats.org/officeDocument/2006/relationships/notesSlide" Target="/ppt/notesSlides/notesSlide7.xml" Id="R9add4608042c4e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fce3a8867e445a" /><Relationship Type="http://schemas.openxmlformats.org/officeDocument/2006/relationships/notesSlide" Target="/ppt/notesSlides/notesSlide8.xml" Id="Rc15eeb8b3a454c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6be23d0b814d38" /><Relationship Type="http://schemas.openxmlformats.org/officeDocument/2006/relationships/notesSlide" Target="/ppt/notesSlides/notesSlide9.xml" Id="R8f36e021db6446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a4939550174564" /><Relationship Type="http://schemas.openxmlformats.org/officeDocument/2006/relationships/notesSlide" Target="/ppt/notesSlides/notesSlide10.xml" Id="Re78514eeebad47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eb090afac04268" /><Relationship Type="http://schemas.openxmlformats.org/officeDocument/2006/relationships/image" Target="/ppt/media/image4.png" Id="R79022b22a7f64ad9" /><Relationship Type="http://schemas.openxmlformats.org/officeDocument/2006/relationships/notesSlide" Target="/ppt/notesSlides/notesSlide11.xml" Id="Rf88a0c2eac7741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13f4fcdb0f420e" /><Relationship Type="http://schemas.openxmlformats.org/officeDocument/2006/relationships/notesSlide" Target="/ppt/notesSlides/notesSlide12.xml" Id="R188b34016431406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90ee27e2e84556" /><Relationship Type="http://schemas.openxmlformats.org/officeDocument/2006/relationships/notesSlide" Target="/ppt/notesSlides/notesSlide13.xml" Id="R6a0621b09c0e44a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1ce641c92840f4" /><Relationship Type="http://schemas.openxmlformats.org/officeDocument/2006/relationships/notesSlide" Target="/ppt/notesSlides/notesSlide14.xml" Id="Rc4e1a4cab9fb42c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514cb5384f4227" /><Relationship Type="http://schemas.openxmlformats.org/officeDocument/2006/relationships/image" Target="/ppt/media/image5.png" Id="Re61ad9d1a2e94f9f" /><Relationship Type="http://schemas.openxmlformats.org/officeDocument/2006/relationships/notesSlide" Target="/ppt/notesSlides/notesSlide15.xml" Id="R6d5c5915a48447a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6f5edf10e34cea" /><Relationship Type="http://schemas.openxmlformats.org/officeDocument/2006/relationships/notesSlide" Target="/ppt/notesSlides/notesSlide16.xml" Id="Re1d2b5c8516f422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53d305f84b4d90" /><Relationship Type="http://schemas.openxmlformats.org/officeDocument/2006/relationships/notesSlide" Target="/ppt/notesSlides/notesSlide17.xml" Id="R31835321655543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8106126d2941af" /><Relationship Type="http://schemas.openxmlformats.org/officeDocument/2006/relationships/notesSlide" Target="/ppt/notesSlides/notesSlide18.xml" Id="R274c4ac604b14d2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116a9621ba4a45" /><Relationship Type="http://schemas.openxmlformats.org/officeDocument/2006/relationships/notesSlide" Target="/ppt/notesSlides/notesSlide19.xml" Id="R02fa9e7ac883427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8511ef6bd0454f" /><Relationship Type="http://schemas.openxmlformats.org/officeDocument/2006/relationships/notesSlide" Target="/ppt/notesSlides/notesSlide20.xml" Id="Rccbdf3f70e6b4b7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187847253940da" /><Relationship Type="http://schemas.openxmlformats.org/officeDocument/2006/relationships/notesSlide" Target="/ppt/notesSlides/notesSlide21.xml" Id="R2935adb307a24ec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876b2adf6545f4" /><Relationship Type="http://schemas.openxmlformats.org/officeDocument/2006/relationships/notesSlide" Target="/ppt/notesSlides/notesSlide22.xml" Id="R0c856af68e5a434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f669857c884d08" /><Relationship Type="http://schemas.openxmlformats.org/officeDocument/2006/relationships/notesSlide" Target="/ppt/notesSlides/notesSlide23.xml" Id="R9678b70e4c66412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52badca33643f9" /><Relationship Type="http://schemas.openxmlformats.org/officeDocument/2006/relationships/notesSlide" Target="/ppt/notesSlides/notesSlide24.xml" Id="R1d114e74a7a14ce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aec674b1c04eca" /><Relationship Type="http://schemas.openxmlformats.org/officeDocument/2006/relationships/hyperlink" Target="https://blocky.donk55666.chatgpt.site/" TargetMode="External" Id="R980f4610b9b244f1" /><Relationship Type="http://schemas.openxmlformats.org/officeDocument/2006/relationships/notesSlide" Target="/ppt/notesSlides/notesSlide25.xml" Id="Ra4d1eb1084b04a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B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AA82D94-85D1-4BA1-8CE6-1411F1CF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rPr>
              <a:t>01 / 25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E86CFC1-72FC-4A6A-B134-7C54DA2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25" b="1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525" b="1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AB0290B-2E23-442F-88E7-3A622104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685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950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4950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rPr>
              <a:t>用积木，创作</a:t>
            </a:r>
          </a:p>
          <a:p xmlns:a="http://schemas.openxmlformats.org/drawingml/2006/main">
            <a:pPr algn="l">
              <a:defRPr sz="4950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rPr>
              <a:t>自己的智能体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678A789-9F13-4A82-B6C9-C537DF5E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rPr>
              <a:t>教育入门与专业创作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49FCD76-625E-4D44-BA01-D25B32F3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rPr>
              <a:t>TB快重置就队</a:t>
            </a:r>
          </a:p>
          <a:p xmlns:a="http://schemas.openxmlformats.org/drawingml/2006/main">
            <a:pPr algn="l">
              <a:defRPr sz="172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rPr>
              <a:t>息壤杯高校赛区   2026年10月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3C00B-07D1-4F8A-9998-617001BE88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28f3ea25241b7"/>
          <a:stretch xmlns:a="http://schemas.openxmlformats.org/drawingml/2006/main"/>
        </p:blipFill>
        <p:spPr>
          <a:xfrm xmlns:a="http://schemas.openxmlformats.org/drawingml/2006/main">
            <a:off x="7812894" y="1438275"/>
            <a:ext cx="3709962" cy="4191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215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D7BBD5A-214E-45B8-BEED-1349CA47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AFCEADB-904C-43FB-913A-60557E49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教育是起点：让Agent成为孩子的创作对象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FB3B324-6F56-4A00-9FDC-28FB7FF3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面向小学AI创作活动，延续Scratch式作品学习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BA8BC81-C75A-45FA-85A1-4BED06D0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02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E366EB7-4793-47E4-B471-BB2581C1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9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从“得到答案”</a:t>
            </a:r>
          </a:p>
          <a:p xmlns:a="http://schemas.openxmlformats.org/drawingml/2006/main">
            <a:pPr algn="l">
              <a:defRPr sz="39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到“设计作品”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EB384E6-BB06-4AA6-A833-C5BCD37B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学生能读懂结构、选择部件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改造、运行，再讲清自己的设计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4EBD3C-5B44-4677-B3F6-2317A57189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25a969b304792"/>
          <a:stretch xmlns:a="http://schemas.openxmlformats.org/drawingml/2006/main"/>
        </p:blipFill>
        <p:spPr>
          <a:xfrm xmlns:a="http://schemas.openxmlformats.org/drawingml/2006/main">
            <a:off x="7429500" y="2492375"/>
            <a:ext cx="4152900" cy="2768600"/>
          </a:xfrm>
          <a:prstGeom xmlns:a="http://schemas.openxmlformats.org/drawingml/2006/main" prst="rect">
            <a:avLst/>
          </a:prstGeom>
        </p:spPr>
      </p:pic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6F48C53-3426-4ED3-BA1C-91FE5D45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先验证课堂和教师复用，再延伸专业、OPC与企业</a:t>
            </a:r>
          </a:p>
        </p:txBody>
      </p:sp>
    </p:spTree>
    <p:extLst>
      <p:ext uri="{BB962C8B-B14F-4D97-AF65-F5344CB8AC3E}">
        <p14:creationId xmlns:p14="http://schemas.microsoft.com/office/powerpoint/2010/main" val="11531204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8C346D1-998C-416A-AFD5-ED914C31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F69104D-592F-4CCA-B5B5-54E390A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教育：学生能读懂、修改并讲解作品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CBC59DD-236D-4812-B405-A5C73EF1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延续Scratch式创作，把Agent变成可设计的作品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498BEE9-5C17-43C0-958D-C5CE8F0C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03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0246445-CBB5-4918-B2E2-FA619543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2476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读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4B850D0-BA34-4A9A-BC09-04378636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读懂角色与步骤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83C1754-8097-493C-9E90-08311BC2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57475"/>
            <a:ext cx="2476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改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AE618F6-3AC2-44C7-9503-CB73796F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38575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改一处，看变化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C18DC26-5906-4E2C-86E7-F93BF576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57475"/>
            <a:ext cx="2476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搭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F167195-B02B-4E1C-A076-AEC565D5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38575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换一个创作目标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FFB616D-B826-48C4-990B-FBFA4B05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57475"/>
            <a:ext cx="2476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0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讲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80AD909-CF6C-401C-B227-DBB9D997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838575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解释运行与设计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55EB154-DE7C-4D0F-8BE0-DB34E893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教师预选模型、资料和权限，学生逐步增加能力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0A528BE-561E-463C-9FF5-EF0A2566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教学设计，真实课堂效果尚待验证</a:t>
            </a:r>
          </a:p>
        </p:txBody>
      </p:sp>
    </p:spTree>
    <p:extLst>
      <p:ext uri="{BB962C8B-B14F-4D97-AF65-F5344CB8AC3E}">
        <p14:creationId xmlns:p14="http://schemas.microsoft.com/office/powerpoint/2010/main" val="7107306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B627153-C111-408F-86E5-9EB8C58E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E77BF39-1D41-4D1D-BA42-8E5119A4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读懂故事搭档，先预测它怎样回应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9C240D4-9B46-4561-8F44-6EDCEF03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从角色、任务和规则，读到模型与输出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B5AE155-3341-4DBC-AF5D-21DFE087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04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F513818-82DC-494F-B710-BD3B25D3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1457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角色与任务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A00C22E-06C1-4221-B08E-949A5501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故事搭档：围绕伙伴和目的地回应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76E8195-4A00-4569-9F19-A5F56FC8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条件与上下文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F938CBA-ED31-4B6C-B31F-91067FB1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判断输入，再选择森林或花园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DB1DB8C-F37E-40D6-8B70-C5DA4706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模型与输出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EB2B969-03B9-4052-A8DB-C2EFB697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三句故事，以一个问题结尾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40F81A0-DC16-4B55-B688-FFC91362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765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运行前，学生预测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64C7538-C1B3-47AC-8372-A9950BA1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95650"/>
            <a:ext cx="3429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它会走哪条路线？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哪块决定这个选择？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改什么能换个结果？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A4005B0-F4B6-4E34-B93F-3621DD3B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教师预选模型与内容；这是教学设计，课堂效果尚待验证</a:t>
            </a:r>
          </a:p>
        </p:txBody>
      </p:sp>
    </p:spTree>
    <p:extLst>
      <p:ext uri="{BB962C8B-B14F-4D97-AF65-F5344CB8AC3E}">
        <p14:creationId xmlns:p14="http://schemas.microsoft.com/office/powerpoint/2010/main" val="6356368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4C6A027-AA4C-41D9-AD04-8D98AFD9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163F888-525F-46C6-9B89-3395F78C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一个改动，就能看见规则怎样影响结果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42DFA4C-7BB8-4F09-915D-77FA950D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输入保持“勇敢的小猫”，只修改判断条件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180CEDA-6663-44F1-B2D9-BA89C754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05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7E432A0-B965-4D79-A0B2-EACCC225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4857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修改前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737CB66-2066-4AC9-9C29-D8B49252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28875"/>
            <a:ext cx="483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修改后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1B17BBA-1995-4FFA-A58C-AF66FABF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判断包含“勇敢”</a:t>
            </a:r>
          </a:p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进入森林</a:t>
            </a:r>
          </a:p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输出：到森林探险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4E77C0F-0ADD-415B-AD9E-40B383BB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337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判断包含“友善”</a:t>
            </a:r>
          </a:p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进入花园</a:t>
            </a:r>
          </a:p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输出：去花园交朋友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5EBA531-E9BA-42EE-898F-8F070F88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学生解释：输入不变，条件改变，所以执行路线改变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4FEDEA2-FA57-4B5C-B6C4-DD919F6F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本地规则实际对照；故事生成与课堂效果另需验证</a:t>
            </a:r>
          </a:p>
        </p:txBody>
      </p:sp>
    </p:spTree>
    <p:extLst>
      <p:ext uri="{BB962C8B-B14F-4D97-AF65-F5344CB8AC3E}">
        <p14:creationId xmlns:p14="http://schemas.microsoft.com/office/powerpoint/2010/main" val="6133085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FB078CB-EDCB-4B83-AE8F-D0AA76A5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E24E867-5AA7-42FE-AC85-3B6B463EE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自主搭建：换目标，组合自己的向导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54B5008-9B61-4871-801D-B3935169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海底向导教学设计，一次增加一种能力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6C4855F-2DE7-4DC5-8DCC-BB8A7CF7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06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8F8AA8E-72FA-47E3-B784-BCA19CBA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新目标：海底向导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DFC4B65-5512-4A29-A963-0B169FE7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476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选伙伴与目的地</a:t>
            </a:r>
          </a:p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定角色与回应方式</a:t>
            </a:r>
          </a:p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保存每一步作品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FCB61A8-EEA4-4EBF-A953-88023D4C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95525"/>
            <a:ext cx="56292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30EBBB4-2360-4D2A-B289-FA48C225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43200"/>
            <a:ext cx="56292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组织介绍与提问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3C56A19-E892-4023-8FF1-5FFA8305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209925"/>
            <a:ext cx="56292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记忆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FC39ECB-F56C-4E4D-91A6-8A310209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57600"/>
            <a:ext cx="56292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记住上次目的地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5E34EFA-E914-4E76-A0C4-CCB62D04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124325"/>
            <a:ext cx="56292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知识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1A09C60-2B0E-4EB3-9B43-486BDE65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572000"/>
            <a:ext cx="56292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查资料，保留来源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5B4BCF2-8D55-493C-9984-80109751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038725"/>
            <a:ext cx="56292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工具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410BA72-E44E-4DBC-9D61-BC802018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486400"/>
            <a:ext cx="56292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登记的统计工具返回结果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C6F8777-C143-488F-A115-00AAC6C4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每次只增加一种能力，比较结果并解释部件选择</a:t>
            </a:r>
          </a:p>
        </p:txBody>
      </p:sp>
    </p:spTree>
    <p:extLst>
      <p:ext uri="{BB962C8B-B14F-4D97-AF65-F5344CB8AC3E}">
        <p14:creationId xmlns:p14="http://schemas.microsoft.com/office/powerpoint/2010/main" val="13540353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61FF8D9-B17E-4269-9A39-BB814315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349F225-CD9A-4B2F-B9F8-D8C83416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调试讲解：从运行步骤回到具体积木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2E19957-6A31-4637-8832-AE1F89F0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海底向导教学设计：换目标，选能力，再观察实际结果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015918B-5208-48AC-AF1E-436793FB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07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5147B6A-4DEC-4B91-8406-2E17BA22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设计新目标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7259EC4-B3FD-4522-B702-E31975EF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给向导选择角色、目的地与回应方式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32A9BE6-CD77-457A-92AD-DDE0E140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逐步加能力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CC2E82C-B5A2-4190-AF52-CBB32656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按任务增加模型、记忆、知识或工具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A304FC9-5F28-4D0D-9112-5F738D28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运行后讲解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AC6D0D0-B290-46C4-9637-A23F11EA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看步骤、定位积木、修改再运行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F4705-2BB6-4836-854A-15151625A8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4a9e831e54694"/>
          <a:stretch xmlns:a="http://schemas.openxmlformats.org/drawingml/2006/main"/>
        </p:blipFill>
        <p:spPr>
          <a:xfrm xmlns:a="http://schemas.openxmlformats.org/drawingml/2006/main">
            <a:off x="5448300" y="2230433"/>
            <a:ext cx="6134100" cy="3835409"/>
          </a:xfrm>
          <a:prstGeom xmlns:a="http://schemas.openxmlformats.org/drawingml/2006/main" prst="rect">
            <a:avLst/>
          </a:prstGeom>
        </p:spPr>
      </p:pic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9F200ED-AFB7-4815-AB37-7222D6CA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115050"/>
            <a:ext cx="613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真实资料作品画面；海底向导为教学设计</a:t>
            </a:r>
          </a:p>
        </p:txBody>
      </p:sp>
    </p:spTree>
    <p:extLst>
      <p:ext uri="{BB962C8B-B14F-4D97-AF65-F5344CB8AC3E}">
        <p14:creationId xmlns:p14="http://schemas.microsoft.com/office/powerpoint/2010/main" val="12916263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168BFEC-71F1-40BA-829B-0F3425C2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7617E40-9331-43E6-812B-E64DCC85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教师用作品包，组织课前、课中和课后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8490EAC-5B43-4D33-9DDF-DD3732D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服务设计：原作品、学生副本、任务卡与复盘记录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A61344C-CC8F-4501-A830-1C93EC99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08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68891AF-5035-42D3-9102-7517AD59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课前  准备原作品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77C9263-6E95-4888-8B81-5F63D07D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教师选部件、资料与配置，运行一遍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B660339-9D34-45A1-9DF5-E3EEA456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课中  保存学生副本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E63DF34-86FC-4783-B9FE-0F864C90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保留修改、输出与学生讲解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A9DD9F6-A6E2-4A4A-926D-9AEC07E5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课后  更新活动包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0A56633-EA92-41CC-B06C-7329BBA0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重开作品，记录帮助程度与复用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F238B99-503A-4EF5-B16D-BA864DC0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3581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服务范围样例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B479F0E-64C1-4188-8305-56102662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86100"/>
            <a:ext cx="3581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30名学生</a:t>
            </a:r>
          </a:p>
          <a:p xmlns:a="http://schemas.openxmlformats.org/drawingml/2006/main">
            <a:pPr algn="l">
              <a:defRPr sz="27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6次活动</a:t>
            </a:r>
          </a:p>
          <a:p xmlns:a="http://schemas.openxmlformats.org/drawingml/2006/main">
            <a:pPr algn="l">
              <a:defRPr sz="27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3个可编辑作品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22FA05B-5850-48EA-98F9-E50EA8AB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91125"/>
            <a:ext cx="3581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培训、配置、支持另列</a:t>
            </a:r>
          </a:p>
          <a:p xmlns:a="http://schemas.openxmlformats.org/drawingml/2006/main">
            <a:pPr algn="l">
              <a:def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后台与算力分别报价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61EAAA0-097A-4948-A99E-203C06C3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样例为服务设计，未形成课堂或合同事实</a:t>
            </a:r>
          </a:p>
        </p:txBody>
      </p:sp>
    </p:spTree>
    <p:extLst>
      <p:ext uri="{BB962C8B-B14F-4D97-AF65-F5344CB8AC3E}">
        <p14:creationId xmlns:p14="http://schemas.microsoft.com/office/powerpoint/2010/main" val="3511349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1C00CEA-DE3C-4BAC-84B7-A00A4954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D647EF6-99F8-42EF-BE05-9DACD30B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学生使用，教师组织，机构决定合作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DFE6AC5-50CC-45FC-96C2-E7063E2E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先选择设备、教师与采购责任都明确的活动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3967ACD-7CB3-4BE0-AA50-0C27CE74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09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8B14C73-016B-4545-A60D-9607884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ACF391D-1647-4F03-AF6F-06A5DCA7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能读懂、动手修改</a:t>
            </a:r>
          </a:p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做出作品并讲解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5918217-3243-4A7E-83BD-B523D334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71725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教师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AF498B3-5E38-4838-9C8D-0E1F4266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71825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能准备、分发、恢复</a:t>
            </a:r>
          </a:p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独立复用活动包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F4301AE-1DF7-4322-A51B-EB72E3F3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71725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机构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9AE0A75-D98D-40FE-BC77-F442994C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71825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设备、预算与责任明确</a:t>
            </a:r>
          </a:p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组织服务和算力分账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B4AFA8F-B60D-405D-9BD6-C0DA40E2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服务范围样例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BA18188-360D-45C7-94BB-F5504860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1班30学生 · 6次活动 · 3个作品 · 2次培训 · 8周支持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4BD3E7E-4EB6-4C97-81EE-D5E8E936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80小时为交付工时假设；无已签合同或真实课堂成效</a:t>
            </a:r>
          </a:p>
        </p:txBody>
      </p:sp>
    </p:spTree>
    <p:extLst>
      <p:ext uri="{BB962C8B-B14F-4D97-AF65-F5344CB8AC3E}">
        <p14:creationId xmlns:p14="http://schemas.microsoft.com/office/powerpoint/2010/main" val="7111969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4E9800F-0B2F-4A80-B27A-BDCA3182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8A6AEE0-39FD-4738-962E-4E63AB27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后续课堂后台，承接教师的组织工作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7B8EB93-14AA-4137-8BD7-1E8F9F7A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建设规划：班级、作业、进度与课程支持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BB24BEA-B01B-4A5D-BC0F-77292594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10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E6A00A6-6A6C-4631-841F-007219E9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现有作品基础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5FABBCA-474B-4779-893F-F7DFBB56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保存、重开与另存副本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保留修改与运行记录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活动包仍由教师组织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F727A30-B9F5-482A-8EDD-D23C2471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47925"/>
            <a:ext cx="4838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后续组织后台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1A9940D-10C2-4F84-A3BB-840A2724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67075"/>
            <a:ext cx="48387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师生、班级与学校配置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作业、评语与学习进度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课程版本、离线课堂与支持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413CB2F-3D3B-4128-B3AE-920E7E63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机构按学生规模和服务范围报价，完整后台仍在建设</a:t>
            </a:r>
          </a:p>
        </p:txBody>
      </p:sp>
    </p:spTree>
    <p:extLst>
      <p:ext uri="{BB962C8B-B14F-4D97-AF65-F5344CB8AC3E}">
        <p14:creationId xmlns:p14="http://schemas.microsoft.com/office/powerpoint/2010/main" val="7293844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47D054F-1101-4878-B8A0-AA9D316C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E4F3A18-E00C-4C05-AD26-6EE9FECC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同一工作台，把作品和运行放在一起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E40742A-5F21-47BE-AAF5-4CB5D76B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真实Windows工作台，展示合成资料作品的阶段成果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A72AA00-0C0C-4D8A-B40F-F8B3226A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11 / 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9F3E8-F7CA-4443-92DF-752A67D1A9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22b22a7f64ad9"/>
          <a:stretch xmlns:a="http://schemas.openxmlformats.org/drawingml/2006/main"/>
        </p:blipFill>
        <p:spPr>
          <a:xfrm xmlns:a="http://schemas.openxmlformats.org/drawingml/2006/main">
            <a:off x="1249075" y="2276475"/>
            <a:ext cx="6245799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939377D-B758-4845-80BE-B6994645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1935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结构可读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61E3D72-9002-43C9-ACE6-F09F72BF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67025"/>
            <a:ext cx="304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看角色、任务与部件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75A6CEB-F9DA-4DC5-A994-51105C94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改动可审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658C757-B410-42E1-A52A-0370AA5E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29075"/>
            <a:ext cx="304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核对差异，支持撤销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821874E-329E-4E1C-BDC5-313E4932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4345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过程可查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3A99E78-5134-4BD2-BDBB-A5A0EE64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191125"/>
            <a:ext cx="304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事件回到具体积木</a:t>
            </a:r>
          </a:p>
        </p:txBody>
      </p:sp>
    </p:spTree>
    <p:extLst>
      <p:ext uri="{BB962C8B-B14F-4D97-AF65-F5344CB8AC3E}">
        <p14:creationId xmlns:p14="http://schemas.microsoft.com/office/powerpoint/2010/main" val="6715121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A1159C6-C49C-450A-AE8C-0110A12F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710A161-76C2-4725-9130-BD86FB66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从少量部件开始，逐步展开更多能力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3AC73D6-648B-40F7-85FF-AA38A099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入门任务与专业能力共享作品格式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E20F5EC-E5D7-4C1C-8832-E1C0CE71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12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3E2654B-5B82-47D3-95FC-F4341BD7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4953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入门先看任务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815F87F-8750-4861-A573-C59463EB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953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开始 → 角色 → 会思考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会查找、会记住、会行动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会回答：形成一个完整作品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5AFEE9E-BC8F-4E90-BD17-AB6ABA04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19350"/>
            <a:ext cx="48387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按需要展开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C6CAE45-218B-422B-9CB9-0F08B749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86125"/>
            <a:ext cx="4838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知识问答 · 工作助手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Coding助手 · Pi Agent</a:t>
            </a:r>
          </a:p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也能新建空白或保留个人蓝图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3FD7CAC-760A-42BD-937C-41A11235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教师按任务选蓝图；模型、资料与权限预先配置</a:t>
            </a:r>
          </a:p>
        </p:txBody>
      </p:sp>
    </p:spTree>
    <p:extLst>
      <p:ext uri="{BB962C8B-B14F-4D97-AF65-F5344CB8AC3E}">
        <p14:creationId xmlns:p14="http://schemas.microsoft.com/office/powerpoint/2010/main" val="10908550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E20702F-F054-4D72-963A-9F3E3717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52491B7-4543-4E0C-A8C1-6E7433B1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用作品、帮助记录和教师复用验证教学价值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4EAAA87-EE80-48C3-830F-D5D9A114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先小范围验证，再决定课堂与付费扩展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C845A98-B69A-4EDC-A60C-5407D45F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13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E31B58F-B94B-4DB8-A4FF-6A284F89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先验证学习过程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71F5390-118A-4F02-ABF9-4273B1CB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读懂预测、单处改造、迁移搭建、调试解释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D6040F9-1CBB-47CF-B5CE-73AC9931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同时记录帮助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C46C212-800F-4286-A953-7F76F435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自主、口头提示、指明位置、示范或代操作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A87BC10-BE9D-4060-B25E-C9F59F0A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再验证教师复用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244946D-69CF-4D57-B8B3-810B4C54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至少一位教师能独立准备并组织活动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E417628-9E7C-4A8B-B144-4B366345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计划10次教师访谈、2次完整试用；80%自主改造为决策门槛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BF850DC-4923-47AC-9C9C-6AC159EC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尚未执行；报告原始人数、课时和帮助分布，不外推普遍学习提升</a:t>
            </a:r>
          </a:p>
        </p:txBody>
      </p:sp>
    </p:spTree>
    <p:extLst>
      <p:ext uri="{BB962C8B-B14F-4D97-AF65-F5344CB8AC3E}">
        <p14:creationId xmlns:p14="http://schemas.microsoft.com/office/powerpoint/2010/main" val="2085168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2F2E450-9736-456C-A47C-10FE020C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2CFF63B-A3EF-465A-977D-3E416AD5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围绕同一个教学任务，比较工具与组织能力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047F2FB-DB7D-422B-A452-71DEAF86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沿用2026年10月3日官方资料快照，按具体任务比较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155D136-6C22-4B20-B0CD-DC53ADDA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14 / 25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5C8BF-2A2B-4175-9541-6C18072C762F}"/>
              </a:ext>
            </a:extLst>
          </p:cNvPr>
          <p:cNvGraphicFramePr/>
          <p:nvPr/>
        </p:nvGraphicFramePr>
        <p:xfrm>
          <a:off xmlns:a="http://schemas.openxmlformats.org/drawingml/2006/main" x="609600" y="2362200"/>
          <a:ext xmlns:a="http://schemas.openxmlformats.org/drawingml/2006/main" cx="10972800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114800"/>
                <a:gridCol w="4381500"/>
              </a:tblGrid>
              <a:tr h="7715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主要创作或服务方向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Blocky关注的组合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Scratch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故事、游戏与动画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延续作品改编和讲解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Blocks Builder AI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AI积木与应用交互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Agent结构与可审阅修改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Tynker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学校课程与组织管理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运行步骤定位与作品复用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0BB7C81-70F6-450B-AB87-1B67C3F0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组织教学能力继续建设，效果优势需要同任务验证</a:t>
            </a:r>
          </a:p>
        </p:txBody>
      </p:sp>
    </p:spTree>
    <p:extLst>
      <p:ext uri="{BB962C8B-B14F-4D97-AF65-F5344CB8AC3E}">
        <p14:creationId xmlns:p14="http://schemas.microsoft.com/office/powerpoint/2010/main" val="31100870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58AA033-7203-40B3-9285-6F7E2401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专业创作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AF5B602-B1AA-4DFA-891E-76EC8567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从代码审阅，转向积木审阅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A04F3A0-CC7A-49BF-9EDA-B399B04A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面向非专业Agent开发者，让设计与实际动作可以对照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9EB849A-5D47-427C-82C7-FC84683E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15 / 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B0E9FD-22C8-4399-989A-4967113DC5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ad9d1a2e94f9f"/>
          <a:stretch xmlns:a="http://schemas.openxmlformats.org/drawingml/2006/main"/>
        </p:blipFill>
        <p:spPr>
          <a:xfrm xmlns:a="http://schemas.openxmlformats.org/drawingml/2006/main">
            <a:off x="896539" y="2438400"/>
            <a:ext cx="5712621" cy="3571875"/>
          </a:xfrm>
          <a:prstGeom xmlns:a="http://schemas.openxmlformats.org/drawingml/2006/main" prst="rect">
            <a:avLst/>
          </a:prstGeom>
        </p:spPr>
      </p:pic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3F1C8C9-7A01-4683-B780-7CC0F312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133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搭建时：读设计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02894CF-FC58-45E1-A19E-A0A9A1C1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71775"/>
            <a:ext cx="4133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角色、资料、流程与工具权限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9969C82-55DB-4872-8A39-6875F31D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48050"/>
            <a:ext cx="4133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执行前：审改动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99702EF-1A12-4B16-8014-30D89012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95725"/>
            <a:ext cx="4133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对照预期行为，决定是否运行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ECC71EC-4F8B-41DB-91DF-8C62759F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72000"/>
            <a:ext cx="4133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运行后：查动作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2B46567-F8A7-486A-8260-BB7ECD23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19675"/>
            <a:ext cx="4133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轨迹定位积木，修改后再核验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EE3B9C1-0B89-45E5-A753-EA9115C8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把“我想让它做什么”，与“它实际做了什么”对照起来</a:t>
            </a:r>
          </a:p>
        </p:txBody>
      </p:sp>
    </p:spTree>
    <p:extLst>
      <p:ext uri="{BB962C8B-B14F-4D97-AF65-F5344CB8AC3E}">
        <p14:creationId xmlns:p14="http://schemas.microsoft.com/office/powerpoint/2010/main" val="14196445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111DD9C-41D1-4EEA-9525-6FA462D5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专业创作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18E2D39-C1B3-4AAD-8A70-2577F8E9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专业创作：蓝图、开放入口与自定义积木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0503216-7CCD-4676-9D0C-1158E5FE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保留已有Agent工作方式，把能力组合成自己的作品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A5CEB4A-E01D-491E-9B09-720825B8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16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B72270E-4A5A-450B-AFE9-7CAC3F58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目前四类蓝图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81A51F2-68BB-4C43-A970-8D3BC481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知识问答、工作、Coding、Pi；Pi首个由代码转为积木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CD532E7-4FC1-45E9-B97A-2B6EA9C0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后续专业Agent蓝图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9D81EC7-A1F6-4F7C-8CB7-297A754B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拓展Codex、DPH（DeepSeek Harness）、Hermes等底层架构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804CD71-78A5-4FF1-8454-272D2B59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专业任务与开放CLI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7949F90-6365-4DC1-8DA9-E82FD70B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组合资料、工具与报告；已有Agent可继续操作Blocky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72D62FF-9772-444E-A555-DE268380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后期自定义积木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742C556-5961-4777-8A0A-27EEA85C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可视化封装并展开，代码扩展算法、接口与业务逻辑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E51D62A-4A4E-462F-A0D7-FDFEE4BA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官网一分钟周报为预设体验；完整自定义编辑与分发仍是规划</a:t>
            </a:r>
          </a:p>
        </p:txBody>
      </p:sp>
    </p:spTree>
    <p:extLst>
      <p:ext uri="{BB962C8B-B14F-4D97-AF65-F5344CB8AC3E}">
        <p14:creationId xmlns:p14="http://schemas.microsoft.com/office/powerpoint/2010/main" val="14734983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4D9895-B95E-4A8C-8CE5-A73B56F43F2A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543800" y="343852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66C"/>
            </a:solidFill>
            <a:tailEnd type="arrow" w="med" len="me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31259E-B4C6-467E-94EE-D544087B74AF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505200" y="343852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66C"/>
            </a:solidFill>
            <a:tailEnd type="arrow" w="med" len="med"/>
          </a:ln>
        </p:spPr>
      </p:cxn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5317AF1-2A8C-4637-8D96-E33B3A01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专业创作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8DD8ACF-698E-47A4-901D-812726E1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技术架构：作品怎样成为可运行的Agent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2572090-6C12-4EE1-9BC8-03C9AB88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积木描述任务，共享内核执行，模型与工具完成具体动作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15A958A-0A33-4405-8090-BE139815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17 / 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0AA99-60D3-4105-9997-7189EDF1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895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DF"/>
          </a:solidFill>
          <a:ln xmlns:a="http://schemas.openxmlformats.org/drawingml/2006/main" w="9525">
            <a:solidFill>
              <a:srgbClr val="A3B5A2"/>
            </a:solidFill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CF0F976-DFBC-4F76-96A5-949763E1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81325"/>
            <a:ext cx="2514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创作界面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D703434-2EB4-4CCE-8BF0-0398E499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积木或文字描述任务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C624F-5E4D-43D6-AB53-BB6975D9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76525"/>
            <a:ext cx="2895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DF"/>
          </a:solidFill>
          <a:ln xmlns:a="http://schemas.openxmlformats.org/drawingml/2006/main" w="9525">
            <a:solidFill>
              <a:srgbClr val="A3B5A2"/>
            </a:solidFill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5CEA820-4430-4F50-B34A-7E49F7F8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81325"/>
            <a:ext cx="2514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共享运行内核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85A1568-CB52-416B-9C2A-F9D1FA8F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562350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按作品步骤执行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D9DB2-3D55-4542-9C00-D25062E9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76525"/>
            <a:ext cx="2895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DF"/>
          </a:solidFill>
          <a:ln xmlns:a="http://schemas.openxmlformats.org/drawingml/2006/main" w="9525">
            <a:solidFill>
              <a:srgbClr val="A3B5A2"/>
            </a:solidFill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051D2DD-E92A-4540-9089-FB945948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981325"/>
            <a:ext cx="2514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模型与工具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B039988-76B5-4B4C-871A-5F3E8819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562350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在获准范围内调用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39E9357-A925-4780-BACF-55418A39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执行结果和运行步骤回到作品，帮助用户检查与修改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BC7CF27-8C80-4C00-A74D-00F8C9B1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密钥与工具权限由桌面端管理；界面、构建助手与CLI共用作品能力</a:t>
            </a:r>
          </a:p>
        </p:txBody>
      </p:sp>
    </p:spTree>
    <p:extLst>
      <p:ext uri="{BB962C8B-B14F-4D97-AF65-F5344CB8AC3E}">
        <p14:creationId xmlns:p14="http://schemas.microsoft.com/office/powerpoint/2010/main" val="15153980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73CB28C-A99F-45CC-BE18-C1E67FAC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OPC与企业Agent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C6B0CCF-41EE-4F4D-9A07-6E771924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OPC与企业：把Agent作品用于经营和协作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609A187-509D-41A2-88CE-E3201A99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共同方向：明确职责与权限，审阅过程，复用并交付应用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6BFCC72-98AC-4564-A45C-8450418E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18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798E888-9248-422B-BA3C-19C900FB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rPr>
              <a:t>OPC（一人公司）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09689C6-CB8C-4FDE-BF82-9912EB85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4857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经营者组合资料、内容助理</a:t>
            </a:r>
          </a:p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看结构、查过程、复核决定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77D72CA-CA51-4B61-8A07-A90C12A6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0982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85F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85F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285F8C"/>
                </a:solidFill>
                <a:latin typeface="Microsoft YaHei"/>
                <a:ea typeface="Microsoft YaHei"/>
                <a:cs typeface="Microsoft YaHei"/>
              </a:rPr>
              <a:t>企业协作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3FFCA1C-B7DA-4622-9EEC-D820E4F1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67075"/>
            <a:ext cx="4857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按岗位和数据配置权限</a:t>
            </a:r>
          </a:p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保留版本、记录与部署恢复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D120830-9B51-44F5-9DE6-CC629507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rPr>
              <a:t>共同交付方向：后期一键导出Agent应用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8438991-35BD-4EA8-A56E-06853159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作品＋交互页面＋运行能力，开发者自定订阅价格与用量承担方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2A56F0D-7C17-4694-8F67-0584881D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组织部署、真实导出与应用经营仍在建设，尚无OPC收入验证</a:t>
            </a:r>
          </a:p>
        </p:txBody>
      </p:sp>
    </p:spTree>
    <p:extLst>
      <p:ext uri="{BB962C8B-B14F-4D97-AF65-F5344CB8AC3E}">
        <p14:creationId xmlns:p14="http://schemas.microsoft.com/office/powerpoint/2010/main" val="8853147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DE0972E-6674-467D-B74F-87D1CE7D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产品计划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904D644-961A-485A-8045-1182F37E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研发路线与多端版本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FE9A6BF-3B45-4ADC-B3B8-602ACBD0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教育、专业、OPC、企业依次扩展，按能力关口开放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CED3704-50D1-4303-A62A-00F3127A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19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947CBE5-52CF-4A74-92C3-4D012ACF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946318"/>
                </a:solidFill>
                <a:latin typeface="Microsoft YaHei"/>
                <a:ea typeface="Microsoft YaHei"/>
                <a:cs typeface="Microsoft YaHei"/>
              </a:rPr>
              <a:t>教育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5A99CF8-5F5D-49EA-BFBD-D6BCBCF7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95525"/>
            <a:ext cx="828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作品体验、课程与教师组织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2976AFF-E7C7-4F51-B32B-5DE67C74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专业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E757746-52B3-43A5-968B-5E091D99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38475"/>
            <a:ext cx="828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自定义积木、开放接口与可靠运行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A28B859-F228-4DB8-BA56-F6B1DC32A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6260A8"/>
                </a:solidFill>
                <a:latin typeface="Microsoft YaHei"/>
                <a:ea typeface="Microsoft YaHei"/>
                <a:cs typeface="Microsoft YaHei"/>
              </a:rPr>
              <a:t>OPC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F2F2F59-8A8D-48AD-9FC1-DE744983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81425"/>
            <a:ext cx="828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独立应用导出与经营配套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E078E6A-4933-465B-9FB0-06979CB1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85F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85F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85F8C"/>
                </a:solidFill>
                <a:latin typeface="Microsoft YaHei"/>
                <a:ea typeface="Microsoft YaHei"/>
                <a:cs typeface="Microsoft YaHei"/>
              </a:rPr>
              <a:t>企业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C165C28-7FE1-4024-90EC-694FE48B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24375"/>
            <a:ext cx="828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组织权限、团队部署与成本管理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5C13765-25DD-4D38-A0AC-B50EF6BE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Windows已有成果   macOS规划创作端</a:t>
            </a:r>
          </a:p>
          <a:p xmlns:a="http://schemas.openxmlformats.org/drawingml/2006/main">
            <a:pPr algn="l">
              <a:def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Android、iOS、HarmonyOS规划运行已搭建作品</a:t>
            </a:r>
          </a:p>
        </p:txBody>
      </p:sp>
    </p:spTree>
    <p:extLst>
      <p:ext uri="{BB962C8B-B14F-4D97-AF65-F5344CB8AC3E}">
        <p14:creationId xmlns:p14="http://schemas.microsoft.com/office/powerpoint/2010/main" val="162447506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5D2E8EE-8527-4F4D-A749-CFF36512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FE037F9-881D-48FE-90D7-837CE615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商业模式：软件免费，服务与算力收费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3C2080D-A817-47CC-B7C3-036C3D93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个人完整创作开源免费方向，组织方案按规模与范围报价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E8F86B9-AD93-4CA8-AB57-419BD303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20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F23159A-1A0A-4773-BD70-BD7F5659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个人软件</a:t>
            </a:r>
          </a:p>
          <a:p xmlns:a="http://schemas.openxmlformats.org/drawingml/2006/main">
            <a:pPr algn="l">
              <a:defRPr sz="34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开源免费方向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1BED969-D193-4B74-9B8C-11C40B79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95525"/>
            <a:ext cx="5295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学校与企业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206C4EF-E5F1-4C91-B1CA-6D17B8BB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3200"/>
            <a:ext cx="529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组织能力、课程、部署和支持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C6A979B-B3DA-4933-92D6-594B8EFA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38525"/>
            <a:ext cx="5295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托管模型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98DA3D3-A318-46E0-8DD4-D0EF0C34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86200"/>
            <a:ext cx="529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构建与运行共用账户套餐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549B7FF-77E5-4791-9D0E-C7B86BA7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81525"/>
            <a:ext cx="5295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未来应用订阅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8A279B0-5F50-4A41-9EE8-71379BEC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29200"/>
            <a:ext cx="529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开发者自定价，应用收入与算力分账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B6DE283-C22D-4EC5-B19E-A13D574A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BYOK直接向供应商付费；源码公开、托管计费和应用经营仍在建设</a:t>
            </a:r>
          </a:p>
        </p:txBody>
      </p:sp>
    </p:spTree>
    <p:extLst>
      <p:ext uri="{BB962C8B-B14F-4D97-AF65-F5344CB8AC3E}">
        <p14:creationId xmlns:p14="http://schemas.microsoft.com/office/powerpoint/2010/main" val="2799077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E30C26C-E5C5-44F1-9188-1AB415E2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2537402-29AA-4B1D-929B-B97EF355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定价讲清两件事：用户付多少，成本剩多少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3B25A74-AC68-41E0-9347-EB9212C2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咨询拟案，尚未开放购买；构建与运行共用对应账户额度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6F42CA1-B8B3-433C-82BE-214DE08D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21 / 25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BDFD33-069D-457E-8785-5C50C208F475}"/>
              </a:ext>
            </a:extLst>
          </p:cNvPr>
          <p:cNvGraphicFramePr/>
          <p:nvPr/>
        </p:nvGraphicFramePr>
        <p:xfrm>
          <a:off xmlns:a="http://schemas.openxmlformats.org/drawingml/2006/main" x="609600" y="2362200"/>
          <a:ext xmlns:a="http://schemas.openxmlformats.org/drawingml/2006/main" cx="5048250" cy="2628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3286125"/>
              </a:tblGrid>
              <a:tr h="6572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月度套餐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拟价 / 积分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99元 / 2,000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进阶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199元 / 4,500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专业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999元 / 25,000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0EF3B76-2EA4-4224-8A29-858840F0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193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99元收入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3F18C1B-CE88-4DA5-93AF-37D04EED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52775"/>
            <a:ext cx="5105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− 40元模型成本</a:t>
            </a:r>
          </a:p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− 9.90元其他可变费</a:t>
            </a:r>
          </a:p>
          <a:p xmlns:a="http://schemas.openxmlformats.org/drawingml/2006/main">
            <a:pPr algn="l">
              <a:def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＝49.10元贡献利润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17C3873-C11F-4811-B069-91B3B4DC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加量：50元 / 1,000积分，30天有效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30668EE-A45D-4DEB-9334-08C1FDDB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贡献利润还要覆盖研发与运营；0.02元/积分和10%费用均为假设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0860598-4F8B-4445-B64B-86E3CB3F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咨询拟案，未开放购买；月额度不结转，积分不等于固定Token数</a:t>
            </a:r>
          </a:p>
        </p:txBody>
      </p:sp>
    </p:spTree>
    <p:extLst>
      <p:ext uri="{BB962C8B-B14F-4D97-AF65-F5344CB8AC3E}">
        <p14:creationId xmlns:p14="http://schemas.microsoft.com/office/powerpoint/2010/main" val="6681264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CA60554-1575-490D-97CF-8F645C45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资源预算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FA17141-D11B-41EF-B0C2-96201051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五人团队：研发订阅与产品用量分账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054CDA5-B44E-403D-BB81-3DA8615A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2026-10-10官方核价；任务强度和工资明确标为假设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FA33FB4-B16A-455F-8A41-3A0E23FC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22 / 25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DD545-7092-4B10-BB61-08E1A2E5948C}"/>
              </a:ext>
            </a:extLst>
          </p:cNvPr>
          <p:cNvGraphicFramePr/>
          <p:nvPr/>
        </p:nvGraphicFramePr>
        <p:xfrm>
          <a:off xmlns:a="http://schemas.openxmlformats.org/drawingml/2006/main" x="609600" y="228600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8305800"/>
              </a:tblGrid>
              <a:tr h="6953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费用类别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基准与计算方式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团队GPT订阅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5人 × $500/月 × 7元/$ → 21万元/年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产品API测试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5人 × 100任务 × 8次调用 → 936元/月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条件试用API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短任务0.08465元；专业37.44元/人月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CPU基础设施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1–6月560；7–12月1,140元/月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3A9591C-BFD7-47D1-A593-86B0E54F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官方Pro输入9、输出27元/百万Token；缓存与空闲折扣不预先抵减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99CC5E6-73D9-413C-80A6-272CD5CF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订阅不代替产品API；专业用量、汇率和云预留是规划假设</a:t>
            </a:r>
          </a:p>
        </p:txBody>
      </p:sp>
    </p:spTree>
    <p:extLst>
      <p:ext uri="{BB962C8B-B14F-4D97-AF65-F5344CB8AC3E}">
        <p14:creationId xmlns:p14="http://schemas.microsoft.com/office/powerpoint/2010/main" val="117064414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A30E439-BD56-432E-8C37-ED5A7BC9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资源预算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352D926-DEB2-4AB1-9D52-AA0D9263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近期12个月资金：基准覆盖约180万元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2789515-78A1-4DC7-ABA4-F9EE5883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5人均计薪；税前1.2万元与附加25%为可调整假设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DD0D7CA-9B8C-4ECE-B009-E230C1BC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23 / 25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0FB3C9-EAB7-4468-9E2B-5C9A15C26947}"/>
              </a:ext>
            </a:extLst>
          </p:cNvPr>
          <p:cNvGraphicFramePr/>
          <p:nvPr/>
        </p:nvGraphicFramePr>
        <p:xfrm>
          <a:off xmlns:a="http://schemas.openxmlformats.org/drawingml/2006/main" x="609600" y="2190750"/>
          <a:ext xmlns:a="http://schemas.openxmlformats.org/drawingml/2006/main" cx="7286625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86375"/>
                <a:gridCol w="2000250"/>
              </a:tblGrid>
              <a:tr h="50006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12个月现金用途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万元</a:t>
                      </a:r>
                    </a:p>
                  </a:txBody>
                  <a:tcPr marL="133350" marR="114300" marT="133350" marB="85725" anchor="ctr">
                    <a:solidFill>
                      <a:srgbClr val="E8EDDF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5人人力（含附加）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90.000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5席Pro订阅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21.000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研发与条件试用API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1.606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基础设施与一般运营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4.620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专项技术与教学材料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8.000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增量测试设备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5.000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现金支出合计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F2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130.226</a:t>
                      </a:r>
                    </a:p>
                  </a:txBody>
                  <a:tcPr marL="133350" marR="114300" marT="133350" marB="85725" anchor="ctr">
                    <a:solidFill>
                      <a:srgbClr val="F7F8F0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2B958F2-559D-4268-BCA7-B70CB767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581275"/>
            <a:ext cx="31337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180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84B92E4-71FC-41A8-9646-3666A05B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714750"/>
            <a:ext cx="31337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万元，取整覆盖目标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E998288-1379-4AE9-B594-D96884AB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543425"/>
            <a:ext cx="313372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130.226  现金支出</a:t>
            </a:r>
          </a:p>
          <a:p xmlns:a="http://schemas.openxmlformats.org/drawingml/2006/main">
            <a: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13.023  风险预留</a:t>
            </a:r>
          </a:p>
          <a:p xmlns:a="http://schemas.openxmlformats.org/drawingml/2006/main">
            <a:pPr algn="l">
              <a:def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29.595  运营储备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64C8123-3A06-4534-B2D2-D7C1795A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953125"/>
            <a:ext cx="3133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最低需求172.844万元</a:t>
            </a:r>
          </a:p>
        </p:txBody>
      </p:sp>
    </p:spTree>
    <p:extLst>
      <p:ext uri="{BB962C8B-B14F-4D97-AF65-F5344CB8AC3E}">
        <p14:creationId xmlns:p14="http://schemas.microsoft.com/office/powerpoint/2010/main" val="152341279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55F4FE3-50D2-40BC-BE02-5F5BE001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研发与风险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7B2E9D8-D9B0-4342-B617-B6FEEF25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按阶段续投，保留完整路线和用量风险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0473D88-DEA9-41C4-82E6-CF1F3BF0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先教育和可靠创作，后专业、OPC与企业配套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B574B7B-AB7E-4E8D-B6FA-30538B54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24 / 25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7FFD48E-E92C-4376-AC7E-FEF85989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6个月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6EF9B5D-7E7D-4698-A6E8-67DEB454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655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先完善可靠创作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8623744-5C1A-4387-9DB8-D945A6A5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098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覆盖100万元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19663A0-CBAD-437A-9B28-35692950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12个月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9954AA1-2184-4E20-A32B-72619388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655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完善教育配套，小范围验证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573FB25-006F-4CEE-8654-E224BC4C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147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覆盖180万元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A794C1C-5C5D-4C0D-ADAC-834E0B8C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8766C"/>
                </a:solidFill>
                <a:latin typeface="Microsoft YaHei"/>
                <a:ea typeface="Microsoft YaHei"/>
                <a:cs typeface="Microsoft YaHei"/>
              </a:rPr>
              <a:t>24个月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F3CB9BC-AC63-4369-B8E7-D92D9489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655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F27"/>
                </a:solidFill>
                <a:latin typeface="Microsoft YaHei"/>
                <a:ea typeface="Microsoft YaHei"/>
                <a:cs typeface="Microsoft YaHei"/>
              </a:rPr>
              <a:t>续建专业、多端与组织能力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71E7621-9349-47BE-ACF3-5CAF7FED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9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覆盖330万元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EBA02CE-1EEB-483F-AF7C-76481314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657723"/>
                </a:solidFill>
                <a:latin typeface="Microsoft YaHei"/>
                <a:ea typeface="Microsoft YaHei"/>
                <a:cs typeface="Microsoft YaHei"/>
              </a:rPr>
              <a:t>首年情景140 / 180 / 290万元；工资、调用量及设备改变资金需求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B836F16-1AFF-4D2E-B183-B75B6F0A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75D"/>
                </a:solidFill>
                <a:latin typeface="Microsoft YaHei"/>
                <a:ea typeface="Microsoft YaHei"/>
                <a:cs typeface="Microsoft YaHei"/>
              </a:rPr>
              <a:t>覆盖期不能相加；产品就绪才试用。合作费、预付、保证金按条款分列</a:t>
            </a:r>
          </a:p>
        </p:txBody>
      </p:sp>
    </p:spTree>
    <p:extLst>
      <p:ext uri="{BB962C8B-B14F-4D97-AF65-F5344CB8AC3E}">
        <p14:creationId xmlns:p14="http://schemas.microsoft.com/office/powerpoint/2010/main" val="34456168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02B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76E5E41-510E-4916-B2E2-0978508D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865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rPr>
              <a:t>25 / 25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B370AE9-BC24-4711-B58F-B34536B0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425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4425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25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rPr>
              <a:t>让作品可以读懂、改造</a:t>
            </a:r>
          </a:p>
          <a:p xmlns:a="http://schemas.openxmlformats.org/drawingml/2006/main">
            <a:pPr algn="l">
              <a:defRPr sz="4425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25" b="1">
                <a:solidFill>
                  <a:srgbClr val="F7F8F0"/>
                </a:solidFill>
                <a:latin typeface="Microsoft YaHei"/>
                <a:ea typeface="Microsoft YaHei"/>
                <a:cs typeface="Microsoft YaHei"/>
              </a:rPr>
              <a:t>让运行过程可以回查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B94F706-2800-4A8A-9271-64AAC233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rPr>
              <a:t>教育起步，连接专业创作、OPC与企业Agent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D536475-F6A3-4B53-8419-9E52E00E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rPr>
              <a:t>产品共建   场景合作   阶段资源支持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0DED17B-6A31-47AE-AA7F-B028820B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D5EC7C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80f4610b9b244f1"/>
              </a:rPr>
              <a:t>blocky.donk55666.chatgpt.site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D639A65-1C96-4EB4-B891-F76163F8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BDD0C6"/>
                </a:solidFill>
                <a:latin typeface="Microsoft YaHei"/>
                <a:ea typeface="Microsoft YaHei"/>
                <a:cs typeface="Microsoft YaHei"/>
              </a:rPr>
              <a:t>开发预览站，海外托管；国内正式入口启用后公布</a:t>
            </a:r>
          </a:p>
        </p:txBody>
      </p:sp>
    </p:spTree>
    <p:extLst>
      <p:ext uri="{BB962C8B-B14F-4D97-AF65-F5344CB8AC3E}">
        <p14:creationId xmlns:p14="http://schemas.microsoft.com/office/powerpoint/2010/main" val="12157048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Blocky Studio</ns0:Application>
  <ns0:PresentationFormat>16:9</ns0:PresentationFormat>
  <ns0:Slides>25</ns0:Slides>
  <ns0:Notes>25</ns0:Notes>
  <ns0:HiddenSlides>0</ns0:HiddenSlides>
  <ns0:SharedDoc>false</ns0:SharedDoc>
  <ns0:DocSecurity>0</ns0:DocSecurity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Blocky Studio</dc:creator>
  <cp:lastModifiedBy>Blocky Studio</cp:lastModifiedBy>
  <dc:title>Blocky Studio 25页答辩</dc:title>
  <dcterms:created xsi:type="dcterms:W3CDTF">2026-10-09T17:21:58.2420000Z</dcterms:created>
  <dcterms:modified xsi:type="dcterms:W3CDTF">2026-10-09T17:21:58.2420000Z</dcterms:modified>
</cp:coreProperties>
</file>
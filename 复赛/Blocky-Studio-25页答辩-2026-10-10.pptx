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20c566c264f39" /><Relationship Type="http://schemas.openxmlformats.org/officeDocument/2006/relationships/extended-properties" Target="/docProps/app.xml" Id="R20feb24eee684330" /><Relationship Type="http://schemas.openxmlformats.org/officeDocument/2006/relationships/officeDocument" Target="/ppt/presentation.xml" Id="R448e112860b1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dea2d5b0cf4e27"/>
  </p:sldMasterIdLst>
  <p:notesMasterIdLst>
    <p:notesMasterId xmlns:r="http://schemas.openxmlformats.org/officeDocument/2006/relationships" r:id="R4cda8591de284ad9"/>
  </p:notesMasterIdLst>
  <p:sldIdLst>
    <p:sldId xmlns:r="http://schemas.openxmlformats.org/officeDocument/2006/relationships" id="256" r:id="R51905b2024884fbe"/>
    <p:sldId xmlns:r="http://schemas.openxmlformats.org/officeDocument/2006/relationships" id="257" r:id="Rcc399b1cd3764912"/>
    <p:sldId xmlns:r="http://schemas.openxmlformats.org/officeDocument/2006/relationships" id="258" r:id="R62d1a50f950c4cf3"/>
    <p:sldId xmlns:r="http://schemas.openxmlformats.org/officeDocument/2006/relationships" id="259" r:id="R671eb817c0af4292"/>
    <p:sldId xmlns:r="http://schemas.openxmlformats.org/officeDocument/2006/relationships" id="260" r:id="Ra26a433018b34752"/>
    <p:sldId xmlns:r="http://schemas.openxmlformats.org/officeDocument/2006/relationships" id="261" r:id="R0664f60a03f34c43"/>
    <p:sldId xmlns:r="http://schemas.openxmlformats.org/officeDocument/2006/relationships" id="262" r:id="Rb08c1f4f2722474d"/>
    <p:sldId xmlns:r="http://schemas.openxmlformats.org/officeDocument/2006/relationships" id="263" r:id="Re4b47050f2e546e7"/>
    <p:sldId xmlns:r="http://schemas.openxmlformats.org/officeDocument/2006/relationships" id="264" r:id="Rdcf5971c02334106"/>
    <p:sldId xmlns:r="http://schemas.openxmlformats.org/officeDocument/2006/relationships" id="265" r:id="Rc8c6b6cf27a24658"/>
    <p:sldId xmlns:r="http://schemas.openxmlformats.org/officeDocument/2006/relationships" id="266" r:id="R9971561e65d047e3"/>
    <p:sldId xmlns:r="http://schemas.openxmlformats.org/officeDocument/2006/relationships" id="267" r:id="R63ec0fce13754fc0"/>
    <p:sldId xmlns:r="http://schemas.openxmlformats.org/officeDocument/2006/relationships" id="268" r:id="R4ceaa09d0f724a6e"/>
    <p:sldId xmlns:r="http://schemas.openxmlformats.org/officeDocument/2006/relationships" id="269" r:id="R5280e33eaeb54da5"/>
    <p:sldId xmlns:r="http://schemas.openxmlformats.org/officeDocument/2006/relationships" id="270" r:id="Reba0a38ecd144344"/>
    <p:sldId xmlns:r="http://schemas.openxmlformats.org/officeDocument/2006/relationships" id="271" r:id="R814ecdd81fc14d41"/>
    <p:sldId xmlns:r="http://schemas.openxmlformats.org/officeDocument/2006/relationships" id="272" r:id="R32ec52200f6144bc"/>
    <p:sldId xmlns:r="http://schemas.openxmlformats.org/officeDocument/2006/relationships" id="273" r:id="Rc996d47b14524d6a"/>
    <p:sldId xmlns:r="http://schemas.openxmlformats.org/officeDocument/2006/relationships" id="274" r:id="R90a39021c55047fe"/>
    <p:sldId xmlns:r="http://schemas.openxmlformats.org/officeDocument/2006/relationships" id="275" r:id="R18d57304548940c9"/>
    <p:sldId xmlns:r="http://schemas.openxmlformats.org/officeDocument/2006/relationships" id="276" r:id="R99ecd7c8e6074853"/>
    <p:sldId xmlns:r="http://schemas.openxmlformats.org/officeDocument/2006/relationships" id="277" r:id="R1203ab67570e41aa"/>
    <p:sldId xmlns:r="http://schemas.openxmlformats.org/officeDocument/2006/relationships" id="278" r:id="R4c5e8f2c26214afa"/>
    <p:sldId xmlns:r="http://schemas.openxmlformats.org/officeDocument/2006/relationships" id="279" r:id="R02610a7a432f4cac"/>
    <p:sldId xmlns:r="http://schemas.openxmlformats.org/officeDocument/2006/relationships" id="280" r:id="Rdead445b00b547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576dfca444fda" /><Relationship Type="http://schemas.openxmlformats.org/officeDocument/2006/relationships/slideMaster" Target="/ppt/slideMasters/slideMaster1.xml" Id="R5edea2d5b0cf4e27" /><Relationship Type="http://schemas.openxmlformats.org/officeDocument/2006/relationships/notesMaster" Target="/ppt/notesMasters/notesMaster1.xml" Id="R4cda8591de284ad9" /><Relationship Type="http://schemas.openxmlformats.org/officeDocument/2006/relationships/presProps" Target="/ppt/presProps.xml" Id="R85243f05053445cb" /><Relationship Type="http://schemas.openxmlformats.org/officeDocument/2006/relationships/tableStyles" Target="/ppt/tableStyles.xml" Id="R1031734e44614f19" /><Relationship Type="http://schemas.openxmlformats.org/officeDocument/2006/relationships/slide" Target="/ppt/slides/slide1.xml" Id="R51905b2024884fbe" /><Relationship Type="http://schemas.openxmlformats.org/officeDocument/2006/relationships/slide" Target="/ppt/slides/slide2.xml" Id="Rcc399b1cd3764912" /><Relationship Type="http://schemas.openxmlformats.org/officeDocument/2006/relationships/slide" Target="/ppt/slides/slide3.xml" Id="R62d1a50f950c4cf3" /><Relationship Type="http://schemas.openxmlformats.org/officeDocument/2006/relationships/slide" Target="/ppt/slides/slide4.xml" Id="R671eb817c0af4292" /><Relationship Type="http://schemas.openxmlformats.org/officeDocument/2006/relationships/slide" Target="/ppt/slides/slide5.xml" Id="Ra26a433018b34752" /><Relationship Type="http://schemas.openxmlformats.org/officeDocument/2006/relationships/slide" Target="/ppt/slides/slide6.xml" Id="R0664f60a03f34c43" /><Relationship Type="http://schemas.openxmlformats.org/officeDocument/2006/relationships/slide" Target="/ppt/slides/slide7.xml" Id="Rb08c1f4f2722474d" /><Relationship Type="http://schemas.openxmlformats.org/officeDocument/2006/relationships/slide" Target="/ppt/slides/slide8.xml" Id="Re4b47050f2e546e7" /><Relationship Type="http://schemas.openxmlformats.org/officeDocument/2006/relationships/slide" Target="/ppt/slides/slide9.xml" Id="Rdcf5971c02334106" /><Relationship Type="http://schemas.openxmlformats.org/officeDocument/2006/relationships/slide" Target="/ppt/slides/slide10.xml" Id="Rc8c6b6cf27a24658" /><Relationship Type="http://schemas.openxmlformats.org/officeDocument/2006/relationships/slide" Target="/ppt/slides/slide11.xml" Id="R9971561e65d047e3" /><Relationship Type="http://schemas.openxmlformats.org/officeDocument/2006/relationships/slide" Target="/ppt/slides/slide12.xml" Id="R63ec0fce13754fc0" /><Relationship Type="http://schemas.openxmlformats.org/officeDocument/2006/relationships/slide" Target="/ppt/slides/slide13.xml" Id="R4ceaa09d0f724a6e" /><Relationship Type="http://schemas.openxmlformats.org/officeDocument/2006/relationships/slide" Target="/ppt/slides/slide14.xml" Id="R5280e33eaeb54da5" /><Relationship Type="http://schemas.openxmlformats.org/officeDocument/2006/relationships/slide" Target="/ppt/slides/slide15.xml" Id="Reba0a38ecd144344" /><Relationship Type="http://schemas.openxmlformats.org/officeDocument/2006/relationships/slide" Target="/ppt/slides/slide16.xml" Id="R814ecdd81fc14d41" /><Relationship Type="http://schemas.openxmlformats.org/officeDocument/2006/relationships/slide" Target="/ppt/slides/slide17.xml" Id="R32ec52200f6144bc" /><Relationship Type="http://schemas.openxmlformats.org/officeDocument/2006/relationships/slide" Target="/ppt/slides/slide18.xml" Id="Rc996d47b14524d6a" /><Relationship Type="http://schemas.openxmlformats.org/officeDocument/2006/relationships/slide" Target="/ppt/slides/slide19.xml" Id="R90a39021c55047fe" /><Relationship Type="http://schemas.openxmlformats.org/officeDocument/2006/relationships/slide" Target="/ppt/slides/slide20.xml" Id="R18d57304548940c9" /><Relationship Type="http://schemas.openxmlformats.org/officeDocument/2006/relationships/slide" Target="/ppt/slides/slide21.xml" Id="R99ecd7c8e6074853" /><Relationship Type="http://schemas.openxmlformats.org/officeDocument/2006/relationships/slide" Target="/ppt/slides/slide22.xml" Id="R1203ab67570e41aa" /><Relationship Type="http://schemas.openxmlformats.org/officeDocument/2006/relationships/slide" Target="/ppt/slides/slide23.xml" Id="R4c5e8f2c26214afa" /><Relationship Type="http://schemas.openxmlformats.org/officeDocument/2006/relationships/slide" Target="/ppt/slides/slide24.xml" Id="R02610a7a432f4cac" /><Relationship Type="http://schemas.openxmlformats.org/officeDocument/2006/relationships/slide" Target="/ppt/slides/slide25.xml" Id="Rdead445b00b547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ef332aaae2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2f5788a28a4466" /><Relationship Type="http://schemas.openxmlformats.org/officeDocument/2006/relationships/notesMaster" Target="/ppt/notesMasters/notesMaster1.xml" Id="Ra51629dceac04e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275ce196284c79" /><Relationship Type="http://schemas.openxmlformats.org/officeDocument/2006/relationships/notesMaster" Target="/ppt/notesMasters/notesMaster1.xml" Id="R89b9fae7e71047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59999836f444f4" /><Relationship Type="http://schemas.openxmlformats.org/officeDocument/2006/relationships/notesMaster" Target="/ppt/notesMasters/notesMaster1.xml" Id="R469e498028e442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3c614b6d664235" /><Relationship Type="http://schemas.openxmlformats.org/officeDocument/2006/relationships/notesMaster" Target="/ppt/notesMasters/notesMaster1.xml" Id="Ra656626cf33f45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ea294109a7402c" /><Relationship Type="http://schemas.openxmlformats.org/officeDocument/2006/relationships/notesMaster" Target="/ppt/notesMasters/notesMaster1.xml" Id="R2c1e4ec9a87a4d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1241b9e5a43dd" /><Relationship Type="http://schemas.openxmlformats.org/officeDocument/2006/relationships/notesMaster" Target="/ppt/notesMasters/notesMaster1.xml" Id="R40bb5138ade14f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03b4a5373f4524" /><Relationship Type="http://schemas.openxmlformats.org/officeDocument/2006/relationships/notesMaster" Target="/ppt/notesMasters/notesMaster1.xml" Id="Rb7bde9bf136a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91856d8184cab" /><Relationship Type="http://schemas.openxmlformats.org/officeDocument/2006/relationships/notesMaster" Target="/ppt/notesMasters/notesMaster1.xml" Id="R3b7c170c412f4a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c527786bcc41fe" /><Relationship Type="http://schemas.openxmlformats.org/officeDocument/2006/relationships/notesMaster" Target="/ppt/notesMasters/notesMaster1.xml" Id="Rf4345f91d4364c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a7a7fab3f44ec3" /><Relationship Type="http://schemas.openxmlformats.org/officeDocument/2006/relationships/notesMaster" Target="/ppt/notesMasters/notesMaster1.xml" Id="Raa69e3a96be44a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c66a6209f74eaf" /><Relationship Type="http://schemas.openxmlformats.org/officeDocument/2006/relationships/notesMaster" Target="/ppt/notesMasters/notesMaster1.xml" Id="Rc0f44549b8b241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daece9c55e41ef" /><Relationship Type="http://schemas.openxmlformats.org/officeDocument/2006/relationships/notesMaster" Target="/ppt/notesMasters/notesMaster1.xml" Id="Rd161975d3aa145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e14215081c4898" /><Relationship Type="http://schemas.openxmlformats.org/officeDocument/2006/relationships/notesMaster" Target="/ppt/notesMasters/notesMaster1.xml" Id="Rfe570148161e41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d774f03e0e463f" /><Relationship Type="http://schemas.openxmlformats.org/officeDocument/2006/relationships/notesMaster" Target="/ppt/notesMasters/notesMaster1.xml" Id="R3135d53a772449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be32c0e6214556" /><Relationship Type="http://schemas.openxmlformats.org/officeDocument/2006/relationships/notesMaster" Target="/ppt/notesMasters/notesMaster1.xml" Id="R8f2aab6bef8345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35c1ba97ee4c9c" /><Relationship Type="http://schemas.openxmlformats.org/officeDocument/2006/relationships/notesMaster" Target="/ppt/notesMasters/notesMaster1.xml" Id="R17557e21f40045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2dc996d7e04c9e" /><Relationship Type="http://schemas.openxmlformats.org/officeDocument/2006/relationships/notesMaster" Target="/ppt/notesMasters/notesMaster1.xml" Id="R0554b49a5b4642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89c6c5e405d4727" /><Relationship Type="http://schemas.openxmlformats.org/officeDocument/2006/relationships/notesMaster" Target="/ppt/notesMasters/notesMaster1.xml" Id="Rbebcdc75c0344e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b67485789d4814" /><Relationship Type="http://schemas.openxmlformats.org/officeDocument/2006/relationships/notesMaster" Target="/ppt/notesMasters/notesMaster1.xml" Id="Rd6d2dcc27a5a4b1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751bebfdf34827" /><Relationship Type="http://schemas.openxmlformats.org/officeDocument/2006/relationships/notesMaster" Target="/ppt/notesMasters/notesMaster1.xml" Id="R052c89ff4c684a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32d35281f44717" /><Relationship Type="http://schemas.openxmlformats.org/officeDocument/2006/relationships/notesMaster" Target="/ppt/notesMasters/notesMaster1.xml" Id="R3632d0fddaf441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882ef48b4c4184" /><Relationship Type="http://schemas.openxmlformats.org/officeDocument/2006/relationships/notesMaster" Target="/ppt/notesMasters/notesMaster1.xml" Id="Rf678317d742c41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d103ff22a04dd1" /><Relationship Type="http://schemas.openxmlformats.org/officeDocument/2006/relationships/notesMaster" Target="/ppt/notesMasters/notesMaster1.xml" Id="Rbd49212449c348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5a1a8ce18b4cef" /><Relationship Type="http://schemas.openxmlformats.org/officeDocument/2006/relationships/notesMaster" Target="/ppt/notesMasters/notesMaster1.xml" Id="R2fcb207d8b9348d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c412b0e3174f1c" /><Relationship Type="http://schemas.openxmlformats.org/officeDocument/2006/relationships/notesMaster" Target="/ppt/notesMasters/notesMaster1.xml" Id="R0c3505c91ecc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12秒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Blocky是一款用积木创作Agent的软件。我们先服务教育，让学生理解并改造作品，再沿同一底座拓展到专业创作、一人公司和企业应用。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参赛团队：TB快重置就队。当前Windows已有阶段成果，课堂效果、OPC和企业场景需要在产品配套完成后验证。封面为品牌概念插画，不是产品界面。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16秒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先让学生学会读懂和修改Agent，再支持专业创作者完成工作；当作品可以独立交付，进一步服务一人公司和企业。这是产品演进顺序，各阶段按能力准备程度推进。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当前Windows创作底座及知识问答、工作、Coding、Pi四类起始蓝图已有阶段成果。教育与专业共享项目格式、积木语言、运行内核和权限模型。校园植物向导、研究报告工作台是场景设计，配套课程、组织后台和团队部署尚待建设。图为校园与专业园区概念插画，不代表客户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21秒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教学目标不是让孩子只得到一个回答，而是让他们指出角色和步骤，修改一个条件，给作品换一个目标，再用实际结果解释自己的设计。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教育研发命题：角色、任务、模型、记忆与工具以积木表达；学生预测行为，比较改动，说明部件组合理由。参照Scratch查看、改编和继续创作的学习方式。真实课堂效果及小学易用性尚待验证，不将工程演示当学生学习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23秒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原来判断包含“勇敢”，作品进入森林。把条件改成“友善”，同一个输入会进入花园。学生可以据此解释：是哪一处结构改变了执行路线。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本地规则对照已执行：修改前条件包含勇敢，命中森林分支，输出到森林探险；修改后条件包含友善，命中花园分支，输出去花园交朋友。教学故事搭档另包含角色、规则、上下文、教师预选模型和输出要求：三句故事、以提问结尾。规则对照不证明真实模型故事生成或课堂效果。下一轮换输入检验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22秒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接着让学生自己设计海底向导。需要记住目的地就加记忆，需要查资料就加知识，需要统计文本就加工具；每次只增加一种能力，最后通过运行轨迹回到具体积木修改。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海底向导设计包含伙伴和目的地输入、角色与目标一致、两句介绍后问下一站。能力递进：模型组织回应，记忆记录上次目的地，知识回答带来源，登记的统计工具返回字符数。通用能力还包括条件逻辑、上下文和输出。教师预选模型、资料与权限。观察读懂预测、单一改造、自主搭建、调试讲解，记录作品版本、过程和帮助等级0自主、1口头提示、2指明位置、3示范或代操作。画面为真实Windows合成资料作品的积木定位与运行事件，不能当海底向导或学生课堂实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22秒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课前教师准备原作品和配置，课中学生另存副本并保留修改，课后比较作品与讲解。学校购买的是组织管理、课程和支持，服务范围与模型算力分开核算。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学生关心读懂、动手修改和展示；教师关心准备、调试与复用；机构关心设备、服务、预算与采购责任。进入条件是Windows设备可用，教师能组织，模型和资料范围明确，预算负责人可沟通。分发前运行原作品，恢复时重开原作品或上次有效副本。交付资产包括项目和蓝图、审阅与轨迹、教师活动包和支持用量记录。样例服务：1班30名学生、6次活动、3个可编辑作品、2次教师培训、30台设备配置、8周支持与一次复盘；80小时为范围假设，作品24、培训16、配置16、支持复盘24小时。尚无真实合同或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Scratch提供作品创作方法，AI积木工具已经能组合模型与交互，学校平台也有组织和课程能力。Blocky希望把Agent结构、可审阅修改和运行定位放在同一作品里，这一价值仍需同任务验证。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Scratch官方起始作品、教程、调试资源、教师账号与作品组织为创作学习参照。Blocks Builder AI公开功能包括积木逻辑、模型、提示词、上下文、聊天测试和输出历史；教育方案含账号、课堂管理与进度分析。Tynker学校按学生规模和需求报价，课堂页有30学生示例，并提供评价、课程与培训。Blocky的班级后台和教学配套仍是建设规划，不声称已有学习优势或竞品不具备任何同类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https://scratchfoundation.org/learn/learning-library/getting-started</a:t>
            </a:r>
          </a:p>
          <a:p xmlns:a="http://schemas.openxmlformats.org/drawingml/2006/main">
            <a:r>
              <a:t>https://scratchfoundation.org/learn/learning-library/teacher-accounts</a:t>
            </a:r>
          </a:p>
          <a:p xmlns:a="http://schemas.openxmlformats.org/drawingml/2006/main">
            <a:r>
              <a:t>https://blocksbuilder.ai/features</a:t>
            </a:r>
          </a:p>
          <a:p xmlns:a="http://schemas.openxmlformats.org/drawingml/2006/main">
            <a:r>
              <a:t>https://blocksbuilder.ai/pricing</a:t>
            </a:r>
          </a:p>
          <a:p xmlns:a="http://schemas.openxmlformats.org/drawingml/2006/main">
            <a:r>
              <a:t>https://www.tynker.com/school/coding-curriculum/request</a:t>
            </a:r>
          </a:p>
          <a:p xmlns:a="http://schemas.openxmlformats.org/drawingml/2006/main">
            <a:r>
              <a:t>https://www.tynker.com/classroom-school/coding-curriculum/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同一工作台把积木作品、构建助手、运行输出和轨迹放在一起。用户能查看结构，审阅改动，再对照实际步骤修改和保存作品。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左侧选择部件，中间编辑项目与模块，右侧切换构建助手和作品Agent，底部查看问题、日志与输出。项目可以保存、重开、继续修改；修改差异与撤销支持审阅。运行事件对应积木，不展示模型内部思维，也不保证答案正确。历史合成水循环资料作品含真实读取、文件修改和保存记录，三次息壤deepseek-v4-pro响应共7717 Token，这是特定历史调用样本。当前已公开Windows v0.8.0-beta.1测试安装包，后续修复预览与公开安装包分别核对，不把截图当最新版每项实现证明。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知识问答用来连接资料，工作助手组织多步任务，Coding助手支持编程，Pi Agent提供智能体循环起点。它们是可改造的作品，不是四个封闭聊天功能。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四类起点依次为知识问答助手、工作助手、Coding助手、Pi Agent。Pi来源于真实上游Pi核心的积木化。新建空白main不预置资源和问句，个人蓝图与已有.blocky作品保留。入门视图包含开始、角色、会思考、会查找、会记住、会行动、会回答，专业视图展开十二类语义；两者共享作品格式。角色画面为概念插画，不承担实现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专业用户可以把资料、工具和多步任务组合成自己的工作助手。我们用资料作品展示构建和输出，再用官网的一分钟预设周报演示说明完整创作过程。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真实画面来自合成水循环资料的构建助手与学习卡文件修改，用于展示读取、构建、保存能力，不作为客户报告成果。官网一分钟演示依次描述任务、搭建蓝图、切换Agent、播放工具轨迹并显示合成周报，支持暂停、重播、退出恢复与继续编辑；全程预设模拟，不调用真实模型、CLI或本机文件。真实桌面调用与预设在线体验分别判断。未来专业场景包括研究报告、多模块任务、审阅和复用，实际完成范围以版本与任务记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16秒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开发者可以继续用Codex、Claude Code等已有Agent，通过命令查询、修改、校验和运行Blocky作品，内置构建助手只是其中一个入口。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外部Agent需要能执行CLI并遵守项目资源和工具权限，能够读取诊断和运行轨迹。界面、CLI和构建助手共享领域能力。保留开发方式不等于任意代码可以自动完整转成积木，现有项目转换仍按结构、许可、依赖和结果逐项适配。外部Agent自身模型调用按其服务计费，Blocky托管订阅只覆盖对应托管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19秒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常用积木可以封成一块，也能随时展开；开发者还可以把算法、工具接口或业务逻辑做成新的积木，再与模型和流程组合。这部分完整编辑和分发将按计划建设。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可视化封装保持结构可读，支持无损展开、修改与重封装；代码扩展声明输入输出、依赖、错误、权限和运行目标。作品按类型、权限和预算执行，扩展能力不绕过执行限制，也不把整个Agent的隐藏逻辑包装成不可审阅黑盒。现有受控计算、工具及转换基础不等同于完整自定义编辑、封装与社区分发已开放。CLI连接外部开发Agent，自定义积木提供扩展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22秒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架构可以概括为三部分：前面用积木或文字表达任务，中间按作品步骤运行，后面连接模型和获准工具。执行结果回到作品，让用户检查和修改；密钥和工具权限由桌面端统一管理。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Blockly提供积木编辑，Tauri承载桌面，Pi提供Agent循环基础。Blocky组织项目语义、编译和运行映射、受控Host与共享CLI，不将开源组件当独家发明。界面、构建助手和CLI共用作品能力。项目保存稳定资源引用，Host保管模型密钥并校验工具范围，运行事件与诊断定位到积木。多端共享作品语义，但具体工具、权限和分发分别适配。权限控制降低越界风险，不能保证模型回答正确或任意操作绝对安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到一人公司阶段，积木可以帮助经营者看懂每个Agent员工负责什么。例如资料助理整理调研，内容助理拟稿，经营者根据实际过程复核后再决定下一步。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OPC指一人公司，是后续探索，不是已有客户或自动经营产品。职责、知识、工具和权限以可读结构组织，运行轨迹用来核对实际动作，经营者保留业务判断和对外提交责任。示例是拟定场景，尚未验证采用率、效率或收入。公开来源分组：Blocky产品、Scratch/BBAI/Tynker学习与组织、历史调用及供应商成本参照、平台与应用规划；均按对应快照或实际版本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下一步把作品和交互页面组合，选择目标端，再导出可安装的应用。开发者未来可以为应用设置订阅和价格，选择由使用者还是自己承担模型用量。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导出目标Windows、macOS及手机，包含独立界面、积木执行、运行内核与资源配置。Pake/Tauri只是候选应用壳，不等于运行或移动适配已经完成。各端依赖、权限、签名、安装与更新分别验证，不承诺所有桌面工具直接在手机运行。未来应用沿用Blocky托管体系，开发者可快捷创建订阅、自主定价，实际用量承担方可设置；企业Token按模型、任务强度与服务范围咨询，尚无支付、导出或应用订阅产品，不计新增收入，也不分发开发者私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19秒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企业需要让不同岗位的Agent在授权范围内使用资料和工具，并保留版本与运行记录。学校组织同样需要师生、班级、作品和进度管理，这些配套按计划建设。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组织建设范围包括账户角色、数据范围、任务分发、模型和工具配置、审阅和运行记录、版本与恢复。K12方案含师生课堂、作品版本、完成与帮助记录、教师复核、课程培训与支持，按学生规模和学校需求报价，算力另订阅或BYOK。专业团队部署、权限和审查、成本管理、应用部署与回滚是后续路线；不声称企业后台、组织管理或私有化已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23秒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近期先完善教育与专业创作的可靠体验，再建设自定义能力和应用交付，随后拓展OPC与组织配套。Windows已有成果，macOS规划同等创作能力，手机端优先使用已搭建的作品。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完整开发方向保留：创作接口、积木与文本往返、自定义积木与插件；师生班级、作业、课程版本与后台；环境和团队审查、成本、部署与回滚；个人开源、作品与积木社区；Agent App及多端。Windows当前搭建调试运行，macOS后续同等桌面创作，Android/iOS/HarmonyOS后续运行已搭建作品，不当完整积木编辑器。HarmonyOS按原生壳与共享协议适配，平台能力决定本地或获准远端执行。准备关口检查保存修改重开、运行权限与恢复、课程与组织、社区及实际目标设备，再进入真实场景采集作品、用量和账单。月份不代替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19秒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个人软件免费，学校与企业为组织能力、部署和支持付费。需要托管模型时另买算力套餐；自带API就向供应商付费。未来应用订阅由开发者定价，应用收入和算力成本分别算。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公开Windows测试安装包已发布，源码仓库当前仍私有，个人开源发布及社区建设尚未完成。机构/K12按人数、课程、部署与维护组合报价，组织后台待建设。托管订阅拟覆盖构建助手、作品Agent及未来导出应用，同一账户按真实模型请求累计扣减，不按Agent数量重复发额度。工具调用后的模型请求也累计；共享不等于无限。应用可设置使用者或开发者承担。外部开发Agent自身费用按其服务计费，BYOK与托管分账；计费、企业算力和开发者订阅尚未开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三档月度套餐分别是99、199和999元，按实际模型用量扣积分。临时用得更多可以加量。积分不是固定Token数，最终费率和售价还要结合实际账单验证。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原拟价：99元2000积分、199元4500积分、999元25000积分每月，加量50元1000积分，到账30天。月度额度当期有效、不结转，最早到期先使用。逐模型扣减费率上线前公布，组织服务与BYOK独立。原WorkBuddy官网2026-10-06连续包月含限时赠送快照：70元4000、140元9000、700元50000积分，加量50元1000。Blocky每积分售价0.04950、0.04422、0.03996和0.05000元，WorkBuddy为0.01750、0.01556、0.01400和0.05000，名义比约2.83、2.84、2.85和1倍。两平台积分、模型与权益不同，不能等同任务成本、承诺同任务更便宜或已盈利；赠送和续费可能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  <a:p xmlns:a="http://schemas.openxmlformats.org/drawingml/2006/main">
            <a:r>
              <a:t>https://www.workbuddy.cn/docs/workbuddy/Pricing</a:t>
            </a:r>
          </a:p>
          <a:p xmlns:a="http://schemas.openxmlformats.org/drawingml/2006/main">
            <a:r>
              <a:t>https://www.codebuddy.cn/docs/workbuddy/Credits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23秒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假设一积分模型成本两分钱，2000积分就是40元；再扣9.9元其他可变费用，99元套餐留下49.1元贡献利润。这部分还要覆盖研发和运营，不能当净利润。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条件假设：满额用量，模型结算成本0.02元每积分，其他可变费用为收入10%。标准99−40−9.90=49.10元，贡献率49.60%；进阶199−90−19.90=89.10元、44.77%；专业999−500−99.90=399.10元、39.95%；加量50−20−5=25元、50%。50%目标贡献率对应模型成本上限每积分0.01980、0.01769、0.01598、0.02000元。0.04元成本压力下贡献额分别9.10、−0.90、−100.90、5元，均非报价。原预算专业参考月模型成本1347.02元，若按999元交付并另扣10%，贡献−447.92元；该月负荷尚未映射成25000积分，不能当本套餐实测亏损。情景未扣固定研发运营支出、未进入原财务收入预测，实际成本上涨必须调整额度、费率或报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个人开源和作品社区帮助教师改编、开发者贡献积木。产品准备后，我们从教师与机构小范围合作开始，先看真实作品与复用，再确认交付和付款。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个人完整创作免费方向、源码与构建说明、作品许可、教师任务卡活动包、开发者部件工具适配与版本权限共同形成社区。当前源码公开及社区入口仍在准备，不能将公开安装包等同源码开放。条件目标：接触20家、深入8家、形成4份交付合同，均非已获客户。通过免费作品邀约和公开教研入口，明确组织者、Windows设备与主题；记录修改、讲解、帮助程度和教师独立复用；核对培训支持、预算责任与付款后决定商业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19秒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不同用户的任务强度差异很大。原预算里学生和教师按短任务测算，专业创作者参考更高月用量，所以大部分算力预算来自专业场景；真实使用后要用账单重新校准。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保留2026-10-03预算快照：10个有回执任务、30响应，平均8258 Token；输入7684.5、输出573.8。DeepSeek当时Pro峰时未命中输入9、输出27元每百万Token，单短任务重定价约0.0846531元，缓存另核对，不代表当前采购价。学生40次、教师240次每月是频次假设，月参考3.386124、20.316744元。Claude Code历史官方企业开发参照150–250美元/月、活跃日约13美元，原模型专业取200美元/月、参考汇率6.7351得到1347.02元/月，非Blocky用户实测。产品关口后条件期末容量学生600、教师60、专业500，累计2700、300、2250人月，24月成本0.91425348、0.60950232、303.0795万元，共304.6032558万元。内部研发另17.3361474万元，13美元/活跃日×22活跃日/人月×6.7351元/美元×（6×3+18×4）人月÷10000；前6月3人、后18月4人，共90等效人月。失败取消未返回用量未知，不能作零；BYOK不计平台采购人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https://api-docs.deepseek.com/zh-cn/quick_start/pricing/</a:t>
            </a:r>
          </a:p>
          <a:p xmlns:a="http://schemas.openxmlformats.org/drawingml/2006/main">
            <a:r>
              <a:t>https://code.claude.com/docs/en/costs</a:t>
            </a:r>
          </a:p>
          <a:p xmlns:a="http://schemas.openxmlformats.org/drawingml/2006/main">
            <a:r>
              <a:t>https://www.chinamoney.com.cn/chinese/index.html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21秒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基准24个月现金支出约573万元，加上运营储备和各类预留，最低追加需求约866万元，取整覆盖目标900万元。它是这一情景的资金计划，并非已经确定的融资报价。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原模型基准现金支出573.2394032万元，最低追加866.442707972万元，取整900万元，自有现金未确认按0不抵减，不表示现实资产为零。资金用途合并显示：人力研发工具专项212.336、基础设施16.200、外部算力304.603、教学社区运营32.100、设备8.000、储备预留取整326.761万元，显示合计900.000。人力预算前6月3、后18月4等效资源，综合人月2万元，非现有团队人数或履历。326.761含风险26.064、合作30.000、正常运营现金储备237.140及取整33.557万元。设备现金购置与36个月折旧不双算。三情景：精简期末464人，现金259.991、最低368.711、目标400万元；基准1160人、现金573.239、最低866.443、目标900；压力2320人、现金1936.505、最低3143.903、目标3150，都是条件容量与资源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18秒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前六个月完善创作，随后建设场景和多端配套，产品准备后才启用真实场景预算。近期90天先收拢可靠体验和发布支持；高用量、回款延迟和厂商条款都会改变所需资金。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24个月资源排期假设：第1–6月53.767万元，第7–18月142.646万元，第19–24月376.826万元，前18月196.413万元，外部用户采购前18月为0，第19月后仅在产品关口通过时启动。储备预留取整另326.761万元。90天可调整窗口包括四蓝图可靠体验、保存修改撤销运行、官网与下载版本/源码许可证支持、教育与专业配套依赖清单、任务用量采证，不承诺所有能力同时开放。合作先现金预留30万元，非退还费计费用、预付额度消耗后抵扣采购、可退保证金作为资产跟踪，不能双算。原敏感性：80%成本回收当月收款最低460.338、目标500万元；同回收延迟2月最低568.619、目标600；非退费100万最低936.443、目标950；预付100万保证金10万合作费30万最低876.443目标900；确认自有20万最低846.443目标850。这些是参数情景，不是签约条款或正式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讲述参考 13秒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我们希望与教育和专业伙伴共建可读、可改、可运行的作品，并在产品准备后采集真实使用反馈。欢迎围绕产品能力、场景合作和阶段资源展开交流。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补充依据</a:t>
            </a:r>
          </a:p>
          <a:p xmlns:a="http://schemas.openxmlformats.org/drawingml/2006/main">
            <a:r>
              <a:t>合作内容包括四类蓝图、共享接口与目标端共建，按能力关口支持持续研发，以及准备后的作品、复用、账单和采购反馈。当前官网为开发预览站、海外托管，国内正式域名尚未注册，启用后公布。官网在线体验为预设模拟，Windows测试安装包已公开，源码与社区、组织后台、托管计费和多端仍按计划建设。材料不是赛事提交、客户合同或已实现收入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</a:t>
            </a:r>
          </a:p>
          <a:p xmlns:a="http://schemas.openxmlformats.org/drawingml/2006/main">
            <a:r>
              <a:t>https://blocky.donk55666.chatgpt.site/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697bd395a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b2a511c1248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866c8bdf844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4eb7c45c14e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d218006fd49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e747fbf59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0C5A26-B3B1-49D9-B63A-25D3D198F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DFD49C-A6BC-49FE-9A89-D9D1178967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E516E7-B039-4C1A-AD7E-2EF060A82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1C843D-BDA8-4EA3-8A04-C2C122C82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5BF0D8-129B-458B-925B-68F7A33128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61B35D-0958-4300-ACB9-1529A87B9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1BAB29-700A-4759-B4D3-D3C6A281F5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EA6C19-C594-477E-876F-73DF9EF746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073DE3-8CCC-4513-A3FF-93D15FC62A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95E611-81D1-4217-9C2F-74F61E1FDA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fcb0dace8f4012" /><Relationship Type="http://schemas.openxmlformats.org/officeDocument/2006/relationships/slideLayout" Target="/ppt/slideLayouts/slideLayout1.xml" Id="R704488f877c94241" /><Relationship Type="http://schemas.openxmlformats.org/officeDocument/2006/relationships/slideLayout" Target="/ppt/slideLayouts/slideLayout2.xml" Id="R097e1497561c4513" /><Relationship Type="http://schemas.openxmlformats.org/officeDocument/2006/relationships/slideLayout" Target="/ppt/slideLayouts/slideLayout3.xml" Id="Rbf65e7aaedb047f6" /><Relationship Type="http://schemas.openxmlformats.org/officeDocument/2006/relationships/slideLayout" Target="/ppt/slideLayouts/slideLayout4.xml" Id="R0b238b8a9eaf41aa" /><Relationship Type="http://schemas.openxmlformats.org/officeDocument/2006/relationships/slideLayout" Target="/ppt/slideLayouts/slideLayout5.xml" Id="R0f63d0127155470c" /><Relationship Type="http://schemas.openxmlformats.org/officeDocument/2006/relationships/slideLayout" Target="/ppt/slideLayouts/slideLayout6.xml" Id="R56436026167a42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488f877c94241"/>
    <p:sldLayoutId xmlns:r="http://schemas.openxmlformats.org/officeDocument/2006/relationships" id="2147483650" r:id="R097e1497561c4513"/>
    <p:sldLayoutId xmlns:r="http://schemas.openxmlformats.org/officeDocument/2006/relationships" id="2147483651" r:id="Rbf65e7aaedb047f6"/>
    <p:sldLayoutId xmlns:r="http://schemas.openxmlformats.org/officeDocument/2006/relationships" id="2147483652" r:id="R0b238b8a9eaf41aa"/>
    <p:sldLayoutId xmlns:r="http://schemas.openxmlformats.org/officeDocument/2006/relationships" id="2147483653" r:id="R0f63d0127155470c"/>
    <p:sldLayoutId xmlns:r="http://schemas.openxmlformats.org/officeDocument/2006/relationships" id="2147483654" r:id="R56436026167a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f1327808c460e" /><Relationship Type="http://schemas.openxmlformats.org/officeDocument/2006/relationships/image" Target="/ppt/media/image.png" Id="R36790c5053bf473d" /><Relationship Type="http://schemas.openxmlformats.org/officeDocument/2006/relationships/notesSlide" Target="/ppt/notesSlides/notesSlide1.xml" Id="R8ab99587bbbb44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d3048ee8447b7" /><Relationship Type="http://schemas.openxmlformats.org/officeDocument/2006/relationships/image" Target="/ppt/media/image2.png" Id="Ra015bc773d064d4f" /><Relationship Type="http://schemas.openxmlformats.org/officeDocument/2006/relationships/notesSlide" Target="/ppt/notesSlides/notesSlide2.xml" Id="Ra6df5d77419642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07765106464a27" /><Relationship Type="http://schemas.openxmlformats.org/officeDocument/2006/relationships/notesSlide" Target="/ppt/notesSlides/notesSlide3.xml" Id="Rd4891d44e2c74e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b55c56b7b4f62" /><Relationship Type="http://schemas.openxmlformats.org/officeDocument/2006/relationships/notesSlide" Target="/ppt/notesSlides/notesSlide4.xml" Id="Rb2a8ea4f8568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20fe5922a4106" /><Relationship Type="http://schemas.openxmlformats.org/officeDocument/2006/relationships/image" Target="/ppt/media/image3.png" Id="Re283b96c0b0e48ea" /><Relationship Type="http://schemas.openxmlformats.org/officeDocument/2006/relationships/notesSlide" Target="/ppt/notesSlides/notesSlide5.xml" Id="R742962d47bad49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147f315e9460a" /><Relationship Type="http://schemas.openxmlformats.org/officeDocument/2006/relationships/notesSlide" Target="/ppt/notesSlides/notesSlide6.xml" Id="Re959f52031d944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bbc4031424de1" /><Relationship Type="http://schemas.openxmlformats.org/officeDocument/2006/relationships/notesSlide" Target="/ppt/notesSlides/notesSlide7.xml" Id="R044d1e9e60f0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e501b2f684b68" /><Relationship Type="http://schemas.openxmlformats.org/officeDocument/2006/relationships/image" Target="/ppt/media/image4.png" Id="R7cb4f14bf75047a4" /><Relationship Type="http://schemas.openxmlformats.org/officeDocument/2006/relationships/notesSlide" Target="/ppt/notesSlides/notesSlide8.xml" Id="R73c578c0da3149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47873a9254b6d" /><Relationship Type="http://schemas.openxmlformats.org/officeDocument/2006/relationships/image" Target="/ppt/media/image5.png" Id="R56d56025f3fa4710" /><Relationship Type="http://schemas.openxmlformats.org/officeDocument/2006/relationships/notesSlide" Target="/ppt/notesSlides/notesSlide9.xml" Id="R49725b1e78604b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ea1fdc9e04b9a" /><Relationship Type="http://schemas.openxmlformats.org/officeDocument/2006/relationships/image" Target="/ppt/media/image6.png" Id="R406712c896464cda" /><Relationship Type="http://schemas.openxmlformats.org/officeDocument/2006/relationships/notesSlide" Target="/ppt/notesSlides/notesSlide10.xml" Id="Rd7d99f7027e143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e0560199c47a1" /><Relationship Type="http://schemas.openxmlformats.org/officeDocument/2006/relationships/notesSlide" Target="/ppt/notesSlides/notesSlide11.xml" Id="Rbfdf2b861b194a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28807fa8264305" /><Relationship Type="http://schemas.openxmlformats.org/officeDocument/2006/relationships/notesSlide" Target="/ppt/notesSlides/notesSlide12.xml" Id="R1a1d82ed5bd749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aa209a798428d" /><Relationship Type="http://schemas.openxmlformats.org/officeDocument/2006/relationships/notesSlide" Target="/ppt/notesSlides/notesSlide13.xml" Id="Rc92063c25c7f40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0304d77d548f4" /><Relationship Type="http://schemas.openxmlformats.org/officeDocument/2006/relationships/notesSlide" Target="/ppt/notesSlides/notesSlide14.xml" Id="R1217cc91d6d844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8a017e89d459a" /><Relationship Type="http://schemas.openxmlformats.org/officeDocument/2006/relationships/notesSlide" Target="/ppt/notesSlides/notesSlide15.xml" Id="R72f9473721eb4d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e8de6c004467b" /><Relationship Type="http://schemas.openxmlformats.org/officeDocument/2006/relationships/notesSlide" Target="/ppt/notesSlides/notesSlide16.xml" Id="R3a83d18462a141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c799b4e1e4cf1" /><Relationship Type="http://schemas.openxmlformats.org/officeDocument/2006/relationships/notesSlide" Target="/ppt/notesSlides/notesSlide17.xml" Id="R4ce171b19e6847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a044b703a419e" /><Relationship Type="http://schemas.openxmlformats.org/officeDocument/2006/relationships/notesSlide" Target="/ppt/notesSlides/notesSlide18.xml" Id="R196ec89bff494a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42566110eb4c66" /><Relationship Type="http://schemas.openxmlformats.org/officeDocument/2006/relationships/notesSlide" Target="/ppt/notesSlides/notesSlide19.xml" Id="Red28606b8e124f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afe41a02e4d7f" /><Relationship Type="http://schemas.openxmlformats.org/officeDocument/2006/relationships/notesSlide" Target="/ppt/notesSlides/notesSlide20.xml" Id="R75e7e20dc2914c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ec506d90f44ed4" /><Relationship Type="http://schemas.openxmlformats.org/officeDocument/2006/relationships/notesSlide" Target="/ppt/notesSlides/notesSlide21.xml" Id="R4170bf45375e4a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f3dda7785449e" /><Relationship Type="http://schemas.openxmlformats.org/officeDocument/2006/relationships/notesSlide" Target="/ppt/notesSlides/notesSlide22.xml" Id="R9d23ba2d451044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148b741a9410f" /><Relationship Type="http://schemas.openxmlformats.org/officeDocument/2006/relationships/notesSlide" Target="/ppt/notesSlides/notesSlide23.xml" Id="R345e528a6f7e41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a934984e4496d" /><Relationship Type="http://schemas.openxmlformats.org/officeDocument/2006/relationships/notesSlide" Target="/ppt/notesSlides/notesSlide24.xml" Id="Re02bab2d75714e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4f5ffa1cf4f72" /><Relationship Type="http://schemas.openxmlformats.org/officeDocument/2006/relationships/hyperlink" Target="https://blocky.donk55666.chatgpt.site/" TargetMode="External" Id="R912cf2ce18564045" /><Relationship Type="http://schemas.openxmlformats.org/officeDocument/2006/relationships/notesSlide" Target="/ppt/notesSlides/notesSlide25.xml" Id="R5b0fa53269fd41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A2836E-BA82-48B6-9875-01A9E60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01 / 25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8CFCACA-6B19-4574-A7DA-7737F1C2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52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Blocky Studio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C2D14EB-1F16-47E7-93CD-BC463AB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用积木，创作</a:t>
            </a:r>
          </a:p>
          <a:p xmlns:a="http://schemas.openxmlformats.org/drawingml/2006/main">
            <a:pPr algn="l">
              <a:defRPr sz="495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自己的智能体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5A26E5-B135-4A99-8F90-267CA46E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教育入门与专业创作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B1E87A-07F3-4DC8-AD49-CE6263D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TB快重置就队</a:t>
            </a:r>
          </a:p>
          <a:p xmlns:a="http://schemas.openxmlformats.org/drawingml/2006/main">
            <a:pPr algn="l">
              <a:defRPr sz="17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息壤杯高校赛区   2026年10月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049DB-EA34-4710-8594-51F9B5ADC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90c5053bf473d"/>
          <a:stretch xmlns:a="http://schemas.openxmlformats.org/drawingml/2006/main"/>
        </p:blipFill>
        <p:spPr>
          <a:xfrm xmlns:a="http://schemas.openxmlformats.org/drawingml/2006/main">
            <a:off x="7812894" y="1438275"/>
            <a:ext cx="3709962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37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2A7A3C6-BD5E-4A64-8111-D4B4A173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89A945-3AF0-430F-AD83-E8BF47F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产品发展顺序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8E26079-2929-41DA-A4EB-C7C5EE3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教育起步，同一套作品能力逐步服务更复杂的任务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F81A54-88FE-4809-9EA8-71717AB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02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2C1BF1-AAD5-4304-8688-84635F0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01  教育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6CE8DC-0A1D-4F32-BC4F-9A70435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读懂、改造、搭建并讲解作品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73E39A-D69A-48CB-92BC-D0877FC9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02  专业创作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2C67C8-39AB-4D53-A381-ABFEFF0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组合知识和工具，处理实际任务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38E83F-77E8-4457-8EAC-DDB73FBD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03  OPC（一人公司）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5AD5A2-461D-4FF6-B4EB-18EA2712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搭建自己的Agent团队与应用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38C3ABC-DF84-440E-B33A-581989E0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04  企业Agent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24C291-C570-4D68-BDC1-C843C6F9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扩展组织、数据、权限和部署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B5562-CDD7-4024-8EA9-6C0AEEFDD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5bc773d064d4f"/>
          <a:stretch xmlns:a="http://schemas.openxmlformats.org/drawingml/2006/main"/>
        </p:blipFill>
        <p:spPr>
          <a:xfrm xmlns:a="http://schemas.openxmlformats.org/drawingml/2006/main">
            <a:off x="7219950" y="2581275"/>
            <a:ext cx="428625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9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12A3A41-BB9D-4482-9AB3-30FA63F9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819C83-F2B5-4F5B-BC02-9D889F24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教育：学生能读懂、修改并讲解作品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D77968-1913-4765-96ED-08576E25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延续Scratch式创作，把Agent变成可设计的作品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DC26A7F-F2E1-40BE-8A8D-04DC40E8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03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67AF77A-DA7A-48B2-87DE-195942D6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DCCE77-A3FF-4933-80D4-881A00B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读懂角色与步骤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0ED186-194B-40E2-8303-85B76C8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574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A08191-7D58-4724-8DDD-EDE5D36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38575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改一处，看变化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6093FD-5936-4144-98CC-F608F2CF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574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搭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586E65-3EC2-4E95-8C49-9AFD8A7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38575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换一个创作目标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F7E707-4C07-4EDC-844C-B1122F1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574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0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讲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09B7D7F-0CCF-4E1B-9355-5A53E649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38575"/>
            <a:ext cx="2457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解释运行与设计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3B85D0-413F-4AF1-90A5-5C39D8B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教师预选模型、资料和权限，学生逐步增加能力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9A3B426-D8CD-45DF-A1E6-BFD63E22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教学设计，真实课堂效果尚待验证</a:t>
            </a:r>
          </a:p>
        </p:txBody>
      </p:sp>
    </p:spTree>
    <p:extLst>
      <p:ext uri="{BB962C8B-B14F-4D97-AF65-F5344CB8AC3E}">
        <p14:creationId xmlns:p14="http://schemas.microsoft.com/office/powerpoint/2010/main" val="1022597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BC9D0F-464E-41C9-91F4-E4C75E9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C251E38-B9B8-4963-A4F8-AD4AE3F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一个改动，就能看见规则怎样影响结果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45BC9AB-00A4-4C0E-BD44-FC02AF0B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输入保持“勇敢的小猫”，只修改判断条件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67F05B-0903-4A6B-817F-DC677D8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04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72A360-448A-463D-9E39-08CC911F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修改前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63CD59-F5A5-4929-AA16-2E73ABC7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83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修改后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8B664CB-3B93-4581-89BB-E6E4BC9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判断包含“勇敢”</a:t>
            </a:r>
          </a:p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进入森林</a:t>
            </a:r>
          </a:p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输出：到森林探险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7EEDE3-607C-45F5-AC3C-674B3D3C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3372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判断包含“友善”</a:t>
            </a:r>
          </a:p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进入花园</a:t>
            </a:r>
          </a:p>
          <a:p xmlns:a="http://schemas.openxmlformats.org/drawingml/2006/main">
            <a:pPr algn="l">
              <a:def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输出：去花园交朋友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AD17F70-F791-445C-9517-3907E080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学生解释：输入不变，条件改变，所以执行路线改变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1A82B43-A41D-4D0D-B3A1-9B9B1C8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本地规则实际对照；故事生成与课堂效果另需验证</a:t>
            </a:r>
          </a:p>
        </p:txBody>
      </p:sp>
    </p:spTree>
    <p:extLst>
      <p:ext uri="{BB962C8B-B14F-4D97-AF65-F5344CB8AC3E}">
        <p14:creationId xmlns:p14="http://schemas.microsoft.com/office/powerpoint/2010/main" val="1529031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60B1B1-D808-450B-AB1D-221FC578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56FFC4-C3CA-4EC0-8ADD-AEDDEA8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自主搭建后，用运行步骤解释作品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C58F9A-DEA0-4ACA-8A15-5B1F2B67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海底向导教学设计：换目标，选能力，再观察实际结果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723968-4F6E-463F-A903-5E29352C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05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078D15F-03AB-43F8-A35D-95A6C0F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设计新目标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8203AE-A22F-4228-B5B4-4B3F736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给向导选择角色、目的地与回应方式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972D69-67BE-4843-8F62-08A3D32A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逐步加能力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641CD74-0133-4AED-A213-DF213B0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按任务增加模型、记忆、知识或工具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DCE9F9-9CEF-487E-B810-EA38727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运行后讲解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8334A7-9919-478B-9869-8697364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看步骤、定位积木、修改再运行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95C40-0423-4A51-BBDF-DC667F766C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3b96c0b0e48ea"/>
          <a:stretch xmlns:a="http://schemas.openxmlformats.org/drawingml/2006/main"/>
        </p:blipFill>
        <p:spPr>
          <a:xfrm xmlns:a="http://schemas.openxmlformats.org/drawingml/2006/main">
            <a:off x="5448300" y="2230433"/>
            <a:ext cx="6134100" cy="3835409"/>
          </a:xfrm>
          <a:prstGeom xmlns:a="http://schemas.openxmlformats.org/drawingml/2006/main" prst="rect">
            <a:avLst/>
          </a:prstGeom>
        </p:spPr>
      </p:pic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DA8761-8010-463C-A6C5-1C7CCC22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115050"/>
            <a:ext cx="613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真实资料作品画面；海底向导为教学设计</a:t>
            </a:r>
          </a:p>
        </p:txBody>
      </p:sp>
    </p:spTree>
    <p:extLst>
      <p:ext uri="{BB962C8B-B14F-4D97-AF65-F5344CB8AC3E}">
        <p14:creationId xmlns:p14="http://schemas.microsoft.com/office/powerpoint/2010/main" val="1192735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CE8E02F-6A3A-4AAD-A193-181DCC0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AC3CE2-C36D-4AEB-8D7A-E4ABD967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教师围绕作品组织活动，机构按范围合作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2CC379-7086-402B-8C43-9B2D5F1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服务设计：原作品、学生副本、任务卡与复盘记录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4535F4-333B-47BA-8519-0F1623F7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06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F5C09D1-3189-4986-8038-52087E3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课前  准备原作品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99D9B3-823A-46BC-879A-3737C92F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教师选部件、资料与配置，运行一遍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54CFD8-A1D0-4AC6-940F-84B3F1B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课中  保存学生副本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FBB70E-1782-44B6-B6B9-EB791047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保留修改、输出与学生讲解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904406-A1F0-42A2-BA98-B4B6BC2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课后  更新活动包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083C31-A30A-42DB-8EB7-FA9C63F4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重开作品，记录帮助程度与复用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E2DB71-3C9E-41CC-9A4B-62D54B35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581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服务范围样例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9F32C9-9CE5-4D2E-B10C-B291AAAE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86100"/>
            <a:ext cx="3581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30名学生</a:t>
            </a:r>
          </a:p>
          <a:p xmlns:a="http://schemas.openxmlformats.org/drawingml/2006/main">
            <a:pPr algn="l">
              <a:def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6次活动</a:t>
            </a:r>
          </a:p>
          <a:p xmlns:a="http://schemas.openxmlformats.org/drawingml/2006/main">
            <a:pPr algn="l">
              <a:def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3个可编辑作品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7C6D6D-AFF3-41D9-8A53-A5911B3E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3581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培训、配置、支持另列</a:t>
            </a:r>
          </a:p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后台与算力分别报价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4FFE6A6-97A2-4DE1-BA91-1DD9079B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样例为服务设计，未形成课堂或合同事实</a:t>
            </a:r>
          </a:p>
        </p:txBody>
      </p:sp>
    </p:spTree>
    <p:extLst>
      <p:ext uri="{BB962C8B-B14F-4D97-AF65-F5344CB8AC3E}">
        <p14:creationId xmlns:p14="http://schemas.microsoft.com/office/powerpoint/2010/main" val="1211324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BFD9B7-8847-4582-AFB0-33D3B4E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9B56B6-3302-48ED-8BB7-D6F7920B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工具选择：作品创作与教学组织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44F7C9F-F0AA-4117-9B07-CC7D388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沿用2026年10月3日官方资料快照，按具体任务比较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22EF43-BEFA-4158-8DD7-E1551701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07 / 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55453-45BE-40AD-A8A3-F1BDFCBC009E}"/>
              </a:ext>
            </a:extLst>
          </p:cNvPr>
          <p:cNvGraphicFramePr/>
          <p:nvPr/>
        </p:nvGraphicFramePr>
        <p:xfrm>
          <a:off xmlns:a="http://schemas.openxmlformats.org/drawingml/2006/main" x="609600" y="236220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14800"/>
                <a:gridCol w="43815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主要创作或服务方向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Blocky关注的组合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Scratch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故事、游戏与动画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延续作品改编和讲解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Blocks Builder AI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AI积木与应用交互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Agent结构与可审阅修改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Tynker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学校课程与组织管理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运行步骤定位与作品复用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2FA2B-EFD4-46FC-BCC0-0361C5E4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组织教学能力继续建设，效果优势需要同任务验证</a:t>
            </a:r>
          </a:p>
        </p:txBody>
      </p:sp>
    </p:spTree>
    <p:extLst>
      <p:ext uri="{BB962C8B-B14F-4D97-AF65-F5344CB8AC3E}">
        <p14:creationId xmlns:p14="http://schemas.microsoft.com/office/powerpoint/2010/main" val="781682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4DACFF-2DF7-4A25-8DB3-77415AA9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FCFC737-F444-4E15-AF53-AC9D32F4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专业创作：设计结构与实际运行放在一起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D699EBD-363C-4FEA-815A-60571C3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真实Windows工作台，展示合成资料作品的阶段成果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FFBD7F4-63F3-4FFE-8A4F-1E30DB5F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08 / 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17921-B623-4644-996F-16D9ADAAA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4f14bf75047a4"/>
          <a:stretch xmlns:a="http://schemas.openxmlformats.org/drawingml/2006/main"/>
        </p:blipFill>
        <p:spPr>
          <a:xfrm xmlns:a="http://schemas.openxmlformats.org/drawingml/2006/main">
            <a:off x="1249075" y="2276475"/>
            <a:ext cx="6245799" cy="39052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1F2120-B0E1-4D1D-92B3-2443412A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结构可读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46FAD7-AF1E-4AA1-8B3E-0999C3C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看角色、任务与部件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EC5A40-BDFE-48A4-A53C-038FAC63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改动可审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05AB72-D632-4E40-B874-DA953CB7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290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核对差异，支持撤销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9C6C1A-2016-4649-9617-C020B003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434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过程可查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3FC309-DF9D-4A75-9855-9D7F578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911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事件回到具体积木</a:t>
            </a:r>
          </a:p>
        </p:txBody>
      </p:sp>
    </p:spTree>
    <p:extLst>
      <p:ext uri="{BB962C8B-B14F-4D97-AF65-F5344CB8AC3E}">
        <p14:creationId xmlns:p14="http://schemas.microsoft.com/office/powerpoint/2010/main" val="143891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0D24CC5-3B72-45EB-BD6C-D792EB11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D5F9E7B-939E-460E-84FD-9E080095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四类蓝图覆盖入门到专业创作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7D8A243-CBCB-4DD8-B4F9-08F6F205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蓝图都可以展开修改，也可以从空白作品开始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CC26443-B376-4543-98FC-7EC208BB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09 / 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23562-765B-471E-9D89-8A3164FD6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56025f3fa4710"/>
          <a:stretch xmlns:a="http://schemas.openxmlformats.org/drawingml/2006/main"/>
        </p:blipFill>
        <p:spPr>
          <a:xfrm xmlns:a="http://schemas.openxmlformats.org/drawingml/2006/main">
            <a:off x="1809750" y="2714625"/>
            <a:ext cx="8572500" cy="28575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EF6873-E25C-4605-8D5E-7584D58A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EFD5873-AD58-445A-80D8-21C956ED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工作助手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079E8E9-4050-4F4D-A162-998D25D8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02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Coding助手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BA7FB4-E3F4-4962-A9FA-69E87181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02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Pi Agent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4F8949C-EEB8-4C1E-B58A-625F446D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连接资料               多步任务               编程协作               智能体循环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AC58BBA-4B38-4701-9621-963CB71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空白作品、个人蓝图与已有作品均保留；角色为概念插画</a:t>
            </a:r>
          </a:p>
        </p:txBody>
      </p:sp>
    </p:spTree>
    <p:extLst>
      <p:ext uri="{BB962C8B-B14F-4D97-AF65-F5344CB8AC3E}">
        <p14:creationId xmlns:p14="http://schemas.microsoft.com/office/powerpoint/2010/main" val="50438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A5C70F-6E4E-4A19-BDD0-4440C26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C042C-1DE7-4DA7-A3B1-6608C9A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专业场景：资料整理、任务处理与报告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D0A06E-5CFC-41DE-92E3-A94F330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已有通用能力，场景配套按任务继续验证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F21D58-3651-4218-9B41-7DB26DEA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10 / 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26CC8-CDA2-4A60-B6A1-52A8BD98A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712c896464cda"/>
          <a:stretch xmlns:a="http://schemas.openxmlformats.org/drawingml/2006/main"/>
        </p:blipFill>
        <p:spPr>
          <a:xfrm xmlns:a="http://schemas.openxmlformats.org/drawingml/2006/main">
            <a:off x="848994" y="2343150"/>
            <a:ext cx="6093463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87DD22-F8A8-4B36-A123-C81B5D8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81250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输入资料与目标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FFA91F-35FA-41AA-917C-C337BDC2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28925"/>
            <a:ext cx="3886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组合资料、工具和任务步骤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F58E0-545C-4316-8F66-85ACD0F1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查看修改和输出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9B30E8-B11E-4C7D-B5B8-7E1DDB1D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10025"/>
            <a:ext cx="3886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保存作品，保留可回查过程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E01CC0C-BF9B-4F23-B9C1-9177679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43450"/>
            <a:ext cx="3886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公开在线体验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5388FE-E5E6-40B6-A753-327D5AA6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91125"/>
            <a:ext cx="3886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约一分钟预设周报演示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1D6B00-5A5E-4C7E-9592-EB8E522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左图为真实合成资料演示；官网体验为预设模拟</a:t>
            </a:r>
          </a:p>
        </p:txBody>
      </p:sp>
    </p:spTree>
    <p:extLst>
      <p:ext uri="{BB962C8B-B14F-4D97-AF65-F5344CB8AC3E}">
        <p14:creationId xmlns:p14="http://schemas.microsoft.com/office/powerpoint/2010/main" val="1737387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36D19A5-63D8-416F-8198-8325126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29A1B3-8D3B-441D-B37F-8B53E2E9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已有开发Agent也能使用Blocky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8B3C9FE-B73E-4DA8-818D-6085585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开放CLI入口，保留熟悉的开发工具与工作方式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D6B209A-3B58-44A1-946F-E5B35FE2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11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9FCC21D-1D10-4F4D-8A57-D1C0F594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Codex、Claude Code等</a:t>
            </a:r>
          </a:p>
          <a:p xmlns:a="http://schemas.openxmlformats.org/drawingml/2006/main">
            <a:pPr algn="l">
              <a:defRPr sz="32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继续使用已有Agent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52355E-0BDE-4FBB-AB6D-879508D9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483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查询与修改作品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882D9D-4ED0-4D82-A1A5-DC082C75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67025"/>
            <a:ext cx="483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通过CLI访问共享领域能力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D02945-C660-4190-9525-86FA9615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838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校验、运行、读取轨迹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F30D7A-9AD5-400E-A6CB-27070D17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83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在声明的资源和权限范围内操作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95E2BA4-4981-4EE0-8264-DA742CE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内置构建助手是可选入口，已有代码转换仍需适配</a:t>
            </a:r>
          </a:p>
        </p:txBody>
      </p:sp>
    </p:spTree>
    <p:extLst>
      <p:ext uri="{BB962C8B-B14F-4D97-AF65-F5344CB8AC3E}">
        <p14:creationId xmlns:p14="http://schemas.microsoft.com/office/powerpoint/2010/main" val="11709597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473311-BC0E-4D0C-8C80-59307520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060AC5F-53EB-4F6F-A038-02E3E92D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后期自定义积木，扩展自己的业务能力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BF65E5-5BA5-41B9-979C-3D93298D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后续规划：可视化封装与代码扩展，两种方式组合复用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4F69CC-05F5-4916-89CF-CC94F2A5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12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E305F6-6E8B-489D-9280-C0061977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可视化封装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DA17A08-B711-4E9C-9265-13453CFC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把常用组合封成一块</a:t>
            </a:r>
          </a:p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随时展开，继续修改</a:t>
            </a:r>
          </a:p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带到下一个作品复用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6AD98C-7EBA-4236-A9EF-492E5541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24125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代码扩展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415C00-6307-4F07-900D-3302A1BA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43275"/>
            <a:ext cx="48387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接入算法、工具和接口</a:t>
            </a:r>
          </a:p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声明输入输出与权限</a:t>
            </a:r>
          </a:p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组合成自己的业务能力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2390F3-4284-4467-90E1-7AD8692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完整编辑、封装与社区分发按计划建设</a:t>
            </a:r>
          </a:p>
        </p:txBody>
      </p:sp>
    </p:spTree>
    <p:extLst>
      <p:ext uri="{BB962C8B-B14F-4D97-AF65-F5344CB8AC3E}">
        <p14:creationId xmlns:p14="http://schemas.microsoft.com/office/powerpoint/2010/main" val="15126144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D443B-2FD9-4A06-AB74-FB82DBF0712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43800" y="34385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66C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AB679-8F70-4C7A-9DAA-5D0B3B332DA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05200" y="34385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66C"/>
            </a:solidFill>
            <a:tailEnd type="arrow" w="med" len="me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80399B0-DAA3-4059-99D2-92AD2285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专业创作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C61DDEB-2FB2-490C-BE3F-940943FD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技术架构：作品怎样成为可运行的Agent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A83AA31-D435-41E4-8F5D-4F32AD7B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积木描述任务，共享内核执行，模型与工具完成具体动作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43C6AF3-53AA-4FF7-84C6-7E28B32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13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AB1EB-A522-4710-95C9-52425C4C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895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A3B5A2"/>
            </a:solidFill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EB84BE-2E9A-4D49-A735-DA188CF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创作界面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000B76-A4AD-4332-87DB-EA72A809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积木或文字描述任务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D42F5-748D-431B-90F9-4A3E9975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76525"/>
            <a:ext cx="2895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A3B5A2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3CE6E-F653-4006-955C-9BD6E19C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共享运行内核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52AEC1-D424-4242-B123-1F8195B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623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按作品步骤执行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4DD9BD-68BF-4B94-9A29-316A1692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6525"/>
            <a:ext cx="2895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DF"/>
          </a:solidFill>
          <a:ln xmlns:a="http://schemas.openxmlformats.org/drawingml/2006/main" w="9525">
            <a:solidFill>
              <a:srgbClr val="A3B5A2"/>
            </a:solidFill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25EB6F-7543-4765-9CE8-FE9B38D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813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模型与工具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7CE11C-B185-499A-9C89-A493D59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62350"/>
            <a:ext cx="2628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在获准范围内调用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D2DFCAF-3976-4506-A3E3-08EFB73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执行结果和运行步骤回到作品，帮助用户检查与修改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176A7C-F53C-4E4D-B695-8B29ACD2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密钥与工具权限由桌面端管理；界面、构建助手与CLI共用作品能力</a:t>
            </a:r>
          </a:p>
        </p:txBody>
      </p:sp>
    </p:spTree>
    <p:extLst>
      <p:ext uri="{BB962C8B-B14F-4D97-AF65-F5344CB8AC3E}">
        <p14:creationId xmlns:p14="http://schemas.microsoft.com/office/powerpoint/2010/main" val="10016689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AFAFCE-EB34-42F1-8DA8-40AE9B1A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E23477-4604-445E-A1F8-939BA1E3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OPC：一人经营，组合自己的Agent团队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EF7CCD-8486-43AE-AE0A-725B8F63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后续探索：经营者审阅职责、流程和工具权限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09F75EB-30A4-4DCD-A0D9-53E6982D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14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4E383B-849C-46EA-8B7F-9D188F9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资料助理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4B218D-1234-42C6-80B9-1FC03E8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整理调研，准备依据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BD5823-EDB1-4495-A2B1-06CBF77C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内容助理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FAB491-52E1-4D08-9BAC-BF35EC4D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9092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按任务拟稿，生成草案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1DA9D4-89E1-40B6-8F5D-C423DB11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2895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经营者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45B422-9A11-4AF2-8179-EBB9712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895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看结构、查过程</a:t>
            </a:r>
          </a:p>
          <a:p xmlns:a="http://schemas.openxmlformats.org/drawingml/2006/main">
            <a:pPr algn="l">
              <a:def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复核后作决定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14B0CF-903F-4E77-8051-AFD3808A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Agent承担具体任务，经营者保留业务判断与对外责任</a:t>
            </a:r>
          </a:p>
        </p:txBody>
      </p:sp>
    </p:spTree>
    <p:extLst>
      <p:ext uri="{BB962C8B-B14F-4D97-AF65-F5344CB8AC3E}">
        <p14:creationId xmlns:p14="http://schemas.microsoft.com/office/powerpoint/2010/main" val="1979259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8BCB0E-8403-4EA1-9C83-11D53489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ECF6125-6955-4BD3-8EDE-967DAA6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后期一键导出，让Agent成为独立应用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79214C-A1A8-4CA7-9D7E-5F61D97C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后续规划：Agent作品、交互页面与运行能力一起交付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0D3BD68-2098-47B3-AB2E-6926822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15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9577FD1-AB37-423A-AE4C-A1C57F5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01  保存Agent作品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DDBB506-7E23-420F-A9F4-0E56528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角色、任务、工具和运行配置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B0AD63-50DC-47E1-B79A-170B660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02  组合交互页面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9AC2F5-419A-41FD-854E-93E1E908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为应用提供输入、对话与结果展示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0629F8-7008-47D2-8294-BB0B678E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03  选择目标，一键导出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FA18787-4F2F-4C02-9DFC-C4793428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704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Windows、macOS与手机分别适配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E1A424-6C9B-47C6-BBA7-5930701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95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应用经营规划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896F7B4-4A1D-4002-8F99-53B11897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32956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开发者自定订阅价格</a:t>
            </a:r>
          </a:p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用量承担方可设置</a:t>
            </a:r>
          </a:p>
          <a:p xmlns:a="http://schemas.openxmlformats.org/drawingml/2006/main">
            <a:pPr algn="l">
              <a:def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模型成本独立核算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53F3291-CFC6-4CD9-8FBF-32BFA1BC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应用导出、订阅与支付尚未开放</a:t>
            </a:r>
          </a:p>
        </p:txBody>
      </p:sp>
    </p:spTree>
    <p:extLst>
      <p:ext uri="{BB962C8B-B14F-4D97-AF65-F5344CB8AC3E}">
        <p14:creationId xmlns:p14="http://schemas.microsoft.com/office/powerpoint/2010/main" val="1321173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DE13D2-5A3A-4B24-ADF5-E27910A4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rPr>
              <a:t>企业Agent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B2DE9B0-8CE3-4600-A2E9-CF559EA4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企业Agent：从个人作品到组织使用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E01E39-9333-4537-9A02-EC101AA6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后续规划：在明确的数据和权限范围内处理业务任务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9BC1AE-7B4D-41E8-8696-58DDFAC2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16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7E31C6-5FBA-4C3B-B7E3-15906B81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rPr>
              <a:t>岗位与任务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79FBE6-55CD-47C4-AB8D-6437508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明确每个Agent的职责和交付结果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8C7002-1068-4795-B9AA-2A0A16E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rPr>
              <a:t>数据与权限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4E8BE08-09AB-4546-9F41-AB87F18A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按账户配置资料、模型与工具范围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4C8BB3-AD35-4C66-A4E1-E2466529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rPr>
              <a:t>团队使用与部署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E323C8-8E5D-4553-B31E-D5BF770D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保留版本、运行记录和恢复方式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13EEFE-ECEC-4A32-B45F-9263C8DC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学校组织管理与专业团队部署均按产品计划建设</a:t>
            </a:r>
          </a:p>
        </p:txBody>
      </p:sp>
    </p:spTree>
    <p:extLst>
      <p:ext uri="{BB962C8B-B14F-4D97-AF65-F5344CB8AC3E}">
        <p14:creationId xmlns:p14="http://schemas.microsoft.com/office/powerpoint/2010/main" val="8116817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759D11-2D15-4D2F-8B38-C063495E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产品计划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6FFCEDD-A2AD-4BB1-8B15-0A9AF9E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研发路线与多端版本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B72AF8-B621-4DFB-B5E1-7B0D4C4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教育、专业、OPC、企业依次扩展，按能力关口开放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374FAB-F4C7-454E-8E1D-39CEC7E0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17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F4714D-80E3-4D68-93AF-97980B3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46318"/>
                </a:solidFill>
                <a:latin typeface="Microsoft YaHei"/>
                <a:ea typeface="Microsoft YaHei"/>
                <a:cs typeface="Microsoft YaHei"/>
              </a:rPr>
              <a:t>教育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C2D4D72-9F1B-4231-A6A9-CB7B23E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955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作品体验、课程与教师组织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1C874C-625E-451A-A71A-86FB6841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0289B5-4A51-4DB3-85DF-4151197F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384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自定义积木、开放接口与可靠运行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59B2C87-220B-4BA6-AF4D-B9C70B1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260A8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706BC6-03DE-48E4-8F00-865B3DDC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8142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独立应用导出与经营配套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27367D-7A94-43BF-BF43-83BFBFD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5F8C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84E0A08-0158-4303-9BE6-2D98898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243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组织权限、团队部署与成本管理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647BD02-C1DD-442E-AF98-1EDD1456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Windows已有成果   macOS规划创作端</a:t>
            </a:r>
          </a:p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Android、iOS、HarmonyOS规划运行已搭建作品</a:t>
            </a:r>
          </a:p>
        </p:txBody>
      </p:sp>
    </p:spTree>
    <p:extLst>
      <p:ext uri="{BB962C8B-B14F-4D97-AF65-F5344CB8AC3E}">
        <p14:creationId xmlns:p14="http://schemas.microsoft.com/office/powerpoint/2010/main" val="1634575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F0279C-9909-4FA1-B8ED-E872B302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E1D5A0B-1549-4AFA-AB9D-260AAE79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商业模式：软件免费，服务与算力收费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C609726-7101-408D-B4AF-1734CC0E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个人完整创作开源免费方向，组织方案按规模与范围报价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18CA05-E790-4FD7-982C-82967CD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18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865746A-7F50-41B4-9A06-71DAAB65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个人软件</a:t>
            </a:r>
          </a:p>
          <a:p xmlns:a="http://schemas.openxmlformats.org/drawingml/2006/main">
            <a:pPr algn="l">
              <a:defRPr sz="34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开源免费方向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652097-D217-4FAD-81E6-09E7EE7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学校与企业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01AE73-4335-44A2-BCC4-8CF7657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组织能力、课程、部署和支持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CC0BB3-F3F0-4A42-9B7F-F7471A13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38525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托管模型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BFC402-5986-4E99-B820-1563941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构建与运行共用账户套餐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E069A9-6416-43B3-ADF8-59F4D36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81525"/>
            <a:ext cx="5295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未来应用订阅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B7D231-0562-4A23-981E-E673379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5295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开发者自定价，应用收入与算力分账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EC81E85-3E2A-4041-80D2-E5F8F188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BYOK直接向供应商付费；源码公开、托管计费和应用经营仍在建设</a:t>
            </a:r>
          </a:p>
        </p:txBody>
      </p:sp>
    </p:spTree>
    <p:extLst>
      <p:ext uri="{BB962C8B-B14F-4D97-AF65-F5344CB8AC3E}">
        <p14:creationId xmlns:p14="http://schemas.microsoft.com/office/powerpoint/2010/main" val="13543915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EC77AE-DF77-4A9A-959E-3A2A34D4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104A0DB-251F-4926-93A9-B6EAE25D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托管算力套餐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D3629F1-3131-4636-B6B8-761FFFDE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咨询拟案，尚未开放购买；构建与运行共用对应账户额度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7A666C-A86C-4B22-AE8B-72952757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19 / 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E8659-4C53-4178-8910-36DF34BFCDB6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2390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月度套餐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每月拟价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月度积分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2,000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进阶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199元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999元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25,000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44D798-C44A-4118-9798-BDBD8FD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加量包：50元 / 1,000积分，到账30天有效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F57C78-BD16-44F5-849C-4C77EDD0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月度额度不结转；积分按模型用量扣减，不等于固定Token数</a:t>
            </a:r>
          </a:p>
        </p:txBody>
      </p:sp>
    </p:spTree>
    <p:extLst>
      <p:ext uri="{BB962C8B-B14F-4D97-AF65-F5344CB8AC3E}">
        <p14:creationId xmlns:p14="http://schemas.microsoft.com/office/powerpoint/2010/main" val="4543002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B0D23B-1046-45B5-B459-B4E17A87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BAED0D0-6983-4065-A1A2-D4A384D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售价、成本与贡献利润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A0B9091-E429-418C-9857-17D64842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以99元套餐满额使用为例，先算卖一份还剩多少钱（单位：元）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1856F24-7F33-4799-9FDF-02B592E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20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655C2F-7230-4F0E-8A5D-67FC550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99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62F28F-7F1C-42BE-9BD0-8C11942E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套餐收入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EA3D3D-0F8F-4DFA-8B76-EE8B25E2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DD4127-F7C3-41C2-A7D2-B82B001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717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7C6E06-1E80-41CA-AFB1-D2313F58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模型成本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E97113-8A69-4348-8D47-9A479257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5F6C6DD-7B11-46BE-8446-D4D08CD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9.90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81E342-80E0-43B9-A42F-E5A7203C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其他可变费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368283-BA99-420C-9EF8-4D049340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90850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CA217B-1FDC-44BD-9990-1D8760FF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717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49.10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5301653-394C-4D60-88BC-81A1BF5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5765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贡献利润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92BFE0-4C78-4849-89C2-3DF3189E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贡献利润还要覆盖研发与运营，不能当净利润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4BB482-ED46-48B2-AD8B-BA9AB1FC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假设0.02元/积分、其他可变费10%，非采购报价；高用量可能超出拟价</a:t>
            </a:r>
          </a:p>
        </p:txBody>
      </p:sp>
    </p:spTree>
    <p:extLst>
      <p:ext uri="{BB962C8B-B14F-4D97-AF65-F5344CB8AC3E}">
        <p14:creationId xmlns:p14="http://schemas.microsoft.com/office/powerpoint/2010/main" val="1397600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8881C2-614A-4C0F-94A7-558C555A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市场与生态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38FA9D4-00E9-4B07-BE65-CC2977C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开源社区与首批客户验证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286E452-3A0E-4255-ACC2-CB18F4C2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先完成可用产品，再用教师与机构反馈决定扩展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B79C4FE-5B2B-4E87-94E2-35B5B23B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21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062CA0-7B94-4F79-ACE4-819F0E19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开放社区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DC200B8-AE9B-4280-ABDE-10B8C60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953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共享作品与积木</a:t>
            </a:r>
          </a:p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教师改编活动包</a:t>
            </a:r>
          </a:p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开发者贡献部件和工具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348C61-1DA6-4CCB-9960-55FDF702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95550"/>
            <a:ext cx="483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条件验证目标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492A606-13C6-4AD6-BBE6-67FB5A72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48387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接触20家机构</a:t>
            </a:r>
          </a:p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深入8家合作需求</a:t>
            </a:r>
          </a:p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争取4份交付合同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B3B71A-EC7D-44D9-96EB-A71809B4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验证作品、教师复用、实际用量与付款；目标不代表已有客户</a:t>
            </a:r>
          </a:p>
        </p:txBody>
      </p:sp>
    </p:spTree>
    <p:extLst>
      <p:ext uri="{BB962C8B-B14F-4D97-AF65-F5344CB8AC3E}">
        <p14:creationId xmlns:p14="http://schemas.microsoft.com/office/powerpoint/2010/main" val="893488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D1708E-F87F-48E8-9B7B-94155873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5CB71DB-AB51-4995-91A2-F75C06D4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按实际任务量校准算力成本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B2A8EFA-BCA1-40C2-B531-E28436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历史短任务样本与专业使用参照分开测算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2AA7896-01EA-4181-83D9-E9EA2F1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22 / 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E44A5-36E4-4B2D-9B68-1449113500A1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2190750"/>
                <a:gridCol w="2762250"/>
                <a:gridCol w="3333750"/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条件用户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期末容量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参考月成本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24月算力（万元）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学生短任务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600人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3.39元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0.914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教师短任务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60人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20.32元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0.610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专业创作者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500人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1,347.02元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303.079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C20537-CDE6-4C27-97B3-1ED52BE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外部用户算力合计304.603万元，内部研发另列17.336万元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AF8EF7-8090-4717-B7C8-D639344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原预算快照与条件规模，非实际用户账单；产品准备后启用</a:t>
            </a:r>
          </a:p>
        </p:txBody>
      </p:sp>
    </p:spTree>
    <p:extLst>
      <p:ext uri="{BB962C8B-B14F-4D97-AF65-F5344CB8AC3E}">
        <p14:creationId xmlns:p14="http://schemas.microsoft.com/office/powerpoint/2010/main" val="11643376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E27D3EE-4BBB-417C-94C4-347D2074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资源预算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3D22F3-2977-4585-936C-7C6F2F2E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24个月资金规划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F3C3750-7222-4970-85D7-288BD1EC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2026年11月至2028年10月的条件预算，未知收入不抵减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FD97F7F-256A-4DF9-9967-425AFAD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23 / 25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32DA4-670B-4B77-B9FE-87688C17788B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76200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000250"/>
              </a:tblGrid>
              <a:tr h="49768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资金用途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预算（万元）</a:t>
                      </a:r>
                    </a:p>
                  </a:txBody>
                  <a:tcPr marL="133350" marR="114300" marT="133350" marB="85725" anchor="ctr">
                    <a:solidFill>
                      <a:srgbClr val="E8EDDF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人力、研发工具与专项交付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212.336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基础设施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16.200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外部用户算力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304.603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教学、社区与一般运营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32.100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测试设备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储备、预留与取整余量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326.761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  <a:tr h="49768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覆盖目标合计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F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900.000</a:t>
                      </a:r>
                    </a:p>
                  </a:txBody>
                  <a:tcPr marL="133350" marR="114300" marT="133350" marB="85725" anchor="ctr">
                    <a:solidFill>
                      <a:srgbClr val="F7F8F0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DCE003-A2C6-429D-95D9-7F36FB8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2892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900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262076-7E67-44EA-8E79-ED6AC4C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万元</a:t>
            </a:r>
          </a:p>
          <a:p xmlns:a="http://schemas.openxmlformats.org/drawingml/2006/main">
            <a:pPr algn="l">
              <a:def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取整覆盖目标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DDE497-9971-4756-8A4C-FC2838D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38750"/>
            <a:ext cx="285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最低追加需求</a:t>
            </a:r>
          </a:p>
          <a:p xmlns:a="http://schemas.openxmlformats.org/drawingml/2006/main">
            <a:pPr algn="l">
              <a:def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866.443万元</a:t>
            </a:r>
          </a:p>
        </p:txBody>
      </p:sp>
    </p:spTree>
    <p:extLst>
      <p:ext uri="{BB962C8B-B14F-4D97-AF65-F5344CB8AC3E}">
        <p14:creationId xmlns:p14="http://schemas.microsoft.com/office/powerpoint/2010/main" val="9817258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4EB6490-90D5-4E23-8261-F7864B36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研发与风险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8E67DFA-2B4B-4688-9DEB-CB11AEF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按阶段投入，随用量与回款调整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FE8659-D324-4F66-9C81-50628DC2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能力就绪才进入真实场景，预算日历不代表已完成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77D577E-614C-4AEB-A55F-7E655B2A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24 / 25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60A4CE-8393-4D9F-B75D-33D72348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第1至6月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C4C030-DC13-4EF1-9724-E0A55C8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完善创作产品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5E2661-38C2-40E0-95B5-1C590184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3845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53.767万元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938E37-1243-4E1B-8481-ADEE26F2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第7至18月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3B3576-3066-48F2-8C08-E897900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建设场景配套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6E0EEF2-7DC0-48D8-84D9-3A55B10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29075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142.646万元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2CA270-3581-4013-8E4A-87F42663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66C"/>
                </a:solidFill>
                <a:latin typeface="Microsoft YaHei"/>
                <a:ea typeface="Microsoft YaHei"/>
                <a:cs typeface="Microsoft YaHei"/>
              </a:rPr>
              <a:t>第19至24月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914DB8B-7538-48CF-BA29-65E4A344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条件真实场景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6DF474-1673-41DB-9AB7-D58A1999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376.826万元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D736C5D-1912-4649-9713-89A01024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近期90天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A93B5E2-541A-4F09-A02C-556BF396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2892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可靠体验、发布支持与用量采证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C044AAB-FAAE-4900-B7DA-81951512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723"/>
                </a:solidFill>
                <a:latin typeface="Microsoft YaHei"/>
                <a:ea typeface="Microsoft YaHei"/>
                <a:cs typeface="Microsoft YaHei"/>
              </a:rPr>
              <a:t>重点风险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1A3066C-850B-4C12-B135-82FD09D3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81525"/>
            <a:ext cx="3867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F27"/>
                </a:solidFill>
                <a:latin typeface="Microsoft YaHei"/>
                <a:ea typeface="Microsoft YaHei"/>
                <a:cs typeface="Microsoft YaHei"/>
              </a:rPr>
              <a:t>高用量、回款延迟、厂商条款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991436-17A9-4502-B157-0382FC35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75D"/>
                </a:solidFill>
                <a:latin typeface="Microsoft YaHei"/>
                <a:ea typeface="Microsoft YaHei"/>
                <a:cs typeface="Microsoft YaHei"/>
              </a:rPr>
              <a:t>合作费、预付额度、保证金分别管理，随实际进展滚动更新</a:t>
            </a:r>
          </a:p>
        </p:txBody>
      </p:sp>
    </p:spTree>
    <p:extLst>
      <p:ext uri="{BB962C8B-B14F-4D97-AF65-F5344CB8AC3E}">
        <p14:creationId xmlns:p14="http://schemas.microsoft.com/office/powerpoint/2010/main" val="17903086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B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D3BACE-6231-4A4A-A1AD-FA2A6642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25 / 25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5F63418-3E15-4839-9CDC-2F817B16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25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425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让作品可以读懂、改造</a:t>
            </a:r>
          </a:p>
          <a:p xmlns:a="http://schemas.openxmlformats.org/drawingml/2006/main">
            <a:pPr algn="l">
              <a:defRPr sz="4425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F7F8F0"/>
                </a:solidFill>
                <a:latin typeface="Microsoft YaHei"/>
                <a:ea typeface="Microsoft YaHei"/>
                <a:cs typeface="Microsoft YaHei"/>
              </a:rPr>
              <a:t>让运行过程可以回查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7FB1F6D-3317-4A32-AF9C-F59ECE9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rPr>
              <a:t>教育起步，连接专业创作、OPC与企业Agent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B45304-C10D-443A-A545-D339AC63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产品共建   场景合作   阶段资源支持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D0CF1F-988F-4CE1-B306-9182C3E8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5EC7C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12cf2ce18564045"/>
              </a:rPr>
              <a:t>blocky.donk55666.chatgpt.site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82FF01-2D26-4E8A-8A13-CB0C62A1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0C6"/>
                </a:solidFill>
                <a:latin typeface="Microsoft YaHei"/>
                <a:ea typeface="Microsoft YaHei"/>
                <a:cs typeface="Microsoft YaHei"/>
              </a:rPr>
              <a:t>开发预览站，海外托管；国内正式入口启用后公布</a:t>
            </a:r>
          </a:p>
        </p:txBody>
      </p:sp>
    </p:spTree>
    <p:extLst>
      <p:ext uri="{BB962C8B-B14F-4D97-AF65-F5344CB8AC3E}">
        <p14:creationId xmlns:p14="http://schemas.microsoft.com/office/powerpoint/2010/main" val="462250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Blocky Studio</ns0:Application>
  <ns0:PresentationFormat>16:9</ns0:PresentationFormat>
  <ns0:Slides>25</ns0:Slides>
  <ns0:Notes>25</ns0:Notes>
  <ns0:HiddenSlides>0</ns0:HiddenSlides>
  <ns0:SharedDoc>false</ns0:SharedDoc>
  <ns0:DocSecurity>0</ns0:DocSecurity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Blocky Studio</dc:creator>
  <cp:lastModifiedBy>Blocky Studio</cp:lastModifiedBy>
  <dc:title>Blocky Studio 25页答辩</dc:title>
  <dcterms:created xsi:type="dcterms:W3CDTF">2026-10-09T16:57:25.2930000Z</dcterms:created>
  <dcterms:modified xsi:type="dcterms:W3CDTF">2026-10-09T16:57:25.2930000Z</dcterms:modified>
</cp:coreProperties>
</file>